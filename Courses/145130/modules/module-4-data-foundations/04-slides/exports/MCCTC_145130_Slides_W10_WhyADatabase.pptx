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programs. Same file, same question, run one minute apart. One says thirty eight and one says thirty two. Nobody made a typo and neither program has a bug in it. By the end of these fifteen minutes you will be able to say which number is right and, more useful, why the other one was ever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 It opens the file, walks every row, and adds up the kills. It did exactly what it was told. One row in that file is in there twice, because somebody pasted an export under another export, and nothing in this loop has any reason to notice. Six kills counted twice. Thirty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SQL side. Look at the last line. One player appears at most once in one match. That is not a data structure decision, it is a claim about the real world, and the database enforces it for every program that ever writes to this table. The duplicate never got in. Thirty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idea and it is worth saying slowly. A spreadsheet holds data. A validating Python program holds rules. A database holds both in one place, and the rules apply to every program that ever connects, including the one your teammate writes next year without reading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and the first is the one this week is about. The second is why your report is going to be six lines instead of sixty. The third arrives on Thursday, when we record a match and its lineup and somebody types the same player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words you will use for the rest of this course. The back end holds the records and the rules. A front end is anything a person looks at. On Thursday you will write fifteen lines that go around the front end entirely, and you will watch what the database does about it. Today, hold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player called ghost player. The REFERENCES clause right there says there has to be one. Predict what this prints before I press enter. Hands up for an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No warning. The clause is in the schema, spelled correctly, and it enforced nothing. SQLite does not check foreign keys unless you switch them on, and the setting belongs to the connection, not to the file. Every program has to ask for it, every time. The default is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that first sentence down. It is the one sentence from today that shows up in a lab, in Friday's Gate 2, and in the module exam. Reading a schema tells you what somebody intended. There is exactly one command that tells you what is actually being enforced, and you will run it in every lab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 zero four dash zero one. The esports season, twenty eight flat rows, into three connected tables. Step three is four questions about keys and you answer them on paper with no model. That is the thinking this whole module rests on and it takes about eight minutes. Step eight is where you comment out the pragmas and watch the bad row go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a Database and Not a Pile of Files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programs, one file, two answers</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Same CSV, same question, same afternoon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says vexcalibur scored 38</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SQL says 32</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Neither program is broken</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loop counted every row</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for row in csv.DictReader(handle):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totals[row["gamertag"]] += int(row["kills"])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rule refused the second copy</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CREATE TABLE appearances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match_id INTEGER NOT NULL,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gamertag TEXT NOT NULL REFERENCES players (gamertag),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PRIMARY KEY (match_id, gamertag)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database is data plus rules</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spreadsheet holds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Python program holds rules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database holds both, for every writer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rules outlive the program that wrote them</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16842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things a DBMS gives you</a:t>
            </a:r>
            <a:endParaRPr lang="en-US" sz="3700" dirty="0"/>
          </a:p>
        </p:txBody>
      </p:sp>
      <p:sp>
        <p:nvSpPr>
          <p:cNvPr id="3" name="Shape 1"/>
          <p:cNvSpPr/>
          <p:nvPr/>
        </p:nvSpPr>
        <p:spPr>
          <a:xfrm>
            <a:off x="661475" y="3137098"/>
            <a:ext cx="3496877" cy="1429643"/>
          </a:xfrm>
          <a:prstGeom prst="roundRect">
            <a:avLst>
              <a:gd name="adj" fmla="val 5553"/>
            </a:avLst>
          </a:prstGeom>
          <a:solidFill>
            <a:srgbClr val="D1E5FA"/>
          </a:solidFill>
          <a:ln w="19050">
            <a:solidFill>
              <a:srgbClr val="B7CBE0"/>
            </a:solidFill>
            <a:prstDash val="solid"/>
          </a:ln>
        </p:spPr>
      </p:sp>
      <p:sp>
        <p:nvSpPr>
          <p:cNvPr id="4" name="Text 2"/>
          <p:cNvSpPr/>
          <p:nvPr/>
        </p:nvSpPr>
        <p:spPr>
          <a:xfrm>
            <a:off x="869531" y="3345160"/>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Rules</a:t>
            </a:r>
            <a:endParaRPr lang="en-US" sz="1850" dirty="0"/>
          </a:p>
        </p:txBody>
      </p:sp>
      <p:sp>
        <p:nvSpPr>
          <p:cNvPr id="5" name="Text 3"/>
          <p:cNvSpPr/>
          <p:nvPr/>
        </p:nvSpPr>
        <p:spPr>
          <a:xfrm>
            <a:off x="869531" y="3753842"/>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Rules that survive a second writer</a:t>
            </a:r>
            <a:endParaRPr lang="en-US" sz="1450" dirty="0"/>
          </a:p>
        </p:txBody>
      </p:sp>
      <p:sp>
        <p:nvSpPr>
          <p:cNvPr id="6" name="Shape 4"/>
          <p:cNvSpPr/>
          <p:nvPr/>
        </p:nvSpPr>
        <p:spPr>
          <a:xfrm>
            <a:off x="4347359" y="3137098"/>
            <a:ext cx="3496877" cy="1429643"/>
          </a:xfrm>
          <a:prstGeom prst="roundRect">
            <a:avLst>
              <a:gd name="adj" fmla="val 5553"/>
            </a:avLst>
          </a:prstGeom>
          <a:solidFill>
            <a:srgbClr val="D1E5FA"/>
          </a:solidFill>
          <a:ln w="19050">
            <a:solidFill>
              <a:srgbClr val="B7CBE0"/>
            </a:solidFill>
            <a:prstDash val="solid"/>
          </a:ln>
        </p:spPr>
      </p:sp>
      <p:sp>
        <p:nvSpPr>
          <p:cNvPr id="7" name="Text 5"/>
          <p:cNvSpPr/>
          <p:nvPr/>
        </p:nvSpPr>
        <p:spPr>
          <a:xfrm>
            <a:off x="4555416" y="3345160"/>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Query Language</a:t>
            </a:r>
            <a:endParaRPr lang="en-US" sz="1850" dirty="0"/>
          </a:p>
        </p:txBody>
      </p:sp>
      <p:sp>
        <p:nvSpPr>
          <p:cNvPr id="8" name="Text 6"/>
          <p:cNvSpPr/>
          <p:nvPr/>
        </p:nvSpPr>
        <p:spPr>
          <a:xfrm>
            <a:off x="4555416" y="3753842"/>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query language, so you describe the answer</a:t>
            </a:r>
            <a:endParaRPr lang="en-US" sz="1450" dirty="0"/>
          </a:p>
        </p:txBody>
      </p:sp>
      <p:sp>
        <p:nvSpPr>
          <p:cNvPr id="9" name="Shape 7"/>
          <p:cNvSpPr/>
          <p:nvPr/>
        </p:nvSpPr>
        <p:spPr>
          <a:xfrm>
            <a:off x="8033244" y="3137098"/>
            <a:ext cx="3496877" cy="1429643"/>
          </a:xfrm>
          <a:prstGeom prst="roundRect">
            <a:avLst>
              <a:gd name="adj" fmla="val 5553"/>
            </a:avLst>
          </a:prstGeom>
          <a:solidFill>
            <a:srgbClr val="D1E5FA"/>
          </a:solidFill>
          <a:ln w="19050">
            <a:solidFill>
              <a:srgbClr val="B7CBE0"/>
            </a:solidFill>
            <a:prstDash val="solid"/>
          </a:ln>
        </p:spPr>
      </p:sp>
      <p:sp>
        <p:nvSpPr>
          <p:cNvPr id="10" name="Text 8"/>
          <p:cNvSpPr/>
          <p:nvPr/>
        </p:nvSpPr>
        <p:spPr>
          <a:xfrm>
            <a:off x="8241300" y="3345160"/>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Transactions</a:t>
            </a:r>
            <a:endParaRPr lang="en-US" sz="1850" dirty="0"/>
          </a:p>
        </p:txBody>
      </p:sp>
      <p:sp>
        <p:nvSpPr>
          <p:cNvPr id="11" name="Text 9"/>
          <p:cNvSpPr/>
          <p:nvPr/>
        </p:nvSpPr>
        <p:spPr>
          <a:xfrm>
            <a:off x="8241300" y="3753842"/>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Transactions, so a crash never leaves half a record</a:t>
            </a:r>
            <a:endParaRPr lang="en-US" sz="1450" dirty="0"/>
          </a:p>
        </p:txBody>
      </p:sp>
      <p:sp>
        <p:nvSpPr>
          <p:cNvPr id="12"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Front end and back end</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2698948"/>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database is the back end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kiosk, a report, an export are front ends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Rules that must always be true live in the back end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front end rule is true for its own users only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connection.executescript("""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CREATE TABLE appearances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gamertag TEXT NOT NULL REFERENCES players (gamertag))""")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connection.execute("INSERT INTO appearances VALUES ('ghost_player')")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print("rows:", connection.execute("SELECT COUNT(*) FROM appearances").fetchone()[0])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5429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row, no error</a:t>
            </a:r>
            <a:endParaRPr lang="en-US" sz="3700" dirty="0"/>
          </a:p>
        </p:txBody>
      </p:sp>
      <p:sp>
        <p:nvSpPr>
          <p:cNvPr id="3" name="Shape 1"/>
          <p:cNvSpPr/>
          <p:nvPr/>
        </p:nvSpPr>
        <p:spPr>
          <a:xfrm>
            <a:off x="661475" y="3511649"/>
            <a:ext cx="10868745" cy="680442"/>
          </a:xfrm>
          <a:prstGeom prst="roundRect">
            <a:avLst>
              <a:gd name="adj" fmla="val 11667"/>
            </a:avLst>
          </a:prstGeom>
          <a:solidFill>
            <a:srgbClr val="F2F2F2"/>
          </a:solidFill>
          <a:ln/>
        </p:spPr>
      </p:sp>
      <p:sp>
        <p:nvSpPr>
          <p:cNvPr id="4" name="Text 2"/>
          <p:cNvSpPr/>
          <p:nvPr/>
        </p:nvSpPr>
        <p:spPr>
          <a:xfrm>
            <a:off x="888283" y="3700661"/>
            <a:ext cx="11024713" cy="302419"/>
          </a:xfrm>
          <a:prstGeom prst="rect">
            <a:avLst/>
          </a:prstGeom>
          <a:noFill/>
          <a:ln/>
        </p:spPr>
        <p:txBody>
          <a:bodyPr wrap="none" lIns="0" tIns="0" rIns="0" bIns="0" rtlCol="0" anchor="t"/>
          <a:lstStyle/>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rows: 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constraint you did not switch on is a comment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PRAGMA foreign_keys returns zero on a new connection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Reading the schema tells you what somebody meant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Running the pragma tells you what is true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This costs a class period every year</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76301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027561"/>
            <a:ext cx="5339820" cy="25400"/>
          </a:xfrm>
          <a:prstGeom prst="rect">
            <a:avLst/>
          </a:prstGeom>
          <a:solidFill>
            <a:srgbClr val="57A1EB"/>
          </a:solidFill>
          <a:ln/>
        </p:spPr>
      </p:sp>
      <p:sp>
        <p:nvSpPr>
          <p:cNvPr id="5" name="Text 3"/>
          <p:cNvSpPr/>
          <p:nvPr/>
        </p:nvSpPr>
        <p:spPr>
          <a:xfrm>
            <a:off x="661475" y="3172817"/>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tables out of one flat spreadsheet</a:t>
            </a:r>
            <a:endParaRPr lang="en-US" sz="1850" dirty="0"/>
          </a:p>
        </p:txBody>
      </p:sp>
      <p:sp>
        <p:nvSpPr>
          <p:cNvPr id="6" name="Text 4"/>
          <p:cNvSpPr/>
          <p:nvPr/>
        </p:nvSpPr>
        <p:spPr>
          <a:xfrm>
            <a:off x="6190301"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3027561"/>
            <a:ext cx="5339919" cy="25400"/>
          </a:xfrm>
          <a:prstGeom prst="rect">
            <a:avLst/>
          </a:prstGeom>
          <a:solidFill>
            <a:srgbClr val="57A1EB"/>
          </a:solidFill>
          <a:ln/>
        </p:spPr>
      </p:sp>
      <p:sp>
        <p:nvSpPr>
          <p:cNvPr id="8" name="Text 6"/>
          <p:cNvSpPr/>
          <p:nvPr/>
        </p:nvSpPr>
        <p:spPr>
          <a:xfrm>
            <a:off x="6190301" y="3172817"/>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choose every key and defend it</a:t>
            </a:r>
            <a:endParaRPr lang="en-US" sz="1850" dirty="0"/>
          </a:p>
        </p:txBody>
      </p:sp>
      <p:sp>
        <p:nvSpPr>
          <p:cNvPr id="9" name="Text 7"/>
          <p:cNvSpPr/>
          <p:nvPr/>
        </p:nvSpPr>
        <p:spPr>
          <a:xfrm>
            <a:off x="661475" y="379878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094659"/>
            <a:ext cx="5339820" cy="25400"/>
          </a:xfrm>
          <a:prstGeom prst="rect">
            <a:avLst/>
          </a:prstGeom>
          <a:solidFill>
            <a:srgbClr val="57A1EB"/>
          </a:solidFill>
          <a:ln/>
        </p:spPr>
      </p:sp>
      <p:sp>
        <p:nvSpPr>
          <p:cNvPr id="11" name="Text 9"/>
          <p:cNvSpPr/>
          <p:nvPr/>
        </p:nvSpPr>
        <p:spPr>
          <a:xfrm>
            <a:off x="661475" y="4239915"/>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Break a foreign key on purpose, twice</a:t>
            </a:r>
            <a:endParaRPr lang="en-US" sz="1850" dirty="0"/>
          </a:p>
        </p:txBody>
      </p:sp>
      <p:sp>
        <p:nvSpPr>
          <p:cNvPr id="12" name="Text 10"/>
          <p:cNvSpPr/>
          <p:nvPr/>
        </p:nvSpPr>
        <p:spPr>
          <a:xfrm>
            <a:off x="6190301" y="379878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094659"/>
            <a:ext cx="5339919" cy="25400"/>
          </a:xfrm>
          <a:prstGeom prst="rect">
            <a:avLst/>
          </a:prstGeom>
          <a:solidFill>
            <a:srgbClr val="57A1EB"/>
          </a:solidFill>
          <a:ln/>
        </p:spPr>
      </p:sp>
      <p:sp>
        <p:nvSpPr>
          <p:cNvPr id="14" name="Text 12"/>
          <p:cNvSpPr/>
          <p:nvPr/>
        </p:nvSpPr>
        <p:spPr>
          <a:xfrm>
            <a:off x="6190301" y="4239915"/>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M04-01, forty minutes, no AI for step three</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2026-09-16T05:07:20Z</dcterms:created>
  <dcterms:modified xsi:type="dcterms:W3CDTF">2026-09-16T05:07:20Z</dcterms:modified>
</cp:coreProperties>
</file>