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corrected a model mid conversation and watched the next answer get better. That is real. And then you came back the next day and it made exactly the same mistake, and that is real too. Both of those follow from one idea and by the end of the period you will be able to explain it to your 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wrong belief about these systems comes from blending these two words together. Training is the process that produced the numbers. Inference is what happens on our lab machine. They are not two phases of one thing you are part of. One of them finished before you ever opened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loop. Predict, compare, adjust, repeat. Months of specialised hardware. You will not do this in this class and nobody expects you to. What you need from it is the last fact: when it finishes, the result is a file full of numbers, and that file is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entire mechanism. There is no other step. Notice what is missing: there is no lookup, no checking, and no stage where it decides whether the answer is true. Correct output is output whose most likely continuation happened to match reality, and that is why there is never a warning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down. During inference nothing is learned. The improvement you saw inside a conversation was your own correction sitting in the input, being re-read from scratch every single turn. Take it out of the input and the behaviour disappears, which is exactly what happened the next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as a story. A third of a second passed before any text existed at all. Then tokens arrived at about forty a second for a second. Total wait, one and a third seconds, for forty tokens. On real hardware the numbers differ and the shape does not: a pause, then a stream. The pause is the first token. The stream is the same thing happening again and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third one changes any weights, and it produces a different file rather than editing the one you have. The middle one is retrieval and it is what Module 4 builds. For most practical problems it is the right answer: cheaper, updated the second a document changes, and you can show which document the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stub is a rule system so it is perfectly repeatable. A real model usually chooses the next token with some randomness rather than always taking the likeliest, so two identical prompts can produce two different answers. That matters for your own testing and it is why the service validates the shape of an answer instead of its exact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widely believed false thing about these systems, and the two reasons people believe it are both partly right. Products genuinely do get better over time, on the company's schedule. Conversations genuinely do get more relevant as they go. Neither of those is the model learning from you while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exit criterion for this module and you will write a full version of it in Week 3. Say it out loud now while it is fresh. And notice the clause I always add on the end: everything it produces is produced that way, including the parts that are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repeat test and it takes ten minutes. Build two is the interesting half. You design an experiment that would show a model learned from you, and then you find out that our stub cannot settle it, because a stub is not a model. Naming a question your instrument cannot answer is a result, and it is Week 3 arriving four days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Training and Inference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corrected it and it worked</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you taught it, right</a:t>
            </a:r>
            <a:endParaRPr lang="en-US" sz="1850" dirty="0"/>
          </a:p>
        </p:txBody>
      </p:sp>
      <p:sp>
        <p:nvSpPr>
          <p:cNvPr id="6" name="Shape 3"/>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Next session, same mistake</a:t>
            </a:r>
            <a:endParaRPr lang="en-US" sz="1850" dirty="0"/>
          </a:p>
        </p:txBody>
      </p:sp>
      <p:sp>
        <p:nvSpPr>
          <p:cNvPr id="8" name="Shape 5"/>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you said stuck</a:t>
            </a:r>
            <a:endParaRPr lang="en-US" sz="1850" dirty="0"/>
          </a:p>
        </p:txBody>
      </p:sp>
      <p:sp>
        <p:nvSpPr>
          <p:cNvPr id="10" name="Shape 7"/>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Here is what actually happened</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28439"/>
            <a:ext cx="10868745" cy="433784"/>
          </a:xfrm>
          <a:prstGeom prst="rect">
            <a:avLst/>
          </a:prstGeom>
          <a:noFill/>
          <a:ln/>
        </p:spPr>
        <p:txBody>
          <a:bodyPr wrap="none" lIns="0" tIns="0" rIns="0" bIns="0" rtlCol="0" anchor="t"/>
          <a:lstStyle/>
          <a:p>
            <a:pPr algn="l" indent="0" marL="0">
              <a:lnSpc>
                <a:spcPct val="104000"/>
              </a:lnSpc>
              <a:buNone/>
            </a:pPr>
            <a:r>
              <a:rPr lang="en-US" sz="2700" b="1" dirty="0">
                <a:solidFill>
                  <a:srgbClr val="111111"/>
                </a:solidFill>
                <a:latin typeface="Orbitron Bold" pitchFamily="34" charset="0"/>
                <a:ea typeface="Orbitron Bold" pitchFamily="34" charset="-122"/>
                <a:cs typeface="Orbitron Bold" pitchFamily="34" charset="-120"/>
              </a:rPr>
              <a:t>Two completely different activities</a:t>
            </a:r>
            <a:endParaRPr lang="en-US" sz="2700" dirty="0"/>
          </a:p>
        </p:txBody>
      </p:sp>
      <p:pic>
        <p:nvPicPr>
          <p:cNvPr id="3" name="Image 0" descr="preencoded.png">    </p:cNvPr>
          <p:cNvPicPr>
            <a:picLocks noChangeAspect="1"/>
          </p:cNvPicPr>
          <p:nvPr/>
        </p:nvPicPr>
        <p:blipFill>
          <a:blip r:embed="rId1"/>
          <a:stretch>
            <a:fillRect/>
          </a:stretch>
        </p:blipFill>
        <p:spPr>
          <a:xfrm>
            <a:off x="829349" y="1229717"/>
            <a:ext cx="6610284" cy="4862413"/>
          </a:xfrm>
          <a:prstGeom prst="rect">
            <a:avLst/>
          </a:prstGeom>
        </p:spPr>
      </p:pic>
      <p:sp>
        <p:nvSpPr>
          <p:cNvPr id="4" name="Text 1"/>
          <p:cNvSpPr/>
          <p:nvPr/>
        </p:nvSpPr>
        <p:spPr>
          <a:xfrm>
            <a:off x="1275699" y="4124389"/>
            <a:ext cx="1986230" cy="248285"/>
          </a:xfrm>
          <a:prstGeom prst="rect">
            <a:avLst/>
          </a:prstGeom>
          <a:noFill/>
          <a:ln/>
        </p:spPr>
        <p:txBody>
          <a:bodyPr wrap="none" lIns="0" tIns="0" rIns="0" bIns="0" rtlCol="0" anchor="t"/>
          <a:lstStyle/>
          <a:p>
            <a:pPr algn="ctr" indent="0" marL="0">
              <a:lnSpc>
                <a:spcPct val="104000"/>
              </a:lnSpc>
              <a:buNone/>
            </a:pPr>
            <a:r>
              <a:rPr lang="en-US" sz="1550" b="1" dirty="0">
                <a:solidFill>
                  <a:srgbClr val="000000"/>
                </a:solidFill>
                <a:latin typeface="Orbitron Bold" pitchFamily="34" charset="0"/>
                <a:ea typeface="Orbitron Bold" pitchFamily="34" charset="-122"/>
                <a:cs typeface="Orbitron Bold" pitchFamily="34" charset="-120"/>
              </a:rPr>
              <a:t>Training</a:t>
            </a:r>
            <a:endParaRPr lang="en-US" sz="1550" dirty="0"/>
          </a:p>
        </p:txBody>
      </p:sp>
      <p:sp>
        <p:nvSpPr>
          <p:cNvPr id="5" name="Text 2"/>
          <p:cNvSpPr/>
          <p:nvPr/>
        </p:nvSpPr>
        <p:spPr>
          <a:xfrm>
            <a:off x="3663589" y="2844342"/>
            <a:ext cx="1641951" cy="248285"/>
          </a:xfrm>
          <a:prstGeom prst="rect">
            <a:avLst/>
          </a:prstGeom>
          <a:noFill/>
          <a:ln/>
        </p:spPr>
        <p:txBody>
          <a:bodyPr wrap="none" lIns="0" tIns="0" rIns="0" bIns="0" rtlCol="0" anchor="t"/>
          <a:lstStyle/>
          <a:p>
            <a:pPr algn="ctr" indent="0" marL="0">
              <a:lnSpc>
                <a:spcPct val="104000"/>
              </a:lnSpc>
              <a:buNone/>
            </a:pPr>
            <a:r>
              <a:rPr lang="en-US" sz="1550" b="1" dirty="0">
                <a:solidFill>
                  <a:srgbClr val="000000"/>
                </a:solidFill>
                <a:latin typeface="Orbitron Bold" pitchFamily="34" charset="0"/>
                <a:ea typeface="Orbitron Bold" pitchFamily="34" charset="-122"/>
                <a:cs typeface="Orbitron Bold" pitchFamily="34" charset="-120"/>
              </a:rPr>
              <a:t>Weights Set</a:t>
            </a:r>
            <a:endParaRPr lang="en-US" sz="1550" dirty="0"/>
          </a:p>
        </p:txBody>
      </p:sp>
      <p:sp>
        <p:nvSpPr>
          <p:cNvPr id="6" name="Text 3"/>
          <p:cNvSpPr/>
          <p:nvPr/>
        </p:nvSpPr>
        <p:spPr>
          <a:xfrm>
            <a:off x="5588025" y="4106733"/>
            <a:ext cx="1483051" cy="248285"/>
          </a:xfrm>
          <a:prstGeom prst="rect">
            <a:avLst/>
          </a:prstGeom>
          <a:noFill/>
          <a:ln/>
        </p:spPr>
        <p:txBody>
          <a:bodyPr wrap="none" lIns="0" tIns="0" rIns="0" bIns="0" rtlCol="0" anchor="t"/>
          <a:lstStyle/>
          <a:p>
            <a:pPr algn="ctr" indent="0" marL="0">
              <a:lnSpc>
                <a:spcPct val="104000"/>
              </a:lnSpc>
              <a:buNone/>
            </a:pPr>
            <a:r>
              <a:rPr lang="en-US" sz="1550" b="1" dirty="0">
                <a:solidFill>
                  <a:srgbClr val="000000"/>
                </a:solidFill>
                <a:latin typeface="Orbitron Bold" pitchFamily="34" charset="0"/>
                <a:ea typeface="Orbitron Bold" pitchFamily="34" charset="-122"/>
                <a:cs typeface="Orbitron Bold" pitchFamily="34" charset="-120"/>
              </a:rPr>
              <a:t>Inference</a:t>
            </a:r>
            <a:endParaRPr lang="en-US" sz="1550" dirty="0"/>
          </a:p>
        </p:txBody>
      </p:sp>
      <p:sp>
        <p:nvSpPr>
          <p:cNvPr id="7" name="Text 4"/>
          <p:cNvSpPr/>
          <p:nvPr/>
        </p:nvSpPr>
        <p:spPr>
          <a:xfrm>
            <a:off x="3804831" y="4963041"/>
            <a:ext cx="1394775" cy="248285"/>
          </a:xfrm>
          <a:prstGeom prst="rect">
            <a:avLst/>
          </a:prstGeom>
          <a:noFill/>
          <a:ln/>
        </p:spPr>
        <p:txBody>
          <a:bodyPr wrap="none" lIns="0" tIns="0" rIns="0" bIns="0" rtlCol="0" anchor="t"/>
          <a:lstStyle/>
          <a:p>
            <a:pPr algn="ctr" indent="0" marL="0">
              <a:lnSpc>
                <a:spcPct val="104000"/>
              </a:lnSpc>
              <a:buNone/>
            </a:pPr>
            <a:r>
              <a:rPr lang="en-US" sz="1550" b="1" dirty="0">
                <a:solidFill>
                  <a:srgbClr val="000000"/>
                </a:solidFill>
                <a:latin typeface="Orbitron Bold" pitchFamily="34" charset="0"/>
                <a:ea typeface="Orbitron Bold" pitchFamily="34" charset="-122"/>
                <a:cs typeface="Orbitron Bold" pitchFamily="34" charset="-120"/>
              </a:rPr>
              <a:t>Use Weights</a:t>
            </a:r>
            <a:endParaRPr lang="en-US" sz="1550" dirty="0"/>
          </a:p>
        </p:txBody>
      </p:sp>
      <p:sp>
        <p:nvSpPr>
          <p:cNvPr id="8" name="Text 5"/>
          <p:cNvSpPr/>
          <p:nvPr/>
        </p:nvSpPr>
        <p:spPr>
          <a:xfrm>
            <a:off x="2118743" y="1885962"/>
            <a:ext cx="1218221" cy="496570"/>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000000"/>
                </a:solidFill>
                <a:latin typeface="Orbitron Bold" pitchFamily="34" charset="0"/>
                <a:ea typeface="Orbitron Bold" pitchFamily="34" charset="-122"/>
                <a:cs typeface="Orbitron Bold" pitchFamily="34" charset="-120"/>
              </a:rPr>
              <a:t>Press Enter</a:t>
            </a:r>
            <a:endParaRPr lang="en-US" sz="15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2482" y="2782887"/>
            <a:ext cx="3583989" cy="827088"/>
          </a:xfrm>
          <a:prstGeom prst="rect">
            <a:avLst/>
          </a:prstGeom>
        </p:spPr>
      </p:pic>
      <p:sp>
        <p:nvSpPr>
          <p:cNvPr id="10" name="Text 6"/>
          <p:cNvSpPr/>
          <p:nvPr/>
        </p:nvSpPr>
        <p:spPr>
          <a:xfrm>
            <a:off x="8186533" y="2940745"/>
            <a:ext cx="3192085" cy="216892"/>
          </a:xfrm>
          <a:prstGeom prst="rect">
            <a:avLst/>
          </a:prstGeom>
          <a:noFill/>
          <a:ln/>
        </p:spPr>
        <p:txBody>
          <a:bodyPr wrap="none" lIns="0" tIns="0" rIns="0" bIns="0" rtlCol="0" anchor="t"/>
          <a:lstStyle/>
          <a:p>
            <a:pPr algn="l" indent="0" marL="0">
              <a:lnSpc>
                <a:spcPct val="104000"/>
              </a:lnSpc>
              <a:buNone/>
            </a:pPr>
            <a:r>
              <a:rPr lang="en-US" sz="1350" b="1" dirty="0">
                <a:solidFill>
                  <a:srgbClr val="1C1C1C"/>
                </a:solidFill>
                <a:latin typeface="Orbitron Bold" pitchFamily="34" charset="0"/>
                <a:ea typeface="Orbitron Bold" pitchFamily="34" charset="-122"/>
                <a:cs typeface="Orbitron Bold" pitchFamily="34" charset="-120"/>
              </a:rPr>
              <a:t>Training set the weights</a:t>
            </a:r>
            <a:endParaRPr lang="en-US" sz="1350" dirty="0"/>
          </a:p>
        </p:txBody>
      </p:sp>
      <p:sp>
        <p:nvSpPr>
          <p:cNvPr id="11" name="Text 7"/>
          <p:cNvSpPr/>
          <p:nvPr/>
        </p:nvSpPr>
        <p:spPr>
          <a:xfrm>
            <a:off x="8186533" y="3259534"/>
            <a:ext cx="3192085" cy="192584"/>
          </a:xfrm>
          <a:prstGeom prst="rect">
            <a:avLst/>
          </a:prstGeom>
          <a:noFill/>
          <a:ln/>
        </p:spPr>
        <p:txBody>
          <a:bodyPr wrap="none" lIns="0" tIns="0" rIns="0" bIns="0" rtlCol="0" anchor="t"/>
          <a:lstStyle/>
          <a:p>
            <a:pPr algn="l" indent="0" marL="0">
              <a:lnSpc>
                <a:spcPct val="116000"/>
              </a:lnSpc>
              <a:buNone/>
            </a:pPr>
            <a:r>
              <a:rPr lang="en-US" sz="1050" dirty="0">
                <a:solidFill>
                  <a:srgbClr val="1C1C1C"/>
                </a:solidFill>
                <a:latin typeface="Roboto Condensed" pitchFamily="34" charset="0"/>
                <a:ea typeface="Roboto Condensed" pitchFamily="34" charset="-122"/>
                <a:cs typeface="Roboto Condensed" pitchFamily="34" charset="-120"/>
              </a:rPr>
              <a:t>One happened once, elsewhere</a:t>
            </a:r>
            <a:endParaRPr lang="en-US" sz="105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52482" y="3711873"/>
            <a:ext cx="3583989" cy="827088"/>
          </a:xfrm>
          <a:prstGeom prst="rect">
            <a:avLst/>
          </a:prstGeom>
        </p:spPr>
      </p:pic>
      <p:sp>
        <p:nvSpPr>
          <p:cNvPr id="13" name="Text 8"/>
          <p:cNvSpPr/>
          <p:nvPr/>
        </p:nvSpPr>
        <p:spPr>
          <a:xfrm>
            <a:off x="8186533" y="3869730"/>
            <a:ext cx="3192085" cy="216892"/>
          </a:xfrm>
          <a:prstGeom prst="rect">
            <a:avLst/>
          </a:prstGeom>
          <a:noFill/>
          <a:ln/>
        </p:spPr>
        <p:txBody>
          <a:bodyPr wrap="none" lIns="0" tIns="0" rIns="0" bIns="0" rtlCol="0" anchor="t"/>
          <a:lstStyle/>
          <a:p>
            <a:pPr algn="l" indent="0" marL="0">
              <a:lnSpc>
                <a:spcPct val="104000"/>
              </a:lnSpc>
              <a:buNone/>
            </a:pPr>
            <a:r>
              <a:rPr lang="en-US" sz="1350" b="1" dirty="0">
                <a:solidFill>
                  <a:srgbClr val="1C1C1C"/>
                </a:solidFill>
                <a:latin typeface="Orbitron Bold" pitchFamily="34" charset="0"/>
                <a:ea typeface="Orbitron Bold" pitchFamily="34" charset="-122"/>
                <a:cs typeface="Orbitron Bold" pitchFamily="34" charset="-120"/>
              </a:rPr>
              <a:t>Inference uses them</a:t>
            </a:r>
            <a:endParaRPr lang="en-US" sz="1350" dirty="0"/>
          </a:p>
        </p:txBody>
      </p:sp>
      <p:sp>
        <p:nvSpPr>
          <p:cNvPr id="14" name="Text 9"/>
          <p:cNvSpPr/>
          <p:nvPr/>
        </p:nvSpPr>
        <p:spPr>
          <a:xfrm>
            <a:off x="8186533" y="4188520"/>
            <a:ext cx="3192085" cy="192584"/>
          </a:xfrm>
          <a:prstGeom prst="rect">
            <a:avLst/>
          </a:prstGeom>
          <a:noFill/>
          <a:ln/>
        </p:spPr>
        <p:txBody>
          <a:bodyPr wrap="none" lIns="0" tIns="0" rIns="0" bIns="0" rtlCol="0" anchor="t"/>
          <a:lstStyle/>
          <a:p>
            <a:pPr algn="l" indent="0" marL="0">
              <a:lnSpc>
                <a:spcPct val="116000"/>
              </a:lnSpc>
              <a:buNone/>
            </a:pPr>
            <a:r>
              <a:rPr lang="en-US" sz="1050" dirty="0">
                <a:solidFill>
                  <a:srgbClr val="1C1C1C"/>
                </a:solidFill>
                <a:latin typeface="Roboto Condensed" pitchFamily="34" charset="0"/>
                <a:ea typeface="Roboto Condensed" pitchFamily="34" charset="-122"/>
                <a:cs typeface="Roboto Condensed" pitchFamily="34" charset="-120"/>
              </a:rPr>
              <a:t>One happens when you press enter</a:t>
            </a:r>
            <a:endParaRPr lang="en-US" sz="1050" dirty="0"/>
          </a:p>
        </p:txBody>
      </p:sp>
      <p:sp>
        <p:nvSpPr>
          <p:cNvPr id="15"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training actually did</a:t>
            </a:r>
            <a:endParaRPr lang="en-US" sz="3600" dirty="0"/>
          </a:p>
        </p:txBody>
      </p:sp>
      <p:sp>
        <p:nvSpPr>
          <p:cNvPr id="4" name="Text 1"/>
          <p:cNvSpPr/>
          <p:nvPr/>
        </p:nvSpPr>
        <p:spPr>
          <a:xfrm>
            <a:off x="5233360"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5233360" y="2246709"/>
            <a:ext cx="6296860" cy="25400"/>
          </a:xfrm>
          <a:prstGeom prst="rect">
            <a:avLst/>
          </a:prstGeom>
          <a:solidFill>
            <a:srgbClr val="57A1EB"/>
          </a:solidFill>
          <a:ln/>
        </p:spPr>
      </p:sp>
      <p:sp>
        <p:nvSpPr>
          <p:cNvPr id="6" name="Text 3"/>
          <p:cNvSpPr/>
          <p:nvPr/>
        </p:nvSpPr>
        <p:spPr>
          <a:xfrm>
            <a:off x="5233360"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Showed it an enormous amount of text</a:t>
            </a:r>
            <a:endParaRPr lang="en-US" sz="1800" dirty="0"/>
          </a:p>
        </p:txBody>
      </p:sp>
      <p:sp>
        <p:nvSpPr>
          <p:cNvPr id="7" name="Text 4"/>
          <p:cNvSpPr/>
          <p:nvPr/>
        </p:nvSpPr>
        <p:spPr>
          <a:xfrm>
            <a:off x="5233360"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5233360" y="3275409"/>
            <a:ext cx="6296860" cy="25400"/>
          </a:xfrm>
          <a:prstGeom prst="rect">
            <a:avLst/>
          </a:prstGeom>
          <a:solidFill>
            <a:srgbClr val="57A1EB"/>
          </a:solidFill>
          <a:ln/>
        </p:spPr>
      </p:sp>
      <p:sp>
        <p:nvSpPr>
          <p:cNvPr id="9" name="Text 6"/>
          <p:cNvSpPr/>
          <p:nvPr/>
        </p:nvSpPr>
        <p:spPr>
          <a:xfrm>
            <a:off x="5233360"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Asked it to predict the next piece</a:t>
            </a:r>
            <a:endParaRPr lang="en-US" sz="1800" dirty="0"/>
          </a:p>
        </p:txBody>
      </p:sp>
      <p:sp>
        <p:nvSpPr>
          <p:cNvPr id="10" name="Text 7"/>
          <p:cNvSpPr/>
          <p:nvPr/>
        </p:nvSpPr>
        <p:spPr>
          <a:xfrm>
            <a:off x="5233360"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5233360" y="4304109"/>
            <a:ext cx="6296860" cy="25400"/>
          </a:xfrm>
          <a:prstGeom prst="rect">
            <a:avLst/>
          </a:prstGeom>
          <a:solidFill>
            <a:srgbClr val="57A1EB"/>
          </a:solidFill>
          <a:ln/>
        </p:spPr>
      </p:sp>
      <p:sp>
        <p:nvSpPr>
          <p:cNvPr id="12" name="Text 9"/>
          <p:cNvSpPr/>
          <p:nvPr/>
        </p:nvSpPr>
        <p:spPr>
          <a:xfrm>
            <a:off x="5233360" y="44463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Compared the guess to what followed</a:t>
            </a:r>
            <a:endParaRPr lang="en-US" sz="1800" dirty="0"/>
          </a:p>
        </p:txBody>
      </p:sp>
      <p:sp>
        <p:nvSpPr>
          <p:cNvPr id="13" name="Text 10"/>
          <p:cNvSpPr/>
          <p:nvPr/>
        </p:nvSpPr>
        <p:spPr>
          <a:xfrm>
            <a:off x="5233360" y="50470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5233360" y="5332809"/>
            <a:ext cx="6296860" cy="25400"/>
          </a:xfrm>
          <a:prstGeom prst="rect">
            <a:avLst/>
          </a:prstGeom>
          <a:solidFill>
            <a:srgbClr val="57A1EB"/>
          </a:solidFill>
          <a:ln/>
        </p:spPr>
      </p:sp>
      <p:sp>
        <p:nvSpPr>
          <p:cNvPr id="15" name="Text 12"/>
          <p:cNvSpPr/>
          <p:nvPr/>
        </p:nvSpPr>
        <p:spPr>
          <a:xfrm>
            <a:off x="5233360" y="54750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Nudged the numbers, an unimaginable number of times</a:t>
            </a:r>
            <a:endParaRPr lang="en-US" sz="18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40445"/>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What inference does</a:t>
            </a:r>
            <a:endParaRPr lang="en-US" sz="3500" dirty="0"/>
          </a:p>
        </p:txBody>
      </p:sp>
      <p:pic>
        <p:nvPicPr>
          <p:cNvPr id="3" name="Image 0" descr="preencoded.png">    </p:cNvPr>
          <p:cNvPicPr>
            <a:picLocks noChangeAspect="1"/>
          </p:cNvPicPr>
          <p:nvPr/>
        </p:nvPicPr>
        <p:blipFill>
          <a:blip r:embed="rId1"/>
          <a:stretch>
            <a:fillRect/>
          </a:stretch>
        </p:blipFill>
        <p:spPr>
          <a:xfrm>
            <a:off x="661475" y="1819771"/>
            <a:ext cx="6910810" cy="3916164"/>
          </a:xfrm>
          <a:prstGeom prst="rect">
            <a:avLst/>
          </a:prstGeom>
        </p:spPr>
      </p:pic>
      <p:pic>
        <p:nvPicPr>
          <p:cNvPr id="4" name="Image 1" descr="preencoded.png">    </p:cNvPr>
          <p:cNvPicPr>
            <a:picLocks noChangeAspect="1"/>
          </p:cNvPicPr>
          <p:nvPr/>
        </p:nvPicPr>
        <p:blipFill>
          <a:blip r:embed="rId2"/>
          <a:stretch>
            <a:fillRect/>
          </a:stretch>
        </p:blipFill>
        <p:spPr>
          <a:xfrm>
            <a:off x="8018163" y="1554262"/>
            <a:ext cx="900784" cy="1080889"/>
          </a:xfrm>
          <a:prstGeom prst="rect">
            <a:avLst/>
          </a:prstGeom>
        </p:spPr>
      </p:pic>
      <p:sp>
        <p:nvSpPr>
          <p:cNvPr id="5" name="Text 1"/>
          <p:cNvSpPr/>
          <p:nvPr/>
        </p:nvSpPr>
        <p:spPr>
          <a:xfrm>
            <a:off x="9090591" y="1734344"/>
            <a:ext cx="2445879"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Tokenize your text</a:t>
            </a:r>
            <a:endParaRPr lang="en-US" sz="1750" dirty="0"/>
          </a:p>
        </p:txBody>
      </p:sp>
      <p:pic>
        <p:nvPicPr>
          <p:cNvPr id="6" name="Image 2" descr="preencoded.png">    </p:cNvPr>
          <p:cNvPicPr>
            <a:picLocks noChangeAspect="1"/>
          </p:cNvPicPr>
          <p:nvPr/>
        </p:nvPicPr>
        <p:blipFill>
          <a:blip r:embed="rId3"/>
          <a:stretch>
            <a:fillRect/>
          </a:stretch>
        </p:blipFill>
        <p:spPr>
          <a:xfrm>
            <a:off x="8018163" y="2635151"/>
            <a:ext cx="900784" cy="1080889"/>
          </a:xfrm>
          <a:prstGeom prst="rect">
            <a:avLst/>
          </a:prstGeom>
        </p:spPr>
      </p:pic>
      <p:sp>
        <p:nvSpPr>
          <p:cNvPr id="7" name="Text 2"/>
          <p:cNvSpPr/>
          <p:nvPr/>
        </p:nvSpPr>
        <p:spPr>
          <a:xfrm>
            <a:off x="9090591" y="2815233"/>
            <a:ext cx="2445879"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Run it through fixed weights</a:t>
            </a:r>
            <a:endParaRPr lang="en-US" sz="1750" dirty="0"/>
          </a:p>
        </p:txBody>
      </p:sp>
      <p:pic>
        <p:nvPicPr>
          <p:cNvPr id="8" name="Image 3" descr="preencoded.png">    </p:cNvPr>
          <p:cNvPicPr>
            <a:picLocks noChangeAspect="1"/>
          </p:cNvPicPr>
          <p:nvPr/>
        </p:nvPicPr>
        <p:blipFill>
          <a:blip r:embed="rId4"/>
          <a:stretch>
            <a:fillRect/>
          </a:stretch>
        </p:blipFill>
        <p:spPr>
          <a:xfrm>
            <a:off x="8018163" y="3716040"/>
            <a:ext cx="900784" cy="1204615"/>
          </a:xfrm>
          <a:prstGeom prst="rect">
            <a:avLst/>
          </a:prstGeom>
        </p:spPr>
      </p:pic>
      <p:sp>
        <p:nvSpPr>
          <p:cNvPr id="9" name="Text 3"/>
          <p:cNvSpPr/>
          <p:nvPr/>
        </p:nvSpPr>
        <p:spPr>
          <a:xfrm>
            <a:off x="9090591" y="3896122"/>
            <a:ext cx="2445879" cy="844451"/>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Get a probability for every next token</a:t>
            </a:r>
            <a:endParaRPr lang="en-US" sz="1750" dirty="0"/>
          </a:p>
        </p:txBody>
      </p:sp>
      <p:pic>
        <p:nvPicPr>
          <p:cNvPr id="10" name="Image 4" descr="preencoded.png">    </p:cNvPr>
          <p:cNvPicPr>
            <a:picLocks noChangeAspect="1"/>
          </p:cNvPicPr>
          <p:nvPr/>
        </p:nvPicPr>
        <p:blipFill>
          <a:blip r:embed="rId5"/>
          <a:stretch>
            <a:fillRect/>
          </a:stretch>
        </p:blipFill>
        <p:spPr>
          <a:xfrm>
            <a:off x="8018163" y="4920655"/>
            <a:ext cx="900784" cy="1080889"/>
          </a:xfrm>
          <a:prstGeom prst="rect">
            <a:avLst/>
          </a:prstGeom>
        </p:spPr>
      </p:pic>
      <p:sp>
        <p:nvSpPr>
          <p:cNvPr id="11" name="Text 4"/>
          <p:cNvSpPr/>
          <p:nvPr/>
        </p:nvSpPr>
        <p:spPr>
          <a:xfrm>
            <a:off x="9090591" y="5100737"/>
            <a:ext cx="2445879"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Choose one, append, run again</a:t>
            </a:r>
            <a:endParaRPr lang="en-US" sz="17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weights do not change</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during your request</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because you corrected it</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file on disk is the same file</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is learned while you use it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cost actually looks like</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prompt            median total   median ttft   tokens   tokens/sec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p1_short             1335.7 ms      318.3 ms     40.0         39.3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4528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things people mean by trained on our data</a:t>
            </a:r>
            <a:endParaRPr lang="en-US" sz="3700" dirty="0"/>
          </a:p>
        </p:txBody>
      </p:sp>
      <p:sp>
        <p:nvSpPr>
          <p:cNvPr id="3" name="Shape 1"/>
          <p:cNvSpPr/>
          <p:nvPr/>
        </p:nvSpPr>
        <p:spPr>
          <a:xfrm>
            <a:off x="661475" y="3504605"/>
            <a:ext cx="10868745" cy="1285280"/>
          </a:xfrm>
          <a:prstGeom prst="roundRect">
            <a:avLst>
              <a:gd name="adj" fmla="val 6177"/>
            </a:avLst>
          </a:prstGeom>
          <a:solidFill>
            <a:srgbClr val="F2F2F2"/>
          </a:solidFill>
          <a:ln/>
        </p:spPr>
      </p:sp>
      <p:sp>
        <p:nvSpPr>
          <p:cNvPr id="4" name="Text 2"/>
          <p:cNvSpPr/>
          <p:nvPr/>
        </p:nvSpPr>
        <p:spPr>
          <a:xfrm>
            <a:off x="888283" y="3693616"/>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"I trained it by talking to it"  -&gt; earlier text re-sent in the prompt</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"We gave it our documents"      -&gt; documents searched, parts put in the prompt</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"We fine-tuned it"              -&gt; more training, producing a new weights file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58701"/>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The same prompt twice</a:t>
            </a:r>
            <a:endParaRPr lang="en-US" sz="3500" dirty="0"/>
          </a:p>
        </p:txBody>
      </p:sp>
      <p:pic>
        <p:nvPicPr>
          <p:cNvPr id="3" name="Image 0" descr="preencoded.png">    </p:cNvPr>
          <p:cNvPicPr>
            <a:picLocks noChangeAspect="1"/>
          </p:cNvPicPr>
          <p:nvPr/>
        </p:nvPicPr>
        <p:blipFill>
          <a:blip r:embed="rId1"/>
          <a:stretch>
            <a:fillRect/>
          </a:stretch>
        </p:blipFill>
        <p:spPr>
          <a:xfrm>
            <a:off x="661475" y="1819771"/>
            <a:ext cx="6910810" cy="3916164"/>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18163" y="1572518"/>
            <a:ext cx="3518308" cy="973931"/>
          </a:xfrm>
          <a:prstGeom prst="rect">
            <a:avLst/>
          </a:prstGeom>
        </p:spPr>
      </p:pic>
      <p:sp>
        <p:nvSpPr>
          <p:cNvPr id="5" name="Text 1"/>
          <p:cNvSpPr/>
          <p:nvPr/>
        </p:nvSpPr>
        <p:spPr>
          <a:xfrm>
            <a:off x="8325237" y="1778000"/>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Our stub gives the same answer</a:t>
            </a:r>
            <a:endParaRPr lang="en-US" sz="17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18163" y="2718098"/>
            <a:ext cx="3518308" cy="973931"/>
          </a:xfrm>
          <a:prstGeom prst="rect">
            <a:avLst/>
          </a:prstGeom>
        </p:spPr>
      </p:pic>
      <p:sp>
        <p:nvSpPr>
          <p:cNvPr id="7" name="Text 2"/>
          <p:cNvSpPr/>
          <p:nvPr/>
        </p:nvSpPr>
        <p:spPr>
          <a:xfrm>
            <a:off x="8325237" y="2923580"/>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 real model often does not</a:t>
            </a:r>
            <a:endParaRPr lang="en-US" sz="17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18163" y="3863677"/>
            <a:ext cx="3518308" cy="973931"/>
          </a:xfrm>
          <a:prstGeom prst="rect">
            <a:avLst/>
          </a:prstGeom>
        </p:spPr>
      </p:pic>
      <p:sp>
        <p:nvSpPr>
          <p:cNvPr id="9" name="Text 3"/>
          <p:cNvSpPr/>
          <p:nvPr/>
        </p:nvSpPr>
        <p:spPr>
          <a:xfrm>
            <a:off x="8325237" y="4069159"/>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It samples with some randomness</a:t>
            </a:r>
            <a:endParaRPr lang="en-US" sz="17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8163" y="5009257"/>
            <a:ext cx="3518308" cy="973931"/>
          </a:xfrm>
          <a:prstGeom prst="rect">
            <a:avLst/>
          </a:prstGeom>
        </p:spPr>
      </p:pic>
      <p:sp>
        <p:nvSpPr>
          <p:cNvPr id="11" name="Text 4"/>
          <p:cNvSpPr/>
          <p:nvPr/>
        </p:nvSpPr>
        <p:spPr>
          <a:xfrm>
            <a:off x="8325237" y="5214739"/>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Turn that off and it repeats</a:t>
            </a:r>
            <a:endParaRPr lang="en-US" sz="17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82235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belief this kills</a:t>
            </a:r>
            <a:endParaRPr lang="en-US" sz="3700" dirty="0"/>
          </a:p>
        </p:txBody>
      </p:sp>
      <p:sp>
        <p:nvSpPr>
          <p:cNvPr id="4" name="Shape 1"/>
          <p:cNvSpPr/>
          <p:nvPr/>
        </p:nvSpPr>
        <p:spPr>
          <a:xfrm>
            <a:off x="5233360" y="2696468"/>
            <a:ext cx="6296860" cy="2216348"/>
          </a:xfrm>
          <a:prstGeom prst="roundRect">
            <a:avLst>
              <a:gd name="adj" fmla="val 3582"/>
            </a:avLst>
          </a:prstGeom>
          <a:solidFill>
            <a:srgbClr val="D1E5FA"/>
          </a:solidFill>
          <a:ln w="19050">
            <a:solidFill>
              <a:srgbClr val="B7CBE0"/>
            </a:solidFill>
            <a:prstDash val="solid"/>
          </a:ln>
        </p:spPr>
      </p:sp>
      <p:sp>
        <p:nvSpPr>
          <p:cNvPr id="5" name="Shape 2"/>
          <p:cNvSpPr/>
          <p:nvPr/>
        </p:nvSpPr>
        <p:spPr>
          <a:xfrm>
            <a:off x="5252410" y="2715518"/>
            <a:ext cx="6258761" cy="1089124"/>
          </a:xfrm>
          <a:custGeom>
            <a:avLst/>
            <a:gdLst/>
            <a:ahLst/>
            <a:cxnLst/>
            <a:rect l="l" t="t" r="r" b="b"/>
            <a:pathLst>
              <a:path w="6258761" h="1089124">
                <a:moveTo>
                  <a:pt x="66156" y="0"/>
                </a:moveTo>
                <a:lnTo>
                  <a:pt x="6192604" y="0"/>
                </a:lnTo>
                <a:arcTo hR="66158" wR="66156" stAng="16200000" swAng="5400000"/>
                <a:lnTo>
                  <a:pt x="6258761" y="1089124"/>
                </a:lnTo>
                <a:lnTo>
                  <a:pt x="0" y="1089124"/>
                </a:lnTo>
                <a:lnTo>
                  <a:pt x="0" y="66158"/>
                </a:lnTo>
                <a:arcTo hR="66158" wR="66156" stAng="10800000" swAng="5400000"/>
                <a:close/>
              </a:path>
            </a:pathLst>
          </a:custGeom>
          <a:solidFill>
            <a:srgbClr val="D1E5FA"/>
          </a:solidFill>
          <a:ln/>
        </p:spPr>
      </p:sp>
      <p:sp>
        <p:nvSpPr>
          <p:cNvPr id="6" name="Text 3"/>
          <p:cNvSpPr/>
          <p:nvPr/>
        </p:nvSpPr>
        <p:spPr>
          <a:xfrm>
            <a:off x="5441417" y="290453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time you use it, it learns</a:t>
            </a:r>
            <a:endParaRPr lang="en-US" sz="1850" dirty="0"/>
          </a:p>
        </p:txBody>
      </p:sp>
      <p:sp>
        <p:nvSpPr>
          <p:cNvPr id="7" name="Text 4"/>
          <p:cNvSpPr/>
          <p:nvPr/>
        </p:nvSpPr>
        <p:spPr>
          <a:xfrm>
            <a:off x="5441417" y="3313212"/>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False during inference</a:t>
            </a:r>
            <a:endParaRPr lang="en-US" sz="1450" dirty="0"/>
          </a:p>
        </p:txBody>
      </p:sp>
      <p:sp>
        <p:nvSpPr>
          <p:cNvPr id="8" name="Shape 5"/>
          <p:cNvSpPr/>
          <p:nvPr/>
        </p:nvSpPr>
        <p:spPr>
          <a:xfrm>
            <a:off x="5252410" y="3804642"/>
            <a:ext cx="6258761" cy="1089124"/>
          </a:xfrm>
          <a:custGeom>
            <a:avLst/>
            <a:gdLst/>
            <a:ahLst/>
            <a:cxnLst/>
            <a:rect l="l" t="t" r="r" b="b"/>
            <a:pathLst>
              <a:path w="6258761" h="1089124">
                <a:moveTo>
                  <a:pt x="0" y="0"/>
                </a:moveTo>
                <a:lnTo>
                  <a:pt x="6258761" y="0"/>
                </a:lnTo>
                <a:lnTo>
                  <a:pt x="6258761" y="1022966"/>
                </a:lnTo>
                <a:arcTo hR="66158" wR="66156" stAng="0" swAng="5400000"/>
                <a:lnTo>
                  <a:pt x="66156" y="1089124"/>
                </a:lnTo>
                <a:arcTo hR="66158" wR="66156" stAng="5400000" swAng="5400000"/>
                <a:lnTo>
                  <a:pt x="0" y="0"/>
                </a:lnTo>
                <a:close/>
              </a:path>
            </a:pathLst>
          </a:custGeom>
          <a:solidFill>
            <a:srgbClr val="D1E5FA"/>
          </a:solidFill>
          <a:ln/>
        </p:spPr>
      </p:sp>
      <p:sp>
        <p:nvSpPr>
          <p:cNvPr id="9" name="Shape 6"/>
          <p:cNvSpPr/>
          <p:nvPr/>
        </p:nvSpPr>
        <p:spPr>
          <a:xfrm>
            <a:off x="5252410" y="3804642"/>
            <a:ext cx="6258761" cy="25400"/>
          </a:xfrm>
          <a:prstGeom prst="roundRect">
            <a:avLst>
              <a:gd name="adj" fmla="val 49999"/>
            </a:avLst>
          </a:prstGeom>
          <a:solidFill>
            <a:srgbClr val="B7CBE0"/>
          </a:solidFill>
          <a:ln/>
        </p:spPr>
      </p:sp>
      <p:sp>
        <p:nvSpPr>
          <p:cNvPr id="10" name="Text 7"/>
          <p:cNvSpPr/>
          <p:nvPr/>
        </p:nvSpPr>
        <p:spPr>
          <a:xfrm>
            <a:off x="5441417" y="399365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Products do improve, at the company</a:t>
            </a:r>
            <a:endParaRPr lang="en-US" sz="1850" dirty="0"/>
          </a:p>
        </p:txBody>
      </p:sp>
      <p:sp>
        <p:nvSpPr>
          <p:cNvPr id="11" name="Text 8"/>
          <p:cNvSpPr/>
          <p:nvPr/>
        </p:nvSpPr>
        <p:spPr>
          <a:xfrm>
            <a:off x="5441417" y="4402336"/>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Conversations improve, from the input</a:t>
            </a:r>
            <a:endParaRPr lang="en-US" sz="14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9106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sentence for a non-technical adult</a:t>
            </a:r>
            <a:endParaRPr lang="en-US" sz="3700" dirty="0"/>
          </a:p>
        </p:txBody>
      </p:sp>
      <p:sp>
        <p:nvSpPr>
          <p:cNvPr id="3" name="Text 1"/>
          <p:cNvSpPr/>
          <p:nvPr/>
        </p:nvSpPr>
        <p:spPr>
          <a:xfrm>
            <a:off x="661475" y="287932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175198"/>
            <a:ext cx="5339820" cy="25400"/>
          </a:xfrm>
          <a:prstGeom prst="rect">
            <a:avLst/>
          </a:prstGeom>
          <a:solidFill>
            <a:srgbClr val="57A1EB"/>
          </a:solidFill>
          <a:ln/>
        </p:spPr>
      </p:sp>
      <p:sp>
        <p:nvSpPr>
          <p:cNvPr id="5" name="Text 3"/>
          <p:cNvSpPr/>
          <p:nvPr/>
        </p:nvSpPr>
        <p:spPr>
          <a:xfrm>
            <a:off x="661475" y="3320455"/>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huge set of numbers</a:t>
            </a:r>
            <a:endParaRPr lang="en-US" sz="1850" dirty="0"/>
          </a:p>
        </p:txBody>
      </p:sp>
      <p:sp>
        <p:nvSpPr>
          <p:cNvPr id="6" name="Text 4"/>
          <p:cNvSpPr/>
          <p:nvPr/>
        </p:nvSpPr>
        <p:spPr>
          <a:xfrm>
            <a:off x="6190301" y="287932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3175198"/>
            <a:ext cx="5339919" cy="25400"/>
          </a:xfrm>
          <a:prstGeom prst="rect">
            <a:avLst/>
          </a:prstGeom>
          <a:solidFill>
            <a:srgbClr val="57A1EB"/>
          </a:solidFill>
          <a:ln/>
        </p:spPr>
      </p:sp>
      <p:sp>
        <p:nvSpPr>
          <p:cNvPr id="8" name="Text 6"/>
          <p:cNvSpPr/>
          <p:nvPr/>
        </p:nvSpPr>
        <p:spPr>
          <a:xfrm>
            <a:off x="6190301" y="3320455"/>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Adjusted once until it guessed well</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Now it guesses the next piece</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Adds it on, guesses again</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661475"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Send an identical prompt twice</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Record whether the answers match</a:t>
            </a:r>
            <a:endParaRPr lang="en-US" sz="1850" dirty="0"/>
          </a:p>
        </p:txBody>
      </p:sp>
      <p:sp>
        <p:nvSpPr>
          <p:cNvPr id="8" name="Shape 5"/>
          <p:cNvSpPr/>
          <p:nvPr/>
        </p:nvSpPr>
        <p:spPr>
          <a:xfrm>
            <a:off x="661475"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Design an experiment that would prove learning</a:t>
            </a:r>
            <a:endParaRPr lang="en-US" sz="1850" dirty="0"/>
          </a:p>
        </p:txBody>
      </p:sp>
      <p:sp>
        <p:nvSpPr>
          <p:cNvPr id="10" name="Shape 7"/>
          <p:cNvSpPr/>
          <p:nvPr/>
        </p:nvSpPr>
        <p:spPr>
          <a:xfrm>
            <a:off x="661475"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say why ours cannot run it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2026-09-16T04:00:04Z</dcterms:created>
  <dcterms:modified xsi:type="dcterms:W3CDTF">2026-09-16T04:00:04Z</dcterms:modified>
</cp:coreProperties>
</file>