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and read the brief. She did not ask for an assistant, she asked to be able to point at the paragraph. One of the two approaches we are comparing hands you a file name, a heading, and a character range. The other hands you a sentence with no source. Hold that while we do the other three arguments.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and people mix up two of them. Fine tuning is the only one that changes the model. Retrieval finds the relevant pieces at question time and puts them in the prompt, which is prompting with the choosing automated. Getting that distinction right is worth marks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say fine tuning is expensive and stop. Say the costs are shaped differently. Retrieval costs a little on every query forever. Fine tuning costs a lot once and little per query. At enormous query volume over material that never changes, that trade can actually go the other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boring argument that wins. Handbooks change, policies change, prices change. There is no way to look at a model and tell which version of a fact is inside it. A system that is wrong until the next training run is a system that is wrong, and nobody can tell by looking.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file name, a heading, and a character range. Somebody who knows the handbook checks that in ten seconds. And there is a second thing it buys: when the answer is wrong you can tell whether the retrieval went wrong or the source was wrong, and those have different fixes. With fine tuning they are the same indistinguishable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argument with no fourth section is a sales pitch. Anybody can say cheap, fresh, traceable. The person worth listening to says what it still gets wrong, specifically, and tomorrow is a whole lesson on it. For today, know the four so you can write the memo.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able to say this, because a memo claiming retrieval is always better is not an analysis. Format, tone, refusals, vocabulary: those are behaviour, and they are not written down anywhere as a passage. The usual real answer is both, a model fine tuned for the shape and the facts retrieved at question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will read this in a plan. It sounds more serious than we chunked the handbook, and it is more work. More work is not a better answer. The most likely outcome of fine tuning on eight documents is a model that sounds like the handbook and makes up its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rows, and you should be able to reproduce them from memory in the exit assessment. The two that decide most arguments are the middle two. The bottom one is the one that stops your memo being a sales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two is the memo section that carries ten of its fifty marks. All four points. The fourth one has to name a failure you can point at in the Ridge Creek handbook, not a generic sentence about retrieval being imperfect. You ran the queries yesterday. The evidence is already in your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1.png"/><Relationship Id="rId4" Type="http://schemas.openxmlformats.org/officeDocument/2006/relationships/image" Target="../media/image-8-2.svg"/><Relationship Id="rId5" Type="http://schemas.openxmlformats.org/officeDocument/2006/relationships/image" Target="../media/image-8-1.png"/><Relationship Id="rId6" Type="http://schemas.openxmlformats.org/officeDocument/2006/relationships/image" Target="../media/image-8-2.svg"/><Relationship Id="rId7" Type="http://schemas.openxmlformats.org/officeDocument/2006/relationships/image" Target="../media/image-8-1.png"/><Relationship Id="rId8" Type="http://schemas.openxmlformats.org/officeDocument/2006/relationships/image" Target="../media/image-8-2.sv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Retrieval Versus Fine Tuning</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advisor said one sentence</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 would like to be able to point at the paragraph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One approach can do that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other one cannot, ever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That is most of today in one line</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366143"/>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routes, and one of them is not what you think</a:t>
            </a:r>
            <a:endParaRPr lang="en-US" sz="3700" dirty="0"/>
          </a:p>
        </p:txBody>
      </p:sp>
      <p:sp>
        <p:nvSpPr>
          <p:cNvPr id="3" name="Shape 1"/>
          <p:cNvSpPr/>
          <p:nvPr/>
        </p:nvSpPr>
        <p:spPr>
          <a:xfrm>
            <a:off x="661475" y="2925465"/>
            <a:ext cx="5339820" cy="1127224"/>
          </a:xfrm>
          <a:prstGeom prst="roundRect">
            <a:avLst>
              <a:gd name="adj" fmla="val 7043"/>
            </a:avLst>
          </a:prstGeom>
          <a:solidFill>
            <a:srgbClr val="D1E5FA"/>
          </a:solidFill>
          <a:ln w="19050">
            <a:solidFill>
              <a:srgbClr val="B7CBE0"/>
            </a:solidFill>
            <a:prstDash val="solid"/>
          </a:ln>
        </p:spPr>
      </p:sp>
      <p:sp>
        <p:nvSpPr>
          <p:cNvPr id="4" name="Text 2"/>
          <p:cNvSpPr/>
          <p:nvPr/>
        </p:nvSpPr>
        <p:spPr>
          <a:xfrm>
            <a:off x="869531" y="3133527"/>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Fine Tuning</a:t>
            </a:r>
            <a:endParaRPr lang="en-US" sz="1850" dirty="0"/>
          </a:p>
        </p:txBody>
      </p:sp>
      <p:sp>
        <p:nvSpPr>
          <p:cNvPr id="5" name="Text 3"/>
          <p:cNvSpPr/>
          <p:nvPr/>
        </p:nvSpPr>
        <p:spPr>
          <a:xfrm>
            <a:off x="869531" y="3542209"/>
            <a:ext cx="49237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Changes the model's weights</a:t>
            </a:r>
            <a:endParaRPr lang="en-US" sz="1450" dirty="0"/>
          </a:p>
        </p:txBody>
      </p:sp>
      <p:sp>
        <p:nvSpPr>
          <p:cNvPr id="6" name="Shape 4"/>
          <p:cNvSpPr/>
          <p:nvPr/>
        </p:nvSpPr>
        <p:spPr>
          <a:xfrm>
            <a:off x="6190301" y="2925465"/>
            <a:ext cx="5339919" cy="1127224"/>
          </a:xfrm>
          <a:prstGeom prst="roundRect">
            <a:avLst>
              <a:gd name="adj" fmla="val 7043"/>
            </a:avLst>
          </a:prstGeom>
          <a:solidFill>
            <a:srgbClr val="D1E5FA"/>
          </a:solidFill>
          <a:ln w="19050">
            <a:solidFill>
              <a:srgbClr val="B7CBE0"/>
            </a:solidFill>
            <a:prstDash val="solid"/>
          </a:ln>
        </p:spPr>
      </p:sp>
      <p:sp>
        <p:nvSpPr>
          <p:cNvPr id="7" name="Text 5"/>
          <p:cNvSpPr/>
          <p:nvPr/>
        </p:nvSpPr>
        <p:spPr>
          <a:xfrm>
            <a:off x="6398358" y="3133527"/>
            <a:ext cx="49238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Retrieval</a:t>
            </a:r>
            <a:endParaRPr lang="en-US" sz="1850" dirty="0"/>
          </a:p>
        </p:txBody>
      </p:sp>
      <p:sp>
        <p:nvSpPr>
          <p:cNvPr id="8" name="Text 6"/>
          <p:cNvSpPr/>
          <p:nvPr/>
        </p:nvSpPr>
        <p:spPr>
          <a:xfrm>
            <a:off x="6398358" y="3542209"/>
            <a:ext cx="49238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Does not touch the model at all</a:t>
            </a:r>
            <a:endParaRPr lang="en-US" sz="1450" dirty="0"/>
          </a:p>
        </p:txBody>
      </p:sp>
      <p:sp>
        <p:nvSpPr>
          <p:cNvPr id="9" name="Shape 7"/>
          <p:cNvSpPr/>
          <p:nvPr/>
        </p:nvSpPr>
        <p:spPr>
          <a:xfrm>
            <a:off x="661475" y="4241701"/>
            <a:ext cx="5339820" cy="1127224"/>
          </a:xfrm>
          <a:prstGeom prst="roundRect">
            <a:avLst>
              <a:gd name="adj" fmla="val 7043"/>
            </a:avLst>
          </a:prstGeom>
          <a:solidFill>
            <a:srgbClr val="D1E5FA"/>
          </a:solidFill>
          <a:ln w="19050">
            <a:solidFill>
              <a:srgbClr val="B7CBE0"/>
            </a:solidFill>
            <a:prstDash val="solid"/>
          </a:ln>
        </p:spPr>
      </p:sp>
      <p:sp>
        <p:nvSpPr>
          <p:cNvPr id="10" name="Text 8"/>
          <p:cNvSpPr/>
          <p:nvPr/>
        </p:nvSpPr>
        <p:spPr>
          <a:xfrm>
            <a:off x="869531" y="4449762"/>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Prompting</a:t>
            </a:r>
            <a:endParaRPr lang="en-US" sz="1850" dirty="0"/>
          </a:p>
        </p:txBody>
      </p:sp>
      <p:sp>
        <p:nvSpPr>
          <p:cNvPr id="11" name="Text 9"/>
          <p:cNvSpPr/>
          <p:nvPr/>
        </p:nvSpPr>
        <p:spPr>
          <a:xfrm>
            <a:off x="869531" y="4858445"/>
            <a:ext cx="49237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Pasting context in by hand</a:t>
            </a:r>
            <a:endParaRPr lang="en-US" sz="1450" dirty="0"/>
          </a:p>
        </p:txBody>
      </p:sp>
      <p:sp>
        <p:nvSpPr>
          <p:cNvPr id="12" name="Shape 10"/>
          <p:cNvSpPr/>
          <p:nvPr/>
        </p:nvSpPr>
        <p:spPr>
          <a:xfrm>
            <a:off x="6190301" y="4241701"/>
            <a:ext cx="5339919" cy="1127224"/>
          </a:xfrm>
          <a:prstGeom prst="roundRect">
            <a:avLst>
              <a:gd name="adj" fmla="val 7043"/>
            </a:avLst>
          </a:prstGeom>
          <a:solidFill>
            <a:srgbClr val="D1E5FA"/>
          </a:solidFill>
          <a:ln w="19050">
            <a:solidFill>
              <a:srgbClr val="B7CBE0"/>
            </a:solidFill>
            <a:prstDash val="solid"/>
          </a:ln>
        </p:spPr>
      </p:sp>
      <p:sp>
        <p:nvSpPr>
          <p:cNvPr id="13" name="Text 11"/>
          <p:cNvSpPr/>
          <p:nvPr/>
        </p:nvSpPr>
        <p:spPr>
          <a:xfrm>
            <a:off x="6398358" y="4449762"/>
            <a:ext cx="49238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Retrieval Again</a:t>
            </a:r>
            <a:endParaRPr lang="en-US" sz="1850" dirty="0"/>
          </a:p>
        </p:txBody>
      </p:sp>
      <p:sp>
        <p:nvSpPr>
          <p:cNvPr id="14" name="Text 12"/>
          <p:cNvSpPr/>
          <p:nvPr/>
        </p:nvSpPr>
        <p:spPr>
          <a:xfrm>
            <a:off x="6398358" y="4858445"/>
            <a:ext cx="49238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Prompting with the pasting automated</a:t>
            </a:r>
            <a:endParaRPr lang="en-US" sz="1450" dirty="0"/>
          </a:p>
        </p:txBody>
      </p:sp>
      <p:sp>
        <p:nvSpPr>
          <p:cNvPr id="15"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226568"/>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Cost, honestly</a:t>
            </a:r>
            <a:endParaRPr lang="en-US" sz="3700" dirty="0"/>
          </a:p>
        </p:txBody>
      </p:sp>
      <p:sp>
        <p:nvSpPr>
          <p:cNvPr id="4" name="Text 1"/>
          <p:cNvSpPr/>
          <p:nvPr/>
        </p:nvSpPr>
        <p:spPr>
          <a:xfrm>
            <a:off x="5233360" y="3100685"/>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Retrieval is a file and a loop, per query, forever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Fine tuning is hardware, a training set, and a specialist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And again every time the material changes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costs are shaped differently, not only bigger</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76190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Freshness decides most real cases</a:t>
            </a:r>
            <a:endParaRPr lang="en-US" sz="3700" dirty="0"/>
          </a:p>
        </p:txBody>
      </p:sp>
      <p:pic>
        <p:nvPicPr>
          <p:cNvPr id="3" name="Image 0" descr="preencoded.png">    </p:cNvPr>
          <p:cNvPicPr>
            <a:picLocks noChangeAspect="1"/>
          </p:cNvPicPr>
          <p:nvPr/>
        </p:nvPicPr>
        <p:blipFill>
          <a:blip r:embed="rId1"/>
          <a:stretch>
            <a:fillRect/>
          </a:stretch>
        </p:blipFill>
        <p:spPr>
          <a:xfrm>
            <a:off x="661475" y="1848644"/>
            <a:ext cx="6903269" cy="3911898"/>
          </a:xfrm>
          <a:prstGeom prst="rect">
            <a:avLst/>
          </a:prstGeom>
        </p:spPr>
      </p:pic>
      <p:sp>
        <p:nvSpPr>
          <p:cNvPr id="4" name="Text 1"/>
          <p:cNvSpPr/>
          <p:nvPr/>
        </p:nvSpPr>
        <p:spPr>
          <a:xfrm>
            <a:off x="8032251" y="2698948"/>
            <a:ext cx="3504219" cy="2315170"/>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Change the policy, rebuild the index, done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fine tuned model still believes the old policy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Confidently, with no version number to check</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Until somebody retrains it</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239176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Traceability, on screen</a:t>
            </a:r>
            <a:endParaRPr lang="en-US" sz="3700" dirty="0"/>
          </a:p>
        </p:txBody>
      </p:sp>
      <p:sp>
        <p:nvSpPr>
          <p:cNvPr id="3" name="Shape 1"/>
          <p:cNvSpPr/>
          <p:nvPr/>
        </p:nvSpPr>
        <p:spPr>
          <a:xfrm>
            <a:off x="661475" y="3360440"/>
            <a:ext cx="10868745" cy="982861"/>
          </a:xfrm>
          <a:prstGeom prst="roundRect">
            <a:avLst>
              <a:gd name="adj" fmla="val 8077"/>
            </a:avLst>
          </a:prstGeom>
          <a:solidFill>
            <a:srgbClr val="F2F2F2"/>
          </a:solidFill>
          <a:ln/>
        </p:spPr>
      </p:sp>
      <p:sp>
        <p:nvSpPr>
          <p:cNvPr id="4" name="Text 2"/>
          <p:cNvSpPr/>
          <p:nvPr/>
        </p:nvSpPr>
        <p:spPr>
          <a:xfrm>
            <a:off x="888283" y="3549452"/>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4. score +0.3123   07-electronics-bench.md . How many at once   characters 483-668</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You may sign out up to three items from the electronics bench at one time...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226568"/>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And the fourth section</a:t>
            </a:r>
            <a:endParaRPr lang="en-US" sz="3700" dirty="0"/>
          </a:p>
        </p:txBody>
      </p:sp>
      <p:sp>
        <p:nvSpPr>
          <p:cNvPr id="4" name="Text 1"/>
          <p:cNvSpPr/>
          <p:nvPr/>
        </p:nvSpPr>
        <p:spPr>
          <a:xfrm>
            <a:off x="5233360" y="3100685"/>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retrieves what is near, not what is true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inherits every contradiction in your sources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cannot answer what no passage contains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chunking already decided what is answerable</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76936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Where fine tuning actually wins</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738041"/>
            <a:ext cx="5339820" cy="1019373"/>
          </a:xfrm>
          <a:prstGeom prst="rect">
            <a:avLst/>
          </a:prstGeom>
        </p:spPr>
      </p:pic>
      <p:sp>
        <p:nvSpPr>
          <p:cNvPr id="4" name="Text 1"/>
          <p:cNvSpPr/>
          <p:nvPr/>
        </p:nvSpPr>
        <p:spPr>
          <a:xfrm>
            <a:off x="977479" y="2952452"/>
            <a:ext cx="48094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Teaching behaviour, not facts</a:t>
            </a:r>
            <a:endParaRPr lang="en-US" sz="18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738041"/>
            <a:ext cx="5339919" cy="1019373"/>
          </a:xfrm>
          <a:prstGeom prst="rect">
            <a:avLst/>
          </a:prstGeom>
        </p:spPr>
      </p:pic>
      <p:sp>
        <p:nvSpPr>
          <p:cNvPr id="6" name="Text 2"/>
          <p:cNvSpPr/>
          <p:nvPr/>
        </p:nvSpPr>
        <p:spPr>
          <a:xfrm>
            <a:off x="6506305" y="2952452"/>
            <a:ext cx="480950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Always answer in this format, this tone</a:t>
            </a:r>
            <a:endParaRPr lang="en-US" sz="18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946426"/>
            <a:ext cx="5339820" cy="1019373"/>
          </a:xfrm>
          <a:prstGeom prst="rect">
            <a:avLst/>
          </a:prstGeom>
        </p:spPr>
      </p:pic>
      <p:sp>
        <p:nvSpPr>
          <p:cNvPr id="8" name="Text 3"/>
          <p:cNvSpPr/>
          <p:nvPr/>
        </p:nvSpPr>
        <p:spPr>
          <a:xfrm>
            <a:off x="977479" y="4160838"/>
            <a:ext cx="480940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Refuse this kind of request, sound like our team</a:t>
            </a:r>
            <a:endParaRPr lang="en-US" sz="185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3946426"/>
            <a:ext cx="5339919" cy="1019373"/>
          </a:xfrm>
          <a:prstGeom prst="rect">
            <a:avLst/>
          </a:prstGeom>
        </p:spPr>
      </p:pic>
      <p:sp>
        <p:nvSpPr>
          <p:cNvPr id="10" name="Text 4"/>
          <p:cNvSpPr/>
          <p:nvPr/>
        </p:nvSpPr>
        <p:spPr>
          <a:xfrm>
            <a:off x="6506305" y="4160838"/>
            <a:ext cx="480950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None of that is a passage you can retrieve</a:t>
            </a:r>
            <a:endParaRPr lang="en-US" sz="1850" dirty="0"/>
          </a:p>
        </p:txBody>
      </p:sp>
      <p:sp>
        <p:nvSpPr>
          <p:cNvPr id="11"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34997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sentence in a plan you should push back on</a:t>
            </a:r>
            <a:endParaRPr lang="en-US" sz="3700" dirty="0"/>
          </a:p>
        </p:txBody>
      </p:sp>
      <p:sp>
        <p:nvSpPr>
          <p:cNvPr id="4" name="Text 1"/>
          <p:cNvSpPr/>
          <p:nvPr/>
        </p:nvSpPr>
        <p:spPr>
          <a:xfrm>
            <a:off x="5516821" y="3618012"/>
            <a:ext cx="662298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We will fine tune a model on the handbook</a:t>
            </a:r>
            <a:endParaRPr lang="en-US" sz="1450" dirty="0"/>
          </a:p>
        </p:txBody>
      </p:sp>
      <p:sp>
        <p:nvSpPr>
          <p:cNvPr id="5" name="Shape 2"/>
          <p:cNvSpPr/>
          <p:nvPr/>
        </p:nvSpPr>
        <p:spPr>
          <a:xfrm>
            <a:off x="5233360" y="3405386"/>
            <a:ext cx="25399" cy="727670"/>
          </a:xfrm>
          <a:prstGeom prst="roundRect">
            <a:avLst>
              <a:gd name="adj" fmla="val 50001"/>
            </a:avLst>
          </a:prstGeom>
          <a:solidFill>
            <a:srgbClr val="57A1EB"/>
          </a:solidFill>
          <a:ln/>
        </p:spPr>
      </p:sp>
      <p:sp>
        <p:nvSpPr>
          <p:cNvPr id="6" name="Text 3"/>
          <p:cNvSpPr/>
          <p:nvPr/>
        </p:nvSpPr>
        <p:spPr>
          <a:xfrm>
            <a:off x="5233360" y="4345682"/>
            <a:ext cx="6296860" cy="1039416"/>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Eight documents is not a training set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first policy change makes it wrong, silently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And you threw away the citation she asked for</a:t>
            </a:r>
            <a:endParaRPr lang="en-US" sz="1450" dirty="0"/>
          </a:p>
        </p:txBody>
      </p:sp>
      <p:sp>
        <p:nvSpPr>
          <p:cNvPr id="7" name="Text 4"/>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509316"/>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table to carry out of here</a:t>
            </a:r>
            <a:endParaRPr lang="en-US" sz="3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1475" y="2477988"/>
          <a:ext cx="9143771" cy="914400"/>
        </p:xfrm>
        <a:graphic>
          <a:graphicData uri="http://schemas.openxmlformats.org/drawingml/2006/table">
            <a:tbl>
              <a:tblPr/>
              <a:tblGrid>
                <a:gridCol w="4347498"/>
                <a:gridCol w="3260624"/>
                <a:gridCol w="3260624"/>
              </a:tblGrid>
              <a:tr h="545094">
                <a:tc>
                  <a:txBody>
                    <a:bodyPr/>
                    <a:lstStyle/>
                    <a:p>
                      <a:pPr indent="0" marL="0">
                        <a:buNone/>
                      </a:pP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B7CBE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50" b="1" dirty="0">
                          <a:solidFill>
                            <a:srgbClr val="272525"/>
                          </a:solidFill>
                          <a:latin typeface="Roboto Condensed" pitchFamily="34" charset="0"/>
                          <a:ea typeface="Roboto Condensed" pitchFamily="34" charset="-122"/>
                          <a:cs typeface="Roboto Condensed" pitchFamily="34" charset="-120"/>
                        </a:rPr>
                        <a:t>retrieval</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57A1EB"/>
                      </a:solidFill>
                      <a:prstDash val="solid"/>
                      <a:round/>
                      <a:headEnd type="none" w="med" len="med"/>
                      <a:tailEnd type="none" w="med" len="med"/>
                    </a:lnL>
                    <a:lnR w="12700" cap="flat" cmpd="sng" algn="ctr">
                      <a:solidFill>
                        <a:srgbClr val="57A1EB"/>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solidFill>
                      <a:srgbClr val="57A1EB"/>
                    </a:solidFill>
                  </a:tcPr>
                </a:tc>
                <a:tc>
                  <a:txBody>
                    <a:bodyPr/>
                    <a:lstStyle/>
                    <a:p>
                      <a:pPr indent="0" marL="0">
                        <a:buNone/>
                      </a:pPr>
                      <a:r>
                        <a:rPr lang="en-US" sz="1450" b="1" dirty="0">
                          <a:solidFill>
                            <a:srgbClr val="FFFFFF"/>
                          </a:solidFill>
                          <a:latin typeface="Roboto Condensed" pitchFamily="34" charset="0"/>
                          <a:ea typeface="Roboto Condensed" pitchFamily="34" charset="-122"/>
                          <a:cs typeface="Roboto Condensed" pitchFamily="34" charset="-120"/>
                        </a:rPr>
                        <a:t>fine tuning</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B0001D"/>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solidFill>
                      <a:srgbClr val="B0001D"/>
                    </a:solidFill>
                  </a:tcPr>
                </a:tc>
              </a:tr>
              <a:tr h="548269">
                <a:tc>
                  <a:txBody>
                    <a:bodyPr/>
                    <a:lstStyle/>
                    <a:p>
                      <a:pPr indent="0" marL="0">
                        <a:buNone/>
                      </a:pPr>
                      <a:r>
                        <a:rPr lang="en-US" sz="1450" dirty="0">
                          <a:solidFill>
                            <a:srgbClr val="1C1C1C"/>
                          </a:solidFill>
                          <a:latin typeface="Roboto Condensed" pitchFamily="34" charset="0"/>
                          <a:ea typeface="Roboto Condensed" pitchFamily="34" charset="-122"/>
                          <a:cs typeface="Roboto Condensed" pitchFamily="34" charset="-120"/>
                        </a:rPr>
                        <a:t>changes the model</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B7CBE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50" dirty="0">
                          <a:solidFill>
                            <a:srgbClr val="1C1C1C"/>
                          </a:solidFill>
                          <a:latin typeface="Roboto Condensed" pitchFamily="34" charset="0"/>
                          <a:ea typeface="Roboto Condensed" pitchFamily="34" charset="-122"/>
                          <a:cs typeface="Roboto Condensed" pitchFamily="34" charset="-120"/>
                        </a:rPr>
                        <a:t>no</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50" dirty="0">
                          <a:solidFill>
                            <a:srgbClr val="1C1C1C"/>
                          </a:solidFill>
                          <a:latin typeface="Roboto Condensed" pitchFamily="34" charset="0"/>
                          <a:ea typeface="Roboto Condensed" pitchFamily="34" charset="-122"/>
                          <a:cs typeface="Roboto Condensed" pitchFamily="34" charset="-120"/>
                        </a:rPr>
                        <a:t>yes</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FFFFFF"/>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r>
              <a:tr h="548269">
                <a:tc>
                  <a:txBody>
                    <a:bodyPr/>
                    <a:lstStyle/>
                    <a:p>
                      <a:pPr indent="0" marL="0">
                        <a:buNone/>
                      </a:pPr>
                      <a:r>
                        <a:rPr lang="en-US" sz="1450" dirty="0">
                          <a:solidFill>
                            <a:srgbClr val="1C1C1C"/>
                          </a:solidFill>
                          <a:latin typeface="Roboto Condensed" pitchFamily="34" charset="0"/>
                          <a:ea typeface="Roboto Condensed" pitchFamily="34" charset="-122"/>
                          <a:cs typeface="Roboto Condensed" pitchFamily="34" charset="-120"/>
                        </a:rPr>
                        <a:t>material changes</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B7CBE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50" dirty="0">
                          <a:solidFill>
                            <a:srgbClr val="1C1C1C"/>
                          </a:solidFill>
                          <a:latin typeface="Roboto Condensed" pitchFamily="34" charset="0"/>
                          <a:ea typeface="Roboto Condensed" pitchFamily="34" charset="-122"/>
                          <a:cs typeface="Roboto Condensed" pitchFamily="34" charset="-120"/>
                        </a:rPr>
                        <a:t>rebuild index</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50" dirty="0">
                          <a:solidFill>
                            <a:srgbClr val="1C1C1C"/>
                          </a:solidFill>
                          <a:latin typeface="Roboto Condensed" pitchFamily="34" charset="0"/>
                          <a:ea typeface="Roboto Condensed" pitchFamily="34" charset="-122"/>
                          <a:cs typeface="Roboto Condensed" pitchFamily="34" charset="-120"/>
                        </a:rPr>
                        <a:t>retrain</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FFFFFF"/>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r>
              <a:tr h="548269">
                <a:tc>
                  <a:txBody>
                    <a:bodyPr/>
                    <a:lstStyle/>
                    <a:p>
                      <a:pPr indent="0" marL="0">
                        <a:buNone/>
                      </a:pPr>
                      <a:r>
                        <a:rPr lang="en-US" sz="1450" dirty="0">
                          <a:solidFill>
                            <a:srgbClr val="1C1C1C"/>
                          </a:solidFill>
                          <a:latin typeface="Roboto Condensed" pitchFamily="34" charset="0"/>
                          <a:ea typeface="Roboto Condensed" pitchFamily="34" charset="-122"/>
                          <a:cs typeface="Roboto Condensed" pitchFamily="34" charset="-120"/>
                        </a:rPr>
                        <a:t>can cite a source</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B7CBE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50" dirty="0">
                          <a:solidFill>
                            <a:srgbClr val="1C1C1C"/>
                          </a:solidFill>
                          <a:latin typeface="Roboto Condensed" pitchFamily="34" charset="0"/>
                          <a:ea typeface="Roboto Condensed" pitchFamily="34" charset="-122"/>
                          <a:cs typeface="Roboto Condensed" pitchFamily="34" charset="-120"/>
                        </a:rPr>
                        <a:t>yes, exactly</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50" dirty="0">
                          <a:solidFill>
                            <a:srgbClr val="1C1C1C"/>
                          </a:solidFill>
                          <a:latin typeface="Roboto Condensed" pitchFamily="34" charset="0"/>
                          <a:ea typeface="Roboto Condensed" pitchFamily="34" charset="-122"/>
                          <a:cs typeface="Roboto Condensed" pitchFamily="34" charset="-120"/>
                        </a:rPr>
                        <a:t>no</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FFFFFF"/>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r>
              <a:tr h="545094">
                <a:tc>
                  <a:txBody>
                    <a:bodyPr/>
                    <a:lstStyle/>
                    <a:p>
                      <a:pPr indent="0" marL="0">
                        <a:buNone/>
                      </a:pPr>
                      <a:r>
                        <a:rPr lang="en-US" sz="1450" dirty="0">
                          <a:solidFill>
                            <a:srgbClr val="1C1C1C"/>
                          </a:solidFill>
                          <a:latin typeface="Roboto Condensed" pitchFamily="34" charset="0"/>
                          <a:ea typeface="Roboto Condensed" pitchFamily="34" charset="-122"/>
                          <a:cs typeface="Roboto Condensed" pitchFamily="34" charset="-120"/>
                        </a:rPr>
                        <a:t>teaches format</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B7CBE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50" dirty="0">
                          <a:solidFill>
                            <a:srgbClr val="1C1C1C"/>
                          </a:solidFill>
                          <a:latin typeface="Roboto Condensed" pitchFamily="34" charset="0"/>
                          <a:ea typeface="Roboto Condensed" pitchFamily="34" charset="-122"/>
                          <a:cs typeface="Roboto Condensed" pitchFamily="34" charset="-120"/>
                        </a:rPr>
                        <a:t>poorly</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50" dirty="0">
                          <a:solidFill>
                            <a:srgbClr val="1C1C1C"/>
                          </a:solidFill>
                          <a:latin typeface="Roboto Condensed" pitchFamily="34" charset="0"/>
                          <a:ea typeface="Roboto Condensed" pitchFamily="34" charset="-122"/>
                          <a:cs typeface="Roboto Condensed" pitchFamily="34" charset="-120"/>
                        </a:rPr>
                        <a:t>well</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FFFFFF"/>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r>
            </a:tbl>
          </a:graphicData>
        </a:graphic>
      </p:graphicFrame>
      <p:sp>
        <p:nvSpPr>
          <p:cNvPr id="4" name="Text 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retrieval versus fine tuning section of your memo</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All four points, specific, not generic</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Name a failure in the actual handbook</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Your search results from yesterday are the evidence</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2026-09-16T05:09:51Z</dcterms:created>
  <dcterms:modified xsi:type="dcterms:W3CDTF">2026-09-16T05:09:51Z</dcterms:modified>
</cp:coreProperties>
</file>