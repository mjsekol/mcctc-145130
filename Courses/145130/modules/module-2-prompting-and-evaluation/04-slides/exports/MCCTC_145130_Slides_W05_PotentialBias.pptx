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can predict this one before the papers come in. Every year this is the lowest scoring parameter, and the reason is not that it is harder. It is that you arrive with the everyday meaning of the word and never swap it out. In competency two point fourteen point four, biased does not mean unfair and it does not mean wrong. It means something narrow, and the narrow version is what the exam assesses and what a professional review needs. Who is assumed, and who is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any paragraph of advice and you will find assumptions the text never states. That the reader has a ride home. That they have somewhere quiet. That they are a student and not a teacher or a parent or an alum. Every one of those is true of somebody. Where does it come from? The model produces the typical continuation from what it was trained on, so whoever writes the most on a topic supplies the typical perspective and whoever writes the least is absent. Nobody chose that. It is an average, and an average has no representative in the room. Your prompt is the second source, and it is closer to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get stuck because they read looking for something offensive, and most outputs are not offensive, so they find nothing and write nothing. Read looking for absences instead. Question two has a rule attached. Name a real category of person and be specific. A student with a job after school. A student who takes the bus. A teacher. A parent volunteer. An English learner. A student on an IEP. Pick one you can describe. Then question three, and silence is the finding. An output that says this assumes you have time after school, which not everyone does, has done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three answers, and a label at the bottom. Read the last line twice. Nothing in the sentence is false, and that is what makes this a Bias finding rather than a Validity one. If you catch yourself reaching for the word wrong, you have changed parameters without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consequence is the part students leave out, and it is the part that makes a finding actionable. A checkout sheet built from that sentence has a column that only students can fill, so the teacher borrowing a camera either gets turned away or gets written down wrongly. Now look at the fix, because a fix is what proves you understood the finding. The field is not grade level. The field is who is borrowing this and how do we reach them, and grade level is one answer to that question for one group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same three questions and land on nothing, out loud, deliberately. That last line is a finding and it gets written down, because it tells a reader that you checked. Now the harder half of this. Manufacturing a finding to fill the category is its own failure mode, and reviewers do it under pressure to look thorough. It costs you credibility, because the reader who checks your weakest finding is the one who decides how much to trust your strongest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sentence again. It is true, it is fast, and it sounds like analysis, which is exactly why it gets written. And it is unactionable. Nobody can change a paper based on it, and unactionable is the test for whether you have written a finding or an observation wearing a finding's clothes. There is one more wrong version worth naming out loud. Deciding an output is biased because you disagree with its conclusion. Bias is about what is absent, not about whether you like what is present. If you only detect bias in outputs you disagree with, you have found a bias in your review process, and that is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observation as the last slide. This version names the absent group, says what goes wrong for them, and identifies the unstated assumption. Three parts, and it is the third one that most people miss. The output never says the schedule is an assumption. That is the silence, and the silence is the finding. Read it and count the three parts with the room before you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prompts. A student falling behind. A student with an after-school job falling behind. A student who takes the bus falling behind. Everything else identical, word for word. Against our stub those come back with the same reply words, the same shape and the same hedge count, because the stub is a caricature and does not model this. Write that down as an honest negative result about the stub, and say clearly that it is not evidence about a real model. Two hard rules for any bias test in this course. No real people as subjects, and no student data in any prompt. Invented people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row is where most of the class lands and it is the one to argue about out loud. Handwritten notes help you remember more, stated too broadly, is an overstatement and that is a Validity problem, and you fix it by qualifying the claim. The Bias version of the same sentence is a different thing. It assumes a reader who can write by hand, who has notes to take, and who is in a class where note-taking is the mode, and it never says so. That one is not fixed by qualifying. It is fixed by acknowledging who the advice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finishes the Hallucination Hunt. Rerun one of your three prompts with sources supplied and a refusal route, record what changed, answer the four analysis questions, and make sure every fabricated citation in the file is labelled as fabricated. Due when the block ends. Build two is bias findings on the reference runs and one Module 1 artifact, using the three questions. Two findings minimum, each with all three parts, plus one recorded place where you looked and found nothing. Then swap with a partner and challenge each other's findings in writing. Side Quest 19, the Bias Audit, unlocks today in Period 8, and the same two hard rules apply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Potential Bias: Whose Perspective Is Built In</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5167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This is the parameter the class scores worst on, every year</a:t>
            </a:r>
            <a:endParaRPr lang="en-US" sz="3700" dirty="0"/>
          </a:p>
        </p:txBody>
      </p:sp>
      <p:sp>
        <p:nvSpPr>
          <p:cNvPr id="4" name="Text 1"/>
          <p:cNvSpPr/>
          <p:nvPr/>
        </p:nvSpPr>
        <p:spPr>
          <a:xfrm>
            <a:off x="661475" y="3507085"/>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already know the everyday meaning of biased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Unfair, wrong, written by somebody with an agenda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competency means something narrower and more useful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Whose perspective is built in, and who is missing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is it unfair. Not is it wrong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output describes a default person</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 a paragraph of advice and ask who it talks to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assumes a ride home, a quiet place, grade-level English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None of those assumptions is a lie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finding is that it treats that somebody as everybody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system built from it has no place for anyone else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855688"/>
            <a:ext cx="5203794"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questions, in this order</a:t>
            </a:r>
            <a:endParaRPr lang="en-US" sz="3700" dirty="0"/>
          </a:p>
        </p:txBody>
      </p:sp>
      <p:sp>
        <p:nvSpPr>
          <p:cNvPr id="3" name="Text 1"/>
          <p:cNvSpPr/>
          <p:nvPr/>
        </p:nvSpPr>
        <p:spPr>
          <a:xfrm>
            <a:off x="661475" y="3225998"/>
            <a:ext cx="5203794"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Who is the default person 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Who in this building does this not fit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Does the output acknowledge them, or is it silent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Silence is the finding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 looking for absences, not for something offensive</a:t>
            </a:r>
            <a:endParaRPr lang="en-US" sz="1450" dirty="0"/>
          </a:p>
        </p:txBody>
      </p:sp>
      <p:sp>
        <p:nvSpPr>
          <p:cNvPr id="4" name="Shape 2"/>
          <p:cNvSpPr/>
          <p:nvPr/>
        </p:nvSpPr>
        <p:spPr>
          <a:xfrm>
            <a:off x="6332776" y="1879302"/>
            <a:ext cx="425241" cy="425252"/>
          </a:xfrm>
          <a:prstGeom prst="roundRect">
            <a:avLst>
              <a:gd name="adj" fmla="val 18669"/>
            </a:avLst>
          </a:prstGeom>
          <a:solidFill>
            <a:srgbClr val="D1E5FA"/>
          </a:solidFill>
          <a:ln w="19050">
            <a:solidFill>
              <a:srgbClr val="B7CBE0"/>
            </a:solidFill>
            <a:prstDash val="solid"/>
          </a:ln>
        </p:spPr>
      </p:sp>
      <p:sp>
        <p:nvSpPr>
          <p:cNvPr id="5" name="Text 3"/>
          <p:cNvSpPr/>
          <p:nvPr/>
        </p:nvSpPr>
        <p:spPr>
          <a:xfrm>
            <a:off x="6403666" y="191472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4"/>
          <p:cNvSpPr/>
          <p:nvPr/>
        </p:nvSpPr>
        <p:spPr>
          <a:xfrm>
            <a:off x="6947024" y="1944191"/>
            <a:ext cx="458954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 the default</a:t>
            </a:r>
            <a:endParaRPr lang="en-US" sz="1850" dirty="0"/>
          </a:p>
        </p:txBody>
      </p:sp>
      <p:sp>
        <p:nvSpPr>
          <p:cNvPr id="7" name="Shape 5"/>
          <p:cNvSpPr/>
          <p:nvPr/>
        </p:nvSpPr>
        <p:spPr>
          <a:xfrm>
            <a:off x="6332776" y="2682577"/>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6403666" y="271799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7"/>
          <p:cNvSpPr/>
          <p:nvPr/>
        </p:nvSpPr>
        <p:spPr>
          <a:xfrm>
            <a:off x="6947024" y="2747466"/>
            <a:ext cx="458954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 who is excluded</a:t>
            </a:r>
            <a:endParaRPr lang="en-US" sz="1850" dirty="0"/>
          </a:p>
        </p:txBody>
      </p:sp>
      <p:sp>
        <p:nvSpPr>
          <p:cNvPr id="10" name="Shape 8"/>
          <p:cNvSpPr/>
          <p:nvPr/>
        </p:nvSpPr>
        <p:spPr>
          <a:xfrm>
            <a:off x="6332776" y="3485852"/>
            <a:ext cx="425241" cy="425252"/>
          </a:xfrm>
          <a:prstGeom prst="roundRect">
            <a:avLst>
              <a:gd name="adj" fmla="val 18669"/>
            </a:avLst>
          </a:prstGeom>
          <a:solidFill>
            <a:srgbClr val="D1E5FA"/>
          </a:solidFill>
          <a:ln w="19050">
            <a:solidFill>
              <a:srgbClr val="B7CBE0"/>
            </a:solidFill>
            <a:prstDash val="solid"/>
          </a:ln>
        </p:spPr>
      </p:sp>
      <p:sp>
        <p:nvSpPr>
          <p:cNvPr id="11" name="Text 9"/>
          <p:cNvSpPr/>
          <p:nvPr/>
        </p:nvSpPr>
        <p:spPr>
          <a:xfrm>
            <a:off x="6403666" y="352127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10"/>
          <p:cNvSpPr/>
          <p:nvPr/>
        </p:nvSpPr>
        <p:spPr>
          <a:xfrm>
            <a:off x="6947024" y="3550741"/>
            <a:ext cx="458954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for silence</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grade level line, worked through</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THE CLAIM</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"Write the borrower's grade level, not their schedule."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DEFAULT PERSON  A student. Grade level is a property students have.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WHO IT DOES NOT FIT  A teacher borrowing a camera for a class. A parent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volunteer at an event. An alum helping at a shoot.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ACKNOWLEDGED  No. The sentence is stated as the rule.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PARAMETER  Potential Bias. Nothing in the sentence is false.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makes it a real finding</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sheet built from this has a column only students can fill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People who cannot fill it are turned away or recorded wrongly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fix: ask who is borrowing and how to reach them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Grade level is one way to answer that, for one group</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 output with no bias finding</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CLAIM</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"Photograph any damage before the item leaves the room."</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DEFAULT PERSON  Anyone handling equipment.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WHO IT DOES NOT FIT  It requires a camera, which everyone in the room has.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ACKNOWLEDGED  Nothing to acknowledge.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FINDING  None. "I looked for a Potential Bias failure in the procedure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section and did not find 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106686"/>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to write a bias finding</a:t>
            </a:r>
            <a:endParaRPr lang="en-US" sz="3700" dirty="0"/>
          </a:p>
        </p:txBody>
      </p:sp>
      <p:sp>
        <p:nvSpPr>
          <p:cNvPr id="4" name="Text 1"/>
          <p:cNvSpPr/>
          <p:nvPr/>
        </p:nvSpPr>
        <p:spPr>
          <a:xfrm>
            <a:off x="8032251" y="3067645"/>
            <a:ext cx="3504219" cy="268366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Written first: biased because it only mentions American schools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might be a real finding. As written it is not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never names who is harmed by the absence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never says why that matters 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can fix anything based on it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072878"/>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observation, written as a finding</a:t>
            </a:r>
            <a:endParaRPr lang="en-US" sz="3700" dirty="0"/>
          </a:p>
        </p:txBody>
      </p:sp>
      <p:sp>
        <p:nvSpPr>
          <p:cNvPr id="3" name="Text 1"/>
          <p:cNvSpPr/>
          <p:nvPr/>
        </p:nvSpPr>
        <p:spPr>
          <a:xfrm>
            <a:off x="944936" y="3844826"/>
            <a:ext cx="1058528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example is a US public high school with a 7-period day. Our exchange students and any reader outside the US get advice built on a schedule they do not have, and the output never says the schedule is an assumption.</a:t>
            </a:r>
            <a:endParaRPr lang="en-US" sz="1450" dirty="0"/>
          </a:p>
        </p:txBody>
      </p:sp>
      <p:sp>
        <p:nvSpPr>
          <p:cNvPr id="4" name="Shape 2"/>
          <p:cNvSpPr/>
          <p:nvPr/>
        </p:nvSpPr>
        <p:spPr>
          <a:xfrm>
            <a:off x="661475" y="3632200"/>
            <a:ext cx="25399" cy="1030089"/>
          </a:xfrm>
          <a:prstGeom prst="roundRect">
            <a:avLst>
              <a:gd name="adj" fmla="val 50001"/>
            </a:avLst>
          </a:prstGeom>
          <a:solidFill>
            <a:srgbClr val="57A1EB"/>
          </a:solidFill>
          <a:ln/>
        </p:spPr>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Test for it rather than arguing about it</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opinion about bias is hard to settle. A test is not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Keep the prompt identical, vary one detail about the person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Record every output, compare on something countable first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Against the stub all three come back identical. Say so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test that can only come out one way is nothing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55340"/>
            <a:ext cx="10868745" cy="1070570"/>
          </a:xfrm>
          <a:prstGeom prst="rect">
            <a:avLst/>
          </a:prstGeom>
          <a:noFill/>
          <a:ln/>
        </p:spPr>
        <p:txBody>
          <a:bodyPr wrap="square" lIns="0" tIns="0" rIns="0" bIns="0" rtlCol="0" anchor="t">
            <a:normAutofit/>
          </a:bodyPr>
          <a:lstStyle/>
          <a:p>
            <a:pPr algn="l" indent="0" marL="0">
              <a:lnSpc>
                <a:spcPct val="104000"/>
              </a:lnSpc>
              <a:buNone/>
            </a:pPr>
            <a:r>
              <a:rPr lang="en-US" sz="3350" b="1" dirty="0">
                <a:solidFill>
                  <a:srgbClr val="111111"/>
                </a:solidFill>
                <a:latin typeface="Orbitron Bold" pitchFamily="34" charset="0"/>
                <a:ea typeface="Orbitron Bold" pitchFamily="34" charset="-122"/>
                <a:cs typeface="Orbitron Bold" pitchFamily="34" charset="-120"/>
              </a:rPr>
              <a:t>Bias is not Validity, and the middle case is the argument</a:t>
            </a:r>
            <a:endParaRPr lang="en-US" sz="33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33302"/>
            <a:ext cx="5225423" cy="1064617"/>
          </a:xfrm>
          <a:prstGeom prst="rect">
            <a:avLst/>
          </a:prstGeom>
        </p:spPr>
      </p:pic>
      <p:sp>
        <p:nvSpPr>
          <p:cNvPr id="4" name="Text 1"/>
          <p:cNvSpPr/>
          <p:nvPr/>
        </p:nvSpPr>
        <p:spPr>
          <a:xfrm>
            <a:off x="927970" y="2323604"/>
            <a:ext cx="4768631"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This statement is false</a:t>
            </a:r>
            <a:endParaRPr lang="en-US" sz="1650" dirty="0"/>
          </a:p>
        </p:txBody>
      </p:sp>
      <p:sp>
        <p:nvSpPr>
          <p:cNvPr id="5" name="Text 2"/>
          <p:cNvSpPr/>
          <p:nvPr/>
        </p:nvSpPr>
        <p:spPr>
          <a:xfrm>
            <a:off x="927970" y="2746375"/>
            <a:ext cx="4768631"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Validity</a:t>
            </a:r>
            <a:endParaRPr lang="en-US" sz="13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353098"/>
            <a:ext cx="5225423" cy="1064617"/>
          </a:xfrm>
          <a:prstGeom prst="rect">
            <a:avLst/>
          </a:prstGeom>
        </p:spPr>
      </p:pic>
      <p:sp>
        <p:nvSpPr>
          <p:cNvPr id="7" name="Text 3"/>
          <p:cNvSpPr/>
          <p:nvPr/>
        </p:nvSpPr>
        <p:spPr>
          <a:xfrm>
            <a:off x="927970" y="3543399"/>
            <a:ext cx="4768631"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This statement is not true for everyone</a:t>
            </a:r>
            <a:endParaRPr lang="en-US" sz="1650" dirty="0"/>
          </a:p>
        </p:txBody>
      </p:sp>
      <p:sp>
        <p:nvSpPr>
          <p:cNvPr id="8" name="Text 4"/>
          <p:cNvSpPr/>
          <p:nvPr/>
        </p:nvSpPr>
        <p:spPr>
          <a:xfrm>
            <a:off x="927970" y="3966170"/>
            <a:ext cx="4768631"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Usually Validity</a:t>
            </a:r>
            <a:endParaRPr lang="en-US" sz="13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572893"/>
            <a:ext cx="5225423" cy="1332210"/>
          </a:xfrm>
          <a:prstGeom prst="rect">
            <a:avLst/>
          </a:prstGeom>
        </p:spPr>
      </p:pic>
      <p:sp>
        <p:nvSpPr>
          <p:cNvPr id="10" name="Text 5"/>
          <p:cNvSpPr/>
          <p:nvPr/>
        </p:nvSpPr>
        <p:spPr>
          <a:xfrm>
            <a:off x="927970" y="4763195"/>
            <a:ext cx="4768631" cy="535186"/>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It assumes a kind of person and is silent about others</a:t>
            </a:r>
            <a:endParaRPr lang="en-US" sz="1650" dirty="0"/>
          </a:p>
        </p:txBody>
      </p:sp>
      <p:sp>
        <p:nvSpPr>
          <p:cNvPr id="11" name="Text 6"/>
          <p:cNvSpPr/>
          <p:nvPr/>
        </p:nvSpPr>
        <p:spPr>
          <a:xfrm>
            <a:off x="927970" y="5453559"/>
            <a:ext cx="4768631"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Bias</a:t>
            </a:r>
            <a:endParaRPr lang="en-US" sz="1300" dirty="0"/>
          </a:p>
        </p:txBody>
      </p:sp>
      <p:sp>
        <p:nvSpPr>
          <p:cNvPr id="12" name="Text 7"/>
          <p:cNvSpPr/>
          <p:nvPr/>
        </p:nvSpPr>
        <p:spPr>
          <a:xfrm>
            <a:off x="6311147" y="2098377"/>
            <a:ext cx="5225423" cy="662186"/>
          </a:xfrm>
          <a:prstGeom prst="rect">
            <a:avLst/>
          </a:prstGeom>
          <a:noFill/>
          <a:ln/>
        </p:spPr>
        <p:txBody>
          <a:bodyPr wrap="square" lIns="0" tIns="0" rIns="0" bIns="0" rtlCol="0" anchor="t"/>
          <a:lstStyle/>
          <a:p>
            <a:pPr algn="l" indent="0" marL="0">
              <a:lnSpc>
                <a:spcPct val="127000"/>
              </a:lnSpc>
              <a:spcAft>
                <a:spcPts val="1050"/>
              </a:spcAft>
              <a:buNone/>
            </a:pPr>
            <a:r>
              <a:rPr lang="en-US" sz="1300" dirty="0">
                <a:solidFill>
                  <a:srgbClr val="1C1C1C"/>
                </a:solidFill>
                <a:latin typeface="Roboto Condensed" pitchFamily="34" charset="0"/>
                <a:ea typeface="Roboto Condensed" pitchFamily="34" charset="-122"/>
                <a:cs typeface="Roboto Condensed" pitchFamily="34" charset="-120"/>
              </a:rPr>
              <a:t>Overstating a true claim is fixed by qualifying the claim.</a:t>
            </a:r>
            <a:endParaRPr lang="en-US" sz="1300" dirty="0"/>
          </a:p>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A bias finding is fixed by naming who the advice is for.</a:t>
            </a:r>
            <a:endParaRPr lang="en-US" sz="1300" dirty="0"/>
          </a:p>
        </p:txBody>
      </p:sp>
      <p:sp>
        <p:nvSpPr>
          <p:cNvPr id="13"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Hallucination Hunt Part 3, due at the end of Build 1</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grounded rerun recorded next to its ungrounded original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bias findings on the Week 4 reference runs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findings, each with default person, absent group, consequence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place where you looked and recorded finding none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2026-09-16T04:09:58Z</dcterms:created>
  <dcterms:modified xsi:type="dcterms:W3CDTF">2026-09-16T04:09:58Z</dcterms:modified>
</cp:coreProperties>
</file>