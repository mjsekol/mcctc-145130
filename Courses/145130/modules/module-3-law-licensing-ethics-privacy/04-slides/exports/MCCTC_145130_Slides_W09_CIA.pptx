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met CIA in your first year. You are meeting it again because a generative feature breaks integrity in a way nothing you have built before could. A system that is up and private and wrong has failed, and the person it fails is the one who believed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Almost everybody treats confidentiality as security and the other two as operations problems. They are not. Today every one of these gets a real failure and a real fix, and two of the three failures produce no error message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design document that claims all three are fine has not made the decisions yet. Your assessment has a section for each, and stating the trade out loud is the work. When you write that section, name who feels the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home address. A services plan. A meal status. A counselor note about a family. Written to a file that exists so somebody can debug a run, readable by whoever can open the folder, kept until somebody deletes it, and almost certainly covered by no retention rule anybody wrote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a person debugging a failed run actually needs. Which purpose, which record, how much moved. The name never helped anybody debug anything. The reference is salted per run, so two log files from two days cannot be lined up to rebuild one student's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Draft two is a better letter. More specific, more helpful sounding, and it offers an explanation. It also claims six absences were Mondays and that there is an eighty five percent threshold, neither of which the school has. The phrase our records show is at the front of that sentence and is now false about most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line in today's lesson. An automated check on model output finds the kind of problem its author imagined. The human reader is not optional, and the human reader needs a specific rule, not an instruction to read it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system that reports its own failures as findings will eventually report no records found when it means the database was unreachable, and somebody will act on it. That is an availability failure wearing an integrity costume, and it is the same running thread as every week of this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team is told the log leaks, so they hash the whole record. The leak is gone. And two new problems arrived, one of which is that this is not as private as it looks.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Hashing protects a secret drawn from a huge space, like a password. A student ID from a roster of four hundred is not that. And the test they ran was are names gone. The test nobody ran was can I still debug from this file, which is the reason the file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Lab M03-03, and the self-check runs ten tests. Build two is the CIA section of your privacy impact assessment, one paragraph each, and every paragraph names the person who feels the loss. Three paragraphs claiming everything is fine scores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1.png"/><Relationship Id="rId4" Type="http://schemas.openxmlformats.org/officeDocument/2006/relationships/image" Target="../media/image-9-2.svg"/><Relationship Id="rId5" Type="http://schemas.openxmlformats.org/officeDocument/2006/relationships/image" Target="../media/image-9-1.png"/><Relationship Id="rId6" Type="http://schemas.openxmlformats.org/officeDocument/2006/relationships/image" Target="../media/image-9-2.svg"/><Relationship Id="rId7" Type="http://schemas.openxmlformats.org/officeDocument/2006/relationships/image" Target="../media/image-9-1.png"/><Relationship Id="rId8" Type="http://schemas.openxmlformats.org/officeDocument/2006/relationships/image" Target="../media/image-9-2.svg"/><Relationship Id="rId9" Type="http://schemas.openxmlformats.org/officeDocument/2006/relationships/slideLayout" Target="../slideLayouts/slideLayout2.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481560"/>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Confidentiality, Integrity, Availability, Applied to an AI Feature</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Your old systems could not do this</a:t>
            </a:r>
            <a:endParaRPr lang="en-US" sz="3700" dirty="0"/>
          </a:p>
        </p:txBody>
      </p:sp>
      <p:sp>
        <p:nvSpPr>
          <p:cNvPr id="4" name="Text 1"/>
          <p:cNvSpPr/>
          <p:nvPr/>
        </p:nvSpPr>
        <p:spPr>
          <a:xfrm>
            <a:off x="661475"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They could lose data, corrupt it, or go down</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None of them could invent data</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And present it in the voice of the real data</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That is new, and it is why this gets a day</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910854"/>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Three properties, all three are security</a:t>
            </a:r>
            <a:endParaRPr lang="en-US" sz="3700" dirty="0"/>
          </a:p>
        </p:txBody>
      </p:sp>
      <p:sp>
        <p:nvSpPr>
          <p:cNvPr id="3" name="Shape 1"/>
          <p:cNvSpPr/>
          <p:nvPr/>
        </p:nvSpPr>
        <p:spPr>
          <a:xfrm>
            <a:off x="661475" y="2879527"/>
            <a:ext cx="3496877" cy="1429643"/>
          </a:xfrm>
          <a:prstGeom prst="roundRect">
            <a:avLst>
              <a:gd name="adj" fmla="val 5553"/>
            </a:avLst>
          </a:prstGeom>
          <a:solidFill>
            <a:srgbClr val="D1E5FA"/>
          </a:solidFill>
          <a:ln w="19050">
            <a:solidFill>
              <a:srgbClr val="B7CBE0"/>
            </a:solidFill>
            <a:prstDash val="solid"/>
          </a:ln>
        </p:spPr>
      </p:sp>
      <p:sp>
        <p:nvSpPr>
          <p:cNvPr id="4" name="Text 2"/>
          <p:cNvSpPr/>
          <p:nvPr/>
        </p:nvSpPr>
        <p:spPr>
          <a:xfrm>
            <a:off x="869531" y="3087588"/>
            <a:ext cx="3080764"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Confidentiality</a:t>
            </a:r>
            <a:endParaRPr lang="en-US" sz="1850" dirty="0"/>
          </a:p>
        </p:txBody>
      </p:sp>
      <p:sp>
        <p:nvSpPr>
          <p:cNvPr id="5" name="Text 3"/>
          <p:cNvSpPr/>
          <p:nvPr/>
        </p:nvSpPr>
        <p:spPr>
          <a:xfrm>
            <a:off x="869531" y="3496270"/>
            <a:ext cx="3080764"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Only the right people can see it</a:t>
            </a:r>
            <a:endParaRPr lang="en-US" sz="1450" dirty="0"/>
          </a:p>
        </p:txBody>
      </p:sp>
      <p:sp>
        <p:nvSpPr>
          <p:cNvPr id="6" name="Shape 4"/>
          <p:cNvSpPr/>
          <p:nvPr/>
        </p:nvSpPr>
        <p:spPr>
          <a:xfrm>
            <a:off x="4347359" y="2879527"/>
            <a:ext cx="3496877" cy="1429643"/>
          </a:xfrm>
          <a:prstGeom prst="roundRect">
            <a:avLst>
              <a:gd name="adj" fmla="val 5553"/>
            </a:avLst>
          </a:prstGeom>
          <a:solidFill>
            <a:srgbClr val="D1E5FA"/>
          </a:solidFill>
          <a:ln w="19050">
            <a:solidFill>
              <a:srgbClr val="B7CBE0"/>
            </a:solidFill>
            <a:prstDash val="solid"/>
          </a:ln>
        </p:spPr>
      </p:sp>
      <p:sp>
        <p:nvSpPr>
          <p:cNvPr id="7" name="Text 5"/>
          <p:cNvSpPr/>
          <p:nvPr/>
        </p:nvSpPr>
        <p:spPr>
          <a:xfrm>
            <a:off x="4555416" y="3087588"/>
            <a:ext cx="3080764"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Integrity</a:t>
            </a:r>
            <a:endParaRPr lang="en-US" sz="1850" dirty="0"/>
          </a:p>
        </p:txBody>
      </p:sp>
      <p:sp>
        <p:nvSpPr>
          <p:cNvPr id="8" name="Text 6"/>
          <p:cNvSpPr/>
          <p:nvPr/>
        </p:nvSpPr>
        <p:spPr>
          <a:xfrm>
            <a:off x="4555416" y="3496270"/>
            <a:ext cx="3080764"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Accurate, complete, changed only by the allowed</a:t>
            </a:r>
            <a:endParaRPr lang="en-US" sz="1450" dirty="0"/>
          </a:p>
        </p:txBody>
      </p:sp>
      <p:sp>
        <p:nvSpPr>
          <p:cNvPr id="9" name="Shape 7"/>
          <p:cNvSpPr/>
          <p:nvPr/>
        </p:nvSpPr>
        <p:spPr>
          <a:xfrm>
            <a:off x="8033244" y="2879527"/>
            <a:ext cx="3496877" cy="1429643"/>
          </a:xfrm>
          <a:prstGeom prst="roundRect">
            <a:avLst>
              <a:gd name="adj" fmla="val 5553"/>
            </a:avLst>
          </a:prstGeom>
          <a:solidFill>
            <a:srgbClr val="D1E5FA"/>
          </a:solidFill>
          <a:ln w="19050">
            <a:solidFill>
              <a:srgbClr val="B7CBE0"/>
            </a:solidFill>
            <a:prstDash val="solid"/>
          </a:ln>
        </p:spPr>
      </p:sp>
      <p:sp>
        <p:nvSpPr>
          <p:cNvPr id="10" name="Text 8"/>
          <p:cNvSpPr/>
          <p:nvPr/>
        </p:nvSpPr>
        <p:spPr>
          <a:xfrm>
            <a:off x="8241300" y="3087588"/>
            <a:ext cx="3080764"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Availability</a:t>
            </a:r>
            <a:endParaRPr lang="en-US" sz="1850" dirty="0"/>
          </a:p>
        </p:txBody>
      </p:sp>
      <p:sp>
        <p:nvSpPr>
          <p:cNvPr id="11" name="Text 9"/>
          <p:cNvSpPr/>
          <p:nvPr/>
        </p:nvSpPr>
        <p:spPr>
          <a:xfrm>
            <a:off x="8241300" y="3496270"/>
            <a:ext cx="3080764"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 people who need it can reach it</a:t>
            </a:r>
            <a:endParaRPr lang="en-US" sz="1450" dirty="0"/>
          </a:p>
        </p:txBody>
      </p:sp>
      <p:sp>
        <p:nvSpPr>
          <p:cNvPr id="12" name="Text 10"/>
          <p:cNvSpPr/>
          <p:nvPr/>
        </p:nvSpPr>
        <p:spPr>
          <a:xfrm>
            <a:off x="661475" y="4521795"/>
            <a:ext cx="11478330"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Students treat one as the whole subject.</a:t>
            </a:r>
            <a:endParaRPr lang="en-US" sz="1450" dirty="0"/>
          </a:p>
        </p:txBody>
      </p:sp>
      <p:sp>
        <p:nvSpPr>
          <p:cNvPr id="13" name="Text 11"/>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They pull against each other on purpose</a:t>
            </a:r>
            <a:endParaRPr lang="en-US" sz="3700" dirty="0"/>
          </a:p>
        </p:txBody>
      </p:sp>
      <p:sp>
        <p:nvSpPr>
          <p:cNvPr id="4" name="Text 1"/>
          <p:cNvSpPr/>
          <p:nvPr/>
        </p:nvSpPr>
        <p:spPr>
          <a:xfrm>
            <a:off x="661475"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Lock the roster: confidentiality up, availability down</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Let everybody edit: availability up, integrity down</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Six backups: availability up, confidentiality down</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 configuration maximizes all three</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208934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One line of a log file</a:t>
            </a:r>
            <a:endParaRPr lang="en-US" sz="3700" dirty="0"/>
          </a:p>
        </p:txBody>
      </p:sp>
      <p:sp>
        <p:nvSpPr>
          <p:cNvPr id="3" name="Shape 1"/>
          <p:cNvSpPr/>
          <p:nvPr/>
        </p:nvSpPr>
        <p:spPr>
          <a:xfrm>
            <a:off x="661475" y="3058021"/>
            <a:ext cx="10868745" cy="1587698"/>
          </a:xfrm>
          <a:prstGeom prst="roundRect">
            <a:avLst>
              <a:gd name="adj" fmla="val 5000"/>
            </a:avLst>
          </a:prstGeom>
          <a:solidFill>
            <a:srgbClr val="F2F2F2"/>
          </a:solidFill>
          <a:ln/>
        </p:spPr>
      </p:sp>
      <p:sp>
        <p:nvSpPr>
          <p:cNvPr id="4" name="Text 2"/>
          <p:cNvSpPr/>
          <p:nvPr/>
        </p:nvSpPr>
        <p:spPr>
          <a:xfrm>
            <a:off x="888283" y="3247033"/>
            <a:ext cx="10415129"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log: purpose=attendance_letter record={'student_id': 'RM-40118',</a:t>
            </a:r>
            <a:endParaRPr lang="en-US" sz="1450" dirty="0"/>
          </a:p>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'first_name': 'Priya', ... 'home_address': '4417 Alder Court',</a:t>
            </a:r>
            <a:endParaRPr lang="en-US" sz="1450" dirty="0"/>
          </a:p>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'meal_status': 'reduced', 'services_plan': '504',</a:t>
            </a:r>
            <a:endParaRPr lang="en-US" sz="1450" dirty="0"/>
          </a:p>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'counselor_note': 'Missed two weeks in October for a family matter.'}</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529233"/>
            <a:ext cx="10868745" cy="489148"/>
          </a:xfrm>
          <a:prstGeom prst="rect">
            <a:avLst/>
          </a:prstGeom>
          <a:noFill/>
          <a:ln/>
        </p:spPr>
        <p:txBody>
          <a:bodyPr wrap="none" lIns="0" tIns="0" rIns="0" bIns="0" rtlCol="0" anchor="t"/>
          <a:lstStyle/>
          <a:p>
            <a:pPr algn="l" indent="0" marL="0">
              <a:lnSpc>
                <a:spcPct val="104000"/>
              </a:lnSpc>
              <a:buNone/>
            </a:pPr>
            <a:r>
              <a:rPr lang="en-US" sz="3050" b="1" dirty="0">
                <a:solidFill>
                  <a:srgbClr val="111111"/>
                </a:solidFill>
                <a:latin typeface="Orbitron Bold" pitchFamily="34" charset="0"/>
                <a:ea typeface="Orbitron Bold" pitchFamily="34" charset="-122"/>
                <a:cs typeface="Orbitron Bold" pitchFamily="34" charset="-120"/>
              </a:rPr>
              <a:t>The same line, after the lab</a:t>
            </a:r>
            <a:endParaRPr lang="en-US" sz="3050" dirty="0"/>
          </a:p>
        </p:txBody>
      </p:sp>
      <p:sp>
        <p:nvSpPr>
          <p:cNvPr id="3" name="Shape 1"/>
          <p:cNvSpPr/>
          <p:nvPr/>
        </p:nvSpPr>
        <p:spPr>
          <a:xfrm>
            <a:off x="661475" y="1277640"/>
            <a:ext cx="10868745" cy="563364"/>
          </a:xfrm>
          <a:prstGeom prst="roundRect">
            <a:avLst>
              <a:gd name="adj" fmla="val 11670"/>
            </a:avLst>
          </a:prstGeom>
          <a:solidFill>
            <a:srgbClr val="F2F2F2"/>
          </a:solidFill>
          <a:ln/>
        </p:spPr>
      </p:sp>
      <p:sp>
        <p:nvSpPr>
          <p:cNvPr id="4" name="Text 2"/>
          <p:cNvSpPr/>
          <p:nvPr/>
        </p:nvSpPr>
        <p:spPr>
          <a:xfrm>
            <a:off x="849291" y="1434108"/>
            <a:ext cx="11102697" cy="250428"/>
          </a:xfrm>
          <a:prstGeom prst="rect">
            <a:avLst/>
          </a:prstGeom>
          <a:noFill/>
          <a:ln/>
        </p:spPr>
        <p:txBody>
          <a:bodyPr wrap="none" lIns="0" tIns="0" rIns="0" bIns="0" rtlCol="0" anchor="t"/>
          <a:lstStyle/>
          <a:p>
            <a:pPr algn="l" indent="0" marL="0">
              <a:lnSpc>
                <a:spcPct val="133000"/>
              </a:lnSpc>
              <a:buNone/>
            </a:pPr>
            <a:r>
              <a:rPr lang="en-US" sz="1200" dirty="0">
                <a:solidFill>
                  <a:srgbClr val="D73A49"/>
                </a:solidFill>
                <a:latin typeface="Consolas" pitchFamily="34" charset="0"/>
                <a:ea typeface="Consolas" pitchFamily="34" charset="-122"/>
                <a:cs typeface="Consolas" pitchFamily="34" charset="-120"/>
              </a:rPr>
              <a:t>log: purpose=attendance_letter ref=aef90667 fields_sent=6</a:t>
            </a:r>
            <a:endParaRPr lang="en-US" sz="1200" dirty="0"/>
          </a:p>
        </p:txBody>
      </p:sp>
      <p:pic>
        <p:nvPicPr>
          <p:cNvPr id="5" name="Image 0" descr="preencoded.png">    </p:cNvPr>
          <p:cNvPicPr>
            <a:picLocks noChangeAspect="1"/>
          </p:cNvPicPr>
          <p:nvPr/>
        </p:nvPicPr>
        <p:blipFill>
          <a:blip r:embed="rId1"/>
          <a:stretch>
            <a:fillRect/>
          </a:stretch>
        </p:blipFill>
        <p:spPr>
          <a:xfrm>
            <a:off x="661475" y="2132509"/>
            <a:ext cx="6931050" cy="3927673"/>
          </a:xfrm>
          <a:prstGeom prst="rect">
            <a:avLst/>
          </a:prstGeom>
        </p:spPr>
      </p:pic>
      <p:sp>
        <p:nvSpPr>
          <p:cNvPr id="6" name="Text 3"/>
          <p:cNvSpPr/>
          <p:nvPr/>
        </p:nvSpPr>
        <p:spPr>
          <a:xfrm>
            <a:off x="7980659" y="3752949"/>
            <a:ext cx="3555812" cy="686693"/>
          </a:xfrm>
          <a:prstGeom prst="rect">
            <a:avLst/>
          </a:prstGeom>
          <a:noFill/>
          <a:ln/>
        </p:spPr>
        <p:txBody>
          <a:bodyPr wrap="square" lIns="0" tIns="0" rIns="0" bIns="0" rtlCol="0" anchor="t">
            <a:normAutofit/>
          </a:bodyPr>
          <a:lstStyle/>
          <a:p>
            <a:pPr algn="l" indent="0" marL="0">
              <a:lnSpc>
                <a:spcPct val="122000"/>
              </a:lnSpc>
              <a:buNone/>
            </a:pPr>
            <a:r>
              <a:rPr lang="en-US" sz="1200" dirty="0">
                <a:solidFill>
                  <a:srgbClr val="1C1C1C"/>
                </a:solidFill>
                <a:latin typeface="Roboto Condensed" pitchFamily="34" charset="0"/>
                <a:ea typeface="Roboto Condensed" pitchFamily="34" charset="-122"/>
                <a:cs typeface="Roboto Condensed" pitchFamily="34" charset="-120"/>
              </a:rPr>
              <a:t>The revised log line carries no personal value. The reference token replaces the raw record entirely, and only the field count is retained.</a:t>
            </a:r>
            <a:endParaRPr lang="en-US" sz="1200" dirty="0"/>
          </a:p>
        </p:txBody>
      </p:sp>
      <p:sp>
        <p:nvSpPr>
          <p:cNvPr id="7" name="Text 4"/>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642864"/>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Integrity, and the sentence nobody put there</a:t>
            </a:r>
            <a:endParaRPr lang="en-US" sz="3700" dirty="0"/>
          </a:p>
        </p:txBody>
      </p:sp>
      <p:sp>
        <p:nvSpPr>
          <p:cNvPr id="3" name="Shape 1"/>
          <p:cNvSpPr/>
          <p:nvPr/>
        </p:nvSpPr>
        <p:spPr>
          <a:xfrm>
            <a:off x="661475" y="3202186"/>
            <a:ext cx="10868745" cy="1890117"/>
          </a:xfrm>
          <a:prstGeom prst="roundRect">
            <a:avLst>
              <a:gd name="adj" fmla="val 4200"/>
            </a:avLst>
          </a:prstGeom>
          <a:solidFill>
            <a:srgbClr val="F2F2F2"/>
          </a:solidFill>
          <a:ln/>
        </p:spPr>
      </p:sp>
      <p:sp>
        <p:nvSpPr>
          <p:cNvPr id="4" name="Text 2"/>
          <p:cNvSpPr/>
          <p:nvPr/>
        </p:nvSpPr>
        <p:spPr>
          <a:xfrm>
            <a:off x="888283" y="3391198"/>
            <a:ext cx="10415129"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Draft 1  numbers in the draft : ['9']</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         not in the record    : none</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Draft 2  numbers in the draft : ['9', '6', '85']</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         not in the record    : ['6', '85']</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checker misses the worst part</a:t>
            </a:r>
            <a:endParaRPr lang="en-US" sz="3700" dirty="0"/>
          </a:p>
        </p:txBody>
      </p:sp>
      <p:sp>
        <p:nvSpPr>
          <p:cNvPr id="4" name="Text 1"/>
          <p:cNvSpPr/>
          <p:nvPr/>
        </p:nvSpPr>
        <p:spPr>
          <a:xfrm>
            <a:off x="661475"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"Which often indicates a transportation problem"</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 number in it, so the checker never sees it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That clause would upset a family most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Automated checks find the category you thought of</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76936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Availability, done honestly</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738041"/>
            <a:ext cx="5339820" cy="1019373"/>
          </a:xfrm>
          <a:prstGeom prst="rect">
            <a:avLst/>
          </a:prstGeom>
        </p:spPr>
      </p:pic>
      <p:sp>
        <p:nvSpPr>
          <p:cNvPr id="4" name="Text 1"/>
          <p:cNvSpPr/>
          <p:nvPr/>
        </p:nvSpPr>
        <p:spPr>
          <a:xfrm>
            <a:off x="977479" y="2952452"/>
            <a:ext cx="480940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deck was still written. The core worked.</a:t>
            </a:r>
            <a:endParaRPr lang="en-US" sz="1850" dirty="0"/>
          </a:p>
        </p:txBody>
      </p:sp>
      <p:pic>
        <p:nvPicPr>
          <p:cNvPr id="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90301" y="2738041"/>
            <a:ext cx="5339919" cy="1019373"/>
          </a:xfrm>
          <a:prstGeom prst="rect">
            <a:avLst/>
          </a:prstGeom>
        </p:spPr>
      </p:pic>
      <p:sp>
        <p:nvSpPr>
          <p:cNvPr id="6" name="Text 2"/>
          <p:cNvSpPr/>
          <p:nvPr/>
        </p:nvSpPr>
        <p:spPr>
          <a:xfrm>
            <a:off x="6506305" y="2952452"/>
            <a:ext cx="48095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failing address is printed.</a:t>
            </a:r>
            <a:endParaRPr lang="en-US" sz="1850" dirty="0"/>
          </a:p>
        </p:txBody>
      </p:sp>
      <p:pic>
        <p:nvPicPr>
          <p:cNvPr id="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3946426"/>
            <a:ext cx="5339820" cy="1019373"/>
          </a:xfrm>
          <a:prstGeom prst="rect">
            <a:avLst/>
          </a:prstGeom>
        </p:spPr>
      </p:pic>
      <p:sp>
        <p:nvSpPr>
          <p:cNvPr id="8" name="Text 3"/>
          <p:cNvSpPr/>
          <p:nvPr/>
        </p:nvSpPr>
        <p:spPr>
          <a:xfrm>
            <a:off x="977479" y="4160838"/>
            <a:ext cx="480940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failure is not disguised as a result.</a:t>
            </a:r>
            <a:endParaRPr lang="en-US" sz="1850" dirty="0"/>
          </a:p>
        </p:txBody>
      </p:sp>
      <p:pic>
        <p:nvPicPr>
          <p:cNvPr id="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90301" y="3946426"/>
            <a:ext cx="5339919" cy="1019373"/>
          </a:xfrm>
          <a:prstGeom prst="rect">
            <a:avLst/>
          </a:prstGeom>
        </p:spPr>
      </p:pic>
      <p:sp>
        <p:nvSpPr>
          <p:cNvPr id="10" name="Text 4"/>
          <p:cNvSpPr/>
          <p:nvPr/>
        </p:nvSpPr>
        <p:spPr>
          <a:xfrm>
            <a:off x="6506305" y="4160838"/>
            <a:ext cx="480950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 hints available" would have been a lie.</a:t>
            </a:r>
            <a:endParaRPr lang="en-US" sz="1850" dirty="0"/>
          </a:p>
        </p:txBody>
      </p:sp>
      <p:sp>
        <p:nvSpPr>
          <p:cNvPr id="11"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224055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fix that makes it worse</a:t>
            </a:r>
            <a:endParaRPr lang="en-US" sz="3700" dirty="0"/>
          </a:p>
        </p:txBody>
      </p:sp>
      <p:sp>
        <p:nvSpPr>
          <p:cNvPr id="3" name="Shape 1"/>
          <p:cNvSpPr/>
          <p:nvPr/>
        </p:nvSpPr>
        <p:spPr>
          <a:xfrm>
            <a:off x="661475" y="3209230"/>
            <a:ext cx="10868745" cy="1285280"/>
          </a:xfrm>
          <a:prstGeom prst="roundRect">
            <a:avLst>
              <a:gd name="adj" fmla="val 6177"/>
            </a:avLst>
          </a:prstGeom>
          <a:solidFill>
            <a:srgbClr val="F2F2F2"/>
          </a:solidFill>
          <a:ln/>
        </p:spPr>
      </p:sp>
      <p:sp>
        <p:nvSpPr>
          <p:cNvPr id="4" name="Text 2"/>
          <p:cNvSpPr/>
          <p:nvPr/>
        </p:nvSpPr>
        <p:spPr>
          <a:xfrm>
            <a:off x="888283" y="3398242"/>
            <a:ext cx="10415129"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def describe_for_log(record, purpose):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blob = str(record).encode("utf-8")</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return "record=" + hashlib.sha256(blob).hexdigest()</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Two new problems, no error message</a:t>
            </a:r>
            <a:endParaRPr lang="en-US" sz="3700" dirty="0"/>
          </a:p>
        </p:txBody>
      </p:sp>
      <p:sp>
        <p:nvSpPr>
          <p:cNvPr id="4" name="Text 1"/>
          <p:cNvSpPr/>
          <p:nvPr/>
        </p:nvSpPr>
        <p:spPr>
          <a:xfrm>
            <a:off x="661475"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 salt, small candidate set, so it is guessable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Anybody with the roster can hash and match</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log no longer says what happened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log nobody can use will be ignored or deleted</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61475" y="203874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3" name="Shape 1"/>
          <p:cNvSpPr/>
          <p:nvPr/>
        </p:nvSpPr>
        <p:spPr>
          <a:xfrm>
            <a:off x="661475" y="3007420"/>
            <a:ext cx="425241" cy="425252"/>
          </a:xfrm>
          <a:prstGeom prst="roundRect">
            <a:avLst>
              <a:gd name="adj" fmla="val 18669"/>
            </a:avLst>
          </a:prstGeom>
          <a:solidFill>
            <a:srgbClr val="D1E5FA"/>
          </a:solidFill>
          <a:ln w="19050">
            <a:solidFill>
              <a:srgbClr val="B7CBE0"/>
            </a:solidFill>
            <a:prstDash val="solid"/>
          </a:ln>
        </p:spPr>
      </p:sp>
      <p:sp>
        <p:nvSpPr>
          <p:cNvPr id="4" name="Text 2"/>
          <p:cNvSpPr/>
          <p:nvPr/>
        </p:nvSpPr>
        <p:spPr>
          <a:xfrm>
            <a:off x="732365" y="3042841"/>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1</a:t>
            </a:r>
            <a:endParaRPr lang="en-US" sz="2200" dirty="0"/>
          </a:p>
        </p:txBody>
      </p:sp>
      <p:sp>
        <p:nvSpPr>
          <p:cNvPr id="5" name="Text 3"/>
          <p:cNvSpPr/>
          <p:nvPr/>
        </p:nvSpPr>
        <p:spPr>
          <a:xfrm>
            <a:off x="1275723" y="3072309"/>
            <a:ext cx="4701958"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Write minimize with one field list per purpose</a:t>
            </a:r>
            <a:endParaRPr lang="en-US" sz="1850" dirty="0"/>
          </a:p>
        </p:txBody>
      </p:sp>
      <p:sp>
        <p:nvSpPr>
          <p:cNvPr id="6" name="Shape 4"/>
          <p:cNvSpPr/>
          <p:nvPr/>
        </p:nvSpPr>
        <p:spPr>
          <a:xfrm>
            <a:off x="6213915" y="3007420"/>
            <a:ext cx="425241" cy="425252"/>
          </a:xfrm>
          <a:prstGeom prst="roundRect">
            <a:avLst>
              <a:gd name="adj" fmla="val 18669"/>
            </a:avLst>
          </a:prstGeom>
          <a:solidFill>
            <a:srgbClr val="D1E5FA"/>
          </a:solidFill>
          <a:ln w="19050">
            <a:solidFill>
              <a:srgbClr val="B7CBE0"/>
            </a:solidFill>
            <a:prstDash val="solid"/>
          </a:ln>
        </p:spPr>
      </p:sp>
      <p:sp>
        <p:nvSpPr>
          <p:cNvPr id="7" name="Text 5"/>
          <p:cNvSpPr/>
          <p:nvPr/>
        </p:nvSpPr>
        <p:spPr>
          <a:xfrm>
            <a:off x="6284805" y="3042841"/>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2</a:t>
            </a:r>
            <a:endParaRPr lang="en-US" sz="2200" dirty="0"/>
          </a:p>
        </p:txBody>
      </p:sp>
      <p:sp>
        <p:nvSpPr>
          <p:cNvPr id="8" name="Text 6"/>
          <p:cNvSpPr/>
          <p:nvPr/>
        </p:nvSpPr>
        <p:spPr>
          <a:xfrm>
            <a:off x="6828163" y="3072309"/>
            <a:ext cx="470205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Make an unknown purpose refuse, not return everything</a:t>
            </a:r>
            <a:endParaRPr lang="en-US" sz="1850" dirty="0"/>
          </a:p>
        </p:txBody>
      </p:sp>
      <p:sp>
        <p:nvSpPr>
          <p:cNvPr id="9" name="Shape 7"/>
          <p:cNvSpPr/>
          <p:nvPr/>
        </p:nvSpPr>
        <p:spPr>
          <a:xfrm>
            <a:off x="661475" y="4040882"/>
            <a:ext cx="425241" cy="425252"/>
          </a:xfrm>
          <a:prstGeom prst="roundRect">
            <a:avLst>
              <a:gd name="adj" fmla="val 18669"/>
            </a:avLst>
          </a:prstGeom>
          <a:solidFill>
            <a:srgbClr val="D1E5FA"/>
          </a:solidFill>
          <a:ln w="19050">
            <a:solidFill>
              <a:srgbClr val="B7CBE0"/>
            </a:solidFill>
            <a:prstDash val="solid"/>
          </a:ln>
        </p:spPr>
      </p:sp>
      <p:sp>
        <p:nvSpPr>
          <p:cNvPr id="10" name="Text 8"/>
          <p:cNvSpPr/>
          <p:nvPr/>
        </p:nvSpPr>
        <p:spPr>
          <a:xfrm>
            <a:off x="732365" y="4076303"/>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3</a:t>
            </a:r>
            <a:endParaRPr lang="en-US" sz="2200" dirty="0"/>
          </a:p>
        </p:txBody>
      </p:sp>
      <p:sp>
        <p:nvSpPr>
          <p:cNvPr id="11" name="Text 9"/>
          <p:cNvSpPr/>
          <p:nvPr/>
        </p:nvSpPr>
        <p:spPr>
          <a:xfrm>
            <a:off x="1275723" y="4105771"/>
            <a:ext cx="4701958"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Rewrite the log line so it carries no personal value</a:t>
            </a:r>
            <a:endParaRPr lang="en-US" sz="1850" dirty="0"/>
          </a:p>
        </p:txBody>
      </p:sp>
      <p:sp>
        <p:nvSpPr>
          <p:cNvPr id="12" name="Shape 10"/>
          <p:cNvSpPr/>
          <p:nvPr/>
        </p:nvSpPr>
        <p:spPr>
          <a:xfrm>
            <a:off x="6213915" y="4040882"/>
            <a:ext cx="425241" cy="425252"/>
          </a:xfrm>
          <a:prstGeom prst="roundRect">
            <a:avLst>
              <a:gd name="adj" fmla="val 18669"/>
            </a:avLst>
          </a:prstGeom>
          <a:solidFill>
            <a:srgbClr val="D1E5FA"/>
          </a:solidFill>
          <a:ln w="19050">
            <a:solidFill>
              <a:srgbClr val="B7CBE0"/>
            </a:solidFill>
            <a:prstDash val="solid"/>
          </a:ln>
        </p:spPr>
      </p:sp>
      <p:sp>
        <p:nvSpPr>
          <p:cNvPr id="13" name="Text 11"/>
          <p:cNvSpPr/>
          <p:nvPr/>
        </p:nvSpPr>
        <p:spPr>
          <a:xfrm>
            <a:off x="6284805" y="4076303"/>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4</a:t>
            </a:r>
            <a:endParaRPr lang="en-US" sz="2200" dirty="0"/>
          </a:p>
        </p:txBody>
      </p:sp>
      <p:sp>
        <p:nvSpPr>
          <p:cNvPr id="14" name="Text 12"/>
          <p:cNvSpPr/>
          <p:nvPr/>
        </p:nvSpPr>
        <p:spPr>
          <a:xfrm>
            <a:off x="6828163" y="4105771"/>
            <a:ext cx="470205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Salt the reference so runs cannot be joined</a:t>
            </a:r>
            <a:endParaRPr lang="en-US" sz="1850" dirty="0"/>
          </a:p>
        </p:txBody>
      </p:sp>
      <p:sp>
        <p:nvSpPr>
          <p:cNvPr id="15"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2026-09-16T03:52:15Z</dcterms:created>
  <dcterms:modified xsi:type="dcterms:W3CDTF">2026-09-16T03:52:15Z</dcterms:modified>
</cp:coreProperties>
</file>