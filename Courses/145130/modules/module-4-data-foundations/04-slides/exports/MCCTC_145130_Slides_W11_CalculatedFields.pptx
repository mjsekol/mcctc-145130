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brief again. She never says database. She says which equipment is being used, and what has not come back, and I do not want a number I cannot explain. Everything you built this week exists to produce one page. Today is that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calculated field is a column that exists nowhere. It is worked out when the query runs from columns that are stored. That is why changing the rule means changing one query rather than reloading the data, and it is why the query is the documentation for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at once. julianday turns a date string into a number so it can be subtracted, because SQLite has no date type. CASE with no ELSE returns null. AVG skips nulls. So this averages only the loans that came back, in one pass, without a second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loans came back, here are the nine durations, they add to sixty three, and sixty three over nine is seven point zero exactly. The query agrees. Do this before you write the query, not after. A calculated field checked against your own program's output only proves the program agrees with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pattern gives you late returns, still out, overdue now, and the rate, all in the same statement. And write one hundred point zero, because two integers divided in SQLite give an integer. Fourteen over twenty four is zero. One point zero anywhere in the expression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for display, not while you are calculating. And overdue is a claim about a moment, so the as of date is an input. With the clock in the query the same command gives two answers on two days, no test can check a number, and a number you showed somebody last week cannot be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Robotics has three loans and two of them are still out. The report says three, and seven hundred and fifty four dollars out the door instead of six hundred and fifty eight. There is a piece of equipment nobody has ever borrowed, and the LEFT JOIN made it a row with every loan column null, so returned is null was true for a thing sitting on a shelf.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the same number until a LEFT JOIN produces a row with no values in it. Guard on the loan's own key and the number goes back to two. This exact defect is in one of the labs this week and in a Gate 2, because it produces a wrong number and no error, which is the shape of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guard a division with NULLIF, you get a proper null, and then printf turns it back into a number that looks real. A kill to death ratio of zero point zero zero says this player plays and never scores. Every step between the data and the page is a place a null can become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M zero four dash zero four. Four calculated field queries against the esports database, plus a player record form. Step one is adding up three rows on paper, and it is the step people skip. Steps seven and eight are the two traps, and I am not telling you what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4.png"/><Relationship Id="rId9" Type="http://schemas.openxmlformats.org/officeDocument/2006/relationships/image" Target="../media/image-6-5.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Calculated Fields, and Reports Somebody Will Act On</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1350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Nobody asked you for a database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384127"/>
            <a:ext cx="283461" cy="283468"/>
          </a:xfrm>
          <a:prstGeom prst="rect">
            <a:avLst/>
          </a:prstGeom>
        </p:spPr>
      </p:pic>
      <p:sp>
        <p:nvSpPr>
          <p:cNvPr id="5" name="Text 1"/>
          <p:cNvSpPr/>
          <p:nvPr/>
        </p:nvSpPr>
        <p:spPr>
          <a:xfrm>
            <a:off x="1275723" y="237827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advisor asked two questions</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335040"/>
            <a:ext cx="283461" cy="283468"/>
          </a:xfrm>
          <a:prstGeom prst="rect">
            <a:avLst/>
          </a:prstGeom>
        </p:spPr>
      </p:pic>
      <p:sp>
        <p:nvSpPr>
          <p:cNvPr id="7" name="Text 2"/>
          <p:cNvSpPr/>
          <p:nvPr/>
        </p:nvSpPr>
        <p:spPr>
          <a:xfrm>
            <a:off x="1275723" y="3329186"/>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She wants numbers she can put in front of a board</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303613"/>
            <a:ext cx="283461" cy="283468"/>
          </a:xfrm>
          <a:prstGeom prst="rect">
            <a:avLst/>
          </a:prstGeom>
        </p:spPr>
      </p:pic>
      <p:sp>
        <p:nvSpPr>
          <p:cNvPr id="9" name="Text 3"/>
          <p:cNvSpPr/>
          <p:nvPr/>
        </p:nvSpPr>
        <p:spPr>
          <a:xfrm>
            <a:off x="1275723" y="429775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database is how you get there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254526"/>
            <a:ext cx="283461" cy="283468"/>
          </a:xfrm>
          <a:prstGeom prst="rect">
            <a:avLst/>
          </a:prstGeom>
        </p:spPr>
      </p:pic>
      <p:sp>
        <p:nvSpPr>
          <p:cNvPr id="11" name="Text 4"/>
          <p:cNvSpPr/>
          <p:nvPr/>
        </p:nvSpPr>
        <p:spPr>
          <a:xfrm>
            <a:off x="1275723" y="524867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report is the thing</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91085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words in the competency</a:t>
            </a:r>
            <a:endParaRPr lang="en-US" sz="3700" dirty="0"/>
          </a:p>
        </p:txBody>
      </p:sp>
      <p:sp>
        <p:nvSpPr>
          <p:cNvPr id="3" name="Shape 1"/>
          <p:cNvSpPr/>
          <p:nvPr/>
        </p:nvSpPr>
        <p:spPr>
          <a:xfrm>
            <a:off x="661475" y="2879527"/>
            <a:ext cx="3496877" cy="1429643"/>
          </a:xfrm>
          <a:prstGeom prst="roundRect">
            <a:avLst>
              <a:gd name="adj" fmla="val 5553"/>
            </a:avLst>
          </a:prstGeom>
          <a:solidFill>
            <a:srgbClr val="D1E5FA"/>
          </a:solidFill>
          <a:ln w="19050">
            <a:solidFill>
              <a:srgbClr val="B7CBE0"/>
            </a:solidFill>
            <a:prstDash val="solid"/>
          </a:ln>
        </p:spPr>
      </p:sp>
      <p:sp>
        <p:nvSpPr>
          <p:cNvPr id="4" name="Text 2"/>
          <p:cNvSpPr/>
          <p:nvPr/>
        </p:nvSpPr>
        <p:spPr>
          <a:xfrm>
            <a:off x="869531"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Calculated field</a:t>
            </a:r>
            <a:endParaRPr lang="en-US" sz="1850" dirty="0"/>
          </a:p>
        </p:txBody>
      </p:sp>
      <p:sp>
        <p:nvSpPr>
          <p:cNvPr id="5" name="Text 3"/>
          <p:cNvSpPr/>
          <p:nvPr/>
        </p:nvSpPr>
        <p:spPr>
          <a:xfrm>
            <a:off x="869531" y="3496270"/>
            <a:ext cx="3080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Worked out at query time, never stored</a:t>
            </a:r>
            <a:endParaRPr lang="en-US" sz="1450" dirty="0"/>
          </a:p>
        </p:txBody>
      </p:sp>
      <p:sp>
        <p:nvSpPr>
          <p:cNvPr id="6" name="Shape 4"/>
          <p:cNvSpPr/>
          <p:nvPr/>
        </p:nvSpPr>
        <p:spPr>
          <a:xfrm>
            <a:off x="4347359" y="2879527"/>
            <a:ext cx="3496877" cy="1429643"/>
          </a:xfrm>
          <a:prstGeom prst="roundRect">
            <a:avLst>
              <a:gd name="adj" fmla="val 5553"/>
            </a:avLst>
          </a:prstGeom>
          <a:solidFill>
            <a:srgbClr val="D1E5FA"/>
          </a:solidFill>
          <a:ln w="19050">
            <a:solidFill>
              <a:srgbClr val="B7CBE0"/>
            </a:solidFill>
            <a:prstDash val="solid"/>
          </a:ln>
        </p:spPr>
      </p:sp>
      <p:sp>
        <p:nvSpPr>
          <p:cNvPr id="7" name="Text 5"/>
          <p:cNvSpPr/>
          <p:nvPr/>
        </p:nvSpPr>
        <p:spPr>
          <a:xfrm>
            <a:off x="4555416"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Function</a:t>
            </a:r>
            <a:endParaRPr lang="en-US" sz="1850" dirty="0"/>
          </a:p>
        </p:txBody>
      </p:sp>
      <p:sp>
        <p:nvSpPr>
          <p:cNvPr id="8" name="Text 6"/>
          <p:cNvSpPr/>
          <p:nvPr/>
        </p:nvSpPr>
        <p:spPr>
          <a:xfrm>
            <a:off x="4555416" y="3496270"/>
            <a:ext cx="3080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COUNT, SUM, AVG, ROUND, julianday, printf</a:t>
            </a:r>
            <a:endParaRPr lang="en-US" sz="1450" dirty="0"/>
          </a:p>
        </p:txBody>
      </p:sp>
      <p:sp>
        <p:nvSpPr>
          <p:cNvPr id="9" name="Shape 7"/>
          <p:cNvSpPr/>
          <p:nvPr/>
        </p:nvSpPr>
        <p:spPr>
          <a:xfrm>
            <a:off x="8033244" y="2879527"/>
            <a:ext cx="3496877" cy="1429643"/>
          </a:xfrm>
          <a:prstGeom prst="roundRect">
            <a:avLst>
              <a:gd name="adj" fmla="val 5553"/>
            </a:avLst>
          </a:prstGeom>
          <a:solidFill>
            <a:srgbClr val="D1E5FA"/>
          </a:solidFill>
          <a:ln w="19050">
            <a:solidFill>
              <a:srgbClr val="B7CBE0"/>
            </a:solidFill>
            <a:prstDash val="solid"/>
          </a:ln>
        </p:spPr>
      </p:sp>
      <p:sp>
        <p:nvSpPr>
          <p:cNvPr id="10" name="Text 8"/>
          <p:cNvSpPr/>
          <p:nvPr/>
        </p:nvSpPr>
        <p:spPr>
          <a:xfrm>
            <a:off x="8241300"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Form</a:t>
            </a:r>
            <a:endParaRPr lang="en-US" sz="1850" dirty="0"/>
          </a:p>
        </p:txBody>
      </p:sp>
      <p:sp>
        <p:nvSpPr>
          <p:cNvPr id="11" name="Text 9"/>
          <p:cNvSpPr/>
          <p:nvPr/>
        </p:nvSpPr>
        <p:spPr>
          <a:xfrm>
            <a:off x="8241300" y="349627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One record, laid out for a person</a:t>
            </a:r>
            <a:endParaRPr lang="en-US" sz="1450" dirty="0"/>
          </a:p>
        </p:txBody>
      </p:sp>
      <p:sp>
        <p:nvSpPr>
          <p:cNvPr id="12" name="Text 10"/>
          <p:cNvSpPr/>
          <p:nvPr/>
        </p:nvSpPr>
        <p:spPr>
          <a:xfrm>
            <a:off x="661475" y="4521795"/>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All three come out of one database</a:t>
            </a:r>
            <a:endParaRPr lang="en-US" sz="14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anatomy of one</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ROUND(AVG(CASE WHEN l.returned_on IS NOT NULL</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               THEN julianday(l.returned_on) - julianday(l.checked_out_on)</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          END), 1) AS avg_days_out_returned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Check one number by hand, first</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Shape 1"/>
          <p:cNvSpPr/>
          <p:nvPr/>
        </p:nvSpPr>
        <p:spPr>
          <a:xfrm>
            <a:off x="8032251" y="3010694"/>
            <a:ext cx="3504219" cy="1587698"/>
          </a:xfrm>
          <a:prstGeom prst="roundRect">
            <a:avLst>
              <a:gd name="adj" fmla="val 5000"/>
            </a:avLst>
          </a:prstGeom>
          <a:solidFill>
            <a:srgbClr val="F2F2F2"/>
          </a:solidFill>
          <a:ln/>
        </p:spPr>
      </p:sp>
      <p:sp>
        <p:nvSpPr>
          <p:cNvPr id="5" name="Text 2"/>
          <p:cNvSpPr/>
          <p:nvPr/>
        </p:nvSpPr>
        <p:spPr>
          <a:xfrm>
            <a:off x="8259060" y="3199705"/>
            <a:ext cx="3050603" cy="1209675"/>
          </a:xfrm>
          <a:prstGeom prst="rect">
            <a:avLst/>
          </a:prstGeom>
          <a:noFill/>
          <a:ln/>
        </p:spPr>
        <p:txBody>
          <a:bodyPr wrap="square" lIns="0" tIns="0" rIns="0" bIns="0" rtlCol="0" anchor="t">
            <a:normAutofit/>
          </a:bodyPr>
          <a:lstStyle/>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fabrication: 9 returned loans</a:t>
            </a: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6 + 6 + 6 + 7 + 6 + 5 + 8 + 13 + 6 = 63</a:t>
            </a: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63 / 9 = 7.0</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56134"/>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The pattern you will use most</a:t>
            </a:r>
            <a:endParaRPr lang="en-US" sz="36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093714"/>
            <a:ext cx="6296860" cy="1004292"/>
          </a:xfrm>
          <a:prstGeom prst="rect">
            <a:avLst/>
          </a:prstGeom>
        </p:spPr>
      </p:pic>
      <p:sp>
        <p:nvSpPr>
          <p:cNvPr id="5" name="Text 1"/>
          <p:cNvSpPr/>
          <p:nvPr/>
        </p:nvSpPr>
        <p:spPr>
          <a:xfrm>
            <a:off x="5546388" y="2305149"/>
            <a:ext cx="5772402"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SUM of CASE WHEN condition THEN 1 ELSE 0 END</a:t>
            </a:r>
            <a:endParaRPr lang="en-US" sz="18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281164"/>
            <a:ext cx="6296860" cy="713581"/>
          </a:xfrm>
          <a:prstGeom prst="rect">
            <a:avLst/>
          </a:prstGeom>
        </p:spPr>
      </p:pic>
      <p:sp>
        <p:nvSpPr>
          <p:cNvPr id="7" name="Text 2"/>
          <p:cNvSpPr/>
          <p:nvPr/>
        </p:nvSpPr>
        <p:spPr>
          <a:xfrm>
            <a:off x="5546388" y="3492599"/>
            <a:ext cx="577240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Counts matching rows inside the same pass</a:t>
            </a:r>
            <a:endParaRPr lang="en-US" sz="18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177903"/>
            <a:ext cx="6296860" cy="1004292"/>
          </a:xfrm>
          <a:prstGeom prst="rect">
            <a:avLst/>
          </a:prstGeom>
        </p:spPr>
      </p:pic>
      <p:sp>
        <p:nvSpPr>
          <p:cNvPr id="9" name="Text 3"/>
          <p:cNvSpPr/>
          <p:nvPr/>
        </p:nvSpPr>
        <p:spPr>
          <a:xfrm>
            <a:off x="5546388" y="4389338"/>
            <a:ext cx="5772402"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Replaces running a second query and subtracting</a:t>
            </a:r>
            <a:endParaRPr lang="en-US" sz="18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365353"/>
            <a:ext cx="6296860" cy="713581"/>
          </a:xfrm>
          <a:prstGeom prst="rect">
            <a:avLst/>
          </a:prstGeom>
        </p:spPr>
      </p:pic>
      <p:sp>
        <p:nvSpPr>
          <p:cNvPr id="11" name="Text 4"/>
          <p:cNvSpPr/>
          <p:nvPr/>
        </p:nvSpPr>
        <p:spPr>
          <a:xfrm>
            <a:off x="5546388" y="5576788"/>
            <a:ext cx="577240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Use 100.0 not 100, or you get zero</a:t>
            </a:r>
            <a:endParaRPr lang="en-US" sz="180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3874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Round at the edge, never in the middle</a:t>
            </a:r>
            <a:endParaRPr lang="en-US" sz="3700" dirty="0"/>
          </a:p>
        </p:txBody>
      </p:sp>
      <p:sp>
        <p:nvSpPr>
          <p:cNvPr id="3" name="Shape 1"/>
          <p:cNvSpPr/>
          <p:nvPr/>
        </p:nvSpPr>
        <p:spPr>
          <a:xfrm>
            <a:off x="661475" y="3007420"/>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3072309"/>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printf formats the answer for a person</a:t>
            </a:r>
            <a:endParaRPr lang="en-US" sz="1850" dirty="0"/>
          </a:p>
        </p:txBody>
      </p:sp>
      <p:sp>
        <p:nvSpPr>
          <p:cNvPr id="5" name="Shape 3"/>
          <p:cNvSpPr/>
          <p:nvPr/>
        </p:nvSpPr>
        <p:spPr>
          <a:xfrm>
            <a:off x="6213915" y="3007420"/>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6828163" y="3072309"/>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Rounding each row before adding is a wrong total</a:t>
            </a:r>
            <a:endParaRPr lang="en-US" sz="1850" dirty="0"/>
          </a:p>
        </p:txBody>
      </p:sp>
      <p:sp>
        <p:nvSpPr>
          <p:cNvPr id="7" name="Shape 5"/>
          <p:cNvSpPr/>
          <p:nvPr/>
        </p:nvSpPr>
        <p:spPr>
          <a:xfrm>
            <a:off x="661475" y="4040882"/>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4105771"/>
            <a:ext cx="470195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the wrongness is untraceable</a:t>
            </a:r>
            <a:endParaRPr lang="en-US" sz="1850" dirty="0"/>
          </a:p>
        </p:txBody>
      </p:sp>
      <p:sp>
        <p:nvSpPr>
          <p:cNvPr id="9" name="Shape 7"/>
          <p:cNvSpPr/>
          <p:nvPr/>
        </p:nvSpPr>
        <p:spPr>
          <a:xfrm>
            <a:off x="6213915" y="4040882"/>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6828163" y="4105771"/>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date is a parameter, not the clock</a:t>
            </a:r>
            <a:endParaRPr lang="en-US" sz="18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Trap one, the row that is not a row</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Shape 1"/>
          <p:cNvSpPr/>
          <p:nvPr/>
        </p:nvSpPr>
        <p:spPr>
          <a:xfrm>
            <a:off x="8032251" y="2384723"/>
            <a:ext cx="3504219" cy="982861"/>
          </a:xfrm>
          <a:prstGeom prst="roundRect">
            <a:avLst>
              <a:gd name="adj" fmla="val 8077"/>
            </a:avLst>
          </a:prstGeom>
          <a:solidFill>
            <a:srgbClr val="F2F2F2"/>
          </a:solidFill>
          <a:ln/>
        </p:spPr>
      </p:sp>
      <p:sp>
        <p:nvSpPr>
          <p:cNvPr id="5" name="Text 2"/>
          <p:cNvSpPr/>
          <p:nvPr/>
        </p:nvSpPr>
        <p:spPr>
          <a:xfrm>
            <a:off x="8259060" y="2573734"/>
            <a:ext cx="305060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robotics   loans 3   still out 3   value out $754.75</a:t>
            </a:r>
            <a:endParaRPr lang="en-US" sz="1450" dirty="0"/>
          </a:p>
        </p:txBody>
      </p:sp>
      <p:sp>
        <p:nvSpPr>
          <p:cNvPr id="6" name="Shape 3"/>
          <p:cNvSpPr/>
          <p:nvPr/>
        </p:nvSpPr>
        <p:spPr>
          <a:xfrm>
            <a:off x="8032251" y="3580209"/>
            <a:ext cx="3504219" cy="1644253"/>
          </a:xfrm>
          <a:prstGeom prst="roundRect">
            <a:avLst>
              <a:gd name="adj" fmla="val 4828"/>
            </a:avLst>
          </a:prstGeom>
          <a:solidFill>
            <a:srgbClr val="FCF2B5"/>
          </a:solidFill>
          <a:ln/>
        </p:spPr>
      </p:sp>
      <p:pic>
        <p:nvPicPr>
          <p:cNvPr id="7" name="Image 1" descr="preencoded.png">    </p:cNvPr>
          <p:cNvPicPr>
            <a:picLocks noChangeAspect="1"/>
          </p:cNvPicPr>
          <p:nvPr/>
        </p:nvPicPr>
        <p:blipFill>
          <a:blip r:embed="rId2"/>
          <a:stretch>
            <a:fillRect/>
          </a:stretch>
        </p:blipFill>
        <p:spPr>
          <a:xfrm>
            <a:off x="8221258" y="3866952"/>
            <a:ext cx="236234" cy="189012"/>
          </a:xfrm>
          <a:prstGeom prst="rect">
            <a:avLst/>
          </a:prstGeom>
        </p:spPr>
      </p:pic>
      <p:sp>
        <p:nvSpPr>
          <p:cNvPr id="8" name="Text 4"/>
          <p:cNvSpPr/>
          <p:nvPr/>
        </p:nvSpPr>
        <p:spPr>
          <a:xfrm>
            <a:off x="8646499" y="3797498"/>
            <a:ext cx="2700964"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A category with no returned loans still appears as a row. The average days out is null, not zero.</a:t>
            </a:r>
            <a:endParaRPr lang="en-US" sz="1450" dirty="0"/>
          </a:p>
        </p:txBody>
      </p:sp>
      <p:sp>
        <p:nvSpPr>
          <p:cNvPr id="9"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22982"/>
            <a:ext cx="10868745"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111111"/>
                </a:solidFill>
                <a:latin typeface="Orbitron Bold" pitchFamily="34" charset="0"/>
                <a:ea typeface="Orbitron Bold" pitchFamily="34" charset="-122"/>
                <a:cs typeface="Orbitron Bold" pitchFamily="34" charset="-120"/>
              </a:rPr>
              <a:t>COUNT star counts rows, COUNT column counts values</a:t>
            </a:r>
            <a:endParaRPr lang="en-US" sz="3250" dirty="0"/>
          </a:p>
        </p:txBody>
      </p:sp>
      <p:sp>
        <p:nvSpPr>
          <p:cNvPr id="3" name="Shape 1"/>
          <p:cNvSpPr/>
          <p:nvPr/>
        </p:nvSpPr>
        <p:spPr>
          <a:xfrm>
            <a:off x="661475" y="1845866"/>
            <a:ext cx="10868745" cy="859830"/>
          </a:xfrm>
          <a:prstGeom prst="roundRect">
            <a:avLst>
              <a:gd name="adj" fmla="val 8079"/>
            </a:avLst>
          </a:prstGeom>
          <a:solidFill>
            <a:srgbClr val="F2F2F2"/>
          </a:solidFill>
          <a:ln/>
        </p:spPr>
      </p:sp>
      <p:sp>
        <p:nvSpPr>
          <p:cNvPr id="4" name="Text 2"/>
          <p:cNvSpPr/>
          <p:nvPr/>
        </p:nvSpPr>
        <p:spPr>
          <a:xfrm>
            <a:off x="859907" y="2011164"/>
            <a:ext cx="1047188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36209"/>
                </a:solidFill>
                <a:latin typeface="Consolas" pitchFamily="34" charset="0"/>
                <a:ea typeface="Consolas" pitchFamily="34" charset="-122"/>
                <a:cs typeface="Consolas" pitchFamily="34" charset="-120"/>
              </a:rPr>
              <a:t>SUM(CASE WHEN l.loan_id IS NOT NULL</a:t>
            </a:r>
            <a:endParaRPr lang="en-US" sz="1300" dirty="0"/>
          </a:p>
          <a:p>
            <a:pPr algn="l" indent="0" marL="0">
              <a:lnSpc>
                <a:spcPct val="133000"/>
              </a:lnSpc>
              <a:buNone/>
            </a:pPr>
            <a:r>
              <a:rPr lang="en-US" sz="1300" dirty="0">
                <a:solidFill>
                  <a:srgbClr val="E36209"/>
                </a:solidFill>
                <a:latin typeface="Consolas" pitchFamily="34" charset="0"/>
                <a:ea typeface="Consolas" pitchFamily="34" charset="-122"/>
                <a:cs typeface="Consolas" pitchFamily="34" charset="-120"/>
              </a:rPr>
              <a:t>              AND l.returned_on IS NULL THEN 1 ELSE 0 END) AS still_out</a:t>
            </a:r>
            <a:endParaRPr lang="en-US" sz="1300" dirty="0"/>
          </a:p>
        </p:txBody>
      </p:sp>
      <p:pic>
        <p:nvPicPr>
          <p:cNvPr id="5" name="Image 0" descr="preencoded.png">    </p:cNvPr>
          <p:cNvPicPr>
            <a:picLocks noChangeAspect="1"/>
          </p:cNvPicPr>
          <p:nvPr/>
        </p:nvPicPr>
        <p:blipFill>
          <a:blip r:embed="rId1"/>
          <a:stretch>
            <a:fillRect/>
          </a:stretch>
        </p:blipFill>
        <p:spPr>
          <a:xfrm>
            <a:off x="3179584" y="2868414"/>
            <a:ext cx="5832528" cy="3343672"/>
          </a:xfrm>
          <a:prstGeom prst="rect">
            <a:avLst/>
          </a:prstGeom>
        </p:spPr>
      </p:pic>
      <p:sp>
        <p:nvSpPr>
          <p:cNvPr id="6" name="Text 3"/>
          <p:cNvSpPr/>
          <p:nvPr/>
        </p:nvSpPr>
        <p:spPr>
          <a:xfrm>
            <a:off x="3761282" y="4124387"/>
            <a:ext cx="1908952" cy="305684"/>
          </a:xfrm>
          <a:prstGeom prst="rect">
            <a:avLst/>
          </a:prstGeom>
          <a:noFill/>
          <a:ln/>
        </p:spPr>
        <p:txBody>
          <a:bodyPr wrap="none" lIns="0" tIns="0" rIns="0" bIns="0" rtlCol="0" anchor="t"/>
          <a:lstStyle/>
          <a:p>
            <a:pPr algn="ctr" indent="0" marL="0">
              <a:lnSpc>
                <a:spcPct val="104000"/>
              </a:lnSpc>
              <a:buNone/>
            </a:pPr>
            <a:r>
              <a:rPr lang="en-US" sz="1900" b="1" dirty="0">
                <a:solidFill>
                  <a:srgbClr val="111111"/>
                </a:solidFill>
                <a:latin typeface="Orbitron Bold" pitchFamily="34" charset="0"/>
                <a:ea typeface="Orbitron Bold" pitchFamily="34" charset="-122"/>
                <a:cs typeface="Orbitron Bold" pitchFamily="34" charset="-120"/>
              </a:rPr>
              <a:t>COUNT(*)</a:t>
            </a:r>
            <a:endParaRPr lang="en-US" sz="1900" dirty="0"/>
          </a:p>
        </p:txBody>
      </p:sp>
      <p:sp>
        <p:nvSpPr>
          <p:cNvPr id="7" name="Text 4"/>
          <p:cNvSpPr/>
          <p:nvPr/>
        </p:nvSpPr>
        <p:spPr>
          <a:xfrm>
            <a:off x="3761282" y="4517022"/>
            <a:ext cx="1908952" cy="458527"/>
          </a:xfrm>
          <a:prstGeom prst="rect">
            <a:avLst/>
          </a:prstGeom>
          <a:noFill/>
          <a:ln/>
        </p:spPr>
        <p:txBody>
          <a:bodyPr wrap="square" lIns="0" tIns="0" rIns="0" bIns="0" rtlCol="0" anchor="t">
            <a:normAutofit/>
          </a:bodyPr>
          <a:lstStyle/>
          <a:p>
            <a:pPr algn="ctr" indent="0" marL="0">
              <a:lnSpc>
                <a:spcPct val="98000"/>
              </a:lnSpc>
              <a:buNone/>
            </a:pPr>
            <a:r>
              <a:rPr lang="en-US" sz="1500" dirty="0">
                <a:solidFill>
                  <a:srgbClr val="1C1C1C"/>
                </a:solidFill>
                <a:latin typeface="Roboto Condensed" pitchFamily="34" charset="0"/>
                <a:ea typeface="Roboto Condensed" pitchFamily="34" charset="-122"/>
                <a:cs typeface="Roboto Condensed" pitchFamily="34" charset="-120"/>
              </a:rPr>
              <a:t>Counts every row, includes NULLs</a:t>
            </a:r>
            <a:endParaRPr lang="en-US" sz="1500" dirty="0"/>
          </a:p>
        </p:txBody>
      </p:sp>
      <p:sp>
        <p:nvSpPr>
          <p:cNvPr id="8" name="Text 5"/>
          <p:cNvSpPr/>
          <p:nvPr/>
        </p:nvSpPr>
        <p:spPr>
          <a:xfrm>
            <a:off x="6532752" y="3906332"/>
            <a:ext cx="1908952" cy="611369"/>
          </a:xfrm>
          <a:prstGeom prst="rect">
            <a:avLst/>
          </a:prstGeom>
          <a:noFill/>
          <a:ln/>
        </p:spPr>
        <p:txBody>
          <a:bodyPr wrap="square" lIns="0" tIns="0" rIns="0" bIns="0" rtlCol="0" anchor="t">
            <a:normAutofit/>
          </a:bodyPr>
          <a:lstStyle/>
          <a:p>
            <a:pPr algn="ctr" indent="0" marL="0">
              <a:lnSpc>
                <a:spcPct val="104000"/>
              </a:lnSpc>
              <a:buNone/>
            </a:pPr>
            <a:r>
              <a:rPr lang="en-US" sz="1900" b="1" dirty="0">
                <a:solidFill>
                  <a:srgbClr val="111111"/>
                </a:solidFill>
                <a:latin typeface="Orbitron Bold" pitchFamily="34" charset="0"/>
                <a:ea typeface="Orbitron Bold" pitchFamily="34" charset="-122"/>
                <a:cs typeface="Orbitron Bold" pitchFamily="34" charset="-120"/>
              </a:rPr>
              <a:t>COUNT(column)</a:t>
            </a:r>
            <a:endParaRPr lang="en-US" sz="1900" dirty="0"/>
          </a:p>
        </p:txBody>
      </p:sp>
      <p:sp>
        <p:nvSpPr>
          <p:cNvPr id="9" name="Text 6"/>
          <p:cNvSpPr/>
          <p:nvPr/>
        </p:nvSpPr>
        <p:spPr>
          <a:xfrm>
            <a:off x="6532752" y="4604651"/>
            <a:ext cx="1908952" cy="458527"/>
          </a:xfrm>
          <a:prstGeom prst="rect">
            <a:avLst/>
          </a:prstGeom>
          <a:noFill/>
          <a:ln/>
        </p:spPr>
        <p:txBody>
          <a:bodyPr wrap="square" lIns="0" tIns="0" rIns="0" bIns="0" rtlCol="0" anchor="t">
            <a:normAutofit/>
          </a:bodyPr>
          <a:lstStyle/>
          <a:p>
            <a:pPr algn="ctr" indent="0" marL="0">
              <a:lnSpc>
                <a:spcPct val="98000"/>
              </a:lnSpc>
              <a:buNone/>
            </a:pPr>
            <a:r>
              <a:rPr lang="en-US" sz="1500" dirty="0">
                <a:solidFill>
                  <a:srgbClr val="1C1C1C"/>
                </a:solidFill>
                <a:latin typeface="Roboto Condensed" pitchFamily="34" charset="0"/>
                <a:ea typeface="Roboto Condensed" pitchFamily="34" charset="-122"/>
                <a:cs typeface="Roboto Condensed" pitchFamily="34" charset="-120"/>
              </a:rPr>
              <a:t>Counts only non-NULL values</a:t>
            </a:r>
            <a:endParaRPr lang="en-US" sz="150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86408"/>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Trap two, the guard the formatter undoes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45730"/>
            <a:ext cx="5339820" cy="1706959"/>
          </a:xfrm>
          <a:prstGeom prst="rect">
            <a:avLst/>
          </a:prstGeom>
        </p:spPr>
      </p:pic>
      <p:sp>
        <p:nvSpPr>
          <p:cNvPr id="4" name="Text 1"/>
          <p:cNvSpPr/>
          <p:nvPr/>
        </p:nvSpPr>
        <p:spPr>
          <a:xfrm>
            <a:off x="875881" y="3127177"/>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printf of a null</a:t>
            </a:r>
            <a:endParaRPr lang="en-US" sz="1850" dirty="0"/>
          </a:p>
        </p:txBody>
      </p:sp>
      <p:sp>
        <p:nvSpPr>
          <p:cNvPr id="5" name="Text 2"/>
          <p:cNvSpPr/>
          <p:nvPr/>
        </p:nvSpPr>
        <p:spPr>
          <a:xfrm>
            <a:off x="875881" y="3535859"/>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Prints 0.00 in SQLite</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345730"/>
            <a:ext cx="5339919" cy="1706959"/>
          </a:xfrm>
          <a:prstGeom prst="rect">
            <a:avLst/>
          </a:prstGeom>
        </p:spPr>
      </p:pic>
      <p:sp>
        <p:nvSpPr>
          <p:cNvPr id="7" name="Text 3"/>
          <p:cNvSpPr/>
          <p:nvPr/>
        </p:nvSpPr>
        <p:spPr>
          <a:xfrm>
            <a:off x="6404708" y="3127177"/>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ROUND of a null</a:t>
            </a:r>
            <a:endParaRPr lang="en-US" sz="1850" dirty="0"/>
          </a:p>
        </p:txBody>
      </p:sp>
      <p:sp>
        <p:nvSpPr>
          <p:cNvPr id="8" name="Text 4"/>
          <p:cNvSpPr/>
          <p:nvPr/>
        </p:nvSpPr>
        <p:spPr>
          <a:xfrm>
            <a:off x="6404708" y="3535859"/>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Stays null</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241701"/>
            <a:ext cx="5339820" cy="1706959"/>
          </a:xfrm>
          <a:prstGeom prst="rect">
            <a:avLst/>
          </a:prstGeom>
        </p:spPr>
      </p:pic>
      <p:sp>
        <p:nvSpPr>
          <p:cNvPr id="10" name="Text 5"/>
          <p:cNvSpPr/>
          <p:nvPr/>
        </p:nvSpPr>
        <p:spPr>
          <a:xfrm>
            <a:off x="875881" y="5023148"/>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over zero</a:t>
            </a:r>
            <a:endParaRPr lang="en-US" sz="1850" dirty="0"/>
          </a:p>
        </p:txBody>
      </p:sp>
      <p:sp>
        <p:nvSpPr>
          <p:cNvPr id="11" name="Text 6"/>
          <p:cNvSpPr/>
          <p:nvPr/>
        </p:nvSpPr>
        <p:spPr>
          <a:xfrm>
            <a:off x="875881" y="5431830"/>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Is null, not an error</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4241701"/>
            <a:ext cx="5339919" cy="1706959"/>
          </a:xfrm>
          <a:prstGeom prst="rect">
            <a:avLst/>
          </a:prstGeom>
        </p:spPr>
      </p:pic>
      <p:sp>
        <p:nvSpPr>
          <p:cNvPr id="13" name="Text 7"/>
          <p:cNvSpPr/>
          <p:nvPr/>
        </p:nvSpPr>
        <p:spPr>
          <a:xfrm>
            <a:off x="6404708" y="5023148"/>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ratio of zero</a:t>
            </a:r>
            <a:endParaRPr lang="en-US" sz="1850" dirty="0"/>
          </a:p>
        </p:txBody>
      </p:sp>
      <p:sp>
        <p:nvSpPr>
          <p:cNvPr id="14" name="Text 8"/>
          <p:cNvSpPr/>
          <p:nvPr/>
        </p:nvSpPr>
        <p:spPr>
          <a:xfrm>
            <a:off x="6404708" y="5431830"/>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Is a claim, not an absence</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you are about to build</a:t>
            </a:r>
            <a:endParaRPr lang="en-US" sz="3600" dirty="0"/>
          </a:p>
        </p:txBody>
      </p:sp>
      <p:sp>
        <p:nvSpPr>
          <p:cNvPr id="4" name="Text 1"/>
          <p:cNvSpPr/>
          <p:nvPr/>
        </p:nvSpPr>
        <p:spPr>
          <a:xfrm>
            <a:off x="661475"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661475" y="2246709"/>
            <a:ext cx="6296860" cy="25400"/>
          </a:xfrm>
          <a:prstGeom prst="rect">
            <a:avLst/>
          </a:prstGeom>
          <a:solidFill>
            <a:srgbClr val="57A1EB"/>
          </a:solidFill>
          <a:ln/>
        </p:spPr>
      </p:sp>
      <p:sp>
        <p:nvSpPr>
          <p:cNvPr id="6" name="Text 3"/>
          <p:cNvSpPr/>
          <p:nvPr/>
        </p:nvSpPr>
        <p:spPr>
          <a:xfrm>
            <a:off x="661475" y="23889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Four queries and a one record form</a:t>
            </a:r>
            <a:endParaRPr lang="en-US" sz="1800" dirty="0"/>
          </a:p>
        </p:txBody>
      </p:sp>
      <p:sp>
        <p:nvSpPr>
          <p:cNvPr id="7" name="Text 4"/>
          <p:cNvSpPr/>
          <p:nvPr/>
        </p:nvSpPr>
        <p:spPr>
          <a:xfrm>
            <a:off x="661475" y="29896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661475" y="3275409"/>
            <a:ext cx="6296860" cy="25400"/>
          </a:xfrm>
          <a:prstGeom prst="rect">
            <a:avLst/>
          </a:prstGeom>
          <a:solidFill>
            <a:srgbClr val="57A1EB"/>
          </a:solidFill>
          <a:ln/>
        </p:spPr>
      </p:sp>
      <p:sp>
        <p:nvSpPr>
          <p:cNvPr id="9" name="Text 6"/>
          <p:cNvSpPr/>
          <p:nvPr/>
        </p:nvSpPr>
        <p:spPr>
          <a:xfrm>
            <a:off x="661475" y="34176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Column names come from the query itself</a:t>
            </a:r>
            <a:endParaRPr lang="en-US" sz="1800" dirty="0"/>
          </a:p>
        </p:txBody>
      </p:sp>
      <p:sp>
        <p:nvSpPr>
          <p:cNvPr id="10" name="Text 7"/>
          <p:cNvSpPr/>
          <p:nvPr/>
        </p:nvSpPr>
        <p:spPr>
          <a:xfrm>
            <a:off x="661475" y="40183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661475" y="4304109"/>
            <a:ext cx="6296860" cy="25400"/>
          </a:xfrm>
          <a:prstGeom prst="rect">
            <a:avLst/>
          </a:prstGeom>
          <a:solidFill>
            <a:srgbClr val="57A1EB"/>
          </a:solidFill>
          <a:ln/>
        </p:spPr>
      </p:sp>
      <p:sp>
        <p:nvSpPr>
          <p:cNvPr id="12" name="Text 9"/>
          <p:cNvSpPr/>
          <p:nvPr/>
        </p:nvSpPr>
        <p:spPr>
          <a:xfrm>
            <a:off x="661475" y="44463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Both traps spring on you in steps seven and eight</a:t>
            </a:r>
            <a:endParaRPr lang="en-US" sz="1800" dirty="0"/>
          </a:p>
        </p:txBody>
      </p:sp>
      <p:sp>
        <p:nvSpPr>
          <p:cNvPr id="13" name="Text 10"/>
          <p:cNvSpPr/>
          <p:nvPr/>
        </p:nvSpPr>
        <p:spPr>
          <a:xfrm>
            <a:off x="661475" y="53331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661475" y="5618857"/>
            <a:ext cx="6296860" cy="25400"/>
          </a:xfrm>
          <a:prstGeom prst="rect">
            <a:avLst/>
          </a:prstGeom>
          <a:solidFill>
            <a:srgbClr val="57A1EB"/>
          </a:solidFill>
          <a:ln/>
        </p:spPr>
      </p:sp>
      <p:sp>
        <p:nvSpPr>
          <p:cNvPr id="15" name="Text 12"/>
          <p:cNvSpPr/>
          <p:nvPr/>
        </p:nvSpPr>
        <p:spPr>
          <a:xfrm>
            <a:off x="661475" y="57611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Lab M04-04, and step one is arithmetic on paper</a:t>
            </a:r>
            <a:endParaRPr lang="en-US" sz="18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2026-09-16T04:59:50Z</dcterms:created>
  <dcterms:modified xsi:type="dcterms:W3CDTF">2026-09-16T04:59:50Z</dcterms:modified>
</cp:coreProperties>
</file>