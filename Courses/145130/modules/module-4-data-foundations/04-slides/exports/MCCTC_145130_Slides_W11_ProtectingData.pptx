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section four of the report you are building. It names five members and says each of them has not returned something. Every other section on that page names nobody. Your own handbook says the board report carries counts and no names. So you have built something correct that must not be pasted into an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meet this sentence next week in a Gate 2, in a document that gets several other things right. Three claims in one sentence. The first is true. The second is much weaker than it sounds. The third has not been addressed at all, and it is the only one that affects section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at rest protects a stolen laptop. It does nothing about the twelve people who can already open that shared folder, because for them the file decrypts automatically. That is what at rest means. And encryption is not access control. They are different controls answering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module so far has been integrity: keys, constraints, transactions, quarantine, fidelity. Today is mostly confidentiality. And notice they trade: the very strongest confidentiality control is to delete the data, and that is also the worst possible thing for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it. It is not there. It is in your schema because it was in the file you were given, and that is the most common reason a field exists anywhere. It can be leaked, it can be wrong, it can be used later for something nobody agreed to, and it protects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and they go in your data protection document. The makerspace's own privacy page says every field had to earn its place by answering a question the makerspace actually has to answer. That is minimisation, and it is cheaper than every control you would otherwise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fixture is invented so you can practise this analysis without holding anybody's record. Understand what the framework is for. Do not state a threshold or a penalty, and do not tell anybody their system is compliant. A developer who says I do not know, here is my field list, and here is who has to look at it, is the useful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competency says verify compliance, not assume it. Verification is a check somebody else could repeat. A checklist somebody ticked is not verification. A command anybody can run is, and so is a test that fails when the claim stops being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says encrypted. The second line is what comes back out with one call and no key. Base sixty four is an encoding, not a cipher. It exists to move binary through text channels. The output is unreadable, so it looks protected, and the word encoded is one letter away from the word people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starts the data protection document for your project. Half a page. What this dataset would be if it were real, which fields you would not collect, who should see section four of your report, and what you would have to ask and of whom before this ran on real students. No legal thresholds and no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4.png"/><Relationship Id="rId9" Type="http://schemas.openxmlformats.org/officeDocument/2006/relationships/image" Target="../media/image-8-5.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Protecting Data You Hold, and Saying Only What Is True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8742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report names five people</a:t>
            </a:r>
            <a:endParaRPr lang="en-US" sz="3700" dirty="0"/>
          </a:p>
        </p:txBody>
      </p:sp>
      <p:sp>
        <p:nvSpPr>
          <p:cNvPr id="4" name="Shape 1"/>
          <p:cNvSpPr/>
          <p:nvPr/>
        </p:nvSpPr>
        <p:spPr>
          <a:xfrm>
            <a:off x="5233360" y="2452191"/>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5170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other section is counts and totals</a:t>
            </a:r>
            <a:endParaRPr lang="en-US" sz="1850" dirty="0"/>
          </a:p>
        </p:txBody>
      </p:sp>
      <p:sp>
        <p:nvSpPr>
          <p:cNvPr id="6" name="Shape 3"/>
          <p:cNvSpPr/>
          <p:nvPr/>
        </p:nvSpPr>
        <p:spPr>
          <a:xfrm>
            <a:off x="5233360" y="3255466"/>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32035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Section four is five names and something unflattering</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handbook says board reports carry no names</a:t>
            </a:r>
            <a:endParaRPr lang="en-US" sz="1850" dirty="0"/>
          </a:p>
        </p:txBody>
      </p:sp>
      <p:sp>
        <p:nvSpPr>
          <p:cNvPr id="10" name="Shape 7"/>
          <p:cNvSpPr/>
          <p:nvPr/>
        </p:nvSpPr>
        <p:spPr>
          <a:xfrm>
            <a:off x="5233360" y="5322391"/>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3872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that section must not leave the room</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to learn to distrust</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data is encrypted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member records are protected</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access control is handled</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claims, one true</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Three controls, three questions</a:t>
            </a:r>
            <a:endParaRPr lang="en-US" sz="1850" dirty="0"/>
          </a:p>
        </p:txBody>
      </p:sp>
      <p:pic>
        <p:nvPicPr>
          <p:cNvPr id="3" name="Image 0" descr="preencoded.png">    </p:cNvPr>
          <p:cNvPicPr>
            <a:picLocks noChangeAspect="1"/>
          </p:cNvPicPr>
          <p:nvPr/>
        </p:nvPicPr>
        <p:blipFill>
          <a:blip r:embed="rId1"/>
          <a:stretch>
            <a:fillRect/>
          </a:stretch>
        </p:blipFill>
        <p:spPr>
          <a:xfrm>
            <a:off x="661475" y="939006"/>
            <a:ext cx="5319083" cy="5319216"/>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17487" y="2263775"/>
            <a:ext cx="5319083" cy="758825"/>
          </a:xfrm>
          <a:prstGeom prst="rect">
            <a:avLst/>
          </a:prstGeom>
        </p:spPr>
      </p:pic>
      <p:sp>
        <p:nvSpPr>
          <p:cNvPr id="5" name="Text 1"/>
          <p:cNvSpPr/>
          <p:nvPr/>
        </p:nvSpPr>
        <p:spPr>
          <a:xfrm>
            <a:off x="8806138" y="2326382"/>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1</a:t>
            </a:r>
            <a:endParaRPr lang="en-US" sz="1100" dirty="0"/>
          </a:p>
        </p:txBody>
      </p:sp>
      <p:sp>
        <p:nvSpPr>
          <p:cNvPr id="6" name="Text 2"/>
          <p:cNvSpPr/>
          <p:nvPr/>
        </p:nvSpPr>
        <p:spPr>
          <a:xfrm>
            <a:off x="6324640" y="2607171"/>
            <a:ext cx="510477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At rest</a:t>
            </a:r>
            <a:endParaRPr lang="en-US" sz="900" dirty="0"/>
          </a:p>
        </p:txBody>
      </p:sp>
      <p:sp>
        <p:nvSpPr>
          <p:cNvPr id="7" name="Text 3"/>
          <p:cNvSpPr/>
          <p:nvPr/>
        </p:nvSpPr>
        <p:spPr>
          <a:xfrm>
            <a:off x="6324640" y="2802037"/>
            <a:ext cx="5104776"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Unreadable to somebody holding the disk</a:t>
            </a:r>
            <a:endParaRPr lang="en-US" sz="7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487" y="3069828"/>
            <a:ext cx="5319083" cy="758825"/>
          </a:xfrm>
          <a:prstGeom prst="rect">
            <a:avLst/>
          </a:prstGeom>
        </p:spPr>
      </p:pic>
      <p:sp>
        <p:nvSpPr>
          <p:cNvPr id="9" name="Text 4"/>
          <p:cNvSpPr/>
          <p:nvPr/>
        </p:nvSpPr>
        <p:spPr>
          <a:xfrm>
            <a:off x="8806138" y="3132435"/>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2</a:t>
            </a:r>
            <a:endParaRPr lang="en-US" sz="1100" dirty="0"/>
          </a:p>
        </p:txBody>
      </p:sp>
      <p:sp>
        <p:nvSpPr>
          <p:cNvPr id="10" name="Text 5"/>
          <p:cNvSpPr/>
          <p:nvPr/>
        </p:nvSpPr>
        <p:spPr>
          <a:xfrm>
            <a:off x="6324640" y="3413224"/>
            <a:ext cx="510477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In transit</a:t>
            </a:r>
            <a:endParaRPr lang="en-US" sz="900" dirty="0"/>
          </a:p>
        </p:txBody>
      </p:sp>
      <p:sp>
        <p:nvSpPr>
          <p:cNvPr id="11" name="Text 6"/>
          <p:cNvSpPr/>
          <p:nvPr/>
        </p:nvSpPr>
        <p:spPr>
          <a:xfrm>
            <a:off x="6324640" y="3608090"/>
            <a:ext cx="5104776"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Unreadable to somebody on the network</a:t>
            </a:r>
            <a:endParaRPr lang="en-US" sz="700" dirty="0"/>
          </a:p>
        </p:txBody>
      </p:sp>
      <p:pic>
        <p:nvPicPr>
          <p:cNvPr id="12"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487" y="3875881"/>
            <a:ext cx="5319083" cy="758825"/>
          </a:xfrm>
          <a:prstGeom prst="rect">
            <a:avLst/>
          </a:prstGeom>
        </p:spPr>
      </p:pic>
      <p:sp>
        <p:nvSpPr>
          <p:cNvPr id="13" name="Text 7"/>
          <p:cNvSpPr/>
          <p:nvPr/>
        </p:nvSpPr>
        <p:spPr>
          <a:xfrm>
            <a:off x="8806138" y="3938488"/>
            <a:ext cx="141681" cy="177205"/>
          </a:xfrm>
          <a:prstGeom prst="rect">
            <a:avLst/>
          </a:prstGeom>
          <a:noFill/>
          <a:ln/>
        </p:spPr>
        <p:txBody>
          <a:bodyPr wrap="none" lIns="0" tIns="0" rIns="0" bIns="0" rtlCol="0" anchor="ctr"/>
          <a:lstStyle/>
          <a:p>
            <a:pPr algn="ctr" indent="0" marL="0">
              <a:lnSpc>
                <a:spcPct val="100000"/>
              </a:lnSpc>
              <a:buNone/>
            </a:pPr>
            <a:r>
              <a:rPr lang="en-US" sz="1100" b="1" dirty="0">
                <a:solidFill>
                  <a:srgbClr val="1C1C1C"/>
                </a:solidFill>
                <a:latin typeface="Orbitron Bold" pitchFamily="34" charset="0"/>
                <a:ea typeface="Orbitron Bold" pitchFamily="34" charset="-122"/>
                <a:cs typeface="Orbitron Bold" pitchFamily="34" charset="-120"/>
              </a:rPr>
              <a:t>3</a:t>
            </a:r>
            <a:endParaRPr lang="en-US" sz="1100" dirty="0"/>
          </a:p>
        </p:txBody>
      </p:sp>
      <p:sp>
        <p:nvSpPr>
          <p:cNvPr id="14" name="Text 8"/>
          <p:cNvSpPr/>
          <p:nvPr/>
        </p:nvSpPr>
        <p:spPr>
          <a:xfrm>
            <a:off x="6324640" y="4219277"/>
            <a:ext cx="5104776"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Access control</a:t>
            </a:r>
            <a:endParaRPr lang="en-US" sz="900" dirty="0"/>
          </a:p>
        </p:txBody>
      </p:sp>
      <p:sp>
        <p:nvSpPr>
          <p:cNvPr id="15" name="Text 9"/>
          <p:cNvSpPr/>
          <p:nvPr/>
        </p:nvSpPr>
        <p:spPr>
          <a:xfrm>
            <a:off x="6324640" y="4414143"/>
            <a:ext cx="5104776" cy="113407"/>
          </a:xfrm>
          <a:prstGeom prst="rect">
            <a:avLst/>
          </a:prstGeom>
          <a:noFill/>
          <a:ln/>
        </p:spPr>
        <p:txBody>
          <a:bodyPr wrap="none" lIns="0" tIns="0" rIns="0" bIns="0" rtlCol="0" anchor="t"/>
          <a:lstStyle/>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Who may open it at all</a:t>
            </a:r>
            <a:endParaRPr lang="en-US" sz="700" dirty="0"/>
          </a:p>
        </p:txBody>
      </p:sp>
      <p:sp>
        <p:nvSpPr>
          <p:cNvPr id="16" name="Shape 10"/>
          <p:cNvSpPr/>
          <p:nvPr/>
        </p:nvSpPr>
        <p:spPr>
          <a:xfrm>
            <a:off x="6217487" y="4687788"/>
            <a:ext cx="5319083" cy="245566"/>
          </a:xfrm>
          <a:prstGeom prst="roundRect">
            <a:avLst>
              <a:gd name="adj" fmla="val 16164"/>
            </a:avLst>
          </a:prstGeom>
          <a:solidFill>
            <a:srgbClr val="FCF2B5"/>
          </a:solidFill>
          <a:ln/>
        </p:spPr>
      </p:sp>
      <p:pic>
        <p:nvPicPr>
          <p:cNvPr id="17" name="Image 4" descr="preencoded.png">    </p:cNvPr>
          <p:cNvPicPr>
            <a:picLocks noChangeAspect="1"/>
          </p:cNvPicPr>
          <p:nvPr/>
        </p:nvPicPr>
        <p:blipFill>
          <a:blip r:embed="rId8"/>
          <a:stretch>
            <a:fillRect/>
          </a:stretch>
        </p:blipFill>
        <p:spPr>
          <a:xfrm>
            <a:off x="6311941" y="4758630"/>
            <a:ext cx="118067" cy="94456"/>
          </a:xfrm>
          <a:prstGeom prst="rect">
            <a:avLst/>
          </a:prstGeom>
        </p:spPr>
      </p:pic>
      <p:sp>
        <p:nvSpPr>
          <p:cNvPr id="18" name="Text 11"/>
          <p:cNvSpPr/>
          <p:nvPr/>
        </p:nvSpPr>
        <p:spPr>
          <a:xfrm>
            <a:off x="6524462" y="4753868"/>
            <a:ext cx="5527239" cy="113407"/>
          </a:xfrm>
          <a:prstGeom prst="rect">
            <a:avLst/>
          </a:prstGeom>
          <a:noFill/>
          <a:ln/>
        </p:spPr>
        <p:txBody>
          <a:bodyPr wrap="none" lIns="0" tIns="0" rIns="0" bIns="0" rtlCol="0" anchor="t"/>
          <a:lstStyle/>
          <a:p>
            <a:pPr algn="l" indent="0" marL="0">
              <a:lnSpc>
                <a:spcPct val="100000"/>
              </a:lnSpc>
              <a:buNone/>
            </a:pPr>
            <a:r>
              <a:rPr lang="en-US" sz="700" dirty="0">
                <a:solidFill>
                  <a:srgbClr val="000000"/>
                </a:solidFill>
                <a:latin typeface="Roboto Condensed" pitchFamily="34" charset="0"/>
                <a:ea typeface="Roboto Condensed" pitchFamily="34" charset="-122"/>
                <a:cs typeface="Roboto Condensed" pitchFamily="34" charset="-120"/>
              </a:rPr>
              <a:t>The file decrypts automatically for anybody signed in</a:t>
            </a:r>
            <a:endParaRPr lang="en-US" sz="700" dirty="0"/>
          </a:p>
        </p:txBody>
      </p:sp>
      <p:sp>
        <p:nvSpPr>
          <p:cNvPr id="19" name="Text 12"/>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7797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CIA, and the trade inside it</a:t>
            </a:r>
            <a:endParaRPr lang="en-US" sz="3700" dirty="0"/>
          </a:p>
        </p:txBody>
      </p:sp>
      <p:sp>
        <p:nvSpPr>
          <p:cNvPr id="4" name="Shape 1"/>
          <p:cNvSpPr/>
          <p:nvPr/>
        </p:nvSpPr>
        <p:spPr>
          <a:xfrm>
            <a:off x="5233360" y="2242741"/>
            <a:ext cx="3053877" cy="1429643"/>
          </a:xfrm>
          <a:prstGeom prst="roundRect">
            <a:avLst>
              <a:gd name="adj" fmla="val 5553"/>
            </a:avLst>
          </a:prstGeom>
          <a:solidFill>
            <a:srgbClr val="D1E5FA"/>
          </a:solidFill>
          <a:ln w="19050">
            <a:solidFill>
              <a:srgbClr val="B7CBE0"/>
            </a:solidFill>
            <a:prstDash val="solid"/>
          </a:ln>
        </p:spPr>
      </p:sp>
      <p:sp>
        <p:nvSpPr>
          <p:cNvPr id="5" name="Text 2"/>
          <p:cNvSpPr/>
          <p:nvPr/>
        </p:nvSpPr>
        <p:spPr>
          <a:xfrm>
            <a:off x="5441417" y="2450802"/>
            <a:ext cx="2637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Confidentiality</a:t>
            </a:r>
            <a:endParaRPr lang="en-US" sz="1850" dirty="0"/>
          </a:p>
        </p:txBody>
      </p:sp>
      <p:sp>
        <p:nvSpPr>
          <p:cNvPr id="6" name="Text 3"/>
          <p:cNvSpPr/>
          <p:nvPr/>
        </p:nvSpPr>
        <p:spPr>
          <a:xfrm>
            <a:off x="5441417" y="2859484"/>
            <a:ext cx="2637764"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Only the right people can read it</a:t>
            </a:r>
            <a:endParaRPr lang="en-US" sz="1450" dirty="0"/>
          </a:p>
        </p:txBody>
      </p:sp>
      <p:sp>
        <p:nvSpPr>
          <p:cNvPr id="7" name="Shape 4"/>
          <p:cNvSpPr/>
          <p:nvPr/>
        </p:nvSpPr>
        <p:spPr>
          <a:xfrm>
            <a:off x="8476244" y="2242741"/>
            <a:ext cx="3053976" cy="1429643"/>
          </a:xfrm>
          <a:prstGeom prst="roundRect">
            <a:avLst>
              <a:gd name="adj" fmla="val 5553"/>
            </a:avLst>
          </a:prstGeom>
          <a:solidFill>
            <a:srgbClr val="D1E5FA"/>
          </a:solidFill>
          <a:ln w="19050">
            <a:solidFill>
              <a:srgbClr val="B7CBE0"/>
            </a:solidFill>
            <a:prstDash val="solid"/>
          </a:ln>
        </p:spPr>
      </p:sp>
      <p:sp>
        <p:nvSpPr>
          <p:cNvPr id="8" name="Text 5"/>
          <p:cNvSpPr/>
          <p:nvPr/>
        </p:nvSpPr>
        <p:spPr>
          <a:xfrm>
            <a:off x="8684301" y="2450802"/>
            <a:ext cx="2637863"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Integrity</a:t>
            </a:r>
            <a:endParaRPr lang="en-US" sz="1850" dirty="0"/>
          </a:p>
        </p:txBody>
      </p:sp>
      <p:sp>
        <p:nvSpPr>
          <p:cNvPr id="9" name="Text 6"/>
          <p:cNvSpPr/>
          <p:nvPr/>
        </p:nvSpPr>
        <p:spPr>
          <a:xfrm>
            <a:off x="8684301" y="2859484"/>
            <a:ext cx="2637863"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correct and unchanged</a:t>
            </a:r>
            <a:endParaRPr lang="en-US" sz="1450" dirty="0"/>
          </a:p>
        </p:txBody>
      </p:sp>
      <p:sp>
        <p:nvSpPr>
          <p:cNvPr id="10" name="Shape 7"/>
          <p:cNvSpPr/>
          <p:nvPr/>
        </p:nvSpPr>
        <p:spPr>
          <a:xfrm>
            <a:off x="5233360" y="3861395"/>
            <a:ext cx="6296860" cy="1127224"/>
          </a:xfrm>
          <a:prstGeom prst="roundRect">
            <a:avLst>
              <a:gd name="adj" fmla="val 7043"/>
            </a:avLst>
          </a:prstGeom>
          <a:solidFill>
            <a:srgbClr val="D1E5FA"/>
          </a:solidFill>
          <a:ln w="19050">
            <a:solidFill>
              <a:srgbClr val="B7CBE0"/>
            </a:solidFill>
            <a:prstDash val="solid"/>
          </a:ln>
        </p:spPr>
      </p:sp>
      <p:sp>
        <p:nvSpPr>
          <p:cNvPr id="11" name="Text 8"/>
          <p:cNvSpPr/>
          <p:nvPr/>
        </p:nvSpPr>
        <p:spPr>
          <a:xfrm>
            <a:off x="5441417" y="4069457"/>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Availability</a:t>
            </a:r>
            <a:endParaRPr lang="en-US" sz="1850" dirty="0"/>
          </a:p>
        </p:txBody>
      </p:sp>
      <p:sp>
        <p:nvSpPr>
          <p:cNvPr id="12" name="Text 9"/>
          <p:cNvSpPr/>
          <p:nvPr/>
        </p:nvSpPr>
        <p:spPr>
          <a:xfrm>
            <a:off x="5441417" y="4478139"/>
            <a:ext cx="588074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It is there when somebody needs it</a:t>
            </a:r>
            <a:endParaRPr lang="en-US" sz="1450" dirty="0"/>
          </a:p>
        </p:txBody>
      </p:sp>
      <p:sp>
        <p:nvSpPr>
          <p:cNvPr id="13" name="Shape 10"/>
          <p:cNvSpPr/>
          <p:nvPr/>
        </p:nvSpPr>
        <p:spPr>
          <a:xfrm>
            <a:off x="5233360" y="5201245"/>
            <a:ext cx="6296860" cy="755948"/>
          </a:xfrm>
          <a:prstGeom prst="roundRect">
            <a:avLst>
              <a:gd name="adj" fmla="val 10502"/>
            </a:avLst>
          </a:prstGeom>
          <a:solidFill>
            <a:srgbClr val="D1E5FA"/>
          </a:solidFill>
          <a:ln/>
        </p:spPr>
      </p:sp>
      <p:pic>
        <p:nvPicPr>
          <p:cNvPr id="14" name="Image 1" descr="preencoded.png">    </p:cNvPr>
          <p:cNvPicPr>
            <a:picLocks noChangeAspect="1"/>
          </p:cNvPicPr>
          <p:nvPr/>
        </p:nvPicPr>
        <p:blipFill>
          <a:blip r:embed="rId2"/>
          <a:stretch>
            <a:fillRect/>
          </a:stretch>
        </p:blipFill>
        <p:spPr>
          <a:xfrm>
            <a:off x="5422367" y="5468938"/>
            <a:ext cx="236234" cy="189012"/>
          </a:xfrm>
          <a:prstGeom prst="rect">
            <a:avLst/>
          </a:prstGeom>
        </p:spPr>
      </p:pic>
      <p:sp>
        <p:nvSpPr>
          <p:cNvPr id="15" name="Text 11"/>
          <p:cNvSpPr/>
          <p:nvPr/>
        </p:nvSpPr>
        <p:spPr>
          <a:xfrm>
            <a:off x="5847608" y="5437485"/>
            <a:ext cx="6103190" cy="302419"/>
          </a:xfrm>
          <a:prstGeom prst="rect">
            <a:avLst/>
          </a:prstGeom>
          <a:noFill/>
          <a:ln/>
        </p:spPr>
        <p:txBody>
          <a:bodyPr wrap="none" lIns="0" tIns="0" rIns="0" bIns="0" rtlCol="0" anchor="t"/>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The strongest confidentiality control is deletion</a:t>
            </a:r>
            <a:endParaRPr lang="en-US" sz="1450" dirty="0"/>
          </a:p>
        </p:txBody>
      </p:sp>
      <p:sp>
        <p:nvSpPr>
          <p:cNvPr id="16" name="Text 1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Go and find grade_level in your report</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3092" y="1914624"/>
            <a:ext cx="283461" cy="283468"/>
          </a:xfrm>
          <a:prstGeom prst="rect">
            <a:avLst/>
          </a:prstGeom>
        </p:spPr>
      </p:pic>
      <p:sp>
        <p:nvSpPr>
          <p:cNvPr id="5" name="Text 1"/>
          <p:cNvSpPr/>
          <p:nvPr/>
        </p:nvSpPr>
        <p:spPr>
          <a:xfrm>
            <a:off x="8646499" y="1908770"/>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is in your members table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03092" y="2883198"/>
            <a:ext cx="283461" cy="283468"/>
          </a:xfrm>
          <a:prstGeom prst="rect">
            <a:avLst/>
          </a:prstGeom>
        </p:spPr>
      </p:pic>
      <p:sp>
        <p:nvSpPr>
          <p:cNvPr id="7" name="Text 2"/>
          <p:cNvSpPr/>
          <p:nvPr/>
        </p:nvSpPr>
        <p:spPr>
          <a:xfrm>
            <a:off x="8646499" y="2877344"/>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report never uses it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03092" y="3851771"/>
            <a:ext cx="283461" cy="283468"/>
          </a:xfrm>
          <a:prstGeom prst="rect">
            <a:avLst/>
          </a:prstGeom>
        </p:spPr>
      </p:pic>
      <p:sp>
        <p:nvSpPr>
          <p:cNvPr id="9" name="Text 3"/>
          <p:cNvSpPr/>
          <p:nvPr/>
        </p:nvSpPr>
        <p:spPr>
          <a:xfrm>
            <a:off x="8646499" y="3845917"/>
            <a:ext cx="2889971"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was there because it was in the source file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3092" y="5115620"/>
            <a:ext cx="283461" cy="283468"/>
          </a:xfrm>
          <a:prstGeom prst="rect">
            <a:avLst/>
          </a:prstGeom>
        </p:spPr>
      </p:pic>
      <p:sp>
        <p:nvSpPr>
          <p:cNvPr id="11" name="Text 4"/>
          <p:cNvSpPr/>
          <p:nvPr/>
        </p:nvSpPr>
        <p:spPr>
          <a:xfrm>
            <a:off x="8646499" y="5109766"/>
            <a:ext cx="2889971"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field you never read is pure cost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9077"/>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Three questions for every column</a:t>
            </a:r>
            <a:endParaRPr lang="en-US" sz="3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986657"/>
            <a:ext cx="3056853" cy="1827808"/>
          </a:xfrm>
          <a:prstGeom prst="rect">
            <a:avLst/>
          </a:prstGeom>
        </p:spPr>
      </p:pic>
      <p:sp>
        <p:nvSpPr>
          <p:cNvPr id="5" name="Text 1"/>
          <p:cNvSpPr/>
          <p:nvPr/>
        </p:nvSpPr>
        <p:spPr>
          <a:xfrm>
            <a:off x="2078283" y="2126159"/>
            <a:ext cx="223237" cy="27910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1</a:t>
            </a:r>
            <a:endParaRPr lang="en-US" sz="1750" dirty="0"/>
          </a:p>
        </p:txBody>
      </p:sp>
      <p:sp>
        <p:nvSpPr>
          <p:cNvPr id="6" name="Text 2"/>
          <p:cNvSpPr/>
          <p:nvPr/>
        </p:nvSpPr>
        <p:spPr>
          <a:xfrm>
            <a:off x="872905" y="2730897"/>
            <a:ext cx="2633993"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What question does this answer</a:t>
            </a:r>
            <a:endParaRPr lang="en-US" sz="18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01481" y="1986657"/>
            <a:ext cx="3056853" cy="1827808"/>
          </a:xfrm>
          <a:prstGeom prst="rect">
            <a:avLst/>
          </a:prstGeom>
        </p:spPr>
      </p:pic>
      <p:sp>
        <p:nvSpPr>
          <p:cNvPr id="8" name="Text 3"/>
          <p:cNvSpPr/>
          <p:nvPr/>
        </p:nvSpPr>
        <p:spPr>
          <a:xfrm>
            <a:off x="5318290" y="2126159"/>
            <a:ext cx="223237" cy="27910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2</a:t>
            </a:r>
            <a:endParaRPr lang="en-US" sz="1750" dirty="0"/>
          </a:p>
        </p:txBody>
      </p:sp>
      <p:sp>
        <p:nvSpPr>
          <p:cNvPr id="9" name="Text 4"/>
          <p:cNvSpPr/>
          <p:nvPr/>
        </p:nvSpPr>
        <p:spPr>
          <a:xfrm>
            <a:off x="4112911" y="2730897"/>
            <a:ext cx="2633993" cy="872133"/>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What is the worst thing somebody could do with it</a:t>
            </a:r>
            <a:endParaRPr lang="en-US" sz="18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997623"/>
            <a:ext cx="6296860" cy="1246386"/>
          </a:xfrm>
          <a:prstGeom prst="rect">
            <a:avLst/>
          </a:prstGeom>
        </p:spPr>
      </p:pic>
      <p:sp>
        <p:nvSpPr>
          <p:cNvPr id="11" name="Text 5"/>
          <p:cNvSpPr/>
          <p:nvPr/>
        </p:nvSpPr>
        <p:spPr>
          <a:xfrm>
            <a:off x="3698286" y="4137124"/>
            <a:ext cx="223237" cy="279102"/>
          </a:xfrm>
          <a:prstGeom prst="rect">
            <a:avLst/>
          </a:prstGeom>
          <a:noFill/>
          <a:ln/>
        </p:spPr>
        <p:txBody>
          <a:bodyPr wrap="none" lIns="0" tIns="0" rIns="0" bIns="0" rtlCol="0" anchor="ctr"/>
          <a:lstStyle/>
          <a:p>
            <a:pPr algn="ctr" indent="0" marL="0">
              <a:lnSpc>
                <a:spcPct val="100000"/>
              </a:lnSpc>
              <a:buNone/>
            </a:pPr>
            <a:r>
              <a:rPr lang="en-US" sz="1750" b="1" dirty="0">
                <a:solidFill>
                  <a:srgbClr val="000000"/>
                </a:solidFill>
                <a:latin typeface="Orbitron Bold" pitchFamily="34" charset="0"/>
                <a:ea typeface="Orbitron Bold" pitchFamily="34" charset="-122"/>
                <a:cs typeface="Orbitron Bold" pitchFamily="34" charset="-120"/>
              </a:rPr>
              <a:t>3</a:t>
            </a:r>
            <a:endParaRPr lang="en-US" sz="1750" dirty="0"/>
          </a:p>
        </p:txBody>
      </p:sp>
      <p:sp>
        <p:nvSpPr>
          <p:cNvPr id="12" name="Text 6"/>
          <p:cNvSpPr/>
          <p:nvPr/>
        </p:nvSpPr>
        <p:spPr>
          <a:xfrm>
            <a:off x="872905" y="4741863"/>
            <a:ext cx="5874000"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How long does it have to exist</a:t>
            </a:r>
            <a:endParaRPr lang="en-US" sz="1800" dirty="0"/>
          </a:p>
        </p:txBody>
      </p:sp>
      <p:sp>
        <p:nvSpPr>
          <p:cNvPr id="13" name="Shape 7"/>
          <p:cNvSpPr/>
          <p:nvPr/>
        </p:nvSpPr>
        <p:spPr>
          <a:xfrm>
            <a:off x="661475" y="5449987"/>
            <a:ext cx="6296860" cy="736104"/>
          </a:xfrm>
          <a:prstGeom prst="roundRect">
            <a:avLst>
              <a:gd name="adj" fmla="val 10616"/>
            </a:avLst>
          </a:prstGeom>
          <a:solidFill>
            <a:srgbClr val="FFB3B4"/>
          </a:solidFill>
          <a:ln/>
        </p:spPr>
      </p:sp>
      <p:pic>
        <p:nvPicPr>
          <p:cNvPr id="14" name="Image 4" descr="preencoded.png">    </p:cNvPr>
          <p:cNvPicPr>
            <a:picLocks noChangeAspect="1"/>
          </p:cNvPicPr>
          <p:nvPr/>
        </p:nvPicPr>
        <p:blipFill>
          <a:blip r:embed="rId8"/>
          <a:stretch>
            <a:fillRect/>
          </a:stretch>
        </p:blipFill>
        <p:spPr>
          <a:xfrm>
            <a:off x="847505" y="5713611"/>
            <a:ext cx="232563" cy="186035"/>
          </a:xfrm>
          <a:prstGeom prst="rect">
            <a:avLst/>
          </a:prstGeom>
        </p:spPr>
      </p:pic>
      <p:sp>
        <p:nvSpPr>
          <p:cNvPr id="15" name="Text 8"/>
          <p:cNvSpPr/>
          <p:nvPr/>
        </p:nvSpPr>
        <p:spPr>
          <a:xfrm>
            <a:off x="1266099" y="5679579"/>
            <a:ext cx="6115790" cy="295275"/>
          </a:xfrm>
          <a:prstGeom prst="rect">
            <a:avLst/>
          </a:prstGeom>
          <a:noFill/>
          <a:ln/>
        </p:spPr>
        <p:txBody>
          <a:bodyPr wrap="none" lIns="0" tIns="0" rIns="0" bIns="0" rtlCol="0" anchor="t"/>
          <a:lstStyle/>
          <a:p>
            <a:pPr algn="l" indent="0" marL="0">
              <a:lnSpc>
                <a:spcPct val="132000"/>
              </a:lnSpc>
              <a:buNone/>
            </a:pPr>
            <a:r>
              <a:rPr lang="en-US" sz="1450" dirty="0">
                <a:solidFill>
                  <a:srgbClr val="000000"/>
                </a:solidFill>
                <a:latin typeface="Roboto Condensed" pitchFamily="34" charset="0"/>
                <a:ea typeface="Roboto Condensed" pitchFamily="34" charset="-122"/>
                <a:cs typeface="Roboto Condensed" pitchFamily="34" charset="-120"/>
              </a:rPr>
              <a:t>If you cannot name the question, remove the column</a:t>
            </a:r>
            <a:endParaRPr lang="en-US" sz="1450" dirty="0"/>
          </a:p>
        </p:txBody>
      </p:sp>
      <p:sp>
        <p:nvSpPr>
          <p:cNvPr id="16"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7448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FERPA, at the level this course teaches</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06852" y="1735832"/>
            <a:ext cx="3529619" cy="936625"/>
          </a:xfrm>
          <a:prstGeom prst="rect">
            <a:avLst/>
          </a:prstGeom>
        </p:spPr>
      </p:pic>
      <p:sp>
        <p:nvSpPr>
          <p:cNvPr id="5" name="Text 1"/>
          <p:cNvSpPr/>
          <p:nvPr/>
        </p:nvSpPr>
        <p:spPr>
          <a:xfrm>
            <a:off x="8272057" y="1761232"/>
            <a:ext cx="326441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These records are the shape of a student record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06852" y="2999680"/>
            <a:ext cx="3529619" cy="641350"/>
          </a:xfrm>
          <a:prstGeom prst="rect">
            <a:avLst/>
          </a:prstGeom>
        </p:spPr>
      </p:pic>
      <p:sp>
        <p:nvSpPr>
          <p:cNvPr id="7" name="Text 2"/>
          <p:cNvSpPr/>
          <p:nvPr/>
        </p:nvSpPr>
        <p:spPr>
          <a:xfrm>
            <a:off x="8272057" y="3025080"/>
            <a:ext cx="326441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framework exists to say who may see it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06852" y="3968254"/>
            <a:ext cx="3529619" cy="936625"/>
          </a:xfrm>
          <a:prstGeom prst="rect">
            <a:avLst/>
          </a:prstGeom>
        </p:spPr>
      </p:pic>
      <p:sp>
        <p:nvSpPr>
          <p:cNvPr id="9" name="Text 3"/>
          <p:cNvSpPr/>
          <p:nvPr/>
        </p:nvSpPr>
        <p:spPr>
          <a:xfrm>
            <a:off x="8272057" y="3993654"/>
            <a:ext cx="3264414" cy="885825"/>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course states no threshold and gives no advice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06852" y="5232102"/>
            <a:ext cx="3529619" cy="641350"/>
          </a:xfrm>
          <a:prstGeom prst="rect">
            <a:avLst/>
          </a:prstGeom>
        </p:spPr>
      </p:pic>
      <p:sp>
        <p:nvSpPr>
          <p:cNvPr id="11" name="Text 4"/>
          <p:cNvSpPr/>
          <p:nvPr/>
        </p:nvSpPr>
        <p:spPr>
          <a:xfrm>
            <a:off x="8272057" y="5257502"/>
            <a:ext cx="326441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skill is knowing who to ask, with a list</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Verify means a command, not a tick</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PRAGMA foreign_keys            -&gt;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rows read = loaded + quarantined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scan every source file for credentials</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9452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Here is security theatre</a:t>
            </a:r>
            <a:endParaRPr lang="en-US" sz="3700" dirty="0"/>
          </a:p>
        </p:txBody>
      </p:sp>
      <p:sp>
        <p:nvSpPr>
          <p:cNvPr id="3" name="Shape 1"/>
          <p:cNvSpPr/>
          <p:nvPr/>
        </p:nvSpPr>
        <p:spPr>
          <a:xfrm>
            <a:off x="661475" y="2913955"/>
            <a:ext cx="10868745" cy="982861"/>
          </a:xfrm>
          <a:prstGeom prst="roundRect">
            <a:avLst>
              <a:gd name="adj" fmla="val 8077"/>
            </a:avLst>
          </a:prstGeom>
          <a:solidFill>
            <a:srgbClr val="F2F2F2"/>
          </a:solidFill>
          <a:ln/>
        </p:spPr>
      </p:sp>
      <p:sp>
        <p:nvSpPr>
          <p:cNvPr id="4" name="Text 2"/>
          <p:cNvSpPr/>
          <p:nvPr/>
        </p:nvSpPr>
        <p:spPr>
          <a:xfrm>
            <a:off x="888283" y="3102967"/>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encoded = base64.b64encode(open("makerspace.db", "rb").read())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print("Database encrypted.")</a:t>
            </a:r>
            <a:endParaRPr lang="en-US" sz="1450" dirty="0"/>
          </a:p>
        </p:txBody>
      </p:sp>
      <p:sp>
        <p:nvSpPr>
          <p:cNvPr id="5" name="Shape 3"/>
          <p:cNvSpPr/>
          <p:nvPr/>
        </p:nvSpPr>
        <p:spPr>
          <a:xfrm>
            <a:off x="661475" y="4109442"/>
            <a:ext cx="10868745" cy="680442"/>
          </a:xfrm>
          <a:prstGeom prst="roundRect">
            <a:avLst>
              <a:gd name="adj" fmla="val 11667"/>
            </a:avLst>
          </a:prstGeom>
          <a:solidFill>
            <a:srgbClr val="F2F2F2"/>
          </a:solidFill>
          <a:ln/>
        </p:spPr>
      </p:sp>
      <p:sp>
        <p:nvSpPr>
          <p:cNvPr id="6" name="Text 4"/>
          <p:cNvSpPr/>
          <p:nvPr/>
        </p:nvSpPr>
        <p:spPr>
          <a:xfrm>
            <a:off x="888283" y="4298454"/>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b'SQLite format 3\x00'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50565"/>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What you are about to build</a:t>
            </a:r>
            <a:endParaRPr lang="en-US" sz="3600" dirty="0"/>
          </a:p>
        </p:txBody>
      </p:sp>
      <p:sp>
        <p:nvSpPr>
          <p:cNvPr id="4" name="Text 1"/>
          <p:cNvSpPr/>
          <p:nvPr/>
        </p:nvSpPr>
        <p:spPr>
          <a:xfrm>
            <a:off x="661475" y="19609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01</a:t>
            </a:r>
            <a:endParaRPr lang="en-US" sz="1400" dirty="0"/>
          </a:p>
        </p:txBody>
      </p:sp>
      <p:sp>
        <p:nvSpPr>
          <p:cNvPr id="5" name="Shape 2"/>
          <p:cNvSpPr/>
          <p:nvPr/>
        </p:nvSpPr>
        <p:spPr>
          <a:xfrm>
            <a:off x="661475" y="2246709"/>
            <a:ext cx="6296860" cy="25400"/>
          </a:xfrm>
          <a:prstGeom prst="rect">
            <a:avLst/>
          </a:prstGeom>
          <a:solidFill>
            <a:srgbClr val="57A1EB"/>
          </a:solidFill>
          <a:ln/>
        </p:spPr>
      </p:sp>
      <p:sp>
        <p:nvSpPr>
          <p:cNvPr id="6" name="Text 3"/>
          <p:cNvSpPr/>
          <p:nvPr/>
        </p:nvSpPr>
        <p:spPr>
          <a:xfrm>
            <a:off x="661475" y="23889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data-protection.md, half a page, in your project</a:t>
            </a:r>
            <a:endParaRPr lang="en-US" sz="1800" dirty="0"/>
          </a:p>
        </p:txBody>
      </p:sp>
      <p:sp>
        <p:nvSpPr>
          <p:cNvPr id="7" name="Text 4"/>
          <p:cNvSpPr/>
          <p:nvPr/>
        </p:nvSpPr>
        <p:spPr>
          <a:xfrm>
            <a:off x="661475" y="29896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02</a:t>
            </a:r>
            <a:endParaRPr lang="en-US" sz="1400" dirty="0"/>
          </a:p>
        </p:txBody>
      </p:sp>
      <p:sp>
        <p:nvSpPr>
          <p:cNvPr id="8" name="Shape 5"/>
          <p:cNvSpPr/>
          <p:nvPr/>
        </p:nvSpPr>
        <p:spPr>
          <a:xfrm>
            <a:off x="661475" y="3275409"/>
            <a:ext cx="6296860" cy="25400"/>
          </a:xfrm>
          <a:prstGeom prst="rect">
            <a:avLst/>
          </a:prstGeom>
          <a:solidFill>
            <a:srgbClr val="57A1EB"/>
          </a:solidFill>
          <a:ln/>
        </p:spPr>
      </p:sp>
      <p:sp>
        <p:nvSpPr>
          <p:cNvPr id="9" name="Text 6"/>
          <p:cNvSpPr/>
          <p:nvPr/>
        </p:nvSpPr>
        <p:spPr>
          <a:xfrm>
            <a:off x="661475" y="34176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What this data would be if it were real</a:t>
            </a:r>
            <a:endParaRPr lang="en-US" sz="1800" dirty="0"/>
          </a:p>
        </p:txBody>
      </p:sp>
      <p:sp>
        <p:nvSpPr>
          <p:cNvPr id="10" name="Text 7"/>
          <p:cNvSpPr/>
          <p:nvPr/>
        </p:nvSpPr>
        <p:spPr>
          <a:xfrm>
            <a:off x="661475" y="40183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03</a:t>
            </a:r>
            <a:endParaRPr lang="en-US" sz="1400" dirty="0"/>
          </a:p>
        </p:txBody>
      </p:sp>
      <p:sp>
        <p:nvSpPr>
          <p:cNvPr id="11" name="Shape 8"/>
          <p:cNvSpPr/>
          <p:nvPr/>
        </p:nvSpPr>
        <p:spPr>
          <a:xfrm>
            <a:off x="661475" y="4304109"/>
            <a:ext cx="6296860" cy="25400"/>
          </a:xfrm>
          <a:prstGeom prst="rect">
            <a:avLst/>
          </a:prstGeom>
          <a:solidFill>
            <a:srgbClr val="57A1EB"/>
          </a:solidFill>
          <a:ln/>
        </p:spPr>
      </p:sp>
      <p:sp>
        <p:nvSpPr>
          <p:cNvPr id="12" name="Text 9"/>
          <p:cNvSpPr/>
          <p:nvPr/>
        </p:nvSpPr>
        <p:spPr>
          <a:xfrm>
            <a:off x="661475" y="4446389"/>
            <a:ext cx="6296860"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Which fields you would not collect</a:t>
            </a:r>
            <a:endParaRPr lang="en-US" sz="1800" dirty="0"/>
          </a:p>
        </p:txBody>
      </p:sp>
      <p:sp>
        <p:nvSpPr>
          <p:cNvPr id="13" name="Text 10"/>
          <p:cNvSpPr/>
          <p:nvPr/>
        </p:nvSpPr>
        <p:spPr>
          <a:xfrm>
            <a:off x="661475" y="5047059"/>
            <a:ext cx="366207" cy="228798"/>
          </a:xfrm>
          <a:prstGeom prst="rect">
            <a:avLst/>
          </a:prstGeom>
          <a:noFill/>
          <a:ln/>
        </p:spPr>
        <p:txBody>
          <a:bodyPr wrap="none" lIns="0" tIns="0" rIns="0" bIns="0" rtlCol="0" anchor="ctr"/>
          <a:lstStyle/>
          <a:p>
            <a:pPr algn="l" indent="0" marL="0">
              <a:lnSpc>
                <a:spcPct val="100000"/>
              </a:lnSpc>
              <a:buNone/>
            </a:pPr>
            <a:r>
              <a:rPr lang="en-US" sz="1400" dirty="0">
                <a:solidFill>
                  <a:srgbClr val="1C1C1C"/>
                </a:solidFill>
                <a:latin typeface="Orbitron" pitchFamily="34" charset="0"/>
                <a:ea typeface="Orbitron" pitchFamily="34" charset="-122"/>
                <a:cs typeface="Orbitron" pitchFamily="34" charset="-120"/>
              </a:rPr>
              <a:t>04</a:t>
            </a:r>
            <a:endParaRPr lang="en-US" sz="1400" dirty="0"/>
          </a:p>
        </p:txBody>
      </p:sp>
      <p:sp>
        <p:nvSpPr>
          <p:cNvPr id="14" name="Shape 11"/>
          <p:cNvSpPr/>
          <p:nvPr/>
        </p:nvSpPr>
        <p:spPr>
          <a:xfrm>
            <a:off x="661475" y="5332809"/>
            <a:ext cx="6296860" cy="25400"/>
          </a:xfrm>
          <a:prstGeom prst="rect">
            <a:avLst/>
          </a:prstGeom>
          <a:solidFill>
            <a:srgbClr val="57A1EB"/>
          </a:solidFill>
          <a:ln/>
        </p:spPr>
      </p:sp>
      <p:sp>
        <p:nvSpPr>
          <p:cNvPr id="15" name="Text 12"/>
          <p:cNvSpPr/>
          <p:nvPr/>
        </p:nvSpPr>
        <p:spPr>
          <a:xfrm>
            <a:off x="661475" y="5475089"/>
            <a:ext cx="6296860"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Who sees the section that names people, and who to ask</a:t>
            </a:r>
            <a:endParaRPr lang="en-US" sz="18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2026-09-16T05:00:46Z</dcterms:created>
  <dcterms:modified xsi:type="dcterms:W3CDTF">2026-09-16T05:00:46Z</dcterms:modified>
</cp:coreProperties>
</file>