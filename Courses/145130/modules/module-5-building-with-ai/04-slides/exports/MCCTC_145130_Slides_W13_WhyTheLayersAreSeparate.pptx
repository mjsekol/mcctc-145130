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already know how to call something over HTTP. You did it last year with a weather feed and again with a local model. So the new thing today is not the HTTP call. The new thing is where you put the boundary. A language model answers in prose and your program needs a shape, and the whole design question this week is which part of your code has to know about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programs here, not one. The service is Python and it talks to the model. The application is C sharp and it talks to the service. Between them is a written contract, and for this week's demo service that file is called CONTRACT dot md. It says exactly what goes in, exactly what comes back, and exactly what every failure is called. Point at that file. It is the most important file in the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reasons, and you will be asked for all four at your demonstration without reading them. Model runtimes are Python and your application is C sharp, so the two programs already exist. One place deals with fences and prose. One place owns the timeout, the retry, and the fallback. And either side can be swapped without touching the other, which you will actually do next semester.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real output from the machine these materials were built on, and that machine has no model runtime installed at all. Read the third line. Reachable, no. And the service is still running, still answering, still telling you exactly what is wrong. Now watch what happens when I ask it to do something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crash. No stack trace. Nothing had to be recompiled. The caller got a headline, the same field it always gets, plus one extra piece of information: this did not come from the model. That is what the boundary bought. The model disappeared and exactly one layer had to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this one down. In this envelope, ok and error are not opposites. A fallback answer has ok true, source fallback, and an error that says why the model was not used. That is the system working correctly on a day the model is unavailable. A program that treats it as a failure will refuse to work on a day it could have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shortcut. Read ok, print the answer, move on. Three lines, no branching, and it compiles. I am going to run this against a service that cannot see a model. Predict what the person sees before I press 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error. No warning. Nothing red anywhere on this screen. That sentence was not written by a model. It is the first line of the request, copied by a rule inside the service, and the program presented it as though a model had written it. This is the shape you have met in every course here. The dangerous failure is the one that does not crash.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this. On Monday the boundary is all cost. The team that puts everything in one program will be running before you are. The benefit shows up the first time the model is slow, or missing, or answering in a shape nobody planned for, and in this building that is most days. Do not let anybody tell you the tradeoff is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lab M zero five dash zero one. You start two servers, you send seven requests, and you write down what came back for each one in a table. You are not writing code today. You are learning to read a contract, because on Tuesday you write your own and on Thursday somebody else has to build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7-2.png"/><Relationship Id="rId5" Type="http://schemas.openxmlformats.org/officeDocument/2006/relationships/image" Target="../media/image-7-3.svg"/><Relationship Id="rId6" Type="http://schemas.openxmlformats.org/officeDocument/2006/relationships/image" Target="../media/image-7-2.png"/><Relationship Id="rId7" Type="http://schemas.openxmlformats.org/officeDocument/2006/relationships/image" Target="../media/image-7-3.svg"/><Relationship Id="rId8" Type="http://schemas.openxmlformats.org/officeDocument/2006/relationships/image" Target="../media/image-7-2.png"/><Relationship Id="rId9" Type="http://schemas.openxmlformats.org/officeDocument/2006/relationships/image" Target="../media/image-7-3.svg"/><Relationship Id="rId10" Type="http://schemas.openxmlformats.org/officeDocument/2006/relationships/slideLayout" Target="../slideLayouts/slideLayout2.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48156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Why the Model Layer and the Application Layer Are Separate</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807244"/>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model answered in prose. Your program needs a shape.</a:t>
            </a:r>
            <a:endParaRPr lang="en-US" sz="3700" dirty="0"/>
          </a:p>
        </p:txBody>
      </p:sp>
      <p:sp>
        <p:nvSpPr>
          <p:cNvPr id="4" name="Shape 1"/>
          <p:cNvSpPr/>
          <p:nvPr/>
        </p:nvSpPr>
        <p:spPr>
          <a:xfrm>
            <a:off x="5233360" y="2862659"/>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5847608" y="292754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asked for JSON</a:t>
            </a:r>
            <a:endParaRPr lang="en-US" sz="1850" dirty="0"/>
          </a:p>
        </p:txBody>
      </p:sp>
      <p:sp>
        <p:nvSpPr>
          <p:cNvPr id="6" name="Shape 3"/>
          <p:cNvSpPr/>
          <p:nvPr/>
        </p:nvSpPr>
        <p:spPr>
          <a:xfrm>
            <a:off x="5233360" y="3665934"/>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5847608" y="373082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Sometimes you get JSON</a:t>
            </a:r>
            <a:endParaRPr lang="en-US" sz="1850" dirty="0"/>
          </a:p>
        </p:txBody>
      </p:sp>
      <p:sp>
        <p:nvSpPr>
          <p:cNvPr id="8" name="Shape 5"/>
          <p:cNvSpPr/>
          <p:nvPr/>
        </p:nvSpPr>
        <p:spPr>
          <a:xfrm>
            <a:off x="5233360" y="4469209"/>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5847608" y="4534098"/>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Sometimes a code fence, a sentence, or a refusal</a:t>
            </a:r>
            <a:endParaRPr lang="en-US" sz="1850" dirty="0"/>
          </a:p>
        </p:txBody>
      </p:sp>
      <p:sp>
        <p:nvSpPr>
          <p:cNvPr id="10" name="Shape 7"/>
          <p:cNvSpPr/>
          <p:nvPr/>
        </p:nvSpPr>
        <p:spPr>
          <a:xfrm>
            <a:off x="5233360" y="5502672"/>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5847608" y="5567561"/>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Somebody has to turn one into the other</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239176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Two programs, one written contract</a:t>
            </a:r>
            <a:endParaRPr lang="en-US" sz="3700" dirty="0"/>
          </a:p>
        </p:txBody>
      </p:sp>
      <p:sp>
        <p:nvSpPr>
          <p:cNvPr id="3" name="Shape 1"/>
          <p:cNvSpPr/>
          <p:nvPr/>
        </p:nvSpPr>
        <p:spPr>
          <a:xfrm>
            <a:off x="661475" y="3360440"/>
            <a:ext cx="10868745" cy="982861"/>
          </a:xfrm>
          <a:prstGeom prst="roundRect">
            <a:avLst>
              <a:gd name="adj" fmla="val 8077"/>
            </a:avLst>
          </a:prstGeom>
          <a:solidFill>
            <a:srgbClr val="F2F2F2"/>
          </a:solidFill>
          <a:ln/>
        </p:spPr>
      </p:sp>
      <p:sp>
        <p:nvSpPr>
          <p:cNvPr id="4" name="Text 2"/>
          <p:cNvSpPr/>
          <p:nvPr/>
        </p:nvSpPr>
        <p:spPr>
          <a:xfrm>
            <a:off x="888283" y="3549452"/>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You -&gt; your application (C#) -&gt; your model service (Flask) -&gt; model or stub</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HttpClient               /health /generate             /api/generate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928886"/>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four reasons, and you owe me all four</a:t>
            </a:r>
            <a:endParaRPr lang="en-US" sz="3700" dirty="0"/>
          </a:p>
        </p:txBody>
      </p:sp>
      <p:sp>
        <p:nvSpPr>
          <p:cNvPr id="4" name="Shape 1"/>
          <p:cNvSpPr/>
          <p:nvPr/>
        </p:nvSpPr>
        <p:spPr>
          <a:xfrm>
            <a:off x="5233360" y="2393652"/>
            <a:ext cx="6296860" cy="711398"/>
          </a:xfrm>
          <a:prstGeom prst="roundRect">
            <a:avLst>
              <a:gd name="adj" fmla="val 11159"/>
            </a:avLst>
          </a:prstGeom>
          <a:solidFill>
            <a:srgbClr val="D1E5FA"/>
          </a:solidFill>
          <a:ln w="19050">
            <a:solidFill>
              <a:srgbClr val="B7CBE0"/>
            </a:solidFill>
            <a:prstDash val="solid"/>
          </a:ln>
        </p:spPr>
      </p:sp>
      <p:sp>
        <p:nvSpPr>
          <p:cNvPr id="5" name="Text 2"/>
          <p:cNvSpPr/>
          <p:nvPr/>
        </p:nvSpPr>
        <p:spPr>
          <a:xfrm>
            <a:off x="5441417" y="260171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Different jobs, different languages</a:t>
            </a:r>
            <a:endParaRPr lang="en-US" sz="1850" dirty="0"/>
          </a:p>
        </p:txBody>
      </p:sp>
      <p:sp>
        <p:nvSpPr>
          <p:cNvPr id="6" name="Shape 3"/>
          <p:cNvSpPr/>
          <p:nvPr/>
        </p:nvSpPr>
        <p:spPr>
          <a:xfrm>
            <a:off x="5233360" y="3294063"/>
            <a:ext cx="6296860" cy="711398"/>
          </a:xfrm>
          <a:prstGeom prst="roundRect">
            <a:avLst>
              <a:gd name="adj" fmla="val 11159"/>
            </a:avLst>
          </a:prstGeom>
          <a:solidFill>
            <a:srgbClr val="D1E5FA"/>
          </a:solidFill>
          <a:ln w="19050">
            <a:solidFill>
              <a:srgbClr val="B7CBE0"/>
            </a:solidFill>
            <a:prstDash val="solid"/>
          </a:ln>
        </p:spPr>
      </p:sp>
      <p:sp>
        <p:nvSpPr>
          <p:cNvPr id="7" name="Text 4"/>
          <p:cNvSpPr/>
          <p:nvPr/>
        </p:nvSpPr>
        <p:spPr>
          <a:xfrm>
            <a:off x="5441417" y="350212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One place knows about mess</a:t>
            </a:r>
            <a:endParaRPr lang="en-US" sz="1850" dirty="0"/>
          </a:p>
        </p:txBody>
      </p:sp>
      <p:sp>
        <p:nvSpPr>
          <p:cNvPr id="8" name="Shape 5"/>
          <p:cNvSpPr/>
          <p:nvPr/>
        </p:nvSpPr>
        <p:spPr>
          <a:xfrm>
            <a:off x="5233360" y="4194473"/>
            <a:ext cx="6296860" cy="711398"/>
          </a:xfrm>
          <a:prstGeom prst="roundRect">
            <a:avLst>
              <a:gd name="adj" fmla="val 11159"/>
            </a:avLst>
          </a:prstGeom>
          <a:solidFill>
            <a:srgbClr val="D1E5FA"/>
          </a:solidFill>
          <a:ln w="19050">
            <a:solidFill>
              <a:srgbClr val="B7CBE0"/>
            </a:solidFill>
            <a:prstDash val="solid"/>
          </a:ln>
        </p:spPr>
      </p:sp>
      <p:sp>
        <p:nvSpPr>
          <p:cNvPr id="9" name="Text 6"/>
          <p:cNvSpPr/>
          <p:nvPr/>
        </p:nvSpPr>
        <p:spPr>
          <a:xfrm>
            <a:off x="5441417" y="440253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One place knows how to fail</a:t>
            </a:r>
            <a:endParaRPr lang="en-US" sz="1850" dirty="0"/>
          </a:p>
        </p:txBody>
      </p:sp>
      <p:sp>
        <p:nvSpPr>
          <p:cNvPr id="10" name="Shape 7"/>
          <p:cNvSpPr/>
          <p:nvPr/>
        </p:nvSpPr>
        <p:spPr>
          <a:xfrm>
            <a:off x="5233360" y="5094883"/>
            <a:ext cx="6296860" cy="711398"/>
          </a:xfrm>
          <a:prstGeom prst="roundRect">
            <a:avLst>
              <a:gd name="adj" fmla="val 11159"/>
            </a:avLst>
          </a:prstGeom>
          <a:solidFill>
            <a:srgbClr val="D1E5FA"/>
          </a:solidFill>
          <a:ln w="19050">
            <a:solidFill>
              <a:srgbClr val="B7CBE0"/>
            </a:solidFill>
            <a:prstDash val="solid"/>
          </a:ln>
        </p:spPr>
      </p:sp>
      <p:sp>
        <p:nvSpPr>
          <p:cNvPr id="11" name="Text 8"/>
          <p:cNvSpPr/>
          <p:nvPr/>
        </p:nvSpPr>
        <p:spPr>
          <a:xfrm>
            <a:off x="5441417" y="5302945"/>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can replace either side</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491655"/>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machine this was built on has no model installed</a:t>
            </a:r>
            <a:endParaRPr lang="en-US" sz="3700" dirty="0"/>
          </a:p>
        </p:txBody>
      </p:sp>
      <p:sp>
        <p:nvSpPr>
          <p:cNvPr id="3" name="Shape 1"/>
          <p:cNvSpPr/>
          <p:nvPr/>
        </p:nvSpPr>
        <p:spPr>
          <a:xfrm>
            <a:off x="661475" y="3050977"/>
            <a:ext cx="10868745" cy="2192536"/>
          </a:xfrm>
          <a:prstGeom prst="roundRect">
            <a:avLst>
              <a:gd name="adj" fmla="val 3621"/>
            </a:avLst>
          </a:prstGeom>
          <a:solidFill>
            <a:srgbClr val="F2F2F2"/>
          </a:solidFill>
          <a:ln/>
        </p:spPr>
      </p:sp>
      <p:sp>
        <p:nvSpPr>
          <p:cNvPr id="4" name="Text 2"/>
          <p:cNvSpPr/>
          <p:nvPr/>
        </p:nvSpPr>
        <p:spPr>
          <a:xfrm>
            <a:off x="888283" y="3239988"/>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service          contract-demo-service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model_endpoint   http://127.0.0.1:11535</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model_reachable  false</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The service is up and cannot see a model. Every answer will be a</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fallback. That is a different problem from the service being down.</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642864"/>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model is gone and exactly one layer noticed</a:t>
            </a:r>
            <a:endParaRPr lang="en-US" sz="3700" dirty="0"/>
          </a:p>
        </p:txBody>
      </p:sp>
      <p:sp>
        <p:nvSpPr>
          <p:cNvPr id="3" name="Shape 1"/>
          <p:cNvSpPr/>
          <p:nvPr/>
        </p:nvSpPr>
        <p:spPr>
          <a:xfrm>
            <a:off x="661475" y="3202186"/>
            <a:ext cx="10868745" cy="1890117"/>
          </a:xfrm>
          <a:prstGeom prst="roundRect">
            <a:avLst>
              <a:gd name="adj" fmla="val 4200"/>
            </a:avLst>
          </a:prstGeom>
          <a:solidFill>
            <a:srgbClr val="F2F2F2"/>
          </a:solidFill>
          <a:ln/>
        </p:spPr>
      </p:sp>
      <p:sp>
        <p:nvSpPr>
          <p:cNvPr id="4" name="Text 2"/>
          <p:cNvSpPr/>
          <p:nvPr/>
        </p:nvSpPr>
        <p:spPr>
          <a:xfrm>
            <a:off x="888283" y="3391198"/>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source       fallback</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elapsed_ms   2057</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headline: The 3D printer in room 118 jammed near the nozzle.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error kind:    connection_refused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error message: nothing is listening at http://127.0.0.1:11535</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903486"/>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ok and error are not opposites</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2368252"/>
            <a:ext cx="6296860" cy="724098"/>
          </a:xfrm>
          <a:prstGeom prst="rect">
            <a:avLst/>
          </a:prstGeom>
        </p:spPr>
      </p:pic>
      <p:sp>
        <p:nvSpPr>
          <p:cNvPr id="5" name="Text 1"/>
          <p:cNvSpPr/>
          <p:nvPr/>
        </p:nvSpPr>
        <p:spPr>
          <a:xfrm>
            <a:off x="5549364" y="2582664"/>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Read source first, every time</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3360" y="3281362"/>
            <a:ext cx="6296860" cy="724098"/>
          </a:xfrm>
          <a:prstGeom prst="rect">
            <a:avLst/>
          </a:prstGeom>
        </p:spPr>
      </p:pic>
      <p:sp>
        <p:nvSpPr>
          <p:cNvPr id="7" name="Text 2"/>
          <p:cNvSpPr/>
          <p:nvPr/>
        </p:nvSpPr>
        <p:spPr>
          <a:xfrm>
            <a:off x="5549364" y="3495774"/>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highlight>
                  <a:srgbClr val="F2F2F2"/>
                </a:highlight>
                <a:latin typeface="Consolas" pitchFamily="34" charset="0"/>
                <a:ea typeface="Consolas" pitchFamily="34" charset="-122"/>
                <a:cs typeface="Consolas" pitchFamily="34" charset="-120"/>
              </a:rPr>
              <a:t>source model</a:t>
            </a:r>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 means the model answered</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33360" y="4194473"/>
            <a:ext cx="6296860" cy="724098"/>
          </a:xfrm>
          <a:prstGeom prst="rect">
            <a:avLst/>
          </a:prstGeom>
        </p:spPr>
      </p:pic>
      <p:sp>
        <p:nvSpPr>
          <p:cNvPr id="9" name="Text 3"/>
          <p:cNvSpPr/>
          <p:nvPr/>
        </p:nvSpPr>
        <p:spPr>
          <a:xfrm>
            <a:off x="5549364" y="4408884"/>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highlight>
                  <a:srgbClr val="F2F2F2"/>
                </a:highlight>
                <a:latin typeface="Consolas" pitchFamily="34" charset="0"/>
                <a:ea typeface="Consolas" pitchFamily="34" charset="-122"/>
                <a:cs typeface="Consolas" pitchFamily="34" charset="-120"/>
              </a:rPr>
              <a:t>source fallback</a:t>
            </a:r>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 means the service built it</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33360" y="5107583"/>
            <a:ext cx="6296860" cy="724098"/>
          </a:xfrm>
          <a:prstGeom prst="rect">
            <a:avLst/>
          </a:prstGeom>
        </p:spPr>
      </p:pic>
      <p:sp>
        <p:nvSpPr>
          <p:cNvPr id="11" name="Text 4"/>
          <p:cNvSpPr/>
          <p:nvPr/>
        </p:nvSpPr>
        <p:spPr>
          <a:xfrm>
            <a:off x="5549364" y="5321995"/>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highlight>
                  <a:srgbClr val="F2F2F2"/>
                </a:highlight>
                <a:latin typeface="Consolas" pitchFamily="34" charset="0"/>
                <a:ea typeface="Consolas" pitchFamily="34" charset="-122"/>
                <a:cs typeface="Consolas" pitchFamily="34" charset="-120"/>
              </a:rPr>
              <a:t>source none</a:t>
            </a:r>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 means the request was refused</a:t>
            </a:r>
            <a:endParaRPr lang="en-US" sz="1850" dirty="0"/>
          </a:p>
        </p:txBody>
      </p:sp>
      <p:sp>
        <p:nvSpPr>
          <p:cNvPr id="12" name="Text 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208934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Watch me do it wrong</a:t>
            </a:r>
            <a:endParaRPr lang="en-US" sz="3700" dirty="0"/>
          </a:p>
        </p:txBody>
      </p:sp>
      <p:sp>
        <p:nvSpPr>
          <p:cNvPr id="3" name="Shape 1"/>
          <p:cNvSpPr/>
          <p:nvPr/>
        </p:nvSpPr>
        <p:spPr>
          <a:xfrm>
            <a:off x="661475" y="3058021"/>
            <a:ext cx="10868745" cy="1587698"/>
          </a:xfrm>
          <a:prstGeom prst="roundRect">
            <a:avLst>
              <a:gd name="adj" fmla="val 5000"/>
            </a:avLst>
          </a:prstGeom>
          <a:solidFill>
            <a:srgbClr val="F2F2F2"/>
          </a:solidFill>
          <a:ln/>
        </p:spPr>
      </p:sp>
      <p:sp>
        <p:nvSpPr>
          <p:cNvPr id="4" name="Text 2"/>
          <p:cNvSpPr/>
          <p:nvPr/>
        </p:nvSpPr>
        <p:spPr>
          <a:xfrm>
            <a:off x="888283" y="3247033"/>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if (envelope.Ok)</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Console.WriteLine(result.Headline);   // looks fine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254297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headline that nothing wrote</a:t>
            </a:r>
            <a:endParaRPr lang="en-US" sz="3700" dirty="0"/>
          </a:p>
        </p:txBody>
      </p:sp>
      <p:sp>
        <p:nvSpPr>
          <p:cNvPr id="3" name="Shape 1"/>
          <p:cNvSpPr/>
          <p:nvPr/>
        </p:nvSpPr>
        <p:spPr>
          <a:xfrm>
            <a:off x="661475" y="3511649"/>
            <a:ext cx="10868745" cy="680442"/>
          </a:xfrm>
          <a:prstGeom prst="roundRect">
            <a:avLst>
              <a:gd name="adj" fmla="val 11667"/>
            </a:avLst>
          </a:prstGeom>
          <a:solidFill>
            <a:srgbClr val="F2F2F2"/>
          </a:solidFill>
          <a:ln/>
        </p:spPr>
      </p:sp>
      <p:sp>
        <p:nvSpPr>
          <p:cNvPr id="4" name="Text 2"/>
          <p:cNvSpPr/>
          <p:nvPr/>
        </p:nvSpPr>
        <p:spPr>
          <a:xfrm>
            <a:off x="888283" y="3700661"/>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headline: My laptop keeps dropping the wifi in the back corner of the lab.</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77056"/>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boundary costs you something, and you pay it first</a:t>
            </a:r>
            <a:endParaRPr lang="en-US" sz="3700" dirty="0"/>
          </a:p>
        </p:txBody>
      </p:sp>
      <p:sp>
        <p:nvSpPr>
          <p:cNvPr id="4" name="Shape 1"/>
          <p:cNvSpPr/>
          <p:nvPr/>
        </p:nvSpPr>
        <p:spPr>
          <a:xfrm>
            <a:off x="661475" y="2632472"/>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1275723" y="2697361"/>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Two programs to start, two places a bug can be</a:t>
            </a:r>
            <a:endParaRPr lang="en-US" sz="1850" dirty="0"/>
          </a:p>
        </p:txBody>
      </p:sp>
      <p:sp>
        <p:nvSpPr>
          <p:cNvPr id="6" name="Shape 3"/>
          <p:cNvSpPr/>
          <p:nvPr/>
        </p:nvSpPr>
        <p:spPr>
          <a:xfrm>
            <a:off x="661475" y="3665934"/>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1275723" y="3730823"/>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contract to agree before either one works</a:t>
            </a:r>
            <a:endParaRPr lang="en-US" sz="1850" dirty="0"/>
          </a:p>
        </p:txBody>
      </p:sp>
      <p:sp>
        <p:nvSpPr>
          <p:cNvPr id="8" name="Shape 5"/>
          <p:cNvSpPr/>
          <p:nvPr/>
        </p:nvSpPr>
        <p:spPr>
          <a:xfrm>
            <a:off x="661475" y="4699397"/>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1275723" y="4764286"/>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benefit arrives the day the model is missing</a:t>
            </a:r>
            <a:endParaRPr lang="en-US" sz="1850" dirty="0"/>
          </a:p>
        </p:txBody>
      </p:sp>
      <p:sp>
        <p:nvSpPr>
          <p:cNvPr id="10" name="Shape 7"/>
          <p:cNvSpPr/>
          <p:nvPr/>
        </p:nvSpPr>
        <p:spPr>
          <a:xfrm>
            <a:off x="661475" y="5732859"/>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1275723" y="579774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In this building that day is most days</a:t>
            </a:r>
            <a:endParaRPr lang="en-US" sz="1850" dirty="0"/>
          </a:p>
        </p:txBody>
      </p:sp>
      <p:sp>
        <p:nvSpPr>
          <p:cNvPr id="12"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50565"/>
            <a:ext cx="6296860" cy="1144389"/>
          </a:xfrm>
          <a:prstGeom prst="rect">
            <a:avLst/>
          </a:prstGeom>
          <a:noFill/>
          <a:ln/>
        </p:spPr>
        <p:txBody>
          <a:bodyPr wrap="square" lIns="0" tIns="0" rIns="0" bIns="0" rtlCol="0" anchor="t">
            <a:normAutofit/>
          </a:bodyPr>
          <a:lstStyle/>
          <a:p>
            <a:pPr algn="l" indent="0" marL="0">
              <a:lnSpc>
                <a:spcPct val="104000"/>
              </a:lnSpc>
              <a:buNone/>
            </a:pPr>
            <a:r>
              <a:rPr lang="en-US" sz="3600" b="1" dirty="0">
                <a:solidFill>
                  <a:srgbClr val="111111"/>
                </a:solidFill>
                <a:latin typeface="Orbitron Bold" pitchFamily="34" charset="0"/>
                <a:ea typeface="Orbitron Bold" pitchFamily="34" charset="-122"/>
                <a:cs typeface="Orbitron Bold" pitchFamily="34" charset="-120"/>
              </a:rPr>
              <a:t>What you are about to build</a:t>
            </a:r>
            <a:endParaRPr lang="en-US" sz="3600" dirty="0"/>
          </a:p>
        </p:txBody>
      </p:sp>
      <p:sp>
        <p:nvSpPr>
          <p:cNvPr id="4" name="Text 1"/>
          <p:cNvSpPr/>
          <p:nvPr/>
        </p:nvSpPr>
        <p:spPr>
          <a:xfrm>
            <a:off x="661475" y="1960959"/>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01</a:t>
            </a:r>
            <a:endParaRPr lang="en-US" sz="1400" dirty="0"/>
          </a:p>
        </p:txBody>
      </p:sp>
      <p:sp>
        <p:nvSpPr>
          <p:cNvPr id="5" name="Shape 2"/>
          <p:cNvSpPr/>
          <p:nvPr/>
        </p:nvSpPr>
        <p:spPr>
          <a:xfrm>
            <a:off x="661475" y="2246709"/>
            <a:ext cx="6296860" cy="25400"/>
          </a:xfrm>
          <a:prstGeom prst="rect">
            <a:avLst/>
          </a:prstGeom>
          <a:solidFill>
            <a:srgbClr val="57A1EB"/>
          </a:solidFill>
          <a:ln/>
        </p:spPr>
      </p:sp>
      <p:sp>
        <p:nvSpPr>
          <p:cNvPr id="6" name="Text 3"/>
          <p:cNvSpPr/>
          <p:nvPr/>
        </p:nvSpPr>
        <p:spPr>
          <a:xfrm>
            <a:off x="661475" y="2388989"/>
            <a:ext cx="6296860" cy="572095"/>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Lab M05-01, the contract trace, seven real cases</a:t>
            </a:r>
            <a:endParaRPr lang="en-US" sz="1800" dirty="0"/>
          </a:p>
        </p:txBody>
      </p:sp>
      <p:sp>
        <p:nvSpPr>
          <p:cNvPr id="7" name="Text 4"/>
          <p:cNvSpPr/>
          <p:nvPr/>
        </p:nvSpPr>
        <p:spPr>
          <a:xfrm>
            <a:off x="661475" y="3275707"/>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02</a:t>
            </a:r>
            <a:endParaRPr lang="en-US" sz="1400" dirty="0"/>
          </a:p>
        </p:txBody>
      </p:sp>
      <p:sp>
        <p:nvSpPr>
          <p:cNvPr id="8" name="Shape 5"/>
          <p:cNvSpPr/>
          <p:nvPr/>
        </p:nvSpPr>
        <p:spPr>
          <a:xfrm>
            <a:off x="661475" y="3561457"/>
            <a:ext cx="6296860" cy="25400"/>
          </a:xfrm>
          <a:prstGeom prst="rect">
            <a:avLst/>
          </a:prstGeom>
          <a:solidFill>
            <a:srgbClr val="57A1EB"/>
          </a:solidFill>
          <a:ln/>
        </p:spPr>
      </p:sp>
      <p:sp>
        <p:nvSpPr>
          <p:cNvPr id="9" name="Text 6"/>
          <p:cNvSpPr/>
          <p:nvPr/>
        </p:nvSpPr>
        <p:spPr>
          <a:xfrm>
            <a:off x="661475" y="3703737"/>
            <a:ext cx="6296860"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Start the stub, the service, then the probe</a:t>
            </a:r>
            <a:endParaRPr lang="en-US" sz="1800" dirty="0"/>
          </a:p>
        </p:txBody>
      </p:sp>
      <p:sp>
        <p:nvSpPr>
          <p:cNvPr id="10" name="Text 7"/>
          <p:cNvSpPr/>
          <p:nvPr/>
        </p:nvSpPr>
        <p:spPr>
          <a:xfrm>
            <a:off x="661475" y="4304407"/>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03</a:t>
            </a:r>
            <a:endParaRPr lang="en-US" sz="1400" dirty="0"/>
          </a:p>
        </p:txBody>
      </p:sp>
      <p:sp>
        <p:nvSpPr>
          <p:cNvPr id="11" name="Shape 8"/>
          <p:cNvSpPr/>
          <p:nvPr/>
        </p:nvSpPr>
        <p:spPr>
          <a:xfrm>
            <a:off x="661475" y="4590157"/>
            <a:ext cx="6296860" cy="25400"/>
          </a:xfrm>
          <a:prstGeom prst="rect">
            <a:avLst/>
          </a:prstGeom>
          <a:solidFill>
            <a:srgbClr val="57A1EB"/>
          </a:solidFill>
          <a:ln/>
        </p:spPr>
      </p:sp>
      <p:sp>
        <p:nvSpPr>
          <p:cNvPr id="12" name="Text 9"/>
          <p:cNvSpPr/>
          <p:nvPr/>
        </p:nvSpPr>
        <p:spPr>
          <a:xfrm>
            <a:off x="661475" y="4732437"/>
            <a:ext cx="6296860"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Fill in the table by reading, not guessing</a:t>
            </a:r>
            <a:endParaRPr lang="en-US" sz="1800" dirty="0"/>
          </a:p>
        </p:txBody>
      </p:sp>
      <p:sp>
        <p:nvSpPr>
          <p:cNvPr id="13" name="Text 10"/>
          <p:cNvSpPr/>
          <p:nvPr/>
        </p:nvSpPr>
        <p:spPr>
          <a:xfrm>
            <a:off x="661475" y="5333107"/>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04</a:t>
            </a:r>
            <a:endParaRPr lang="en-US" sz="1400" dirty="0"/>
          </a:p>
        </p:txBody>
      </p:sp>
      <p:sp>
        <p:nvSpPr>
          <p:cNvPr id="14" name="Shape 11"/>
          <p:cNvSpPr/>
          <p:nvPr/>
        </p:nvSpPr>
        <p:spPr>
          <a:xfrm>
            <a:off x="661475" y="5618857"/>
            <a:ext cx="6296860" cy="25400"/>
          </a:xfrm>
          <a:prstGeom prst="rect">
            <a:avLst/>
          </a:prstGeom>
          <a:solidFill>
            <a:srgbClr val="57A1EB"/>
          </a:solidFill>
          <a:ln/>
        </p:spPr>
      </p:sp>
      <p:sp>
        <p:nvSpPr>
          <p:cNvPr id="15" name="Text 12"/>
          <p:cNvSpPr/>
          <p:nvPr/>
        </p:nvSpPr>
        <p:spPr>
          <a:xfrm>
            <a:off x="661475" y="5761137"/>
            <a:ext cx="6296860"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Your own design starts Tuesday</a:t>
            </a:r>
            <a:endParaRPr lang="en-US" sz="1800" dirty="0"/>
          </a:p>
        </p:txBody>
      </p:sp>
      <p:sp>
        <p:nvSpPr>
          <p:cNvPr id="16"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2026-09-16T05:23:04Z</dcterms:created>
  <dcterms:modified xsi:type="dcterms:W3CDTF">2026-09-16T05:23:04Z</dcterms:modified>
</cp:coreProperties>
</file>