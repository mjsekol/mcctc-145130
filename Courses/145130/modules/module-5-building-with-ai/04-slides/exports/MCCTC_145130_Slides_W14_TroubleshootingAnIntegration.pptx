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people report the same thing in the same words. It is fast and every summary is one sentence lifted straight out of the ticket. Same sentence, two different faults, and the fixes have nothing in common. A symptom does not identify a fault, and today is about how you get from one to the other without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learned six steps last year for finding a bug in one program. All six still apply. What changed is step two. An integration has three programs in it, the bug is almost never in the one you are looking at, and the symptom almost never points at the layer that caused it. So forming one theory now means choosing where to look first, and that is what a methodology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methods from the Ohio competency list. You name one, out loud, before you start, and you write it in the log. Saying I looked at it is not a methodology and it is not worth points. Top down is the default when all you have is a complaint. Bottom up is for when something underneath you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that last row twice. When five different inputs give you one identical output, stop looking at what differs between them and look at what they have in common. That is a real technique and it catches people out, because the instinct is always to compare the failing cases against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see inside this system and they answer different questions. Health takes thirty seconds and tells you which half to stop looking at. The probe prints error dot kind, which your own program probably does not. And the service console tells you the thing neither of the others can: whether your request arrived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complaint, same health answer, and the envelope is one field apart. Validation failed means the model is answering and the answers do not fit your task, so somebody looks at the prompt template or the rule. HTTP error means the model server is returning an error status, so the model server needs attention and your code is fine. Nothing else separates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lab has a scenario zero and it is not broken. Run it first and capture what a working run looks like, because spot the differences needs something to compare against and your memory of what it used to look like is not good enough. The healthy run says Stub summary at the front of every summary. That prefix is the tell.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one names the method, records a theory that was wrong and how it died, and that is the part people leave out and the part that saves the next reader an hour. The second one tells nobody anything, including the person who wrote it, three weeks later when the same problem comes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failure in a troubleshooting log and it does not look like a failure, because the problem went away. You changed four things and something fixed it. You cannot prevent it, explain it, or recognise it next time. Undo the three you believe were unrelated, one at a time. Ten minutes, and a lucky escape becomes something you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lab gives you a healthy baseline and four faults, and two of the four report exactly the same symptom on purpose. You write one log entry for each fault, with a named method, the theory that was wrong, the single thing you changed, and the command that proves it. Open the log first, while you are still looking at the symptom.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image" Target="../media/image-6-2.png"/><Relationship Id="rId7" Type="http://schemas.openxmlformats.org/officeDocument/2006/relationships/image" Target="../media/image-6-3.svg"/><Relationship Id="rId8" Type="http://schemas.openxmlformats.org/officeDocument/2006/relationships/slideLayout" Target="../slideLayouts/slideLayout2.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48156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Troubleshooting an Integration With a Named Method</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635919"/>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Two students, the same complaint, two different faults</a:t>
            </a:r>
            <a:endParaRPr lang="en-US" sz="3700" dirty="0"/>
          </a:p>
        </p:txBody>
      </p:sp>
      <p:sp>
        <p:nvSpPr>
          <p:cNvPr id="4" name="Text 1"/>
          <p:cNvSpPr/>
          <p:nvPr/>
        </p:nvSpPr>
        <p:spPr>
          <a:xfrm>
            <a:off x="5233360" y="3691334"/>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is fast, and every summary is one sentence from the ticket"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Word for word the same report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Two completely different causes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Two fixes that have nothing to do with each other</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six steps still work. Step two got harder.</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Reproduce, one theory, test it, change one thing, verify, document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An integration has three programs in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bug is rarely in the one you are looking at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Step two now has three places to point at</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794073"/>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Four methods. Name one before you start.</a:t>
            </a:r>
            <a:endParaRPr lang="en-US" sz="3700" dirty="0"/>
          </a:p>
        </p:txBody>
      </p:sp>
      <p:sp>
        <p:nvSpPr>
          <p:cNvPr id="3" name="Shape 1"/>
          <p:cNvSpPr/>
          <p:nvPr/>
        </p:nvSpPr>
        <p:spPr>
          <a:xfrm>
            <a:off x="661475" y="3353395"/>
            <a:ext cx="10868745" cy="1587698"/>
          </a:xfrm>
          <a:prstGeom prst="roundRect">
            <a:avLst>
              <a:gd name="adj" fmla="val 5000"/>
            </a:avLst>
          </a:prstGeom>
          <a:solidFill>
            <a:srgbClr val="F2F2F2"/>
          </a:solidFill>
          <a:ln/>
        </p:spPr>
      </p:sp>
      <p:sp>
        <p:nvSpPr>
          <p:cNvPr id="4" name="Text 2"/>
          <p:cNvSpPr/>
          <p:nvPr/>
        </p:nvSpPr>
        <p:spPr>
          <a:xfrm>
            <a:off x="888283" y="3542407"/>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top down               person's layer first, then down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bottom up              machine's layer first, then up</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follow the path        one request, every boundary it crosses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spot the differences   a working case against a failing one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Which one, given what you have</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 complaint and nothing else          top down</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something in the environment changed  bottom up</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an answer arrives and is wrong        follow the path</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 case that works and one that does not   spot the differences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every case fails the same way         spot the differences, on what they share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736302"/>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Three tools, in this order</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201069"/>
            <a:ext cx="6296860" cy="1139924"/>
          </a:xfrm>
          <a:prstGeom prst="rect">
            <a:avLst/>
          </a:prstGeom>
        </p:spPr>
      </p:pic>
      <p:sp>
        <p:nvSpPr>
          <p:cNvPr id="5" name="Text 1"/>
          <p:cNvSpPr/>
          <p:nvPr/>
        </p:nvSpPr>
        <p:spPr>
          <a:xfrm>
            <a:off x="5549364" y="2415480"/>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health</a:t>
            </a:r>
            <a:endParaRPr lang="en-US" sz="1850" dirty="0"/>
          </a:p>
        </p:txBody>
      </p:sp>
      <p:sp>
        <p:nvSpPr>
          <p:cNvPr id="6" name="Text 2"/>
          <p:cNvSpPr/>
          <p:nvPr/>
        </p:nvSpPr>
        <p:spPr>
          <a:xfrm>
            <a:off x="5549364" y="2824163"/>
            <a:ext cx="576644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is the service up, can it see a model</a:t>
            </a:r>
            <a:endParaRPr lang="en-US" sz="145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530005"/>
            <a:ext cx="6296860" cy="1139924"/>
          </a:xfrm>
          <a:prstGeom prst="rect">
            <a:avLst/>
          </a:prstGeom>
        </p:spPr>
      </p:pic>
      <p:sp>
        <p:nvSpPr>
          <p:cNvPr id="8" name="Text 3"/>
          <p:cNvSpPr/>
          <p:nvPr/>
        </p:nvSpPr>
        <p:spPr>
          <a:xfrm>
            <a:off x="5549364" y="3744416"/>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contract_probe</a:t>
            </a:r>
            <a:endParaRPr lang="en-US" sz="1850" dirty="0"/>
          </a:p>
        </p:txBody>
      </p:sp>
      <p:sp>
        <p:nvSpPr>
          <p:cNvPr id="9" name="Text 4"/>
          <p:cNvSpPr/>
          <p:nvPr/>
        </p:nvSpPr>
        <p:spPr>
          <a:xfrm>
            <a:off x="5549364" y="4153098"/>
            <a:ext cx="576644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what is actually in the envelope</a:t>
            </a:r>
            <a:endParaRPr lang="en-US" sz="14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858941"/>
            <a:ext cx="6296860" cy="1139924"/>
          </a:xfrm>
          <a:prstGeom prst="rect">
            <a:avLst/>
          </a:prstGeom>
        </p:spPr>
      </p:pic>
      <p:sp>
        <p:nvSpPr>
          <p:cNvPr id="11" name="Text 5"/>
          <p:cNvSpPr/>
          <p:nvPr/>
        </p:nvSpPr>
        <p:spPr>
          <a:xfrm>
            <a:off x="5549364" y="5073352"/>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service console</a:t>
            </a:r>
            <a:endParaRPr lang="en-US" sz="1850" dirty="0"/>
          </a:p>
        </p:txBody>
      </p:sp>
      <p:sp>
        <p:nvSpPr>
          <p:cNvPr id="12" name="Text 6"/>
          <p:cNvSpPr/>
          <p:nvPr/>
        </p:nvSpPr>
        <p:spPr>
          <a:xfrm>
            <a:off x="5549364" y="5482034"/>
            <a:ext cx="576644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every request it answered</a:t>
            </a:r>
            <a:endParaRPr lang="en-US" sz="1450" dirty="0"/>
          </a:p>
        </p:txBody>
      </p:sp>
      <p:sp>
        <p:nvSpPr>
          <p:cNvPr id="13" name="Text 7"/>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938139"/>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field apart</a:t>
            </a:r>
            <a:endParaRPr lang="en-US" sz="3700" dirty="0"/>
          </a:p>
        </p:txBody>
      </p:sp>
      <p:sp>
        <p:nvSpPr>
          <p:cNvPr id="3" name="Shape 1"/>
          <p:cNvSpPr/>
          <p:nvPr/>
        </p:nvSpPr>
        <p:spPr>
          <a:xfrm>
            <a:off x="661475" y="2906812"/>
            <a:ext cx="10868745" cy="1890117"/>
          </a:xfrm>
          <a:prstGeom prst="roundRect">
            <a:avLst>
              <a:gd name="adj" fmla="val 4200"/>
            </a:avLst>
          </a:prstGeom>
          <a:solidFill>
            <a:srgbClr val="F2F2F2"/>
          </a:solidFill>
          <a:ln/>
        </p:spPr>
      </p:sp>
      <p:sp>
        <p:nvSpPr>
          <p:cNvPr id="4" name="Text 2"/>
          <p:cNvSpPr/>
          <p:nvPr/>
        </p:nvSpPr>
        <p:spPr>
          <a:xfrm>
            <a:off x="888283" y="3095823"/>
            <a:ext cx="10415129" cy="1512094"/>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Fault B   model_reachable  true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error  {"kind": "task_validation_failed", ...}</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Fault D   model_reachable  true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error  {"kind": "model_http_error", ...}</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635919"/>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Keep a baseline, or spot the differences has nothing to spot</a:t>
            </a:r>
            <a:endParaRPr lang="en-US" sz="3700" dirty="0"/>
          </a:p>
        </p:txBody>
      </p:sp>
      <p:sp>
        <p:nvSpPr>
          <p:cNvPr id="4" name="Text 1"/>
          <p:cNvSpPr/>
          <p:nvPr/>
        </p:nvSpPr>
        <p:spPr>
          <a:xfrm>
            <a:off x="5233360" y="3691334"/>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Scenario 0 in today's lab is a healthy run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Capture it first, before you look at any fault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stub summary prefix is the tell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Without a known-good run you are comparing to memory</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491655"/>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An entry that is worth reading, and one that is not</a:t>
            </a:r>
            <a:endParaRPr lang="en-US" sz="3700" dirty="0"/>
          </a:p>
        </p:txBody>
      </p:sp>
      <p:sp>
        <p:nvSpPr>
          <p:cNvPr id="3" name="Shape 1"/>
          <p:cNvSpPr/>
          <p:nvPr/>
        </p:nvSpPr>
        <p:spPr>
          <a:xfrm>
            <a:off x="661475" y="3050977"/>
            <a:ext cx="10868745" cy="2192536"/>
          </a:xfrm>
          <a:prstGeom prst="roundRect">
            <a:avLst>
              <a:gd name="adj" fmla="val 3621"/>
            </a:avLst>
          </a:prstGeom>
          <a:solidFill>
            <a:srgbClr val="F2F2F2"/>
          </a:solidFill>
          <a:ln/>
        </p:spPr>
      </p:sp>
      <p:sp>
        <p:nvSpPr>
          <p:cNvPr id="4" name="Text 2"/>
          <p:cNvSpPr/>
          <p:nvPr/>
        </p:nvSpPr>
        <p:spPr>
          <a:xfrm>
            <a:off x="888283" y="3239988"/>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Methodology.  Spot the differences. Five inputs, one output, so the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suspect is what they share. Theory one: the parser.</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Tested by calling parse directly. Dead in 30 seconds.</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Theory two: wrong port. netstat showed another process.</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Methodology.  We tried a few things until it worked.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Four changes at once teaches you nothing</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Something fixed it and nobody knows which</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problem comes back and the log is worthless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Undo the three you think were unrelated, one at a time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Ten minutes turns luck into knowledge</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Lab M05-03, one healthy run and four faults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Name your methodology before you start each one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Open the log before you start fixing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Change one thing, verify with a command</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2026-09-16T04:13:00Z</dcterms:created>
  <dcterms:modified xsi:type="dcterms:W3CDTF">2026-09-16T04:13:00Z</dcterms:modified>
</cp:coreProperties>
</file>