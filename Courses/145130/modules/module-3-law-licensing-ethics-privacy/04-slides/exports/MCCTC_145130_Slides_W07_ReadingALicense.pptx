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have heard both of those claims in this building. Working developers repeat them too. Today you settle arguments like that in under a minute, by opening a file instead of asking anybody, and the file turns out to be shorter than the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license answers these. Write the answers in these words because your licensing audit asks for exactly them. The fourth one is the question nobody asks and it decides whether any of the rest is live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how fast this settles. I am reading the license file itself and pulling out the one paragraph that states a condition. No summary, no search, no model. The file on my disk.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the entire obligation of the MIT license. Not open source your project. Not credit us on the About screen. Include the notice. Next time somebody tells you what MIT requires, do this instead of arguing.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families. The third one is where most model licenses live, and it is the one students have never met. Open the model license in your fixture and you find a list of forbidden uses and an automatic termination clause. That is not an open source license and the difference matters on Thursday.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GPL corrections get said wrong in this room every year. The GPL is not an anti-money license. It is a same-terms-travel-with-it license. And Apache adds a patent grant that MIT is completely silent on, which is the reason a lot of companies prefer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the second plan. Every one of you moved from the first plan to the second in week one of this program and nobody stopped to notice. Pushing to a public repository is conveying. That is the day the obligations wake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had written a tool that treats a missing tag as a missing license, you would have flagged the two cleanest components in the tree and missed nothing that was actually wrong. A missing tag is never a finding. A finding is something you read, or a documented absence of anything to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counts as one combined work is a genuine long-running argument and you are not going to settle it this period. What is not arguable is that the front of the project says one thing, the tree contains another, nobody has written anything down, and the license that was supposed to travel with that code is missing. That is your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model writes this in two seconds. Three cells are wrong and you have the files open to prove it. Notice what it got right, because that is what makes it dangerous. Apache and CC BY pass a glance, and three correct rows buy the wrong ones their credibility.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Lab M03-01, and the requirement is that every cell in your table traces to something you read, not something you were told. Build two is the first pass of your licensing audit manifest. Where a component has nothing, write nothing found. That is a result, not a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image" Target="../media/image-3-1.png"/><Relationship Id="rId6" Type="http://schemas.openxmlformats.org/officeDocument/2006/relationships/image" Target="../media/image-3-2.svg"/><Relationship Id="rId7" Type="http://schemas.openxmlformats.org/officeDocument/2006/relationships/image" Target="../media/image-3-1.png"/><Relationship Id="rId8" Type="http://schemas.openxmlformats.org/officeDocument/2006/relationships/image" Target="../media/image-3-2.sv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481560"/>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Reading a License Instead of Reading About One</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You have had this argument already</a:t>
            </a:r>
            <a:endParaRPr lang="en-US" sz="3700" dirty="0"/>
          </a:p>
        </p:txBody>
      </p:sp>
      <p:sp>
        <p:nvSpPr>
          <p:cNvPr id="4" name="Text 1"/>
          <p:cNvSpPr/>
          <p:nvPr/>
        </p:nvSpPr>
        <p:spPr>
          <a:xfrm>
            <a:off x="661475"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Somebody says MIT means you must open source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Somebody says GPL means you cannot sell it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Both are false and both get repeated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file that settles it is on your disk</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08178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Three questions, always in this order</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050455"/>
            <a:ext cx="5339820" cy="1706959"/>
          </a:xfrm>
          <a:prstGeom prst="rect">
            <a:avLst/>
          </a:prstGeom>
        </p:spPr>
      </p:pic>
      <p:sp>
        <p:nvSpPr>
          <p:cNvPr id="4" name="Text 1"/>
          <p:cNvSpPr/>
          <p:nvPr/>
        </p:nvSpPr>
        <p:spPr>
          <a:xfrm>
            <a:off x="3189605" y="2172593"/>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1</a:t>
            </a:r>
            <a:endParaRPr lang="en-US" sz="2200" dirty="0"/>
          </a:p>
        </p:txBody>
      </p:sp>
      <p:sp>
        <p:nvSpPr>
          <p:cNvPr id="5" name="Text 2"/>
          <p:cNvSpPr/>
          <p:nvPr/>
        </p:nvSpPr>
        <p:spPr>
          <a:xfrm>
            <a:off x="875881" y="2831902"/>
            <a:ext cx="49110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PERMIT</a:t>
            </a:r>
            <a:endParaRPr lang="en-US" sz="1850" dirty="0"/>
          </a:p>
        </p:txBody>
      </p:sp>
      <p:sp>
        <p:nvSpPr>
          <p:cNvPr id="6" name="Text 3"/>
          <p:cNvSpPr/>
          <p:nvPr/>
        </p:nvSpPr>
        <p:spPr>
          <a:xfrm>
            <a:off x="875881" y="3240584"/>
            <a:ext cx="49110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What does it PERMIT that you could not do before</a:t>
            </a:r>
            <a:endParaRPr lang="en-US" sz="14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90301" y="2050455"/>
            <a:ext cx="5339919" cy="1706959"/>
          </a:xfrm>
          <a:prstGeom prst="rect">
            <a:avLst/>
          </a:prstGeom>
        </p:spPr>
      </p:pic>
      <p:sp>
        <p:nvSpPr>
          <p:cNvPr id="8" name="Text 4"/>
          <p:cNvSpPr/>
          <p:nvPr/>
        </p:nvSpPr>
        <p:spPr>
          <a:xfrm>
            <a:off x="8718530" y="2172593"/>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2</a:t>
            </a:r>
            <a:endParaRPr lang="en-US" sz="2200" dirty="0"/>
          </a:p>
        </p:txBody>
      </p:sp>
      <p:sp>
        <p:nvSpPr>
          <p:cNvPr id="9" name="Text 5"/>
          <p:cNvSpPr/>
          <p:nvPr/>
        </p:nvSpPr>
        <p:spPr>
          <a:xfrm>
            <a:off x="6404708" y="2831902"/>
            <a:ext cx="49111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REQUIRE</a:t>
            </a:r>
            <a:endParaRPr lang="en-US" sz="1850" dirty="0"/>
          </a:p>
        </p:txBody>
      </p:sp>
      <p:sp>
        <p:nvSpPr>
          <p:cNvPr id="10" name="Text 6"/>
          <p:cNvSpPr/>
          <p:nvPr/>
        </p:nvSpPr>
        <p:spPr>
          <a:xfrm>
            <a:off x="6404708" y="3240584"/>
            <a:ext cx="4911106"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What does it REQUIRE from you in exchange</a:t>
            </a:r>
            <a:endParaRPr lang="en-US" sz="145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946426"/>
            <a:ext cx="5339820" cy="1706959"/>
          </a:xfrm>
          <a:prstGeom prst="rect">
            <a:avLst/>
          </a:prstGeom>
        </p:spPr>
      </p:pic>
      <p:sp>
        <p:nvSpPr>
          <p:cNvPr id="12" name="Text 7"/>
          <p:cNvSpPr/>
          <p:nvPr/>
        </p:nvSpPr>
        <p:spPr>
          <a:xfrm>
            <a:off x="3189605" y="4068564"/>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3</a:t>
            </a:r>
            <a:endParaRPr lang="en-US" sz="2200" dirty="0"/>
          </a:p>
        </p:txBody>
      </p:sp>
      <p:sp>
        <p:nvSpPr>
          <p:cNvPr id="13" name="Text 8"/>
          <p:cNvSpPr/>
          <p:nvPr/>
        </p:nvSpPr>
        <p:spPr>
          <a:xfrm>
            <a:off x="875881" y="4727873"/>
            <a:ext cx="49110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FORBID</a:t>
            </a:r>
            <a:endParaRPr lang="en-US" sz="1850" dirty="0"/>
          </a:p>
        </p:txBody>
      </p:sp>
      <p:sp>
        <p:nvSpPr>
          <p:cNvPr id="14" name="Text 9"/>
          <p:cNvSpPr/>
          <p:nvPr/>
        </p:nvSpPr>
        <p:spPr>
          <a:xfrm>
            <a:off x="875881" y="5136555"/>
            <a:ext cx="49110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What does it FORBID no matter what</a:t>
            </a:r>
            <a:endParaRPr lang="en-US" sz="145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90301" y="3946426"/>
            <a:ext cx="5339919" cy="1706959"/>
          </a:xfrm>
          <a:prstGeom prst="rect">
            <a:avLst/>
          </a:prstGeom>
        </p:spPr>
      </p:pic>
      <p:sp>
        <p:nvSpPr>
          <p:cNvPr id="16" name="Text 10"/>
          <p:cNvSpPr/>
          <p:nvPr/>
        </p:nvSpPr>
        <p:spPr>
          <a:xfrm>
            <a:off x="8718530" y="4068564"/>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4</a:t>
            </a:r>
            <a:endParaRPr lang="en-US" sz="2200" dirty="0"/>
          </a:p>
        </p:txBody>
      </p:sp>
      <p:sp>
        <p:nvSpPr>
          <p:cNvPr id="17" name="Text 11"/>
          <p:cNvSpPr/>
          <p:nvPr/>
        </p:nvSpPr>
        <p:spPr>
          <a:xfrm>
            <a:off x="6404708" y="4727873"/>
            <a:ext cx="49111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TRIGGERS</a:t>
            </a:r>
            <a:endParaRPr lang="en-US" sz="1850" dirty="0"/>
          </a:p>
        </p:txBody>
      </p:sp>
      <p:sp>
        <p:nvSpPr>
          <p:cNvPr id="18" name="Text 12"/>
          <p:cNvSpPr/>
          <p:nvPr/>
        </p:nvSpPr>
        <p:spPr>
          <a:xfrm>
            <a:off x="6404708" y="5136555"/>
            <a:ext cx="4911106"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What TRIGGERS the requirements</a:t>
            </a:r>
            <a:endParaRPr lang="en-US" sz="1450" dirty="0"/>
          </a:p>
        </p:txBody>
      </p:sp>
      <p:sp>
        <p:nvSpPr>
          <p:cNvPr id="19"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642864"/>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whole MIT obligation, found in eight seconds</a:t>
            </a:r>
            <a:endParaRPr lang="en-US" sz="3700" dirty="0"/>
          </a:p>
        </p:txBody>
      </p:sp>
      <p:sp>
        <p:nvSpPr>
          <p:cNvPr id="3" name="Shape 1"/>
          <p:cNvSpPr/>
          <p:nvPr/>
        </p:nvSpPr>
        <p:spPr>
          <a:xfrm>
            <a:off x="661475" y="3202186"/>
            <a:ext cx="10868745" cy="1890117"/>
          </a:xfrm>
          <a:prstGeom prst="roundRect">
            <a:avLst>
              <a:gd name="adj" fmla="val 4200"/>
            </a:avLst>
          </a:prstGeom>
          <a:solidFill>
            <a:srgbClr val="F2F2F2"/>
          </a:solidFill>
          <a:ln/>
        </p:spPr>
      </p:sp>
      <p:sp>
        <p:nvSpPr>
          <p:cNvPr id="4" name="Text 2"/>
          <p:cNvSpPr/>
          <p:nvPr/>
        </p:nvSpPr>
        <p:spPr>
          <a:xfrm>
            <a:off x="888283" y="3391198"/>
            <a:ext cx="104151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text = open("vendor/pocketgrid/LICENSE", encoding="utf-8").read()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print(len(text.split()), "words")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for paragraph in text.split("\n\n"):</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if "shall be included" in paragraph:</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print(paragraph.strip())</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841302"/>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One hundred sixty nine words, one condition</a:t>
            </a:r>
            <a:endParaRPr lang="en-US" sz="3700" dirty="0"/>
          </a:p>
        </p:txBody>
      </p:sp>
      <p:sp>
        <p:nvSpPr>
          <p:cNvPr id="4" name="Shape 1"/>
          <p:cNvSpPr/>
          <p:nvPr/>
        </p:nvSpPr>
        <p:spPr>
          <a:xfrm>
            <a:off x="661475" y="3306068"/>
            <a:ext cx="6296860" cy="1587698"/>
          </a:xfrm>
          <a:prstGeom prst="roundRect">
            <a:avLst>
              <a:gd name="adj" fmla="val 5000"/>
            </a:avLst>
          </a:prstGeom>
          <a:solidFill>
            <a:srgbClr val="F2F2F2"/>
          </a:solidFill>
          <a:ln/>
        </p:spPr>
      </p:sp>
      <p:sp>
        <p:nvSpPr>
          <p:cNvPr id="5" name="Text 2"/>
          <p:cNvSpPr/>
          <p:nvPr/>
        </p:nvSpPr>
        <p:spPr>
          <a:xfrm>
            <a:off x="888283" y="3495080"/>
            <a:ext cx="5843243"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169 words</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The above copyright notice and this permission notice shall be included in all</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copies or substantial portions of the Software.</a:t>
            </a:r>
            <a:endParaRPr lang="en-US" sz="1450" dirty="0"/>
          </a:p>
        </p:txBody>
      </p:sp>
      <p:sp>
        <p:nvSpPr>
          <p:cNvPr id="6"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910854"/>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Three families, one bargain each</a:t>
            </a:r>
            <a:endParaRPr lang="en-US" sz="3700" dirty="0"/>
          </a:p>
        </p:txBody>
      </p:sp>
      <p:sp>
        <p:nvSpPr>
          <p:cNvPr id="3" name="Shape 1"/>
          <p:cNvSpPr/>
          <p:nvPr/>
        </p:nvSpPr>
        <p:spPr>
          <a:xfrm>
            <a:off x="661475" y="2879527"/>
            <a:ext cx="3496877" cy="1429643"/>
          </a:xfrm>
          <a:prstGeom prst="roundRect">
            <a:avLst>
              <a:gd name="adj" fmla="val 5553"/>
            </a:avLst>
          </a:prstGeom>
          <a:solidFill>
            <a:srgbClr val="D1E5FA"/>
          </a:solidFill>
          <a:ln w="19050">
            <a:solidFill>
              <a:srgbClr val="B7CBE0"/>
            </a:solidFill>
            <a:prstDash val="solid"/>
          </a:ln>
        </p:spPr>
      </p:sp>
      <p:sp>
        <p:nvSpPr>
          <p:cNvPr id="4" name="Text 2"/>
          <p:cNvSpPr/>
          <p:nvPr/>
        </p:nvSpPr>
        <p:spPr>
          <a:xfrm>
            <a:off x="869531" y="3087588"/>
            <a:ext cx="3080764"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Permissive</a:t>
            </a:r>
            <a:endParaRPr lang="en-US" sz="1850" dirty="0"/>
          </a:p>
        </p:txBody>
      </p:sp>
      <p:sp>
        <p:nvSpPr>
          <p:cNvPr id="5" name="Text 3"/>
          <p:cNvSpPr/>
          <p:nvPr/>
        </p:nvSpPr>
        <p:spPr>
          <a:xfrm>
            <a:off x="869531" y="3496270"/>
            <a:ext cx="308076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Do nearly anything, keep the notices</a:t>
            </a:r>
            <a:endParaRPr lang="en-US" sz="1450" dirty="0"/>
          </a:p>
        </p:txBody>
      </p:sp>
      <p:sp>
        <p:nvSpPr>
          <p:cNvPr id="6" name="Shape 4"/>
          <p:cNvSpPr/>
          <p:nvPr/>
        </p:nvSpPr>
        <p:spPr>
          <a:xfrm>
            <a:off x="4347359" y="2879527"/>
            <a:ext cx="3496877" cy="1429643"/>
          </a:xfrm>
          <a:prstGeom prst="roundRect">
            <a:avLst>
              <a:gd name="adj" fmla="val 5553"/>
            </a:avLst>
          </a:prstGeom>
          <a:solidFill>
            <a:srgbClr val="D1E5FA"/>
          </a:solidFill>
          <a:ln w="19050">
            <a:solidFill>
              <a:srgbClr val="B7CBE0"/>
            </a:solidFill>
            <a:prstDash val="solid"/>
          </a:ln>
        </p:spPr>
      </p:sp>
      <p:sp>
        <p:nvSpPr>
          <p:cNvPr id="7" name="Text 5"/>
          <p:cNvSpPr/>
          <p:nvPr/>
        </p:nvSpPr>
        <p:spPr>
          <a:xfrm>
            <a:off x="4555416" y="3087588"/>
            <a:ext cx="3080764"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Copyleft</a:t>
            </a:r>
            <a:endParaRPr lang="en-US" sz="1850" dirty="0"/>
          </a:p>
        </p:txBody>
      </p:sp>
      <p:sp>
        <p:nvSpPr>
          <p:cNvPr id="8" name="Text 6"/>
          <p:cNvSpPr/>
          <p:nvPr/>
        </p:nvSpPr>
        <p:spPr>
          <a:xfrm>
            <a:off x="4555416" y="3496270"/>
            <a:ext cx="3080764"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What you convey stays under the same terms</a:t>
            </a:r>
            <a:endParaRPr lang="en-US" sz="1450" dirty="0"/>
          </a:p>
        </p:txBody>
      </p:sp>
      <p:sp>
        <p:nvSpPr>
          <p:cNvPr id="9" name="Shape 7"/>
          <p:cNvSpPr/>
          <p:nvPr/>
        </p:nvSpPr>
        <p:spPr>
          <a:xfrm>
            <a:off x="8033244" y="2879527"/>
            <a:ext cx="3496877" cy="1429643"/>
          </a:xfrm>
          <a:prstGeom prst="roundRect">
            <a:avLst>
              <a:gd name="adj" fmla="val 5553"/>
            </a:avLst>
          </a:prstGeom>
          <a:solidFill>
            <a:srgbClr val="D1E5FA"/>
          </a:solidFill>
          <a:ln w="19050">
            <a:solidFill>
              <a:srgbClr val="B7CBE0"/>
            </a:solidFill>
            <a:prstDash val="solid"/>
          </a:ln>
        </p:spPr>
      </p:sp>
      <p:sp>
        <p:nvSpPr>
          <p:cNvPr id="10" name="Text 8"/>
          <p:cNvSpPr/>
          <p:nvPr/>
        </p:nvSpPr>
        <p:spPr>
          <a:xfrm>
            <a:off x="8241300" y="3087588"/>
            <a:ext cx="3080764"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Restricted Use</a:t>
            </a:r>
            <a:endParaRPr lang="en-US" sz="1850" dirty="0"/>
          </a:p>
        </p:txBody>
      </p:sp>
      <p:sp>
        <p:nvSpPr>
          <p:cNvPr id="11" name="Text 9"/>
          <p:cNvSpPr/>
          <p:nvPr/>
        </p:nvSpPr>
        <p:spPr>
          <a:xfrm>
            <a:off x="8241300" y="3496270"/>
            <a:ext cx="308076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 list of things you may not do</a:t>
            </a:r>
            <a:endParaRPr lang="en-US" sz="1450" dirty="0"/>
          </a:p>
        </p:txBody>
      </p:sp>
      <p:sp>
        <p:nvSpPr>
          <p:cNvPr id="12" name="Text 10"/>
          <p:cNvSpPr/>
          <p:nvPr/>
        </p:nvSpPr>
        <p:spPr>
          <a:xfrm>
            <a:off x="661475" y="4521795"/>
            <a:ext cx="11478330"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Model licenses are usually the third kind</a:t>
            </a:r>
            <a:endParaRPr lang="en-US" sz="1450" dirty="0"/>
          </a:p>
        </p:txBody>
      </p:sp>
      <p:sp>
        <p:nvSpPr>
          <p:cNvPr id="13" name="Text 11"/>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Two corrections worth saying out loud</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GPL permits commercial use and charging money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Its conditions are about conveying, not about using</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Apache 2.0 adds a patent grant. MIT has none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Apache section four is a checklist. Read it</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33330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Which obligations are awake right now</a:t>
            </a:r>
            <a:endParaRPr lang="en-US" sz="3700" dirty="0"/>
          </a:p>
        </p:txBody>
      </p:sp>
      <p:sp>
        <p:nvSpPr>
          <p:cNvPr id="3" name="Shape 1"/>
          <p:cNvSpPr/>
          <p:nvPr/>
        </p:nvSpPr>
        <p:spPr>
          <a:xfrm>
            <a:off x="661475" y="2301974"/>
            <a:ext cx="10868745" cy="3099792"/>
          </a:xfrm>
          <a:prstGeom prst="roundRect">
            <a:avLst>
              <a:gd name="adj" fmla="val 2561"/>
            </a:avLst>
          </a:prstGeom>
          <a:solidFill>
            <a:srgbClr val="F2F2F2"/>
          </a:solidFill>
          <a:ln/>
        </p:spPr>
      </p:sp>
      <p:sp>
        <p:nvSpPr>
          <p:cNvPr id="4" name="Text 2"/>
          <p:cNvSpPr/>
          <p:nvPr/>
        </p:nvSpPr>
        <p:spPr>
          <a:xfrm>
            <a:off x="888283" y="2490986"/>
            <a:ext cx="10415129" cy="2721769"/>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Plan: running it on your own laptop</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Nothing is conveyed to anybody else.</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Plan: putting the repository on GitHub</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MIT                  ship the copyright notice and the permission notice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Apache-2.0           ship the license, the NOTICE contents, and mark changed files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GPL-3.0-or-later     ship the license and the corresponding source, under the GPL</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CC-BY-4.0            give attribution in the form section 3 sets out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You changed something, so every 'state your changes' clause applies.</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10891"/>
            <a:ext cx="6905849" cy="3913386"/>
          </a:xfrm>
          <a:prstGeom prst="rect">
            <a:avLst/>
          </a:prstGeom>
        </p:spPr>
      </p:pic>
      <p:sp>
        <p:nvSpPr>
          <p:cNvPr id="3" name="Text 0"/>
          <p:cNvSpPr/>
          <p:nvPr/>
        </p:nvSpPr>
        <p:spPr>
          <a:xfrm>
            <a:off x="8027489" y="752376"/>
            <a:ext cx="3509081" cy="2907109"/>
          </a:xfrm>
          <a:prstGeom prst="rect">
            <a:avLst/>
          </a:prstGeom>
          <a:noFill/>
          <a:ln/>
        </p:spPr>
        <p:txBody>
          <a:bodyPr wrap="square" lIns="0" tIns="0" rIns="0" bIns="0" rtlCol="0" anchor="t">
            <a:normAutofit/>
          </a:bodyPr>
          <a:lstStyle/>
          <a:p>
            <a:pPr algn="l" indent="0" marL="0">
              <a:lnSpc>
                <a:spcPct val="104000"/>
              </a:lnSpc>
              <a:buNone/>
            </a:pPr>
            <a:r>
              <a:rPr lang="en-US" sz="3650" b="1" dirty="0">
                <a:solidFill>
                  <a:srgbClr val="111111"/>
                </a:solidFill>
                <a:latin typeface="Orbitron Bold" pitchFamily="34" charset="0"/>
                <a:ea typeface="Orbitron Bold" pitchFamily="34" charset="-122"/>
                <a:cs typeface="Orbitron Bold" pitchFamily="34" charset="-120"/>
              </a:rPr>
              <a:t>The identifier is a convenience, not the license</a:t>
            </a:r>
            <a:endParaRPr lang="en-US" sz="3650" dirty="0"/>
          </a:p>
        </p:txBody>
      </p:sp>
      <p:sp>
        <p:nvSpPr>
          <p:cNvPr id="4" name="Text 1"/>
          <p:cNvSpPr/>
          <p:nvPr/>
        </p:nvSpPr>
        <p:spPr>
          <a:xfrm>
            <a:off x="8027489" y="3842643"/>
            <a:ext cx="3509081" cy="2259211"/>
          </a:xfrm>
          <a:prstGeom prst="rect">
            <a:avLst/>
          </a:prstGeom>
          <a:noFill/>
          <a:ln/>
        </p:spPr>
        <p:txBody>
          <a:bodyPr wrap="square" lIns="0" tIns="0" rIns="0" bIns="0" rtlCol="0" anchor="t">
            <a:normAutofit/>
          </a:bodyPr>
          <a:lstStyle/>
          <a:p>
            <a:pPr algn="l" marL="294640" indent="-294640">
              <a:lnSpc>
                <a:spcPct val="132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Four of ten components carry an SPDX tag</a:t>
            </a:r>
            <a:endParaRPr lang="en-US" sz="1450" dirty="0"/>
          </a:p>
          <a:p>
            <a:pPr algn="l" marL="294640" indent="-294640">
              <a:lnSpc>
                <a:spcPct val="132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Pocketgrid has a full MIT license and no tag</a:t>
            </a:r>
            <a:endParaRPr lang="en-US" sz="1450" dirty="0"/>
          </a:p>
          <a:p>
            <a:pPr algn="l" marL="294640" indent="-294640">
              <a:lnSpc>
                <a:spcPct val="132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Sortwell has a clear GPL header and no tag</a:t>
            </a:r>
            <a:endParaRPr lang="en-US" sz="1450" dirty="0"/>
          </a:p>
          <a:p>
            <a:pPr algn="l" marL="294640" indent="-294640">
              <a:lnSpc>
                <a:spcPct val="132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 identifier is a signal to go read</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conflict sitting in your fixture</a:t>
            </a:r>
            <a:endParaRPr lang="en-US" sz="3700" dirty="0"/>
          </a:p>
        </p:txBody>
      </p:sp>
      <p:sp>
        <p:nvSpPr>
          <p:cNvPr id="4" name="Text 1"/>
          <p:cNvSpPr/>
          <p:nvPr/>
        </p:nvSpPr>
        <p:spPr>
          <a:xfrm>
            <a:off x="661475"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project LICENSE says MIT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vendor/sortwell says GPL version 3 or later</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There is no copy of the GPL in the tree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Auditors surface conflicts. They do not settle them</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1358106"/>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wrong version, with three false cells</a:t>
            </a:r>
            <a:endParaRPr lang="en-US" sz="37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61475" y="2326779"/>
          <a:ext cx="9143771" cy="914400"/>
        </p:xfrm>
        <a:graphic>
          <a:graphicData uri="http://schemas.openxmlformats.org/drawingml/2006/table">
            <a:tbl>
              <a:tblPr/>
              <a:tblGrid>
                <a:gridCol w="2717186"/>
                <a:gridCol w="2717186"/>
                <a:gridCol w="2717186"/>
                <a:gridCol w="2717186"/>
              </a:tblGrid>
              <a:tr h="847505">
                <a:tc>
                  <a:txBody>
                    <a:bodyPr/>
                    <a:lstStyle/>
                    <a:p>
                      <a:pPr indent="0" marL="0">
                        <a:buNone/>
                      </a:pPr>
                      <a:r>
                        <a:rPr lang="en-US" sz="1450" b="1" dirty="0">
                          <a:solidFill>
                            <a:srgbClr val="FFFFFF"/>
                          </a:solidFill>
                          <a:latin typeface="Roboto Condensed" pitchFamily="34" charset="0"/>
                          <a:ea typeface="Roboto Condensed" pitchFamily="34" charset="-122"/>
                          <a:cs typeface="Roboto Condensed" pitchFamily="34" charset="-120"/>
                        </a:rPr>
                        <a:t>License</a:t>
                      </a:r>
                      <a:endParaRPr lang="en-US" sz="1450" dirty="0">
                        <a:latin typeface="Roboto Condensed" charset="0"/>
                        <a:ea typeface="Roboto Condensed" charset="0"/>
                        <a:cs typeface="Roboto Condensed" charset="0"/>
                      </a:endParaRPr>
                    </a:p>
                  </a:txBody>
                  <a:tcPr marL="189018" marR="189018" marT="6350" marB="6350" anchor="ctr">
                    <a:lnL w="12700" cap="flat" cmpd="sng" algn="ctr">
                      <a:solidFill>
                        <a:srgbClr val="B7CBE0"/>
                      </a:solidFill>
                      <a:prstDash val="solid"/>
                      <a:round/>
                      <a:headEnd type="none" w="med" len="med"/>
                      <a:tailEnd type="none" w="med" len="med"/>
                    </a:lnL>
                    <a:lnR w="12700" cap="flat" cmpd="sng" algn="ctr">
                      <a:solidFill>
                        <a:srgbClr val="B7CBE0"/>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solidFill>
                      <a:srgbClr val="233452"/>
                    </a:solidFill>
                  </a:tcPr>
                </a:tc>
                <a:tc>
                  <a:txBody>
                    <a:bodyPr/>
                    <a:lstStyle/>
                    <a:p>
                      <a:pPr indent="0" marL="0">
                        <a:buNone/>
                      </a:pPr>
                      <a:r>
                        <a:rPr lang="en-US" sz="1450" b="1" dirty="0">
                          <a:solidFill>
                            <a:srgbClr val="FFFFFF"/>
                          </a:solidFill>
                          <a:latin typeface="Roboto Condensed" pitchFamily="34" charset="0"/>
                          <a:ea typeface="Roboto Condensed" pitchFamily="34" charset="-122"/>
                          <a:cs typeface="Roboto Condensed" pitchFamily="34" charset="-120"/>
                        </a:rPr>
                        <a:t>Commercial use</a:t>
                      </a:r>
                      <a:endParaRPr lang="en-US" sz="1450" dirty="0">
                        <a:latin typeface="Roboto Condensed" charset="0"/>
                        <a:ea typeface="Roboto Condensed" charset="0"/>
                        <a:cs typeface="Roboto Condensed" charset="0"/>
                      </a:endParaRPr>
                    </a:p>
                  </a:txBody>
                  <a:tcPr marL="189018" marR="189018" marT="6350" marB="6350" anchor="ctr">
                    <a:lnL w="12700" cap="flat" cmpd="sng" algn="ctr">
                      <a:solidFill>
                        <a:srgbClr val="B7CBE0"/>
                      </a:solidFill>
                      <a:prstDash val="solid"/>
                      <a:round/>
                      <a:headEnd type="none" w="med" len="med"/>
                      <a:tailEnd type="none" w="med" len="med"/>
                    </a:lnL>
                    <a:lnR w="12700" cap="flat" cmpd="sng" algn="ctr">
                      <a:solidFill>
                        <a:srgbClr val="B7CBE0"/>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solidFill>
                      <a:srgbClr val="233452"/>
                    </a:solidFill>
                  </a:tcPr>
                </a:tc>
                <a:tc>
                  <a:txBody>
                    <a:bodyPr/>
                    <a:lstStyle/>
                    <a:p>
                      <a:pPr indent="0" marL="0">
                        <a:buNone/>
                      </a:pPr>
                      <a:r>
                        <a:rPr lang="en-US" sz="1450" b="1" dirty="0">
                          <a:solidFill>
                            <a:srgbClr val="FFFFFF"/>
                          </a:solidFill>
                          <a:latin typeface="Roboto Condensed" pitchFamily="34" charset="0"/>
                          <a:ea typeface="Roboto Condensed" pitchFamily="34" charset="-122"/>
                          <a:cs typeface="Roboto Condensed" pitchFamily="34" charset="-120"/>
                        </a:rPr>
                        <a:t>Must credit</a:t>
                      </a:r>
                      <a:endParaRPr lang="en-US" sz="1450" dirty="0">
                        <a:latin typeface="Roboto Condensed" charset="0"/>
                        <a:ea typeface="Roboto Condensed" charset="0"/>
                        <a:cs typeface="Roboto Condensed" charset="0"/>
                      </a:endParaRPr>
                    </a:p>
                  </a:txBody>
                  <a:tcPr marL="189018" marR="189018" marT="6350" marB="6350" anchor="ctr">
                    <a:lnL w="12700" cap="flat" cmpd="sng" algn="ctr">
                      <a:solidFill>
                        <a:srgbClr val="B7CBE0"/>
                      </a:solidFill>
                      <a:prstDash val="solid"/>
                      <a:round/>
                      <a:headEnd type="none" w="med" len="med"/>
                      <a:tailEnd type="none" w="med" len="med"/>
                    </a:lnL>
                    <a:lnR w="12700" cap="flat" cmpd="sng" algn="ctr">
                      <a:solidFill>
                        <a:srgbClr val="B7CBE0"/>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solidFill>
                      <a:srgbClr val="233452"/>
                    </a:solidFill>
                  </a:tcPr>
                </a:tc>
                <a:tc>
                  <a:txBody>
                    <a:bodyPr/>
                    <a:lstStyle/>
                    <a:p>
                      <a:pPr indent="0" marL="0">
                        <a:buNone/>
                      </a:pPr>
                      <a:r>
                        <a:rPr lang="en-US" sz="1450" b="1" dirty="0">
                          <a:solidFill>
                            <a:srgbClr val="FFFFFF"/>
                          </a:solidFill>
                          <a:latin typeface="Roboto Condensed" pitchFamily="34" charset="0"/>
                          <a:ea typeface="Roboto Condensed" pitchFamily="34" charset="-122"/>
                          <a:cs typeface="Roboto Condensed" pitchFamily="34" charset="-120"/>
                        </a:rPr>
                        <a:t>Must open source your code</a:t>
                      </a:r>
                      <a:endParaRPr lang="en-US" sz="1450" dirty="0">
                        <a:latin typeface="Roboto Condensed" charset="0"/>
                        <a:ea typeface="Roboto Condensed" charset="0"/>
                        <a:cs typeface="Roboto Condensed" charset="0"/>
                      </a:endParaRPr>
                    </a:p>
                  </a:txBody>
                  <a:tcPr marL="189018" marR="189018" marT="6350" marB="6350" anchor="ctr">
                    <a:lnL w="12700" cap="flat" cmpd="sng" algn="ctr">
                      <a:solidFill>
                        <a:srgbClr val="B7CBE0"/>
                      </a:solidFill>
                      <a:prstDash val="solid"/>
                      <a:round/>
                      <a:headEnd type="none" w="med" len="med"/>
                      <a:tailEnd type="none" w="med" len="med"/>
                    </a:lnL>
                    <a:lnR w="12700" cap="flat" cmpd="sng" algn="ctr">
                      <a:solidFill>
                        <a:srgbClr val="B7CBE0"/>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solidFill>
                      <a:srgbClr val="233452"/>
                    </a:solidFill>
                  </a:tcPr>
                </a:tc>
              </a:tr>
              <a:tr h="548269">
                <a:tc>
                  <a:txBody>
                    <a:bodyPr/>
                    <a:lstStyle/>
                    <a:p>
                      <a:pPr indent="0" marL="0">
                        <a:buNone/>
                      </a:pPr>
                      <a:r>
                        <a:rPr lang="en-US" sz="1450" dirty="0">
                          <a:solidFill>
                            <a:srgbClr val="1C1C1C"/>
                          </a:solidFill>
                          <a:latin typeface="Roboto Condensed" pitchFamily="34" charset="0"/>
                          <a:ea typeface="Roboto Condensed" pitchFamily="34" charset="-122"/>
                          <a:cs typeface="Roboto Condensed" pitchFamily="34" charset="-120"/>
                        </a:rPr>
                        <a:t>MIT</a:t>
                      </a:r>
                      <a:endParaRPr lang="en-US" sz="1450" dirty="0">
                        <a:latin typeface="Roboto Condensed" charset="0"/>
                        <a:ea typeface="Roboto Condensed" charset="0"/>
                        <a:cs typeface="Roboto Condensed" charset="0"/>
                      </a:endParaRPr>
                    </a:p>
                  </a:txBody>
                  <a:tcPr marL="189018" marR="189018" marT="6350" marB="6350" anchor="ctr">
                    <a:lnL w="12700" cap="flat" cmpd="sng" algn="ctr">
                      <a:solidFill>
                        <a:srgbClr val="B7CBE0"/>
                      </a:solidFill>
                      <a:prstDash val="solid"/>
                      <a:round/>
                      <a:headEnd type="none" w="med" len="med"/>
                      <a:tailEnd type="none" w="med" len="med"/>
                    </a:lnL>
                    <a:lnR w="12700" cap="flat" cmpd="sng" algn="ctr">
                      <a:solidFill>
                        <a:srgbClr val="B7CBE0"/>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c>
                  <a:txBody>
                    <a:bodyPr/>
                    <a:lstStyle/>
                    <a:p>
                      <a:pPr indent="0" marL="0">
                        <a:buNone/>
                      </a:pPr>
                      <a:r>
                        <a:rPr lang="en-US" sz="1450" dirty="0">
                          <a:solidFill>
                            <a:srgbClr val="1C1C1C"/>
                          </a:solidFill>
                          <a:latin typeface="Roboto Condensed" pitchFamily="34" charset="0"/>
                          <a:ea typeface="Roboto Condensed" pitchFamily="34" charset="-122"/>
                          <a:cs typeface="Roboto Condensed" pitchFamily="34" charset="-120"/>
                        </a:rPr>
                        <a:t>Yes</a:t>
                      </a:r>
                      <a:endParaRPr lang="en-US" sz="1450" dirty="0">
                        <a:latin typeface="Roboto Condensed" charset="0"/>
                        <a:ea typeface="Roboto Condensed" charset="0"/>
                        <a:cs typeface="Roboto Condensed" charset="0"/>
                      </a:endParaRPr>
                    </a:p>
                  </a:txBody>
                  <a:tcPr marL="189018" marR="189018" marT="6350" marB="6350" anchor="ctr">
                    <a:lnL w="12700" cap="flat" cmpd="sng" algn="ctr">
                      <a:solidFill>
                        <a:srgbClr val="B7CBE0"/>
                      </a:solidFill>
                      <a:prstDash val="solid"/>
                      <a:round/>
                      <a:headEnd type="none" w="med" len="med"/>
                      <a:tailEnd type="none" w="med" len="med"/>
                    </a:lnL>
                    <a:lnR w="12700" cap="flat" cmpd="sng" algn="ctr">
                      <a:solidFill>
                        <a:srgbClr val="B7CBE0"/>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c>
                  <a:txBody>
                    <a:bodyPr/>
                    <a:lstStyle/>
                    <a:p>
                      <a:pPr indent="0" marL="0">
                        <a:buNone/>
                      </a:pPr>
                      <a:r>
                        <a:rPr lang="en-US" sz="1450" dirty="0">
                          <a:solidFill>
                            <a:srgbClr val="1C1C1C"/>
                          </a:solidFill>
                          <a:latin typeface="Roboto Condensed" pitchFamily="34" charset="0"/>
                          <a:ea typeface="Roboto Condensed" pitchFamily="34" charset="-122"/>
                          <a:cs typeface="Roboto Condensed" pitchFamily="34" charset="-120"/>
                        </a:rPr>
                        <a:t>No</a:t>
                      </a:r>
                      <a:endParaRPr lang="en-US" sz="1450" dirty="0">
                        <a:latin typeface="Roboto Condensed" charset="0"/>
                        <a:ea typeface="Roboto Condensed" charset="0"/>
                        <a:cs typeface="Roboto Condensed" charset="0"/>
                      </a:endParaRPr>
                    </a:p>
                  </a:txBody>
                  <a:tcPr marL="189018" marR="189018" marT="6350" marB="6350" anchor="ctr">
                    <a:lnL w="12700" cap="flat" cmpd="sng" algn="ctr">
                      <a:solidFill>
                        <a:srgbClr val="B7CBE0"/>
                      </a:solidFill>
                      <a:prstDash val="solid"/>
                      <a:round/>
                      <a:headEnd type="none" w="med" len="med"/>
                      <a:tailEnd type="none" w="med" len="med"/>
                    </a:lnL>
                    <a:lnR w="12700" cap="flat" cmpd="sng" algn="ctr">
                      <a:solidFill>
                        <a:srgbClr val="B7CBE0"/>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c>
                  <a:txBody>
                    <a:bodyPr/>
                    <a:lstStyle/>
                    <a:p>
                      <a:pPr indent="0" marL="0">
                        <a:buNone/>
                      </a:pPr>
                      <a:r>
                        <a:rPr lang="en-US" sz="1450" b="1" dirty="0">
                          <a:solidFill>
                            <a:srgbClr val="B0001D"/>
                          </a:solidFill>
                          <a:latin typeface="Roboto Condensed" pitchFamily="34" charset="0"/>
                          <a:ea typeface="Roboto Condensed" pitchFamily="34" charset="-122"/>
                          <a:cs typeface="Roboto Condensed" pitchFamily="34" charset="-120"/>
                        </a:rPr>
                        <a:t>Yes</a:t>
                      </a:r>
                      <a:endParaRPr lang="en-US" sz="1450" dirty="0">
                        <a:latin typeface="Roboto Condensed" charset="0"/>
                        <a:ea typeface="Roboto Condensed" charset="0"/>
                        <a:cs typeface="Roboto Condensed" charset="0"/>
                      </a:endParaRPr>
                    </a:p>
                  </a:txBody>
                  <a:tcPr marL="189018" marR="189018" marT="6350" marB="6350" anchor="ctr">
                    <a:lnL w="12700" cap="flat" cmpd="sng" algn="ctr">
                      <a:solidFill>
                        <a:srgbClr val="B7CBE0"/>
                      </a:solidFill>
                      <a:prstDash val="solid"/>
                      <a:round/>
                      <a:headEnd type="none" w="med" len="med"/>
                      <a:tailEnd type="none" w="med" len="med"/>
                    </a:lnL>
                    <a:lnR w="12700" cap="flat" cmpd="sng" algn="ctr">
                      <a:solidFill>
                        <a:srgbClr val="B7CBE0"/>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r>
              <a:tr h="548269">
                <a:tc>
                  <a:txBody>
                    <a:bodyPr/>
                    <a:lstStyle/>
                    <a:p>
                      <a:pPr indent="0" marL="0">
                        <a:buNone/>
                      </a:pPr>
                      <a:r>
                        <a:rPr lang="en-US" sz="1450" dirty="0">
                          <a:solidFill>
                            <a:srgbClr val="1C1C1C"/>
                          </a:solidFill>
                          <a:latin typeface="Roboto Condensed" pitchFamily="34" charset="0"/>
                          <a:ea typeface="Roboto Condensed" pitchFamily="34" charset="-122"/>
                          <a:cs typeface="Roboto Condensed" pitchFamily="34" charset="-120"/>
                        </a:rPr>
                        <a:t>Apache-2.0</a:t>
                      </a:r>
                      <a:endParaRPr lang="en-US" sz="1450" dirty="0">
                        <a:latin typeface="Roboto Condensed" charset="0"/>
                        <a:ea typeface="Roboto Condensed" charset="0"/>
                        <a:cs typeface="Roboto Condensed" charset="0"/>
                      </a:endParaRPr>
                    </a:p>
                  </a:txBody>
                  <a:tcPr marL="189018" marR="189018" marT="6350" marB="6350" anchor="ctr">
                    <a:lnL w="12700" cap="flat" cmpd="sng" algn="ctr">
                      <a:solidFill>
                        <a:srgbClr val="B7CBE0"/>
                      </a:solidFill>
                      <a:prstDash val="solid"/>
                      <a:round/>
                      <a:headEnd type="none" w="med" len="med"/>
                      <a:tailEnd type="none" w="med" len="med"/>
                    </a:lnL>
                    <a:lnR w="12700" cap="flat" cmpd="sng" algn="ctr">
                      <a:solidFill>
                        <a:srgbClr val="B7CBE0"/>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c>
                  <a:txBody>
                    <a:bodyPr/>
                    <a:lstStyle/>
                    <a:p>
                      <a:pPr indent="0" marL="0">
                        <a:buNone/>
                      </a:pPr>
                      <a:r>
                        <a:rPr lang="en-US" sz="1450" dirty="0">
                          <a:solidFill>
                            <a:srgbClr val="1C1C1C"/>
                          </a:solidFill>
                          <a:latin typeface="Roboto Condensed" pitchFamily="34" charset="0"/>
                          <a:ea typeface="Roboto Condensed" pitchFamily="34" charset="-122"/>
                          <a:cs typeface="Roboto Condensed" pitchFamily="34" charset="-120"/>
                        </a:rPr>
                        <a:t>Yes</a:t>
                      </a:r>
                      <a:endParaRPr lang="en-US" sz="1450" dirty="0">
                        <a:latin typeface="Roboto Condensed" charset="0"/>
                        <a:ea typeface="Roboto Condensed" charset="0"/>
                        <a:cs typeface="Roboto Condensed" charset="0"/>
                      </a:endParaRPr>
                    </a:p>
                  </a:txBody>
                  <a:tcPr marL="189018" marR="189018" marT="6350" marB="6350" anchor="ctr">
                    <a:lnL w="12700" cap="flat" cmpd="sng" algn="ctr">
                      <a:solidFill>
                        <a:srgbClr val="B7CBE0"/>
                      </a:solidFill>
                      <a:prstDash val="solid"/>
                      <a:round/>
                      <a:headEnd type="none" w="med" len="med"/>
                      <a:tailEnd type="none" w="med" len="med"/>
                    </a:lnL>
                    <a:lnR w="12700" cap="flat" cmpd="sng" algn="ctr">
                      <a:solidFill>
                        <a:srgbClr val="B7CBE0"/>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c>
                  <a:txBody>
                    <a:bodyPr/>
                    <a:lstStyle/>
                    <a:p>
                      <a:pPr indent="0" marL="0">
                        <a:buNone/>
                      </a:pPr>
                      <a:r>
                        <a:rPr lang="en-US" sz="1450" b="1" dirty="0">
                          <a:solidFill>
                            <a:srgbClr val="B0001D"/>
                          </a:solidFill>
                          <a:latin typeface="Roboto Condensed" pitchFamily="34" charset="0"/>
                          <a:ea typeface="Roboto Condensed" pitchFamily="34" charset="-122"/>
                          <a:cs typeface="Roboto Condensed" pitchFamily="34" charset="-120"/>
                        </a:rPr>
                        <a:t>Yes</a:t>
                      </a:r>
                      <a:endParaRPr lang="en-US" sz="1450" dirty="0">
                        <a:latin typeface="Roboto Condensed" charset="0"/>
                        <a:ea typeface="Roboto Condensed" charset="0"/>
                        <a:cs typeface="Roboto Condensed" charset="0"/>
                      </a:endParaRPr>
                    </a:p>
                  </a:txBody>
                  <a:tcPr marL="189018" marR="189018" marT="6350" marB="6350" anchor="ctr">
                    <a:lnL w="12700" cap="flat" cmpd="sng" algn="ctr">
                      <a:solidFill>
                        <a:srgbClr val="B7CBE0"/>
                      </a:solidFill>
                      <a:prstDash val="solid"/>
                      <a:round/>
                      <a:headEnd type="none" w="med" len="med"/>
                      <a:tailEnd type="none" w="med" len="med"/>
                    </a:lnL>
                    <a:lnR w="12700" cap="flat" cmpd="sng" algn="ctr">
                      <a:solidFill>
                        <a:srgbClr val="B7CBE0"/>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c>
                  <a:txBody>
                    <a:bodyPr/>
                    <a:lstStyle/>
                    <a:p>
                      <a:pPr indent="0" marL="0">
                        <a:buNone/>
                      </a:pPr>
                      <a:r>
                        <a:rPr lang="en-US" sz="1450" dirty="0">
                          <a:solidFill>
                            <a:srgbClr val="1C1C1C"/>
                          </a:solidFill>
                          <a:latin typeface="Roboto Condensed" pitchFamily="34" charset="0"/>
                          <a:ea typeface="Roboto Condensed" pitchFamily="34" charset="-122"/>
                          <a:cs typeface="Roboto Condensed" pitchFamily="34" charset="-120"/>
                        </a:rPr>
                        <a:t>No</a:t>
                      </a:r>
                      <a:endParaRPr lang="en-US" sz="1450" dirty="0">
                        <a:latin typeface="Roboto Condensed" charset="0"/>
                        <a:ea typeface="Roboto Condensed" charset="0"/>
                        <a:cs typeface="Roboto Condensed" charset="0"/>
                      </a:endParaRPr>
                    </a:p>
                  </a:txBody>
                  <a:tcPr marL="189018" marR="189018" marT="6350" marB="6350" anchor="ctr">
                    <a:lnL w="12700" cap="flat" cmpd="sng" algn="ctr">
                      <a:solidFill>
                        <a:srgbClr val="B7CBE0"/>
                      </a:solidFill>
                      <a:prstDash val="solid"/>
                      <a:round/>
                      <a:headEnd type="none" w="med" len="med"/>
                      <a:tailEnd type="none" w="med" len="med"/>
                    </a:lnL>
                    <a:lnR w="12700" cap="flat" cmpd="sng" algn="ctr">
                      <a:solidFill>
                        <a:srgbClr val="B7CBE0"/>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r>
              <a:tr h="548269">
                <a:tc>
                  <a:txBody>
                    <a:bodyPr/>
                    <a:lstStyle/>
                    <a:p>
                      <a:pPr indent="0" marL="0">
                        <a:buNone/>
                      </a:pPr>
                      <a:r>
                        <a:rPr lang="en-US" sz="1450" dirty="0">
                          <a:solidFill>
                            <a:srgbClr val="1C1C1C"/>
                          </a:solidFill>
                          <a:latin typeface="Roboto Condensed" pitchFamily="34" charset="0"/>
                          <a:ea typeface="Roboto Condensed" pitchFamily="34" charset="-122"/>
                          <a:cs typeface="Roboto Condensed" pitchFamily="34" charset="-120"/>
                        </a:rPr>
                        <a:t>GPL-3.0</a:t>
                      </a:r>
                      <a:endParaRPr lang="en-US" sz="1450" dirty="0">
                        <a:latin typeface="Roboto Condensed" charset="0"/>
                        <a:ea typeface="Roboto Condensed" charset="0"/>
                        <a:cs typeface="Roboto Condensed" charset="0"/>
                      </a:endParaRPr>
                    </a:p>
                  </a:txBody>
                  <a:tcPr marL="189018" marR="189018" marT="6350" marB="6350" anchor="ctr">
                    <a:lnL w="12700" cap="flat" cmpd="sng" algn="ctr">
                      <a:solidFill>
                        <a:srgbClr val="B7CBE0"/>
                      </a:solidFill>
                      <a:prstDash val="solid"/>
                      <a:round/>
                      <a:headEnd type="none" w="med" len="med"/>
                      <a:tailEnd type="none" w="med" len="med"/>
                    </a:lnL>
                    <a:lnR w="12700" cap="flat" cmpd="sng" algn="ctr">
                      <a:solidFill>
                        <a:srgbClr val="B7CBE0"/>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c>
                  <a:txBody>
                    <a:bodyPr/>
                    <a:lstStyle/>
                    <a:p>
                      <a:pPr indent="0" marL="0">
                        <a:buNone/>
                      </a:pPr>
                      <a:r>
                        <a:rPr lang="en-US" sz="1450" b="1" dirty="0">
                          <a:solidFill>
                            <a:srgbClr val="B0001D"/>
                          </a:solidFill>
                          <a:latin typeface="Roboto Condensed" pitchFamily="34" charset="0"/>
                          <a:ea typeface="Roboto Condensed" pitchFamily="34" charset="-122"/>
                          <a:cs typeface="Roboto Condensed" pitchFamily="34" charset="-120"/>
                        </a:rPr>
                        <a:t>No</a:t>
                      </a:r>
                      <a:endParaRPr lang="en-US" sz="1450" dirty="0">
                        <a:latin typeface="Roboto Condensed" charset="0"/>
                        <a:ea typeface="Roboto Condensed" charset="0"/>
                        <a:cs typeface="Roboto Condensed" charset="0"/>
                      </a:endParaRPr>
                    </a:p>
                  </a:txBody>
                  <a:tcPr marL="189018" marR="189018" marT="6350" marB="6350" anchor="ctr">
                    <a:lnL w="12700" cap="flat" cmpd="sng" algn="ctr">
                      <a:solidFill>
                        <a:srgbClr val="B7CBE0"/>
                      </a:solidFill>
                      <a:prstDash val="solid"/>
                      <a:round/>
                      <a:headEnd type="none" w="med" len="med"/>
                      <a:tailEnd type="none" w="med" len="med"/>
                    </a:lnL>
                    <a:lnR w="12700" cap="flat" cmpd="sng" algn="ctr">
                      <a:solidFill>
                        <a:srgbClr val="B7CBE0"/>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c>
                  <a:txBody>
                    <a:bodyPr/>
                    <a:lstStyle/>
                    <a:p>
                      <a:pPr indent="0" marL="0">
                        <a:buNone/>
                      </a:pPr>
                      <a:r>
                        <a:rPr lang="en-US" sz="1450" dirty="0">
                          <a:solidFill>
                            <a:srgbClr val="1C1C1C"/>
                          </a:solidFill>
                          <a:latin typeface="Roboto Condensed" pitchFamily="34" charset="0"/>
                          <a:ea typeface="Roboto Condensed" pitchFamily="34" charset="-122"/>
                          <a:cs typeface="Roboto Condensed" pitchFamily="34" charset="-120"/>
                        </a:rPr>
                        <a:t>Yes</a:t>
                      </a:r>
                      <a:endParaRPr lang="en-US" sz="1450" dirty="0">
                        <a:latin typeface="Roboto Condensed" charset="0"/>
                        <a:ea typeface="Roboto Condensed" charset="0"/>
                        <a:cs typeface="Roboto Condensed" charset="0"/>
                      </a:endParaRPr>
                    </a:p>
                  </a:txBody>
                  <a:tcPr marL="189018" marR="189018" marT="6350" marB="6350" anchor="ctr">
                    <a:lnL w="12700" cap="flat" cmpd="sng" algn="ctr">
                      <a:solidFill>
                        <a:srgbClr val="B7CBE0"/>
                      </a:solidFill>
                      <a:prstDash val="solid"/>
                      <a:round/>
                      <a:headEnd type="none" w="med" len="med"/>
                      <a:tailEnd type="none" w="med" len="med"/>
                    </a:lnL>
                    <a:lnR w="12700" cap="flat" cmpd="sng" algn="ctr">
                      <a:solidFill>
                        <a:srgbClr val="B7CBE0"/>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c>
                  <a:txBody>
                    <a:bodyPr/>
                    <a:lstStyle/>
                    <a:p>
                      <a:pPr indent="0" marL="0">
                        <a:buNone/>
                      </a:pPr>
                      <a:r>
                        <a:rPr lang="en-US" sz="1450" dirty="0">
                          <a:solidFill>
                            <a:srgbClr val="1C1C1C"/>
                          </a:solidFill>
                          <a:latin typeface="Roboto Condensed" pitchFamily="34" charset="0"/>
                          <a:ea typeface="Roboto Condensed" pitchFamily="34" charset="-122"/>
                          <a:cs typeface="Roboto Condensed" pitchFamily="34" charset="-120"/>
                        </a:rPr>
                        <a:t>Yes</a:t>
                      </a:r>
                      <a:endParaRPr lang="en-US" sz="1450" dirty="0">
                        <a:latin typeface="Roboto Condensed" charset="0"/>
                        <a:ea typeface="Roboto Condensed" charset="0"/>
                        <a:cs typeface="Roboto Condensed" charset="0"/>
                      </a:endParaRPr>
                    </a:p>
                  </a:txBody>
                  <a:tcPr marL="189018" marR="189018" marT="6350" marB="6350" anchor="ctr">
                    <a:lnL w="12700" cap="flat" cmpd="sng" algn="ctr">
                      <a:solidFill>
                        <a:srgbClr val="B7CBE0"/>
                      </a:solidFill>
                      <a:prstDash val="solid"/>
                      <a:round/>
                      <a:headEnd type="none" w="med" len="med"/>
                      <a:tailEnd type="none" w="med" len="med"/>
                    </a:lnL>
                    <a:lnR w="12700" cap="flat" cmpd="sng" algn="ctr">
                      <a:solidFill>
                        <a:srgbClr val="B7CBE0"/>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r>
              <a:tr h="545094">
                <a:tc>
                  <a:txBody>
                    <a:bodyPr/>
                    <a:lstStyle/>
                    <a:p>
                      <a:pPr indent="0" marL="0">
                        <a:buNone/>
                      </a:pPr>
                      <a:r>
                        <a:rPr lang="en-US" sz="1450" dirty="0">
                          <a:solidFill>
                            <a:srgbClr val="1C1C1C"/>
                          </a:solidFill>
                          <a:latin typeface="Roboto Condensed" pitchFamily="34" charset="0"/>
                          <a:ea typeface="Roboto Condensed" pitchFamily="34" charset="-122"/>
                          <a:cs typeface="Roboto Condensed" pitchFamily="34" charset="-120"/>
                        </a:rPr>
                        <a:t>CC-BY-4.0</a:t>
                      </a:r>
                      <a:endParaRPr lang="en-US" sz="1450" dirty="0">
                        <a:latin typeface="Roboto Condensed" charset="0"/>
                        <a:ea typeface="Roboto Condensed" charset="0"/>
                        <a:cs typeface="Roboto Condensed" charset="0"/>
                      </a:endParaRPr>
                    </a:p>
                  </a:txBody>
                  <a:tcPr marL="189018" marR="189018" marT="6350" marB="6350" anchor="ctr">
                    <a:lnL w="12700" cap="flat" cmpd="sng" algn="ctr">
                      <a:solidFill>
                        <a:srgbClr val="B7CBE0"/>
                      </a:solidFill>
                      <a:prstDash val="solid"/>
                      <a:round/>
                      <a:headEnd type="none" w="med" len="med"/>
                      <a:tailEnd type="none" w="med" len="med"/>
                    </a:lnL>
                    <a:lnR w="12700" cap="flat" cmpd="sng" algn="ctr">
                      <a:solidFill>
                        <a:srgbClr val="B7CBE0"/>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c>
                  <a:txBody>
                    <a:bodyPr/>
                    <a:lstStyle/>
                    <a:p>
                      <a:pPr indent="0" marL="0">
                        <a:buNone/>
                      </a:pPr>
                      <a:r>
                        <a:rPr lang="en-US" sz="1450" dirty="0">
                          <a:solidFill>
                            <a:srgbClr val="1C1C1C"/>
                          </a:solidFill>
                          <a:latin typeface="Roboto Condensed" pitchFamily="34" charset="0"/>
                          <a:ea typeface="Roboto Condensed" pitchFamily="34" charset="-122"/>
                          <a:cs typeface="Roboto Condensed" pitchFamily="34" charset="-120"/>
                        </a:rPr>
                        <a:t>Yes</a:t>
                      </a:r>
                      <a:endParaRPr lang="en-US" sz="1450" dirty="0">
                        <a:latin typeface="Roboto Condensed" charset="0"/>
                        <a:ea typeface="Roboto Condensed" charset="0"/>
                        <a:cs typeface="Roboto Condensed" charset="0"/>
                      </a:endParaRPr>
                    </a:p>
                  </a:txBody>
                  <a:tcPr marL="189018" marR="189018" marT="6350" marB="6350" anchor="ctr">
                    <a:lnL w="12700" cap="flat" cmpd="sng" algn="ctr">
                      <a:solidFill>
                        <a:srgbClr val="B7CBE0"/>
                      </a:solidFill>
                      <a:prstDash val="solid"/>
                      <a:round/>
                      <a:headEnd type="none" w="med" len="med"/>
                      <a:tailEnd type="none" w="med" len="med"/>
                    </a:lnL>
                    <a:lnR w="12700" cap="flat" cmpd="sng" algn="ctr">
                      <a:solidFill>
                        <a:srgbClr val="B7CBE0"/>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c>
                  <a:txBody>
                    <a:bodyPr/>
                    <a:lstStyle/>
                    <a:p>
                      <a:pPr indent="0" marL="0">
                        <a:buNone/>
                      </a:pPr>
                      <a:r>
                        <a:rPr lang="en-US" sz="1450" dirty="0">
                          <a:solidFill>
                            <a:srgbClr val="1C1C1C"/>
                          </a:solidFill>
                          <a:latin typeface="Roboto Condensed" pitchFamily="34" charset="0"/>
                          <a:ea typeface="Roboto Condensed" pitchFamily="34" charset="-122"/>
                          <a:cs typeface="Roboto Condensed" pitchFamily="34" charset="-120"/>
                        </a:rPr>
                        <a:t>Yes</a:t>
                      </a:r>
                      <a:endParaRPr lang="en-US" sz="1450" dirty="0">
                        <a:latin typeface="Roboto Condensed" charset="0"/>
                        <a:ea typeface="Roboto Condensed" charset="0"/>
                        <a:cs typeface="Roboto Condensed" charset="0"/>
                      </a:endParaRPr>
                    </a:p>
                  </a:txBody>
                  <a:tcPr marL="189018" marR="189018" marT="6350" marB="6350" anchor="ctr">
                    <a:lnL w="12700" cap="flat" cmpd="sng" algn="ctr">
                      <a:solidFill>
                        <a:srgbClr val="B7CBE0"/>
                      </a:solidFill>
                      <a:prstDash val="solid"/>
                      <a:round/>
                      <a:headEnd type="none" w="med" len="med"/>
                      <a:tailEnd type="none" w="med" len="med"/>
                    </a:lnL>
                    <a:lnR w="12700" cap="flat" cmpd="sng" algn="ctr">
                      <a:solidFill>
                        <a:srgbClr val="B7CBE0"/>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c>
                  <a:txBody>
                    <a:bodyPr/>
                    <a:lstStyle/>
                    <a:p>
                      <a:pPr indent="0" marL="0">
                        <a:buNone/>
                      </a:pPr>
                      <a:r>
                        <a:rPr lang="en-US" sz="1450" dirty="0">
                          <a:solidFill>
                            <a:srgbClr val="1C1C1C"/>
                          </a:solidFill>
                          <a:latin typeface="Roboto Condensed" pitchFamily="34" charset="0"/>
                          <a:ea typeface="Roboto Condensed" pitchFamily="34" charset="-122"/>
                          <a:cs typeface="Roboto Condensed" pitchFamily="34" charset="-120"/>
                        </a:rPr>
                        <a:t>No</a:t>
                      </a:r>
                      <a:endParaRPr lang="en-US" sz="1450" dirty="0">
                        <a:latin typeface="Roboto Condensed" charset="0"/>
                        <a:ea typeface="Roboto Condensed" charset="0"/>
                        <a:cs typeface="Roboto Condensed" charset="0"/>
                      </a:endParaRPr>
                    </a:p>
                  </a:txBody>
                  <a:tcPr marL="189018" marR="189018" marT="6350" marB="6350" anchor="ctr">
                    <a:lnL w="12700" cap="flat" cmpd="sng" algn="ctr">
                      <a:solidFill>
                        <a:srgbClr val="B7CBE0"/>
                      </a:solidFill>
                      <a:prstDash val="solid"/>
                      <a:round/>
                      <a:headEnd type="none" w="med" len="med"/>
                      <a:tailEnd type="none" w="med" len="med"/>
                    </a:lnL>
                    <a:lnR w="12700" cap="flat" cmpd="sng" algn="ctr">
                      <a:solidFill>
                        <a:srgbClr val="B7CBE0"/>
                      </a:solidFill>
                      <a:prstDash val="solid"/>
                      <a:round/>
                      <a:headEnd type="none" w="med" len="med"/>
                      <a:tailEnd type="none" w="med" len="med"/>
                    </a:lnR>
                    <a:lnT w="12700" cap="flat" cmpd="sng" algn="ctr">
                      <a:solidFill>
                        <a:srgbClr val="B7CBE0"/>
                      </a:solidFill>
                      <a:prstDash val="solid"/>
                      <a:round/>
                      <a:headEnd type="none" w="med" len="med"/>
                      <a:tailEnd type="none" w="med" len="med"/>
                    </a:lnT>
                    <a:lnB w="12700" cap="flat" cmpd="sng" algn="ctr">
                      <a:solidFill>
                        <a:srgbClr val="B7CBE0"/>
                      </a:solidFill>
                      <a:prstDash val="solid"/>
                      <a:round/>
                      <a:headEnd type="none" w="med" len="med"/>
                      <a:tailEnd type="none" w="med" len="med"/>
                    </a:lnB>
                  </a:tcPr>
                </a:tc>
              </a:tr>
            </a:tbl>
          </a:graphicData>
        </a:graphic>
      </p:graphicFrame>
      <p:sp>
        <p:nvSpPr>
          <p:cNvPr id="4" name="Text 1"/>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61475" y="203874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3" name="Shape 1"/>
          <p:cNvSpPr/>
          <p:nvPr/>
        </p:nvSpPr>
        <p:spPr>
          <a:xfrm>
            <a:off x="661475" y="3007420"/>
            <a:ext cx="425241" cy="425252"/>
          </a:xfrm>
          <a:prstGeom prst="roundRect">
            <a:avLst>
              <a:gd name="adj" fmla="val 18669"/>
            </a:avLst>
          </a:prstGeom>
          <a:solidFill>
            <a:srgbClr val="D1E5FA"/>
          </a:solidFill>
          <a:ln w="19050">
            <a:solidFill>
              <a:srgbClr val="B7CBE0"/>
            </a:solidFill>
            <a:prstDash val="solid"/>
          </a:ln>
        </p:spPr>
      </p:sp>
      <p:sp>
        <p:nvSpPr>
          <p:cNvPr id="4" name="Text 2"/>
          <p:cNvSpPr/>
          <p:nvPr/>
        </p:nvSpPr>
        <p:spPr>
          <a:xfrm>
            <a:off x="732365" y="3042841"/>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1</a:t>
            </a:r>
            <a:endParaRPr lang="en-US" sz="2200" dirty="0"/>
          </a:p>
        </p:txBody>
      </p:sp>
      <p:sp>
        <p:nvSpPr>
          <p:cNvPr id="5" name="Text 3"/>
          <p:cNvSpPr/>
          <p:nvPr/>
        </p:nvSpPr>
        <p:spPr>
          <a:xfrm>
            <a:off x="1275723" y="3072309"/>
            <a:ext cx="4701958"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Open every license in the Study Buddy tree</a:t>
            </a:r>
            <a:endParaRPr lang="en-US" sz="1850" dirty="0"/>
          </a:p>
        </p:txBody>
      </p:sp>
      <p:sp>
        <p:nvSpPr>
          <p:cNvPr id="6" name="Shape 4"/>
          <p:cNvSpPr/>
          <p:nvPr/>
        </p:nvSpPr>
        <p:spPr>
          <a:xfrm>
            <a:off x="6213915" y="3007420"/>
            <a:ext cx="425241" cy="425252"/>
          </a:xfrm>
          <a:prstGeom prst="roundRect">
            <a:avLst>
              <a:gd name="adj" fmla="val 18669"/>
            </a:avLst>
          </a:prstGeom>
          <a:solidFill>
            <a:srgbClr val="D1E5FA"/>
          </a:solidFill>
          <a:ln w="19050">
            <a:solidFill>
              <a:srgbClr val="B7CBE0"/>
            </a:solidFill>
            <a:prstDash val="solid"/>
          </a:ln>
        </p:spPr>
      </p:sp>
      <p:sp>
        <p:nvSpPr>
          <p:cNvPr id="7" name="Text 5"/>
          <p:cNvSpPr/>
          <p:nvPr/>
        </p:nvSpPr>
        <p:spPr>
          <a:xfrm>
            <a:off x="6284805" y="3042841"/>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2</a:t>
            </a:r>
            <a:endParaRPr lang="en-US" sz="2200" dirty="0"/>
          </a:p>
        </p:txBody>
      </p:sp>
      <p:sp>
        <p:nvSpPr>
          <p:cNvPr id="8" name="Text 6"/>
          <p:cNvSpPr/>
          <p:nvPr/>
        </p:nvSpPr>
        <p:spPr>
          <a:xfrm>
            <a:off x="6828163" y="3072309"/>
            <a:ext cx="470205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Write permits, requires, forbids, triggers for each</a:t>
            </a:r>
            <a:endParaRPr lang="en-US" sz="1850" dirty="0"/>
          </a:p>
        </p:txBody>
      </p:sp>
      <p:sp>
        <p:nvSpPr>
          <p:cNvPr id="9" name="Shape 7"/>
          <p:cNvSpPr/>
          <p:nvPr/>
        </p:nvSpPr>
        <p:spPr>
          <a:xfrm>
            <a:off x="661475" y="4040882"/>
            <a:ext cx="425241" cy="425252"/>
          </a:xfrm>
          <a:prstGeom prst="roundRect">
            <a:avLst>
              <a:gd name="adj" fmla="val 18669"/>
            </a:avLst>
          </a:prstGeom>
          <a:solidFill>
            <a:srgbClr val="D1E5FA"/>
          </a:solidFill>
          <a:ln w="19050">
            <a:solidFill>
              <a:srgbClr val="B7CBE0"/>
            </a:solidFill>
            <a:prstDash val="solid"/>
          </a:ln>
        </p:spPr>
      </p:sp>
      <p:sp>
        <p:nvSpPr>
          <p:cNvPr id="10" name="Text 8"/>
          <p:cNvSpPr/>
          <p:nvPr/>
        </p:nvSpPr>
        <p:spPr>
          <a:xfrm>
            <a:off x="732365" y="4076303"/>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3</a:t>
            </a:r>
            <a:endParaRPr lang="en-US" sz="2200" dirty="0"/>
          </a:p>
        </p:txBody>
      </p:sp>
      <p:sp>
        <p:nvSpPr>
          <p:cNvPr id="11" name="Text 9"/>
          <p:cNvSpPr/>
          <p:nvPr/>
        </p:nvSpPr>
        <p:spPr>
          <a:xfrm>
            <a:off x="1275723" y="4105771"/>
            <a:ext cx="4701958"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Find the one component with no license file</a:t>
            </a:r>
            <a:endParaRPr lang="en-US" sz="1850" dirty="0"/>
          </a:p>
        </p:txBody>
      </p:sp>
      <p:sp>
        <p:nvSpPr>
          <p:cNvPr id="12" name="Shape 10"/>
          <p:cNvSpPr/>
          <p:nvPr/>
        </p:nvSpPr>
        <p:spPr>
          <a:xfrm>
            <a:off x="6213915" y="4040882"/>
            <a:ext cx="425241" cy="425252"/>
          </a:xfrm>
          <a:prstGeom prst="roundRect">
            <a:avLst>
              <a:gd name="adj" fmla="val 18669"/>
            </a:avLst>
          </a:prstGeom>
          <a:solidFill>
            <a:srgbClr val="D1E5FA"/>
          </a:solidFill>
          <a:ln w="19050">
            <a:solidFill>
              <a:srgbClr val="B7CBE0"/>
            </a:solidFill>
            <a:prstDash val="solid"/>
          </a:ln>
        </p:spPr>
      </p:sp>
      <p:sp>
        <p:nvSpPr>
          <p:cNvPr id="13" name="Text 11"/>
          <p:cNvSpPr/>
          <p:nvPr/>
        </p:nvSpPr>
        <p:spPr>
          <a:xfrm>
            <a:off x="6284805" y="4076303"/>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4</a:t>
            </a:r>
            <a:endParaRPr lang="en-US" sz="2200" dirty="0"/>
          </a:p>
        </p:txBody>
      </p:sp>
      <p:sp>
        <p:nvSpPr>
          <p:cNvPr id="14" name="Text 12"/>
          <p:cNvSpPr/>
          <p:nvPr/>
        </p:nvSpPr>
        <p:spPr>
          <a:xfrm>
            <a:off x="6828163" y="4105771"/>
            <a:ext cx="470205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Escalate the conflict. Do not settle it</a:t>
            </a:r>
            <a:endParaRPr lang="en-US" sz="1850" dirty="0"/>
          </a:p>
        </p:txBody>
      </p:sp>
      <p:sp>
        <p:nvSpPr>
          <p:cNvPr id="15"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2026-09-16T03:32:17Z</dcterms:created>
  <dcterms:modified xsi:type="dcterms:W3CDTF">2026-09-16T03:32:17Z</dcterms:modified>
</cp:coreProperties>
</file>