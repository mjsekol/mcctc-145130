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result from your fixture. Thirty eight of thirty nine loans point at a member who does not exist. Every one of those numbers is true, the query is right, and the member file is fine. Work out what happened and you have understood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hyphen. That is the whole thing. A join compares characters, and two values that mean the same person and are written differently are two different values. SQL will tell you so with a completely straight face, and the number it gives you will be correct and useless.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There really is one loan pointing at a member who is in no source, and that is a row somebody has to go and ask about. The other thirty seven were a question nobody meant to ask. This pair of queries is the reason staging is worth a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column is TEXT and nothing is converted. Int of eleven and int of space eleven space are both eleven, and one of them was telling you a volunteer typed a space. The moment you convert you have thrown the evidence away. And every row carries its line number, so a problem can be handed to a person with a place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you use unless you have a reason not to. Fast because the statement is prepared once. Safe because nothing in a value can ever be read as SQL, since the value never touches the statement. That is not a bonus feature, it is the whole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text file full of statements, run all at once. People do this when the database is on another machine, or when the load has to be checked into a repository and reviewed like code. A dot sql file is portable in a way a Python program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doubled quote character is the only thing between you and a broken load. Forget it and the first name with an apostrophe ends the SQL string early. Nobody in this fixture has one, which is exactly why this is dangerous: the bug ships, works for months, and fails in front of somebody waiting for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format is not an alternative to the other two, it is the first half of both. And notice what staging does with the tags array: it joins it into a string, which is the opposite of what Tuesday of Week 10 told you. That is on purpose. Splitting it is a schema decision and decisions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invisible bytes a spreadsheet writes at the front of the file. Your first column is not called loan id, and the error points at a line that reads perfectly. The fix is encoding utf dash eight dash sig, and strip does not remove it, because as far as Python is concerned it is not whitespace.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M zero four dash zero three. Two of the three importers are yours to write. Then you write nine profiling questions, and questions eight and nine are the pair you watched a moment ago. What you find today is the Measure step of your project and it is due at the end of build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5.png"/><Relationship Id="rId8" Type="http://schemas.openxmlformats.org/officeDocument/2006/relationships/image" Target="../media/image-3-6.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4.png"/><Relationship Id="rId7" Type="http://schemas.openxmlformats.org/officeDocument/2006/relationships/image" Target="../media/image-8-5.svg"/><Relationship Id="rId8" Type="http://schemas.openxmlformats.org/officeDocument/2006/relationships/image" Target="../media/image-8-4.png"/><Relationship Id="rId9" Type="http://schemas.openxmlformats.org/officeDocument/2006/relationships/image" Target="../media/image-8-5.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image" Target="../media/image-3-5.png"/><Relationship Id="rId5" Type="http://schemas.openxmlformats.org/officeDocument/2006/relationships/image" Target="../media/image-3-6.svg"/><Relationship Id="rId6" Type="http://schemas.openxmlformats.org/officeDocument/2006/relationships/image" Target="../media/image-3-5.png"/><Relationship Id="rId7" Type="http://schemas.openxmlformats.org/officeDocument/2006/relationships/image" Target="../media/image-3-6.svg"/><Relationship Id="rId8" Type="http://schemas.openxmlformats.org/officeDocument/2006/relationships/image" Target="../media/image-3-5.png"/><Relationship Id="rId9" Type="http://schemas.openxmlformats.org/officeDocument/2006/relationships/image" Target="../media/image-3-6.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Ways to Import, and Why You Stage First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22338"/>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Thirty eight of thirty nine loans have no member</a:t>
            </a:r>
            <a:endParaRPr lang="en-US" sz="3700" dirty="0"/>
          </a:p>
        </p:txBody>
      </p:sp>
      <p:sp>
        <p:nvSpPr>
          <p:cNvPr id="4" name="Shape 1"/>
          <p:cNvSpPr/>
          <p:nvPr/>
        </p:nvSpPr>
        <p:spPr>
          <a:xfrm>
            <a:off x="5233360" y="2977753"/>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304264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query is correct</a:t>
            </a:r>
            <a:endParaRPr lang="en-US" sz="1850" dirty="0"/>
          </a:p>
        </p:txBody>
      </p:sp>
      <p:sp>
        <p:nvSpPr>
          <p:cNvPr id="6" name="Shape 3"/>
          <p:cNvSpPr/>
          <p:nvPr/>
        </p:nvSpPr>
        <p:spPr>
          <a:xfrm>
            <a:off x="5233360" y="3781028"/>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84591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count is reproducible</a:t>
            </a:r>
            <a:endParaRPr lang="en-US" sz="1850" dirty="0"/>
          </a:p>
        </p:txBody>
      </p:sp>
      <p:sp>
        <p:nvSpPr>
          <p:cNvPr id="8" name="Shape 5"/>
          <p:cNvSpPr/>
          <p:nvPr/>
        </p:nvSpPr>
        <p:spPr>
          <a:xfrm>
            <a:off x="5233360" y="458430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64919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member file has all fourteen of them</a:t>
            </a:r>
            <a:endParaRPr lang="en-US" sz="1850" dirty="0"/>
          </a:p>
        </p:txBody>
      </p:sp>
      <p:sp>
        <p:nvSpPr>
          <p:cNvPr id="10" name="Shape 7"/>
          <p:cNvSpPr/>
          <p:nvPr/>
        </p:nvSpPr>
        <p:spPr>
          <a:xfrm>
            <a:off x="5233360" y="538757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45246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is broken</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65179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two files write the same id differently</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329186"/>
            <a:ext cx="2507394" cy="1215529"/>
          </a:xfrm>
          <a:prstGeom prst="rect">
            <a:avLst/>
          </a:prstGeom>
        </p:spPr>
      </p:pic>
      <p:sp>
        <p:nvSpPr>
          <p:cNvPr id="4" name="Text 1"/>
          <p:cNvSpPr/>
          <p:nvPr/>
        </p:nvSpPr>
        <p:spPr>
          <a:xfrm>
            <a:off x="977479" y="3543598"/>
            <a:ext cx="197698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Loans file</a:t>
            </a:r>
            <a:endParaRPr lang="en-US" sz="1850" dirty="0"/>
          </a:p>
        </p:txBody>
      </p:sp>
      <p:sp>
        <p:nvSpPr>
          <p:cNvPr id="5" name="Text 2"/>
          <p:cNvSpPr/>
          <p:nvPr/>
        </p:nvSpPr>
        <p:spPr>
          <a:xfrm>
            <a:off x="977479" y="4027884"/>
            <a:ext cx="1976983"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RC-0142</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7875" y="3329186"/>
            <a:ext cx="2507394" cy="1215529"/>
          </a:xfrm>
          <a:prstGeom prst="rect">
            <a:avLst/>
          </a:prstGeom>
        </p:spPr>
      </p:pic>
      <p:sp>
        <p:nvSpPr>
          <p:cNvPr id="7" name="Text 3"/>
          <p:cNvSpPr/>
          <p:nvPr/>
        </p:nvSpPr>
        <p:spPr>
          <a:xfrm>
            <a:off x="3673879" y="3543598"/>
            <a:ext cx="197698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Member file</a:t>
            </a:r>
            <a:endParaRPr lang="en-US" sz="1850" dirty="0"/>
          </a:p>
        </p:txBody>
      </p:sp>
      <p:sp>
        <p:nvSpPr>
          <p:cNvPr id="8" name="Text 4"/>
          <p:cNvSpPr/>
          <p:nvPr/>
        </p:nvSpPr>
        <p:spPr>
          <a:xfrm>
            <a:off x="3673879" y="4027884"/>
            <a:ext cx="1976983"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RC0142</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03616" y="3335040"/>
            <a:ext cx="283461" cy="283468"/>
          </a:xfrm>
          <a:prstGeom prst="rect">
            <a:avLst/>
          </a:prstGeom>
        </p:spPr>
      </p:pic>
      <p:sp>
        <p:nvSpPr>
          <p:cNvPr id="10" name="Text 5"/>
          <p:cNvSpPr/>
          <p:nvPr/>
        </p:nvSpPr>
        <p:spPr>
          <a:xfrm>
            <a:off x="6947024" y="3329186"/>
            <a:ext cx="458954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join compares values, not meanings</a:t>
            </a:r>
            <a:endParaRPr lang="en-US" sz="1850" dirty="0"/>
          </a:p>
        </p:txBody>
      </p:sp>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03616" y="4303613"/>
            <a:ext cx="283461" cy="283468"/>
          </a:xfrm>
          <a:prstGeom prst="rect">
            <a:avLst/>
          </a:prstGeom>
        </p:spPr>
      </p:pic>
      <p:sp>
        <p:nvSpPr>
          <p:cNvPr id="12" name="Text 6"/>
          <p:cNvSpPr/>
          <p:nvPr/>
        </p:nvSpPr>
        <p:spPr>
          <a:xfrm>
            <a:off x="6947024" y="4297759"/>
            <a:ext cx="458954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Two spellings are two values</a:t>
            </a:r>
            <a:endParaRPr lang="en-US" sz="1850" dirty="0"/>
          </a:p>
        </p:txBody>
      </p:sp>
      <p:sp>
        <p:nvSpPr>
          <p:cNvPr id="13"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14372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Normalize both sides and ask again</a:t>
            </a:r>
            <a:endParaRPr lang="en-US" sz="3700" dirty="0"/>
          </a:p>
        </p:txBody>
      </p:sp>
      <p:sp>
        <p:nvSpPr>
          <p:cNvPr id="4" name="Shape 1"/>
          <p:cNvSpPr/>
          <p:nvPr/>
        </p:nvSpPr>
        <p:spPr>
          <a:xfrm>
            <a:off x="5233360" y="3608487"/>
            <a:ext cx="6296860" cy="982861"/>
          </a:xfrm>
          <a:prstGeom prst="roundRect">
            <a:avLst>
              <a:gd name="adj" fmla="val 8077"/>
            </a:avLst>
          </a:prstGeom>
          <a:solidFill>
            <a:srgbClr val="F2F2F2"/>
          </a:solidFill>
          <a:ln/>
        </p:spPr>
      </p:sp>
      <p:sp>
        <p:nvSpPr>
          <p:cNvPr id="5" name="Text 2"/>
          <p:cNvSpPr/>
          <p:nvPr/>
        </p:nvSpPr>
        <p:spPr>
          <a:xfrm>
            <a:off x="5460169" y="3797498"/>
            <a:ext cx="584324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Orphan members, raw text join        38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Orphan members, both sides normalized 1   RC-0199</a:t>
            </a:r>
            <a:endParaRPr lang="en-US" sz="1450" dirty="0"/>
          </a:p>
        </p:txBody>
      </p:sp>
      <p:sp>
        <p:nvSpPr>
          <p:cNvPr id="6" name="Text 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staging table is a photograph</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CREATE TABLE stg_loans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source_row  INTEGER NOT NULL,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loan_id TEXT, member_id TEXT, item_id 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checked_out TEXT, due TEXT, returned TEXT, notes 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9551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Route one, the bulk command</a:t>
            </a:r>
            <a:endParaRPr lang="en-US" sz="3700" dirty="0"/>
          </a:p>
        </p:txBody>
      </p:sp>
      <p:sp>
        <p:nvSpPr>
          <p:cNvPr id="4" name="Text 1"/>
          <p:cNvSpPr/>
          <p:nvPr/>
        </p:nvSpPr>
        <p:spPr>
          <a:xfrm>
            <a:off x="661475" y="206027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661475" y="2356148"/>
            <a:ext cx="6296860" cy="25400"/>
          </a:xfrm>
          <a:prstGeom prst="rect">
            <a:avLst/>
          </a:prstGeom>
          <a:solidFill>
            <a:srgbClr val="57A1EB"/>
          </a:solidFill>
          <a:ln/>
        </p:spPr>
      </p:sp>
      <p:sp>
        <p:nvSpPr>
          <p:cNvPr id="6" name="Text 3"/>
          <p:cNvSpPr/>
          <p:nvPr/>
        </p:nvSpPr>
        <p:spPr>
          <a:xfrm>
            <a:off x="661475" y="250140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executemany, one call, many rows</a:t>
            </a:r>
            <a:endParaRPr lang="en-US" sz="1850" dirty="0"/>
          </a:p>
        </p:txBody>
      </p:sp>
      <p:sp>
        <p:nvSpPr>
          <p:cNvPr id="7" name="Text 4"/>
          <p:cNvSpPr/>
          <p:nvPr/>
        </p:nvSpPr>
        <p:spPr>
          <a:xfrm>
            <a:off x="661475" y="312737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661475" y="3423245"/>
            <a:ext cx="6296860" cy="25400"/>
          </a:xfrm>
          <a:prstGeom prst="rect">
            <a:avLst/>
          </a:prstGeom>
          <a:solidFill>
            <a:srgbClr val="57A1EB"/>
          </a:solidFill>
          <a:ln/>
        </p:spPr>
      </p:sp>
      <p:sp>
        <p:nvSpPr>
          <p:cNvPr id="9" name="Text 6"/>
          <p:cNvSpPr/>
          <p:nvPr/>
        </p:nvSpPr>
        <p:spPr>
          <a:xfrm>
            <a:off x="661475" y="356850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Statement prepared once and reused</a:t>
            </a:r>
            <a:endParaRPr lang="en-US" sz="1850" dirty="0"/>
          </a:p>
        </p:txBody>
      </p:sp>
      <p:sp>
        <p:nvSpPr>
          <p:cNvPr id="10" name="Text 7"/>
          <p:cNvSpPr/>
          <p:nvPr/>
        </p:nvSpPr>
        <p:spPr>
          <a:xfrm>
            <a:off x="661475" y="419447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661475" y="4490343"/>
            <a:ext cx="6296860" cy="25400"/>
          </a:xfrm>
          <a:prstGeom prst="rect">
            <a:avLst/>
          </a:prstGeom>
          <a:solidFill>
            <a:srgbClr val="57A1EB"/>
          </a:solidFill>
          <a:ln/>
        </p:spPr>
      </p:sp>
      <p:sp>
        <p:nvSpPr>
          <p:cNvPr id="12" name="Text 9"/>
          <p:cNvSpPr/>
          <p:nvPr/>
        </p:nvSpPr>
        <p:spPr>
          <a:xfrm>
            <a:off x="661475" y="4635599"/>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Values travel separately from the SQL</a:t>
            </a:r>
            <a:endParaRPr lang="en-US" sz="1850" dirty="0"/>
          </a:p>
        </p:txBody>
      </p:sp>
      <p:sp>
        <p:nvSpPr>
          <p:cNvPr id="13" name="Text 10"/>
          <p:cNvSpPr/>
          <p:nvPr/>
        </p:nvSpPr>
        <p:spPr>
          <a:xfrm>
            <a:off x="661475" y="526157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661475" y="5557441"/>
            <a:ext cx="6296860" cy="25400"/>
          </a:xfrm>
          <a:prstGeom prst="rect">
            <a:avLst/>
          </a:prstGeom>
          <a:solidFill>
            <a:srgbClr val="57A1EB"/>
          </a:solidFill>
          <a:ln/>
        </p:spPr>
      </p:sp>
      <p:sp>
        <p:nvSpPr>
          <p:cNvPr id="15" name="Text 12"/>
          <p:cNvSpPr/>
          <p:nvPr/>
        </p:nvSpPr>
        <p:spPr>
          <a:xfrm>
            <a:off x="661475" y="5702697"/>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second property is why it is the default</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Route two, the generated SQL script</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INSERT INTO stg_members (source_row, member_id, full_name, grade_level, program, joined)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VALUES (4, 'RC0142', 'Amara Delgado', '11', 'Engineering Technology', '09/02/2026');</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75584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And here is what it costs you</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220615"/>
            <a:ext cx="6296860" cy="1019373"/>
          </a:xfrm>
          <a:prstGeom prst="rect">
            <a:avLst/>
          </a:prstGeom>
        </p:spPr>
      </p:pic>
      <p:sp>
        <p:nvSpPr>
          <p:cNvPr id="5" name="Text 1"/>
          <p:cNvSpPr/>
          <p:nvPr/>
        </p:nvSpPr>
        <p:spPr>
          <a:xfrm>
            <a:off x="977479" y="2435027"/>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value has to be escaped, by you, every time</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429000"/>
            <a:ext cx="6296860" cy="724098"/>
          </a:xfrm>
          <a:prstGeom prst="rect">
            <a:avLst/>
          </a:prstGeom>
        </p:spPr>
      </p:pic>
      <p:sp>
        <p:nvSpPr>
          <p:cNvPr id="7" name="Text 2"/>
          <p:cNvSpPr/>
          <p:nvPr/>
        </p:nvSpPr>
        <p:spPr>
          <a:xfrm>
            <a:off x="977479" y="364341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This fixture has no apostrophe in any name</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342110"/>
            <a:ext cx="6296860" cy="724098"/>
          </a:xfrm>
          <a:prstGeom prst="rect">
            <a:avLst/>
          </a:prstGeom>
        </p:spPr>
      </p:pic>
      <p:sp>
        <p:nvSpPr>
          <p:cNvPr id="9" name="Text 3"/>
          <p:cNvSpPr/>
          <p:nvPr/>
        </p:nvSpPr>
        <p:spPr>
          <a:xfrm>
            <a:off x="977479" y="455652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 your bug will not show up today</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255220"/>
            <a:ext cx="6296860" cy="724098"/>
          </a:xfrm>
          <a:prstGeom prst="rect">
            <a:avLst/>
          </a:prstGeom>
        </p:spPr>
      </p:pic>
      <p:sp>
        <p:nvSpPr>
          <p:cNvPr id="11" name="Text 4"/>
          <p:cNvSpPr/>
          <p:nvPr/>
        </p:nvSpPr>
        <p:spPr>
          <a:xfrm>
            <a:off x="977479" y="546963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shows up when O'Brien joins</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9697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Route three is always the first half</a:t>
            </a:r>
            <a:endParaRPr lang="en-US" sz="3700" dirty="0"/>
          </a:p>
        </p:txBody>
      </p:sp>
      <p:pic>
        <p:nvPicPr>
          <p:cNvPr id="3" name="Image 0" descr="preencoded.png">    </p:cNvPr>
          <p:cNvPicPr>
            <a:picLocks noChangeAspect="1"/>
          </p:cNvPicPr>
          <p:nvPr/>
        </p:nvPicPr>
        <p:blipFill>
          <a:blip r:embed="rId1"/>
          <a:stretch>
            <a:fillRect/>
          </a:stretch>
        </p:blipFill>
        <p:spPr>
          <a:xfrm>
            <a:off x="1536662" y="2275483"/>
            <a:ext cx="5152896" cy="3058319"/>
          </a:xfrm>
          <a:prstGeom prst="rect">
            <a:avLst/>
          </a:prstGeom>
        </p:spPr>
      </p:pic>
      <p:sp>
        <p:nvSpPr>
          <p:cNvPr id="4" name="Text 1"/>
          <p:cNvSpPr/>
          <p:nvPr/>
        </p:nvSpPr>
        <p:spPr>
          <a:xfrm>
            <a:off x="5123149" y="4624407"/>
            <a:ext cx="1280885" cy="246752"/>
          </a:xfrm>
          <a:prstGeom prst="rect">
            <a:avLst/>
          </a:prstGeom>
          <a:noFill/>
          <a:ln/>
        </p:spPr>
        <p:txBody>
          <a:bodyPr wrap="none" lIns="0" tIns="0" rIns="0" bIns="0" rtlCol="0" anchor="t"/>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Route Two</a:t>
            </a:r>
            <a:endParaRPr lang="en-US" sz="1550" dirty="0"/>
          </a:p>
        </p:txBody>
      </p:sp>
      <p:sp>
        <p:nvSpPr>
          <p:cNvPr id="5" name="Text 2"/>
          <p:cNvSpPr/>
          <p:nvPr/>
        </p:nvSpPr>
        <p:spPr>
          <a:xfrm>
            <a:off x="3508883" y="4624407"/>
            <a:ext cx="1280885" cy="246752"/>
          </a:xfrm>
          <a:prstGeom prst="rect">
            <a:avLst/>
          </a:prstGeom>
          <a:noFill/>
          <a:ln/>
        </p:spPr>
        <p:txBody>
          <a:bodyPr wrap="none" lIns="0" tIns="0" rIns="0" bIns="0" rtlCol="0" anchor="t"/>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Route One</a:t>
            </a:r>
            <a:endParaRPr lang="en-US" sz="1550" dirty="0"/>
          </a:p>
        </p:txBody>
      </p:sp>
      <p:sp>
        <p:nvSpPr>
          <p:cNvPr id="6" name="Text 3"/>
          <p:cNvSpPr/>
          <p:nvPr/>
        </p:nvSpPr>
        <p:spPr>
          <a:xfrm>
            <a:off x="1868297" y="4624407"/>
            <a:ext cx="1280885" cy="246752"/>
          </a:xfrm>
          <a:prstGeom prst="rect">
            <a:avLst/>
          </a:prstGeom>
          <a:noFill/>
          <a:ln/>
        </p:spPr>
        <p:txBody>
          <a:bodyPr wrap="none" lIns="0" tIns="0" rIns="0" bIns="0" rtlCol="0" anchor="t"/>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Parse File</a:t>
            </a:r>
            <a:endParaRPr lang="en-US" sz="155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03092" y="2062361"/>
            <a:ext cx="283461" cy="283468"/>
          </a:xfrm>
          <a:prstGeom prst="rect">
            <a:avLst/>
          </a:prstGeom>
        </p:spPr>
      </p:pic>
      <p:sp>
        <p:nvSpPr>
          <p:cNvPr id="8" name="Text 4"/>
          <p:cNvSpPr/>
          <p:nvPr/>
        </p:nvSpPr>
        <p:spPr>
          <a:xfrm>
            <a:off x="8646499" y="2056507"/>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json, csv, or your own parser</a:t>
            </a:r>
            <a:endParaRPr lang="en-US" sz="18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03092" y="3030934"/>
            <a:ext cx="283461" cy="283468"/>
          </a:xfrm>
          <a:prstGeom prst="rect">
            <a:avLst/>
          </a:prstGeom>
        </p:spPr>
      </p:pic>
      <p:sp>
        <p:nvSpPr>
          <p:cNvPr id="10" name="Text 5"/>
          <p:cNvSpPr/>
          <p:nvPr/>
        </p:nvSpPr>
        <p:spPr>
          <a:xfrm>
            <a:off x="8646499" y="3025080"/>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route one or route two</a:t>
            </a:r>
            <a:endParaRPr lang="en-US" sz="18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03092" y="3999508"/>
            <a:ext cx="283461" cy="283468"/>
          </a:xfrm>
          <a:prstGeom prst="rect">
            <a:avLst/>
          </a:prstGeom>
        </p:spPr>
      </p:pic>
      <p:sp>
        <p:nvSpPr>
          <p:cNvPr id="12" name="Text 6"/>
          <p:cNvSpPr/>
          <p:nvPr/>
        </p:nvSpPr>
        <p:spPr>
          <a:xfrm>
            <a:off x="8646499" y="3993654"/>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file is never already SQL</a:t>
            </a:r>
            <a:endParaRPr lang="en-US" sz="18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3092" y="4968081"/>
            <a:ext cx="283461" cy="283468"/>
          </a:xfrm>
          <a:prstGeom prst="rect">
            <a:avLst/>
          </a:prstGeom>
        </p:spPr>
      </p:pic>
      <p:sp>
        <p:nvSpPr>
          <p:cNvPr id="14" name="Text 7"/>
          <p:cNvSpPr/>
          <p:nvPr/>
        </p:nvSpPr>
        <p:spPr>
          <a:xfrm>
            <a:off x="8646499" y="4962227"/>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Keep the nesting as it arrived for now</a:t>
            </a:r>
            <a:endParaRPr lang="en-US" sz="1850" dirty="0"/>
          </a:p>
        </p:txBody>
      </p:sp>
      <p:sp>
        <p:nvSpPr>
          <p:cNvPr id="15"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096492"/>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byte order mark, which costs everybody once</a:t>
            </a:r>
            <a:endParaRPr lang="en-US" sz="3700" dirty="0"/>
          </a:p>
        </p:txBody>
      </p:sp>
      <p:sp>
        <p:nvSpPr>
          <p:cNvPr id="3" name="Shape 1"/>
          <p:cNvSpPr/>
          <p:nvPr/>
        </p:nvSpPr>
        <p:spPr>
          <a:xfrm>
            <a:off x="661475" y="3655814"/>
            <a:ext cx="10868745" cy="982861"/>
          </a:xfrm>
          <a:prstGeom prst="roundRect">
            <a:avLst>
              <a:gd name="adj" fmla="val 8077"/>
            </a:avLst>
          </a:prstGeom>
          <a:solidFill>
            <a:srgbClr val="F2F2F2"/>
          </a:solidFill>
          <a:ln/>
        </p:spPr>
      </p:sp>
      <p:sp>
        <p:nvSpPr>
          <p:cNvPr id="4" name="Text 2"/>
          <p:cNvSpPr/>
          <p:nvPr/>
        </p:nvSpPr>
        <p:spPr>
          <a:xfrm>
            <a:off x="888283" y="3844826"/>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'﻿loan_id'</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KeyError: 'loan_id'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6226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Shape 1"/>
          <p:cNvSpPr/>
          <p:nvPr/>
        </p:nvSpPr>
        <p:spPr>
          <a:xfrm>
            <a:off x="661475" y="2727027"/>
            <a:ext cx="3053877" cy="1429643"/>
          </a:xfrm>
          <a:prstGeom prst="roundRect">
            <a:avLst>
              <a:gd name="adj" fmla="val 5553"/>
            </a:avLst>
          </a:prstGeom>
          <a:solidFill>
            <a:srgbClr val="D1E5FA"/>
          </a:solidFill>
          <a:ln w="19050">
            <a:solidFill>
              <a:srgbClr val="B7CBE0"/>
            </a:solidFill>
            <a:prstDash val="solid"/>
          </a:ln>
        </p:spPr>
      </p:sp>
      <p:sp>
        <p:nvSpPr>
          <p:cNvPr id="5" name="Text 2"/>
          <p:cNvSpPr/>
          <p:nvPr/>
        </p:nvSpPr>
        <p:spPr>
          <a:xfrm>
            <a:off x="869531" y="2935089"/>
            <a:ext cx="2637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Lab M04-03</a:t>
            </a:r>
            <a:endParaRPr lang="en-US" sz="1850" dirty="0"/>
          </a:p>
        </p:txBody>
      </p:sp>
      <p:sp>
        <p:nvSpPr>
          <p:cNvPr id="6" name="Text 3"/>
          <p:cNvSpPr/>
          <p:nvPr/>
        </p:nvSpPr>
        <p:spPr>
          <a:xfrm>
            <a:off x="869531" y="3343771"/>
            <a:ext cx="2637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Three importers, one staging database</a:t>
            </a:r>
            <a:endParaRPr lang="en-US" sz="1450" dirty="0"/>
          </a:p>
        </p:txBody>
      </p:sp>
      <p:sp>
        <p:nvSpPr>
          <p:cNvPr id="7" name="Shape 4"/>
          <p:cNvSpPr/>
          <p:nvPr/>
        </p:nvSpPr>
        <p:spPr>
          <a:xfrm>
            <a:off x="3904359" y="2727027"/>
            <a:ext cx="3053976" cy="1429643"/>
          </a:xfrm>
          <a:prstGeom prst="roundRect">
            <a:avLst>
              <a:gd name="adj" fmla="val 5553"/>
            </a:avLst>
          </a:prstGeom>
          <a:solidFill>
            <a:srgbClr val="D1E5FA"/>
          </a:solidFill>
          <a:ln w="19050">
            <a:solidFill>
              <a:srgbClr val="B7CBE0"/>
            </a:solidFill>
            <a:prstDash val="solid"/>
          </a:ln>
        </p:spPr>
      </p:sp>
      <p:sp>
        <p:nvSpPr>
          <p:cNvPr id="8" name="Text 5"/>
          <p:cNvSpPr/>
          <p:nvPr/>
        </p:nvSpPr>
        <p:spPr>
          <a:xfrm>
            <a:off x="4112415" y="2935089"/>
            <a:ext cx="263786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Fourteen questions</a:t>
            </a:r>
            <a:endParaRPr lang="en-US" sz="1850" dirty="0"/>
          </a:p>
        </p:txBody>
      </p:sp>
      <p:sp>
        <p:nvSpPr>
          <p:cNvPr id="9" name="Text 6"/>
          <p:cNvSpPr/>
          <p:nvPr/>
        </p:nvSpPr>
        <p:spPr>
          <a:xfrm>
            <a:off x="4112415" y="3343771"/>
            <a:ext cx="2637863"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Asked of the data</a:t>
            </a:r>
            <a:endParaRPr lang="en-US" sz="1450" dirty="0"/>
          </a:p>
        </p:txBody>
      </p:sp>
      <p:sp>
        <p:nvSpPr>
          <p:cNvPr id="10" name="Shape 7"/>
          <p:cNvSpPr/>
          <p:nvPr/>
        </p:nvSpPr>
        <p:spPr>
          <a:xfrm>
            <a:off x="661475" y="4345682"/>
            <a:ext cx="6296860" cy="1127224"/>
          </a:xfrm>
          <a:prstGeom prst="roundRect">
            <a:avLst>
              <a:gd name="adj" fmla="val 7043"/>
            </a:avLst>
          </a:prstGeom>
          <a:solidFill>
            <a:srgbClr val="D1E5FA"/>
          </a:solidFill>
          <a:ln w="19050">
            <a:solidFill>
              <a:srgbClr val="B7CBE0"/>
            </a:solidFill>
            <a:prstDash val="solid"/>
          </a:ln>
        </p:spPr>
      </p:sp>
      <p:sp>
        <p:nvSpPr>
          <p:cNvPr id="11" name="Text 8"/>
          <p:cNvSpPr/>
          <p:nvPr/>
        </p:nvSpPr>
        <p:spPr>
          <a:xfrm>
            <a:off x="869531" y="455374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Nine you write</a:t>
            </a:r>
            <a:endParaRPr lang="en-US" sz="1850" dirty="0"/>
          </a:p>
        </p:txBody>
      </p:sp>
      <p:sp>
        <p:nvSpPr>
          <p:cNvPr id="12" name="Text 9"/>
          <p:cNvSpPr/>
          <p:nvPr/>
        </p:nvSpPr>
        <p:spPr>
          <a:xfrm>
            <a:off x="869531" y="4962426"/>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Answers go into your project README</a:t>
            </a:r>
            <a:endParaRPr lang="en-US" sz="1450" dirty="0"/>
          </a:p>
        </p:txBody>
      </p:sp>
      <p:sp>
        <p:nvSpPr>
          <p:cNvPr id="13"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2026-09-16T05:08:59Z</dcterms:created>
  <dcterms:modified xsi:type="dcterms:W3CDTF">2026-09-16T05:08:59Z</dcterms:modified>
</cp:coreProperties>
</file>