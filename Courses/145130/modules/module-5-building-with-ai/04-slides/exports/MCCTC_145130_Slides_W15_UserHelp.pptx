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other document in this module is written for somebody building the system. This one is written for somebody using it, and it stopped working. That person is not a developer, is not interested in your layers, and is reading because they are annoyed. That changes everything about how it is written, and almost nobody makes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sections and the order is the order somebody needs them in, not the order that is tidy. The fourth one is specific to a program with a model in it, and it is the most important section in the whole document, because a fallback is the program working correctly and it does not look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Every message, not most of them, because a reader who hits a line that is not in your help has learned that reading it is a waste of time, and that lesson applies to the whole document. Every row says what to do. And no jargon, not because they are not clever, but because they are already looking one thing up and you have added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middle column and notice what is not in it. Deserialise is not there. Envelope is not there. Nothing named after a class in your code is there. The reader does not have those words and does not need them, and every one you use costs them another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them the real output, then tell them what it means for them. A fallback headline is the first line of what somebody wrote, which is usually fine and never insightful. It is right when the first line happens to be the point and wrong when it is not. Then give them permission to refuse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fact, three ways. The first is all true and the reader has none of those words. The second has no jargon and also no information, because it does not say what the message is or what to do. The third quotes the exact line they are staring at, names the missing thing the way they started it, and gives the command. Twenty eight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submission shape. Nine words. It does not say how you know, it does not say how much to trust a fallback answer, and it does not say what to do about it. For a program with a model in it, this is the section that stops somebody handing on a page of first sentences as though a model had written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first line and count who it excludes. Everybody on a lab machine, which is most of this class most of the time. It also asks them to install something they do not need, because a stand in model server ships with the program, needs no rights and no download, and starts with one command. The honest version leads with the path that works for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reasons and the second is the honest one. Writing what you know is quick. Working out what somebody else does not know is slow. And there is a pull toward sounding professional, because leverages an LLM via a RESTful microservice architecture sounds more like real documentation than it reads help requests and sorts them, and it is worse in every way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your message table and your fallback section. Build two is the test. Hand the program and the document to one person who has never seen either, sit behind them, and write down every question they ask out loud. Do not answer. Every question is a line missing from your help, and this is also where Module six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User Help for the Person Who Is Stuck</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00571"/>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Nobody reads this when things are going well</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661841"/>
            <a:ext cx="283461" cy="283468"/>
          </a:xfrm>
          <a:prstGeom prst="rect">
            <a:avLst/>
          </a:prstGeom>
        </p:spPr>
      </p:pic>
      <p:sp>
        <p:nvSpPr>
          <p:cNvPr id="5" name="Text 1"/>
          <p:cNvSpPr/>
          <p:nvPr/>
        </p:nvSpPr>
        <p:spPr>
          <a:xfrm>
            <a:off x="5847608" y="2655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read it because something did not work</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630414"/>
            <a:ext cx="283461" cy="283468"/>
          </a:xfrm>
          <a:prstGeom prst="rect">
            <a:avLst/>
          </a:prstGeom>
        </p:spPr>
      </p:pic>
      <p:sp>
        <p:nvSpPr>
          <p:cNvPr id="7" name="Text 2"/>
          <p:cNvSpPr/>
          <p:nvPr/>
        </p:nvSpPr>
        <p:spPr>
          <a:xfrm>
            <a:off x="5847608" y="362456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are behind on something else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581327"/>
            <a:ext cx="283461" cy="283468"/>
          </a:xfrm>
          <a:prstGeom prst="rect">
            <a:avLst/>
          </a:prstGeom>
        </p:spPr>
      </p:pic>
      <p:sp>
        <p:nvSpPr>
          <p:cNvPr id="9" name="Text 3"/>
          <p:cNvSpPr/>
          <p:nvPr/>
        </p:nvSpPr>
        <p:spPr>
          <a:xfrm>
            <a:off x="5847608" y="457547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want one sentence telling them what to do</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549900"/>
            <a:ext cx="283461" cy="283468"/>
          </a:xfrm>
          <a:prstGeom prst="rect">
            <a:avLst/>
          </a:prstGeom>
        </p:spPr>
      </p:pic>
      <p:sp>
        <p:nvSpPr>
          <p:cNvPr id="11" name="Text 4"/>
          <p:cNvSpPr/>
          <p:nvPr/>
        </p:nvSpPr>
        <p:spPr>
          <a:xfrm>
            <a:off x="5847608" y="5544046"/>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for that moment, not for your architecture</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86408"/>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sections, in the order the reader needs them</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45730"/>
            <a:ext cx="5339820" cy="1706959"/>
          </a:xfrm>
          <a:prstGeom prst="rect">
            <a:avLst/>
          </a:prstGeom>
        </p:spPr>
      </p:pic>
      <p:sp>
        <p:nvSpPr>
          <p:cNvPr id="4" name="Text 1"/>
          <p:cNvSpPr/>
          <p:nvPr/>
        </p:nvSpPr>
        <p:spPr>
          <a:xfrm>
            <a:off x="3189605" y="246786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3127177"/>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this program does</a:t>
            </a:r>
            <a:endParaRPr lang="en-US" sz="1850" dirty="0"/>
          </a:p>
        </p:txBody>
      </p:sp>
      <p:sp>
        <p:nvSpPr>
          <p:cNvPr id="6" name="Text 3"/>
          <p:cNvSpPr/>
          <p:nvPr/>
        </p:nvSpPr>
        <p:spPr>
          <a:xfrm>
            <a:off x="875881" y="3535859"/>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Should I be using this</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345730"/>
            <a:ext cx="5339919" cy="1706959"/>
          </a:xfrm>
          <a:prstGeom prst="rect">
            <a:avLst/>
          </a:prstGeom>
        </p:spPr>
      </p:pic>
      <p:sp>
        <p:nvSpPr>
          <p:cNvPr id="8" name="Text 4"/>
          <p:cNvSpPr/>
          <p:nvPr/>
        </p:nvSpPr>
        <p:spPr>
          <a:xfrm>
            <a:off x="8718530" y="246786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6404708" y="3127177"/>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to start it</a:t>
            </a:r>
            <a:endParaRPr lang="en-US" sz="1850" dirty="0"/>
          </a:p>
        </p:txBody>
      </p:sp>
      <p:sp>
        <p:nvSpPr>
          <p:cNvPr id="10" name="Text 6"/>
          <p:cNvSpPr/>
          <p:nvPr/>
        </p:nvSpPr>
        <p:spPr>
          <a:xfrm>
            <a:off x="6404708" y="3535859"/>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 have it and nothing happened</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241701"/>
            <a:ext cx="5339820" cy="1706959"/>
          </a:xfrm>
          <a:prstGeom prst="rect">
            <a:avLst/>
          </a:prstGeom>
        </p:spPr>
      </p:pic>
      <p:sp>
        <p:nvSpPr>
          <p:cNvPr id="12" name="Text 7"/>
          <p:cNvSpPr/>
          <p:nvPr/>
        </p:nvSpPr>
        <p:spPr>
          <a:xfrm>
            <a:off x="3189605" y="4363839"/>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8"/>
          <p:cNvSpPr/>
          <p:nvPr/>
        </p:nvSpPr>
        <p:spPr>
          <a:xfrm>
            <a:off x="875881" y="5023148"/>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every message means</a:t>
            </a:r>
            <a:endParaRPr lang="en-US" sz="1850" dirty="0"/>
          </a:p>
        </p:txBody>
      </p:sp>
      <p:sp>
        <p:nvSpPr>
          <p:cNvPr id="14" name="Text 9"/>
          <p:cNvSpPr/>
          <p:nvPr/>
        </p:nvSpPr>
        <p:spPr>
          <a:xfrm>
            <a:off x="875881" y="5431830"/>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said something</a:t>
            </a:r>
            <a:endParaRPr lang="en-US" sz="14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241701"/>
            <a:ext cx="5339919" cy="1706959"/>
          </a:xfrm>
          <a:prstGeom prst="rect">
            <a:avLst/>
          </a:prstGeom>
        </p:spPr>
      </p:pic>
      <p:sp>
        <p:nvSpPr>
          <p:cNvPr id="16" name="Text 10"/>
          <p:cNvSpPr/>
          <p:nvPr/>
        </p:nvSpPr>
        <p:spPr>
          <a:xfrm>
            <a:off x="8718530" y="4363839"/>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7" name="Text 11"/>
          <p:cNvSpPr/>
          <p:nvPr/>
        </p:nvSpPr>
        <p:spPr>
          <a:xfrm>
            <a:off x="6404708" y="5023148"/>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When it says fallback</a:t>
            </a:r>
            <a:endParaRPr lang="en-US" sz="1850" dirty="0"/>
          </a:p>
        </p:txBody>
      </p:sp>
      <p:sp>
        <p:nvSpPr>
          <p:cNvPr id="18" name="Text 12"/>
          <p:cNvSpPr/>
          <p:nvPr/>
        </p:nvSpPr>
        <p:spPr>
          <a:xfrm>
            <a:off x="6404708" y="5431830"/>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worked and looks wrong</a:t>
            </a:r>
            <a:endParaRPr lang="en-US" sz="1450" dirty="0"/>
          </a:p>
        </p:txBody>
      </p:sp>
      <p:sp>
        <p:nvSpPr>
          <p:cNvPr id="19"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84437"/>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rules</a:t>
            </a:r>
            <a:endParaRPr lang="en-US" sz="3700" dirty="0"/>
          </a:p>
        </p:txBody>
      </p:sp>
      <p:sp>
        <p:nvSpPr>
          <p:cNvPr id="4" name="Shape 1"/>
          <p:cNvSpPr/>
          <p:nvPr/>
        </p:nvSpPr>
        <p:spPr>
          <a:xfrm>
            <a:off x="661475" y="2558554"/>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732365" y="25939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1275723" y="262344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message the program can print is in the table</a:t>
            </a:r>
            <a:endParaRPr lang="en-US" sz="1850" dirty="0"/>
          </a:p>
        </p:txBody>
      </p:sp>
      <p:sp>
        <p:nvSpPr>
          <p:cNvPr id="7" name="Shape 4"/>
          <p:cNvSpPr/>
          <p:nvPr/>
        </p:nvSpPr>
        <p:spPr>
          <a:xfrm>
            <a:off x="661475" y="3592016"/>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732365" y="362743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1275723" y="365690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row says what to do, not what happened</a:t>
            </a:r>
            <a:endParaRPr lang="en-US" sz="1850" dirty="0"/>
          </a:p>
        </p:txBody>
      </p:sp>
      <p:sp>
        <p:nvSpPr>
          <p:cNvPr id="10" name="Shape 7"/>
          <p:cNvSpPr/>
          <p:nvPr/>
        </p:nvSpPr>
        <p:spPr>
          <a:xfrm>
            <a:off x="661475" y="462547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732365" y="466090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1275723" y="46903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word the reader has to look up</a:t>
            </a:r>
            <a:endParaRPr lang="en-US" sz="1850" dirty="0"/>
          </a:p>
        </p:txBody>
      </p:sp>
      <p:sp>
        <p:nvSpPr>
          <p:cNvPr id="13"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message table</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You see                                 It means            Do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from FALLBACK, not the model            built by a rule     read the why: line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reachable no                            no model found      start the stand-in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model service is not answering.     service not running start it, window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reply was not the shape expected.   wrong port          check the port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section that keeps somebody out of trouble</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source       fallback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elapsed_ms   2057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headline: The 3D printer in room 118 jammed near the nozzle.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kind:    connection_refused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message: nothing is listening at http://127.0.0.1:11535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fact, three ways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the compiler   the client resolves its base address from an environment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variable and surfaces a ServiceDown failure kind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a manager      The application requires the model service to be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available. An appropriate error will be displayed.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the stuck      If you see "The model service is not answering.",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go to window 2 and start the service again</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4657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Nine words that are the most important section</a:t>
            </a:r>
            <a:endParaRPr lang="en-US" sz="3700" dirty="0"/>
          </a:p>
        </p:txBody>
      </p:sp>
      <p:sp>
        <p:nvSpPr>
          <p:cNvPr id="4" name="Text 1"/>
          <p:cNvSpPr/>
          <p:nvPr/>
        </p:nvSpPr>
        <p:spPr>
          <a:xfrm>
            <a:off x="944936" y="3694807"/>
            <a:ext cx="6013399"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When it says the answer is a fallback</a:t>
            </a:r>
            <a:endParaRPr lang="en-US" sz="1850" dirty="0"/>
          </a:p>
        </p:txBody>
      </p:sp>
      <p:sp>
        <p:nvSpPr>
          <p:cNvPr id="5" name="Text 2"/>
          <p:cNvSpPr/>
          <p:nvPr/>
        </p:nvSpPr>
        <p:spPr>
          <a:xfrm>
            <a:off x="944936" y="4273550"/>
            <a:ext cx="66229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fallback is used when the model is unavailable.</a:t>
            </a:r>
            <a:endParaRPr lang="en-US" sz="1450" dirty="0"/>
          </a:p>
        </p:txBody>
      </p:sp>
      <p:sp>
        <p:nvSpPr>
          <p:cNvPr id="6" name="Shape 3"/>
          <p:cNvSpPr/>
          <p:nvPr/>
        </p:nvSpPr>
        <p:spPr>
          <a:xfrm>
            <a:off x="661475" y="3411339"/>
            <a:ext cx="25399" cy="1377255"/>
          </a:xfrm>
          <a:prstGeom prst="roundRect">
            <a:avLst>
              <a:gd name="adj" fmla="val 50001"/>
            </a:avLst>
          </a:prstGeom>
          <a:solidFill>
            <a:srgbClr val="57A1EB"/>
          </a:solidFill>
          <a:ln/>
        </p:spPr>
      </p:sp>
      <p:sp>
        <p:nvSpPr>
          <p:cNvPr id="7"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4793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Who this sentence locks out</a:t>
            </a:r>
            <a:endParaRPr lang="en-US" sz="3700" dirty="0"/>
          </a:p>
        </p:txBody>
      </p:sp>
      <p:sp>
        <p:nvSpPr>
          <p:cNvPr id="3" name="Shape 1"/>
          <p:cNvSpPr/>
          <p:nvPr/>
        </p:nvSpPr>
        <p:spPr>
          <a:xfrm>
            <a:off x="661475" y="2716609"/>
            <a:ext cx="10868745" cy="755948"/>
          </a:xfrm>
          <a:prstGeom prst="roundRect">
            <a:avLst>
              <a:gd name="adj" fmla="val 10502"/>
            </a:avLst>
          </a:prstGeom>
          <a:solidFill>
            <a:srgbClr val="FFB3B4"/>
          </a:solidFill>
          <a:ln/>
        </p:spPr>
      </p:sp>
      <p:pic>
        <p:nvPicPr>
          <p:cNvPr id="4" name="Image 0" descr="preencoded.png">    </p:cNvPr>
          <p:cNvPicPr>
            <a:picLocks noChangeAspect="1"/>
          </p:cNvPicPr>
          <p:nvPr/>
        </p:nvPicPr>
        <p:blipFill>
          <a:blip r:embed="rId1"/>
          <a:stretch>
            <a:fillRect/>
          </a:stretch>
        </p:blipFill>
        <p:spPr>
          <a:xfrm>
            <a:off x="850482" y="2984302"/>
            <a:ext cx="236234" cy="189012"/>
          </a:xfrm>
          <a:prstGeom prst="rect">
            <a:avLst/>
          </a:prstGeom>
        </p:spPr>
      </p:pic>
      <p:sp>
        <p:nvSpPr>
          <p:cNvPr id="5" name="Text 2"/>
          <p:cNvSpPr/>
          <p:nvPr/>
        </p:nvSpPr>
        <p:spPr>
          <a:xfrm>
            <a:off x="1275723" y="2952849"/>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"Install the model runtime with administrator rights on your own laptop"</a:t>
            </a:r>
            <a:endParaRPr lang="en-US" sz="1450" dirty="0"/>
          </a:p>
        </p:txBody>
      </p:sp>
      <p:sp>
        <p:nvSpPr>
          <p:cNvPr id="6" name="Shape 3"/>
          <p:cNvSpPr/>
          <p:nvPr/>
        </p:nvSpPr>
        <p:spPr>
          <a:xfrm>
            <a:off x="661475" y="3685183"/>
            <a:ext cx="3496877" cy="1301948"/>
          </a:xfrm>
          <a:prstGeom prst="roundRect">
            <a:avLst>
              <a:gd name="adj" fmla="val 6098"/>
            </a:avLst>
          </a:prstGeom>
          <a:solidFill>
            <a:srgbClr val="D1E5FA"/>
          </a:solidFill>
          <a:ln w="19050">
            <a:solidFill>
              <a:srgbClr val="B7CBE0"/>
            </a:solidFill>
            <a:prstDash val="solid"/>
          </a:ln>
        </p:spPr>
      </p:sp>
      <p:sp>
        <p:nvSpPr>
          <p:cNvPr id="7" name="Text 4"/>
          <p:cNvSpPr/>
          <p:nvPr/>
        </p:nvSpPr>
        <p:spPr>
          <a:xfrm>
            <a:off x="869531" y="3893245"/>
            <a:ext cx="308076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Everybody on a lab machine</a:t>
            </a:r>
            <a:endParaRPr lang="en-US" sz="1850" dirty="0"/>
          </a:p>
        </p:txBody>
      </p:sp>
      <p:sp>
        <p:nvSpPr>
          <p:cNvPr id="8" name="Shape 5"/>
          <p:cNvSpPr/>
          <p:nvPr/>
        </p:nvSpPr>
        <p:spPr>
          <a:xfrm>
            <a:off x="4347359" y="3685183"/>
            <a:ext cx="3496877" cy="1301948"/>
          </a:xfrm>
          <a:prstGeom prst="roundRect">
            <a:avLst>
              <a:gd name="adj" fmla="val 6098"/>
            </a:avLst>
          </a:prstGeom>
          <a:solidFill>
            <a:srgbClr val="D1E5FA"/>
          </a:solidFill>
          <a:ln w="19050">
            <a:solidFill>
              <a:srgbClr val="B7CBE0"/>
            </a:solidFill>
            <a:prstDash val="solid"/>
          </a:ln>
        </p:spPr>
      </p:sp>
      <p:sp>
        <p:nvSpPr>
          <p:cNvPr id="9" name="Text 6"/>
          <p:cNvSpPr/>
          <p:nvPr/>
        </p:nvSpPr>
        <p:spPr>
          <a:xfrm>
            <a:off x="4555416" y="3893245"/>
            <a:ext cx="308076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Anybody on a school-managed computer</a:t>
            </a:r>
            <a:endParaRPr lang="en-US" sz="1850" dirty="0"/>
          </a:p>
        </p:txBody>
      </p:sp>
      <p:sp>
        <p:nvSpPr>
          <p:cNvPr id="10" name="Shape 7"/>
          <p:cNvSpPr/>
          <p:nvPr/>
        </p:nvSpPr>
        <p:spPr>
          <a:xfrm>
            <a:off x="8033244" y="3685183"/>
            <a:ext cx="3496877" cy="1301948"/>
          </a:xfrm>
          <a:prstGeom prst="roundRect">
            <a:avLst>
              <a:gd name="adj" fmla="val 6098"/>
            </a:avLst>
          </a:prstGeom>
          <a:solidFill>
            <a:srgbClr val="D1E5FA"/>
          </a:solidFill>
          <a:ln w="19050">
            <a:solidFill>
              <a:srgbClr val="B7CBE0"/>
            </a:solidFill>
            <a:prstDash val="solid"/>
          </a:ln>
        </p:spPr>
      </p:sp>
      <p:sp>
        <p:nvSpPr>
          <p:cNvPr id="11" name="Text 8"/>
          <p:cNvSpPr/>
          <p:nvPr/>
        </p:nvSpPr>
        <p:spPr>
          <a:xfrm>
            <a:off x="8241300" y="3893245"/>
            <a:ext cx="308076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the stand-in server ships with the program</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03465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people write for the compiler instead</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7961" y="2474020"/>
            <a:ext cx="6322259" cy="641350"/>
          </a:xfrm>
          <a:prstGeom prst="rect">
            <a:avLst/>
          </a:prstGeom>
        </p:spPr>
      </p:pic>
      <p:sp>
        <p:nvSpPr>
          <p:cNvPr id="5" name="Text 1"/>
          <p:cNvSpPr/>
          <p:nvPr/>
        </p:nvSpPr>
        <p:spPr>
          <a:xfrm>
            <a:off x="5473166" y="2499420"/>
            <a:ext cx="605705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know how it works, so writing what you know is quick</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07961" y="3442593"/>
            <a:ext cx="6322259" cy="641350"/>
          </a:xfrm>
          <a:prstGeom prst="rect">
            <a:avLst/>
          </a:prstGeom>
        </p:spPr>
      </p:pic>
      <p:sp>
        <p:nvSpPr>
          <p:cNvPr id="7" name="Text 2"/>
          <p:cNvSpPr/>
          <p:nvPr/>
        </p:nvSpPr>
        <p:spPr>
          <a:xfrm>
            <a:off x="5473166" y="3467993"/>
            <a:ext cx="605705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Working out what somebody else does not know is slow</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7961" y="4411166"/>
            <a:ext cx="6322259" cy="346075"/>
          </a:xfrm>
          <a:prstGeom prst="rect">
            <a:avLst/>
          </a:prstGeom>
        </p:spPr>
      </p:pic>
      <p:sp>
        <p:nvSpPr>
          <p:cNvPr id="9" name="Text 3"/>
          <p:cNvSpPr/>
          <p:nvPr/>
        </p:nvSpPr>
        <p:spPr>
          <a:xfrm>
            <a:off x="5473166" y="4436566"/>
            <a:ext cx="605705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jargon sounds more professional</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07961" y="5084465"/>
            <a:ext cx="6322259" cy="641350"/>
          </a:xfrm>
          <a:prstGeom prst="rect">
            <a:avLst/>
          </a:prstGeom>
        </p:spPr>
      </p:pic>
      <p:sp>
        <p:nvSpPr>
          <p:cNvPr id="11" name="Text 4"/>
          <p:cNvSpPr/>
          <p:nvPr/>
        </p:nvSpPr>
        <p:spPr>
          <a:xfrm>
            <a:off x="5473166" y="5109865"/>
            <a:ext cx="605705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"Leverages an LLM via a RESTful microservice" sounds like documentation</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6153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879923"/>
            <a:ext cx="5339820" cy="25400"/>
          </a:xfrm>
          <a:prstGeom prst="rect">
            <a:avLst/>
          </a:prstGeom>
          <a:solidFill>
            <a:srgbClr val="57A1EB"/>
          </a:solidFill>
          <a:ln/>
        </p:spPr>
      </p:sp>
      <p:sp>
        <p:nvSpPr>
          <p:cNvPr id="5" name="Text 3"/>
          <p:cNvSpPr/>
          <p:nvPr/>
        </p:nvSpPr>
        <p:spPr>
          <a:xfrm>
            <a:off x="661475" y="302518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own message table, every line your program prints</a:t>
            </a:r>
            <a:endParaRPr lang="en-US" sz="1850" dirty="0"/>
          </a:p>
        </p:txBody>
      </p:sp>
      <p:sp>
        <p:nvSpPr>
          <p:cNvPr id="6" name="Text 4"/>
          <p:cNvSpPr/>
          <p:nvPr/>
        </p:nvSpPr>
        <p:spPr>
          <a:xfrm>
            <a:off x="6190301"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2879923"/>
            <a:ext cx="5339919" cy="25400"/>
          </a:xfrm>
          <a:prstGeom prst="rect">
            <a:avLst/>
          </a:prstGeom>
          <a:solidFill>
            <a:srgbClr val="57A1EB"/>
          </a:solidFill>
          <a:ln/>
        </p:spPr>
      </p:sp>
      <p:sp>
        <p:nvSpPr>
          <p:cNvPr id="8" name="Text 6"/>
          <p:cNvSpPr/>
          <p:nvPr/>
        </p:nvSpPr>
        <p:spPr>
          <a:xfrm>
            <a:off x="6190301" y="3025180"/>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own fallback section, with real captured output</a:t>
            </a:r>
            <a:endParaRPr lang="en-US" sz="1850" dirty="0"/>
          </a:p>
        </p:txBody>
      </p:sp>
      <p:sp>
        <p:nvSpPr>
          <p:cNvPr id="9" name="Text 7"/>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242296"/>
            <a:ext cx="5339820" cy="25400"/>
          </a:xfrm>
          <a:prstGeom prst="rect">
            <a:avLst/>
          </a:prstGeom>
          <a:solidFill>
            <a:srgbClr val="57A1EB"/>
          </a:solidFill>
          <a:ln/>
        </p:spPr>
      </p:sp>
      <p:sp>
        <p:nvSpPr>
          <p:cNvPr id="11" name="Text 9"/>
          <p:cNvSpPr/>
          <p:nvPr/>
        </p:nvSpPr>
        <p:spPr>
          <a:xfrm>
            <a:off x="661475" y="43875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hand it to one person who has never seen it</a:t>
            </a:r>
            <a:endParaRPr lang="en-US" sz="1850" dirty="0"/>
          </a:p>
        </p:txBody>
      </p:sp>
      <p:sp>
        <p:nvSpPr>
          <p:cNvPr id="12" name="Text 10"/>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242296"/>
            <a:ext cx="5339919" cy="25400"/>
          </a:xfrm>
          <a:prstGeom prst="rect">
            <a:avLst/>
          </a:prstGeom>
          <a:solidFill>
            <a:srgbClr val="57A1EB"/>
          </a:solidFill>
          <a:ln/>
        </p:spPr>
      </p:sp>
      <p:sp>
        <p:nvSpPr>
          <p:cNvPr id="14" name="Text 12"/>
          <p:cNvSpPr/>
          <p:nvPr/>
        </p:nvSpPr>
        <p:spPr>
          <a:xfrm>
            <a:off x="6190301" y="4387552"/>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down every question. Do not answer them.</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2026-09-16T05:24:35Z</dcterms:created>
  <dcterms:modified xsi:type="dcterms:W3CDTF">2026-09-16T05:24:35Z</dcterms:modified>
</cp:coreProperties>
</file>