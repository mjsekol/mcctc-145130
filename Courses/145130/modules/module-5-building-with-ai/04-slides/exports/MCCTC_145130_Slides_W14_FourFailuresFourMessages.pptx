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Somebody comes to you and says the program printed something went wrong. Which of four completely different things happened. You cannot tell, they cannot tell, and neither can the program, because it threw that information away before it printed. This is the same lesson as 404 and timeout and rate limit from last year, in a new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levels here and they are not the same kind of thing. Your application can fail to reach the service at all. Or it can reach the service, get an answer, and the answer says the model gave nothing usable. Those two have different owners, different fixes, and different messages. A program that mixes them up sends somebody looking in the wrong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kinds, four fixes. And there is a fifth outcome that is not a wire failure at all: RequestRejected. The service read your request, refused it with a 400, and the envelope says why. That is your mistake and nothing was asked of the model, and the message should say so, because otherwise somebody goes looking at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mistake in this lab: pointing the client at the model endpoint instead of at the service. Look at the last line. Printing the first hundred and twenty characters of whatever it received is the whole trick. The person sees error not found and knows in one second that something is answering and it is the wrong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details you will get wrong if nobody says them out loud. HttpClient reports its own timeout by cancelling the task, so you catch TaskCanceledException, and you check the token first or you will report a timeout when the user pressed control C. And a refused connection arrives as HttpRequestException with a SocketException inside it, so you read the socket error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throws here, and that is the point. System dot Text dot Json will happily deserialise a completely different object into your class and set every field it did not find to its default. Ok becomes false, Source becomes null, no exception anywhere, and your program prints something confident and empty. You have to check the shape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two. The call worked, so now read source and say it out loud. From the model, or from the fallback, not the model. That one word is the whole difference for the person reading the output, because a fallback summary is a sentence copied out of the input by a keyword rule, and without the label it looks exactly like something a model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ran against a service where the model was never used once. The model summarised nothing. The counter counted loop iterations. The except Exception pass swallowed two real failures. And it exited with code zero, so a script that called it believed everything worked. A program that reports success it did not have is worse than one that crashes, because a crash sends somebody to look.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why people write it. It is one line, it is late in the period, the red text was the thing stopping you from finishing, and now the loop runs to the end and the output looks complete. Not crashing feels like working. The gap between those two is exactly where this kind of bug lives, and it is the gap this whole course keeps pointing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you connect your two halves. The acceptance criterion is not that it works. It is that you can produce all four wire failures on purpose, by stopping the service, by pointing at the wrong port, by making the service slow, and by having it return something that is not your envelope, and that each one prints a different sentence naming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5.jpe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image" Target="../media/image-8-2.png"/><Relationship Id="rId5" Type="http://schemas.openxmlformats.org/officeDocument/2006/relationships/image" Target="../media/image-8-3.svg"/><Relationship Id="rId6" Type="http://schemas.openxmlformats.org/officeDocument/2006/relationships/image" Target="../media/image-8-2.png"/><Relationship Id="rId7" Type="http://schemas.openxmlformats.org/officeDocument/2006/relationships/image" Target="../media/image-8-3.svg"/><Relationship Id="rId8" Type="http://schemas.openxmlformats.org/officeDocument/2006/relationships/image" Target="../media/image-8-2.png"/><Relationship Id="rId9" Type="http://schemas.openxmlformats.org/officeDocument/2006/relationships/image" Target="../media/image-8-3.sv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Failures, Four Messages</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07244"/>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program said "Something went wrong"</a:t>
            </a:r>
            <a:endParaRPr lang="en-US" sz="3700" dirty="0"/>
          </a:p>
        </p:txBody>
      </p:sp>
      <p:sp>
        <p:nvSpPr>
          <p:cNvPr id="4" name="Shape 1"/>
          <p:cNvSpPr/>
          <p:nvPr/>
        </p:nvSpPr>
        <p:spPr>
          <a:xfrm>
            <a:off x="5233360" y="286265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92754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Four different problems</a:t>
            </a:r>
            <a:endParaRPr lang="en-US" sz="1850" dirty="0"/>
          </a:p>
        </p:txBody>
      </p:sp>
      <p:sp>
        <p:nvSpPr>
          <p:cNvPr id="6" name="Shape 3"/>
          <p:cNvSpPr/>
          <p:nvPr/>
        </p:nvSpPr>
        <p:spPr>
          <a:xfrm>
            <a:off x="5233360" y="366593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73082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Four different fixes</a:t>
            </a:r>
            <a:endParaRPr lang="en-US" sz="1850" dirty="0"/>
          </a:p>
        </p:txBody>
      </p:sp>
      <p:sp>
        <p:nvSpPr>
          <p:cNvPr id="8" name="Shape 5"/>
          <p:cNvSpPr/>
          <p:nvPr/>
        </p:nvSpPr>
        <p:spPr>
          <a:xfrm>
            <a:off x="5233360" y="446920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53409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word for all of them</a:t>
            </a:r>
            <a:endParaRPr lang="en-US" sz="1850" dirty="0"/>
          </a:p>
        </p:txBody>
      </p:sp>
      <p:sp>
        <p:nvSpPr>
          <p:cNvPr id="10" name="Shape 7"/>
          <p:cNvSpPr/>
          <p:nvPr/>
        </p:nvSpPr>
        <p:spPr>
          <a:xfrm>
            <a:off x="5233360" y="527248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33737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person tries the wrong fix three times out of four</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19807"/>
            <a:ext cx="10868745"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Two levels of failure, and they have different owners</a:t>
            </a:r>
            <a:endParaRPr lang="en-US" sz="18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256161"/>
            <a:ext cx="2635879" cy="684808"/>
          </a:xfrm>
          <a:prstGeom prst="rect">
            <a:avLst/>
          </a:prstGeom>
        </p:spPr>
      </p:pic>
      <p:sp>
        <p:nvSpPr>
          <p:cNvPr id="4" name="Text 1"/>
          <p:cNvSpPr/>
          <p:nvPr/>
        </p:nvSpPr>
        <p:spPr>
          <a:xfrm>
            <a:off x="819427" y="3363317"/>
            <a:ext cx="2370773"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Level one</a:t>
            </a:r>
            <a:endParaRPr lang="en-US" sz="900" dirty="0"/>
          </a:p>
        </p:txBody>
      </p:sp>
      <p:sp>
        <p:nvSpPr>
          <p:cNvPr id="5" name="Text 2"/>
          <p:cNvSpPr/>
          <p:nvPr/>
        </p:nvSpPr>
        <p:spPr>
          <a:xfrm>
            <a:off x="819427" y="3558183"/>
            <a:ext cx="2370773" cy="269280"/>
          </a:xfrm>
          <a:prstGeom prst="rect">
            <a:avLst/>
          </a:prstGeom>
          <a:noFill/>
          <a:ln/>
        </p:spPr>
        <p:txBody>
          <a:bodyPr wrap="square" lIns="0" tIns="0" rIns="0" bIns="0" rtlCol="0" anchor="t"/>
          <a:lstStyle/>
          <a:p>
            <a:pPr algn="l" indent="0" marL="0">
              <a:lnSpc>
                <a:spcPct val="100000"/>
              </a:lnSpc>
              <a:spcAft>
                <a:spcPts val="300"/>
              </a:spcAft>
              <a:buNone/>
            </a:pPr>
            <a:r>
              <a:rPr lang="en-US" sz="700" dirty="0">
                <a:solidFill>
                  <a:srgbClr val="1C1C1C"/>
                </a:solidFill>
                <a:latin typeface="Roboto Condensed" pitchFamily="34" charset="0"/>
                <a:ea typeface="Roboto Condensed" pitchFamily="34" charset="-122"/>
                <a:cs typeface="Roboto Condensed" pitchFamily="34" charset="-120"/>
              </a:rPr>
              <a:t>The wire between your application and the service</a:t>
            </a:r>
            <a:endParaRPr lang="en-US" sz="700" dirty="0"/>
          </a:p>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Four kinds plus one refusal</a:t>
            </a:r>
            <a:endParaRPr lang="en-US" sz="70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44580" y="3256161"/>
            <a:ext cx="2635978" cy="684808"/>
          </a:xfrm>
          <a:prstGeom prst="rect">
            <a:avLst/>
          </a:prstGeom>
        </p:spPr>
      </p:pic>
      <p:sp>
        <p:nvSpPr>
          <p:cNvPr id="7" name="Text 3"/>
          <p:cNvSpPr/>
          <p:nvPr/>
        </p:nvSpPr>
        <p:spPr>
          <a:xfrm>
            <a:off x="3502533" y="3363317"/>
            <a:ext cx="2370872" cy="147638"/>
          </a:xfrm>
          <a:prstGeom prst="rect">
            <a:avLst/>
          </a:prstGeom>
          <a:noFill/>
          <a:ln/>
        </p:spPr>
        <p:txBody>
          <a:bodyPr wrap="none" lIns="0" tIns="0" rIns="0" bIns="0" rtlCol="0" anchor="t"/>
          <a:lstStyle/>
          <a:p>
            <a:pPr algn="l" indent="0" marL="0">
              <a:lnSpc>
                <a:spcPct val="104000"/>
              </a:lnSpc>
              <a:buNone/>
            </a:pPr>
            <a:r>
              <a:rPr lang="en-US" sz="900" b="1" dirty="0">
                <a:solidFill>
                  <a:srgbClr val="1C1C1C"/>
                </a:solidFill>
                <a:latin typeface="Orbitron Bold" pitchFamily="34" charset="0"/>
                <a:ea typeface="Orbitron Bold" pitchFamily="34" charset="-122"/>
                <a:cs typeface="Orbitron Bold" pitchFamily="34" charset="-120"/>
              </a:rPr>
              <a:t>Level two</a:t>
            </a:r>
            <a:endParaRPr lang="en-US" sz="900" dirty="0"/>
          </a:p>
        </p:txBody>
      </p:sp>
      <p:sp>
        <p:nvSpPr>
          <p:cNvPr id="8" name="Text 4"/>
          <p:cNvSpPr/>
          <p:nvPr/>
        </p:nvSpPr>
        <p:spPr>
          <a:xfrm>
            <a:off x="3502533" y="3558183"/>
            <a:ext cx="2370872" cy="275630"/>
          </a:xfrm>
          <a:prstGeom prst="rect">
            <a:avLst/>
          </a:prstGeom>
          <a:noFill/>
          <a:ln/>
        </p:spPr>
        <p:txBody>
          <a:bodyPr wrap="square" lIns="0" tIns="0" rIns="0" bIns="0" rtlCol="0" anchor="t"/>
          <a:lstStyle/>
          <a:p>
            <a:pPr algn="l" indent="0" marL="0">
              <a:lnSpc>
                <a:spcPct val="100000"/>
              </a:lnSpc>
              <a:spcAft>
                <a:spcPts val="300"/>
              </a:spcAft>
              <a:buNone/>
            </a:pPr>
            <a:r>
              <a:rPr lang="en-US" sz="700" dirty="0">
                <a:solidFill>
                  <a:srgbClr val="1C1C1C"/>
                </a:solidFill>
                <a:latin typeface="Roboto Condensed" pitchFamily="34" charset="0"/>
                <a:ea typeface="Roboto Condensed" pitchFamily="34" charset="-122"/>
                <a:cs typeface="Roboto Condensed" pitchFamily="34" charset="-120"/>
              </a:rPr>
              <a:t>Inside the envelope, what the service found</a:t>
            </a:r>
            <a:endParaRPr lang="en-US" sz="700" dirty="0"/>
          </a:p>
          <a:p>
            <a:pPr algn="l" indent="0" marL="0">
              <a:lnSpc>
                <a:spcPct val="100000"/>
              </a:lnSpc>
              <a:buNone/>
            </a:pPr>
            <a:r>
              <a:rPr lang="en-US" sz="700" dirty="0">
                <a:solidFill>
                  <a:srgbClr val="1C1C1C"/>
                </a:solidFill>
                <a:latin typeface="Roboto Condensed" pitchFamily="34" charset="0"/>
                <a:ea typeface="Roboto Condensed" pitchFamily="34" charset="-122"/>
                <a:cs typeface="Roboto Condensed" pitchFamily="34" charset="-120"/>
              </a:rPr>
              <a:t>One field called </a:t>
            </a:r>
            <a:pPr algn="l" indent="0" marL="0">
              <a:lnSpc>
                <a:spcPct val="100000"/>
              </a:lnSpc>
              <a:buNone/>
            </a:pPr>
            <a:r>
              <a:rPr lang="en-US" sz="700" dirty="0">
                <a:solidFill>
                  <a:srgbClr val="1C1C1C"/>
                </a:solidFill>
                <a:highlight>
                  <a:srgbClr val="F2F2F2"/>
                </a:highlight>
                <a:latin typeface="Consolas" pitchFamily="34" charset="0"/>
                <a:ea typeface="Consolas" pitchFamily="34" charset="-122"/>
                <a:cs typeface="Consolas" pitchFamily="34" charset="-120"/>
              </a:rPr>
              <a:t>source</a:t>
            </a:r>
            <a:endParaRPr lang="en-US" sz="700" dirty="0"/>
          </a:p>
        </p:txBody>
      </p:sp>
      <p:pic>
        <p:nvPicPr>
          <p:cNvPr id="9" name="Image 2" descr="preencoded.png">    </p:cNvPr>
          <p:cNvPicPr>
            <a:picLocks noChangeAspect="1"/>
          </p:cNvPicPr>
          <p:nvPr/>
        </p:nvPicPr>
        <p:blipFill>
          <a:blip r:embed="rId5"/>
          <a:stretch>
            <a:fillRect/>
          </a:stretch>
        </p:blipFill>
        <p:spPr>
          <a:xfrm>
            <a:off x="6217487" y="939006"/>
            <a:ext cx="5319083" cy="5319216"/>
          </a:xfrm>
          <a:prstGeom prst="rect">
            <a:avLst/>
          </a:prstGeom>
        </p:spPr>
      </p:pic>
      <p:sp>
        <p:nvSpPr>
          <p:cNvPr id="10" name="Text 5"/>
          <p:cNvSpPr/>
          <p:nvPr/>
        </p:nvSpPr>
        <p:spPr>
          <a:xfrm>
            <a:off x="132255" y="6553200"/>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four wire failures</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ServiceDown        nothing is listening      start the service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Timeout            there, did not answer     wait, or raise the timeout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HttpError          a status, no envelope     look at the service console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MalformedPayload   answered, not the shape   you are on the wrong port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08934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message that saves the period</a:t>
            </a:r>
            <a:endParaRPr lang="en-US" sz="3700" dirty="0"/>
          </a:p>
        </p:txBody>
      </p:sp>
      <p:sp>
        <p:nvSpPr>
          <p:cNvPr id="3" name="Shape 1"/>
          <p:cNvSpPr/>
          <p:nvPr/>
        </p:nvSpPr>
        <p:spPr>
          <a:xfrm>
            <a:off x="661475" y="3058021"/>
            <a:ext cx="10868745" cy="1587698"/>
          </a:xfrm>
          <a:prstGeom prst="roundRect">
            <a:avLst>
              <a:gd name="adj" fmla="val 5000"/>
            </a:avLst>
          </a:prstGeom>
          <a:solidFill>
            <a:srgbClr val="F2F2F2"/>
          </a:solidFill>
          <a:ln/>
        </p:spPr>
      </p:sp>
      <p:sp>
        <p:nvSpPr>
          <p:cNvPr id="4" name="Text 2"/>
          <p:cNvSpPr/>
          <p:nvPr/>
        </p:nvSpPr>
        <p:spPr>
          <a:xfrm>
            <a:off x="888283" y="3247033"/>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reply was not the shape this program expects.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 reply to HTTP 404 was not the response this program expects: the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response has no source field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Confirm ... First 120 characters received: {"error": "not found"}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189236"/>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things about HttpClient nobody tells you</a:t>
            </a:r>
            <a:endParaRPr lang="en-US" sz="3700" dirty="0"/>
          </a:p>
        </p:txBody>
      </p:sp>
      <p:sp>
        <p:nvSpPr>
          <p:cNvPr id="3" name="Shape 1"/>
          <p:cNvSpPr/>
          <p:nvPr/>
        </p:nvSpPr>
        <p:spPr>
          <a:xfrm>
            <a:off x="661475" y="2748558"/>
            <a:ext cx="10868745" cy="2797373"/>
          </a:xfrm>
          <a:prstGeom prst="roundRect">
            <a:avLst>
              <a:gd name="adj" fmla="val 2838"/>
            </a:avLst>
          </a:prstGeom>
          <a:solidFill>
            <a:srgbClr val="F2F2F2"/>
          </a:solidFill>
          <a:ln/>
        </p:spPr>
      </p:sp>
      <p:sp>
        <p:nvSpPr>
          <p:cNvPr id="4" name="Text 2"/>
          <p:cNvSpPr/>
          <p:nvPr/>
        </p:nvSpPr>
        <p:spPr>
          <a:xfrm>
            <a:off x="888283" y="2937570"/>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catch (TaskCanceledException) when (token.IsCancellationRequested == false)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Failed(Timeout, $"did not answer within {http.Timeout.TotalSeconds:0.#} 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catch (HttpRequestException error) when (IsConnectionRefused(error))</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Failed(ServiceDown, $"nothing is listening at {BaseAddress}.");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63572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200 status is not proof</a:t>
            </a:r>
            <a:endParaRPr lang="en-US" sz="3700" dirty="0"/>
          </a:p>
        </p:txBody>
      </p:sp>
      <p:sp>
        <p:nvSpPr>
          <p:cNvPr id="3" name="Shape 1"/>
          <p:cNvSpPr/>
          <p:nvPr/>
        </p:nvSpPr>
        <p:spPr>
          <a:xfrm>
            <a:off x="661475" y="2604393"/>
            <a:ext cx="10868745" cy="2494955"/>
          </a:xfrm>
          <a:prstGeom prst="roundRect">
            <a:avLst>
              <a:gd name="adj" fmla="val 3182"/>
            </a:avLst>
          </a:prstGeom>
          <a:solidFill>
            <a:srgbClr val="F2F2F2"/>
          </a:solidFill>
          <a:ln/>
        </p:spPr>
      </p:sp>
      <p:sp>
        <p:nvSpPr>
          <p:cNvPr id="4" name="Text 2"/>
          <p:cNvSpPr/>
          <p:nvPr/>
        </p:nvSpPr>
        <p:spPr>
          <a:xfrm>
            <a:off x="888283" y="2793405"/>
            <a:ext cx="10415129" cy="2116931"/>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public string? Problem()</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(string.IsNullOrWhiteSpace(Source)) return "the response has no source field";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(string.IsNullOrWhiteSpace(Task))   return "the response has no task field";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(Ok &amp;&amp; HasResult == false)          return "says ok, but carries no result";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null;</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0467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Then read source, and say what you found</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375297"/>
            <a:ext cx="283461" cy="283468"/>
          </a:xfrm>
          <a:prstGeom prst="rect">
            <a:avLst/>
          </a:prstGeom>
        </p:spPr>
      </p:pic>
      <p:sp>
        <p:nvSpPr>
          <p:cNvPr id="5" name="Text 1"/>
          <p:cNvSpPr/>
          <p:nvPr/>
        </p:nvSpPr>
        <p:spPr>
          <a:xfrm>
            <a:off x="5847608" y="236944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From the model, or from the FALLBACK, not the model</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343870"/>
            <a:ext cx="283461" cy="283468"/>
          </a:xfrm>
          <a:prstGeom prst="rect">
            <a:avLst/>
          </a:prstGeom>
        </p:spPr>
      </p:pic>
      <p:sp>
        <p:nvSpPr>
          <p:cNvPr id="7" name="Text 2"/>
          <p:cNvSpPr/>
          <p:nvPr/>
        </p:nvSpPr>
        <p:spPr>
          <a:xfrm>
            <a:off x="5847608" y="3338016"/>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Print </a:t>
            </a:r>
            <a:pPr algn="l" indent="0" marL="0">
              <a:lnSpc>
                <a:spcPct val="104000"/>
              </a:lnSpc>
              <a:buNone/>
            </a:pPr>
            <a:r>
              <a:rPr lang="en-US" sz="1850" b="1" dirty="0">
                <a:solidFill>
                  <a:srgbClr val="1C1C1C"/>
                </a:solidFill>
                <a:highlight>
                  <a:srgbClr val="F2F2F2"/>
                </a:highlight>
                <a:latin typeface="Consolas" pitchFamily="34" charset="0"/>
                <a:ea typeface="Consolas" pitchFamily="34" charset="-122"/>
                <a:cs typeface="Consolas" pitchFamily="34" charset="-120"/>
              </a:rPr>
              <a:t>error.kind</a:t>
            </a:r>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 under it when there is one</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294783"/>
            <a:ext cx="283461" cy="283468"/>
          </a:xfrm>
          <a:prstGeom prst="rect">
            <a:avLst/>
          </a:prstGeom>
        </p:spPr>
      </p:pic>
      <p:sp>
        <p:nvSpPr>
          <p:cNvPr id="9" name="Text 3"/>
          <p:cNvSpPr/>
          <p:nvPr/>
        </p:nvSpPr>
        <p:spPr>
          <a:xfrm>
            <a:off x="5847608" y="428892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One word is the difference for the person reading</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5263356"/>
            <a:ext cx="283461" cy="283468"/>
          </a:xfrm>
          <a:prstGeom prst="rect">
            <a:avLst/>
          </a:prstGeom>
        </p:spPr>
      </p:pic>
      <p:sp>
        <p:nvSpPr>
          <p:cNvPr id="11" name="Text 4"/>
          <p:cNvSpPr/>
          <p:nvPr/>
        </p:nvSpPr>
        <p:spPr>
          <a:xfrm>
            <a:off x="5847608" y="525750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Without it the two runs look identical</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333302"/>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Six messages, and every word is false</a:t>
            </a:r>
            <a:endParaRPr lang="en-US" sz="3700" dirty="0"/>
          </a:p>
        </p:txBody>
      </p:sp>
      <p:sp>
        <p:nvSpPr>
          <p:cNvPr id="3" name="Shape 1"/>
          <p:cNvSpPr/>
          <p:nvPr/>
        </p:nvSpPr>
        <p:spPr>
          <a:xfrm>
            <a:off x="661475" y="2301974"/>
            <a:ext cx="10868745" cy="3099792"/>
          </a:xfrm>
          <a:prstGeom prst="roundRect">
            <a:avLst>
              <a:gd name="adj" fmla="val 2561"/>
            </a:avLst>
          </a:prstGeom>
          <a:solidFill>
            <a:srgbClr val="F2F2F2"/>
          </a:solidFill>
          <a:ln/>
        </p:spPr>
      </p:sp>
      <p:sp>
        <p:nvSpPr>
          <p:cNvPr id="4" name="Text 2"/>
          <p:cNvSpPr/>
          <p:nvPr/>
        </p:nvSpPr>
        <p:spPr>
          <a:xfrm>
            <a:off x="888283" y="2490986"/>
            <a:ext cx="10415129" cy="2721769"/>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for task in TASKS: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try:</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envelope = ask_with_retries(url, task, message["text"])</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show(envelope)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except Exception:</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pass</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from_model += 1</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Digest finished. 6 messages summarized by the model, 0 built from the fallback.</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a:t>
            </a:r>
            <a:pPr algn="l" indent="0" marL="0">
              <a:lnSpc>
                <a:spcPct val="104000"/>
              </a:lnSpc>
              <a:buNone/>
            </a:pPr>
            <a:r>
              <a:rPr lang="en-US" sz="3700" b="1" dirty="0">
                <a:solidFill>
                  <a:srgbClr val="1C1C1C"/>
                </a:solidFill>
                <a:highlight>
                  <a:srgbClr val="F2F2F2"/>
                </a:highlight>
                <a:latin typeface="Consolas" pitchFamily="34" charset="0"/>
                <a:ea typeface="Consolas" pitchFamily="34" charset="-122"/>
                <a:cs typeface="Consolas" pitchFamily="34" charset="-120"/>
              </a:rPr>
              <a:t>except Exception pass</a:t>
            </a:r>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 is tempting</a:t>
            </a:r>
            <a:endParaRPr lang="en-US" sz="3700" dirty="0"/>
          </a:p>
        </p:txBody>
      </p:sp>
      <p:sp>
        <p:nvSpPr>
          <p:cNvPr id="4" name="Shape 1"/>
          <p:cNvSpPr/>
          <p:nvPr/>
        </p:nvSpPr>
        <p:spPr>
          <a:xfrm>
            <a:off x="661475"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869531"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makes the red text go away</a:t>
            </a:r>
            <a:endParaRPr lang="en-US" sz="1850" dirty="0"/>
          </a:p>
        </p:txBody>
      </p:sp>
      <p:sp>
        <p:nvSpPr>
          <p:cNvPr id="6" name="Shape 3"/>
          <p:cNvSpPr/>
          <p:nvPr/>
        </p:nvSpPr>
        <p:spPr>
          <a:xfrm>
            <a:off x="661475"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loop now runs to the end</a:t>
            </a:r>
            <a:endParaRPr lang="en-US" sz="1850" dirty="0"/>
          </a:p>
        </p:txBody>
      </p:sp>
      <p:sp>
        <p:nvSpPr>
          <p:cNvPr id="8" name="Shape 5"/>
          <p:cNvSpPr/>
          <p:nvPr/>
        </p:nvSpPr>
        <p:spPr>
          <a:xfrm>
            <a:off x="661475"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output looks complete</a:t>
            </a:r>
            <a:endParaRPr lang="en-US" sz="1850" dirty="0"/>
          </a:p>
        </p:txBody>
      </p:sp>
      <p:sp>
        <p:nvSpPr>
          <p:cNvPr id="10" name="Shape 7"/>
          <p:cNvSpPr/>
          <p:nvPr/>
        </p:nvSpPr>
        <p:spPr>
          <a:xfrm>
            <a:off x="661475"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869531"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crashing is not the same as working</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26058"/>
            <a:ext cx="6296860" cy="1107480"/>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What you are about to build</a:t>
            </a:r>
            <a:endParaRPr lang="en-US" sz="3450" dirty="0"/>
          </a:p>
        </p:txBody>
      </p:sp>
      <p:sp>
        <p:nvSpPr>
          <p:cNvPr id="4" name="Text 1"/>
          <p:cNvSpPr/>
          <p:nvPr/>
        </p:nvSpPr>
        <p:spPr>
          <a:xfrm>
            <a:off x="5233360" y="1882676"/>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01</a:t>
            </a:r>
            <a:endParaRPr lang="en-US" sz="1350" dirty="0"/>
          </a:p>
        </p:txBody>
      </p:sp>
      <p:sp>
        <p:nvSpPr>
          <p:cNvPr id="5" name="Shape 2"/>
          <p:cNvSpPr/>
          <p:nvPr/>
        </p:nvSpPr>
        <p:spPr>
          <a:xfrm>
            <a:off x="5233360" y="2164755"/>
            <a:ext cx="6296860" cy="19050"/>
          </a:xfrm>
          <a:prstGeom prst="rect">
            <a:avLst/>
          </a:prstGeom>
          <a:solidFill>
            <a:srgbClr val="57A1EB"/>
          </a:solidFill>
          <a:ln/>
        </p:spPr>
      </p:sp>
      <p:sp>
        <p:nvSpPr>
          <p:cNvPr id="6" name="Text 3"/>
          <p:cNvSpPr/>
          <p:nvPr/>
        </p:nvSpPr>
        <p:spPr>
          <a:xfrm>
            <a:off x="5233360" y="2291457"/>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Wire your client to your service today</a:t>
            </a:r>
            <a:endParaRPr lang="en-US" sz="1700" dirty="0"/>
          </a:p>
        </p:txBody>
      </p:sp>
      <p:sp>
        <p:nvSpPr>
          <p:cNvPr id="7" name="Text 4"/>
          <p:cNvSpPr/>
          <p:nvPr/>
        </p:nvSpPr>
        <p:spPr>
          <a:xfrm>
            <a:off x="5233360" y="2867323"/>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02</a:t>
            </a:r>
            <a:endParaRPr lang="en-US" sz="1350" dirty="0"/>
          </a:p>
        </p:txBody>
      </p:sp>
      <p:sp>
        <p:nvSpPr>
          <p:cNvPr id="8" name="Shape 5"/>
          <p:cNvSpPr/>
          <p:nvPr/>
        </p:nvSpPr>
        <p:spPr>
          <a:xfrm>
            <a:off x="5233360" y="3149402"/>
            <a:ext cx="6296860" cy="19050"/>
          </a:xfrm>
          <a:prstGeom prst="rect">
            <a:avLst/>
          </a:prstGeom>
          <a:solidFill>
            <a:srgbClr val="57A1EB"/>
          </a:solidFill>
          <a:ln/>
        </p:spPr>
      </p:sp>
      <p:sp>
        <p:nvSpPr>
          <p:cNvPr id="9" name="Text 6"/>
          <p:cNvSpPr/>
          <p:nvPr/>
        </p:nvSpPr>
        <p:spPr>
          <a:xfrm>
            <a:off x="5233360" y="3276104"/>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Four failure kinds, four different messages</a:t>
            </a:r>
            <a:endParaRPr lang="en-US" sz="1700" dirty="0"/>
          </a:p>
        </p:txBody>
      </p:sp>
      <p:sp>
        <p:nvSpPr>
          <p:cNvPr id="10" name="Text 7"/>
          <p:cNvSpPr/>
          <p:nvPr/>
        </p:nvSpPr>
        <p:spPr>
          <a:xfrm>
            <a:off x="5233360" y="3851970"/>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03</a:t>
            </a:r>
            <a:endParaRPr lang="en-US" sz="1350" dirty="0"/>
          </a:p>
        </p:txBody>
      </p:sp>
      <p:sp>
        <p:nvSpPr>
          <p:cNvPr id="11" name="Shape 8"/>
          <p:cNvSpPr/>
          <p:nvPr/>
        </p:nvSpPr>
        <p:spPr>
          <a:xfrm>
            <a:off x="5233360" y="4134048"/>
            <a:ext cx="6296860" cy="19050"/>
          </a:xfrm>
          <a:prstGeom prst="rect">
            <a:avLst/>
          </a:prstGeom>
          <a:solidFill>
            <a:srgbClr val="57A1EB"/>
          </a:solidFill>
          <a:ln/>
        </p:spPr>
      </p:sp>
      <p:sp>
        <p:nvSpPr>
          <p:cNvPr id="12" name="Text 9"/>
          <p:cNvSpPr/>
          <p:nvPr/>
        </p:nvSpPr>
        <p:spPr>
          <a:xfrm>
            <a:off x="5233360" y="4260751"/>
            <a:ext cx="6296860"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Each message says what to do, not what happened</a:t>
            </a:r>
            <a:endParaRPr lang="en-US" sz="1700" dirty="0"/>
          </a:p>
        </p:txBody>
      </p:sp>
      <p:sp>
        <p:nvSpPr>
          <p:cNvPr id="13" name="Text 10"/>
          <p:cNvSpPr/>
          <p:nvPr/>
        </p:nvSpPr>
        <p:spPr>
          <a:xfrm>
            <a:off x="5233360" y="5113536"/>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04</a:t>
            </a:r>
            <a:endParaRPr lang="en-US" sz="1350" dirty="0"/>
          </a:p>
        </p:txBody>
      </p:sp>
      <p:sp>
        <p:nvSpPr>
          <p:cNvPr id="14" name="Shape 11"/>
          <p:cNvSpPr/>
          <p:nvPr/>
        </p:nvSpPr>
        <p:spPr>
          <a:xfrm>
            <a:off x="5233360" y="5395615"/>
            <a:ext cx="6296860" cy="19050"/>
          </a:xfrm>
          <a:prstGeom prst="rect">
            <a:avLst/>
          </a:prstGeom>
          <a:solidFill>
            <a:srgbClr val="57A1EB"/>
          </a:solidFill>
          <a:ln/>
        </p:spPr>
      </p:sp>
      <p:sp>
        <p:nvSpPr>
          <p:cNvPr id="15" name="Text 12"/>
          <p:cNvSpPr/>
          <p:nvPr/>
        </p:nvSpPr>
        <p:spPr>
          <a:xfrm>
            <a:off x="5233360" y="5522317"/>
            <a:ext cx="6296860"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Count what happened, not how many times the loop ran</a:t>
            </a:r>
            <a:endParaRPr lang="en-US" sz="17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2026-09-16T05:23:56Z</dcterms:created>
  <dcterms:modified xsi:type="dcterms:W3CDTF">2026-09-16T05:23:56Z</dcterms:modified>
</cp:coreProperties>
</file>