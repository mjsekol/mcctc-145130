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front end that checks the roster before it writes anything, and it works. Here is the database refusing the same row. Two refusals that look identical in the terminal and are completely different in what they promise. That difference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names, and they are worth learning because they tell you which tool to reach for when somebody describes a problem. Somebody says two records got merged, that is entity. Somebody says a grade of thirteen got in, that is domain. Somebody says half a record saved, that is transactional.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bad inserts, three refusals. Notice which message tells you the most. The CHECK names the rule it broke, because you wrote that rule in a form a person can read. The foreign key message does not even name the column, which is an argument for putting a readable message in the layer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I deleted were the pragmas. The primary key still works. The CHECK still works. The foreign key does not, and there is no warning anywhere. It is off by default on every new connection, the setting belongs to the connection rather than the file, and a pragma inside a transaction is ignored, which is why you often set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front end doing something ordinary. A match row, then a lineup. Then the manager types vexcalibur twice by accident, which happens at a desk with people talking. The database refuses the second one and prints a sensible message. Predict what is in the database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said refused. The match is in the database with zero players. One line caused this, and it has a comment above it that sounds sensible: save the match straight away so the match id is safe. That commit made the match permanent before a single lineup row was attempted.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connection is not with open. It does not close the connection. It manages a transaction: commit if the block finishes, roll back if anything in it raises. Everybody who has used with open assumes otherwise exactly once, and this is the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appearance is part of a match. It has no meaning once the match is gone, so cascading is right. An appearance is not part of a player. It is a record of something that happened and it stays true after they leave the team. Deleting a person should never delete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three are not duplicates of each other. One is readable and true for one program. One is true for everybody and unreadable. You want both, and if you only get one, take the schema, because the day somebody loads a spreadsheet directly is the day you find out which rules were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 zero four dash zero two. You are not building anything new. You are going to break a working system four different ways, write down exactly what happened each time, and then move three rules from where they are to where they belong. Step four is the one that matters and I am not telling you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Integrity, Transactions, and Where a Rule Lives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kiosk refused it. So did the database.</a:t>
            </a:r>
            <a:endParaRPr lang="en-US" sz="3700" dirty="0"/>
          </a:p>
        </p:txBody>
      </p:sp>
      <p:sp>
        <p:nvSpPr>
          <p:cNvPr id="4" name="Shape 1"/>
          <p:cNvSpPr/>
          <p:nvPr/>
        </p:nvSpPr>
        <p:spPr>
          <a:xfrm>
            <a:off x="661475"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Both said no to the same bad row</a:t>
            </a:r>
            <a:endParaRPr lang="en-US" sz="1850" dirty="0"/>
          </a:p>
        </p:txBody>
      </p:sp>
      <p:sp>
        <p:nvSpPr>
          <p:cNvPr id="6" name="Shape 3"/>
          <p:cNvSpPr/>
          <p:nvPr/>
        </p:nvSpPr>
        <p:spPr>
          <a:xfrm>
            <a:off x="661475"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were not saying no for the same reason</a:t>
            </a:r>
            <a:endParaRPr lang="en-US" sz="1850" dirty="0"/>
          </a:p>
        </p:txBody>
      </p:sp>
      <p:sp>
        <p:nvSpPr>
          <p:cNvPr id="8" name="Shape 5"/>
          <p:cNvSpPr/>
          <p:nvPr/>
        </p:nvSpPr>
        <p:spPr>
          <a:xfrm>
            <a:off x="661475"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of them still says no next year</a:t>
            </a:r>
            <a:endParaRPr lang="en-US" sz="1850" dirty="0"/>
          </a:p>
        </p:txBody>
      </p:sp>
      <p:sp>
        <p:nvSpPr>
          <p:cNvPr id="10" name="Shape 7"/>
          <p:cNvSpPr/>
          <p:nvPr/>
        </p:nvSpPr>
        <p:spPr>
          <a:xfrm>
            <a:off x="661475"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Today is about which one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kinds of integrity</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Entity</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row is identifiable, primary key</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Domain</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value is legal, CHECK and NOT NULL</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Referential</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pointer points at something, foreign key</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Transactional</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All or nothing, commit and rollback</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9009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All three, doing their jobs</a:t>
            </a:r>
            <a:endParaRPr lang="en-US" sz="3700" dirty="0"/>
          </a:p>
        </p:txBody>
      </p:sp>
      <p:sp>
        <p:nvSpPr>
          <p:cNvPr id="4" name="Shape 1"/>
          <p:cNvSpPr/>
          <p:nvPr/>
        </p:nvSpPr>
        <p:spPr>
          <a:xfrm>
            <a:off x="661475" y="3154859"/>
            <a:ext cx="6296860" cy="1890117"/>
          </a:xfrm>
          <a:prstGeom prst="roundRect">
            <a:avLst>
              <a:gd name="adj" fmla="val 4200"/>
            </a:avLst>
          </a:prstGeom>
          <a:solidFill>
            <a:srgbClr val="F2F2F2"/>
          </a:solidFill>
          <a:ln/>
        </p:spPr>
      </p:sp>
      <p:sp>
        <p:nvSpPr>
          <p:cNvPr id="5" name="Text 2"/>
          <p:cNvSpPr/>
          <p:nvPr/>
        </p:nvSpPr>
        <p:spPr>
          <a:xfrm>
            <a:off x="888283" y="3343870"/>
            <a:ext cx="5843243"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same gamertag twice          UNIQUE constraint failed: players.gamertag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grade 13                     CHECK constraint failed: grade_level BETWEEN 9 AND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player who does not exist  FOREIGN KEY constraint failed</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5627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delete two lines and run it again</a:t>
            </a:r>
            <a:endParaRPr lang="en-US" sz="3700" dirty="0"/>
          </a:p>
        </p:txBody>
      </p:sp>
      <p:sp>
        <p:nvSpPr>
          <p:cNvPr id="3" name="Shape 1"/>
          <p:cNvSpPr/>
          <p:nvPr/>
        </p:nvSpPr>
        <p:spPr>
          <a:xfrm>
            <a:off x="661475" y="2724944"/>
            <a:ext cx="10868745" cy="1285280"/>
          </a:xfrm>
          <a:prstGeom prst="roundRect">
            <a:avLst>
              <a:gd name="adj" fmla="val 6177"/>
            </a:avLst>
          </a:prstGeom>
          <a:solidFill>
            <a:srgbClr val="F2F2F2"/>
          </a:solidFill>
          <a:ln/>
        </p:spPr>
      </p:sp>
      <p:sp>
        <p:nvSpPr>
          <p:cNvPr id="4" name="Text 2"/>
          <p:cNvSpPr/>
          <p:nvPr/>
        </p:nvSpPr>
        <p:spPr>
          <a:xfrm>
            <a:off x="888283" y="2913955"/>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same gamertag twice          UNIQUE constraint failed: players.gamertag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grade 13                     CHECK constraint failed: grade_level BETWEEN 9 AND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player who does not exist  NO ERROR</a:t>
            </a:r>
            <a:endParaRPr lang="en-US" sz="1450" dirty="0"/>
          </a:p>
        </p:txBody>
      </p:sp>
      <p:sp>
        <p:nvSpPr>
          <p:cNvPr id="5" name="Shape 3"/>
          <p:cNvSpPr/>
          <p:nvPr/>
        </p:nvSpPr>
        <p:spPr>
          <a:xfrm>
            <a:off x="661475" y="4222849"/>
            <a:ext cx="10868745" cy="755948"/>
          </a:xfrm>
          <a:prstGeom prst="roundRect">
            <a:avLst>
              <a:gd name="adj" fmla="val 10502"/>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4490541"/>
            <a:ext cx="236234" cy="189012"/>
          </a:xfrm>
          <a:prstGeom prst="rect">
            <a:avLst/>
          </a:prstGeom>
        </p:spPr>
      </p:pic>
      <p:sp>
        <p:nvSpPr>
          <p:cNvPr id="7" name="Text 4"/>
          <p:cNvSpPr/>
          <p:nvPr/>
        </p:nvSpPr>
        <p:spPr>
          <a:xfrm>
            <a:off x="1275723" y="4459089"/>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missing foreign key check is now silent. The schema no longer holds.</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1350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Recording a match is two things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84127"/>
            <a:ext cx="283461" cy="283468"/>
          </a:xfrm>
          <a:prstGeom prst="rect">
            <a:avLst/>
          </a:prstGeom>
        </p:spPr>
      </p:pic>
      <p:sp>
        <p:nvSpPr>
          <p:cNvPr id="5" name="Text 1"/>
          <p:cNvSpPr/>
          <p:nvPr/>
        </p:nvSpPr>
        <p:spPr>
          <a:xfrm>
            <a:off x="1275723" y="237827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Insert the match, get its id</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35040"/>
            <a:ext cx="283461" cy="283468"/>
          </a:xfrm>
          <a:prstGeom prst="rect">
            <a:avLst/>
          </a:prstGeom>
        </p:spPr>
      </p:pic>
      <p:sp>
        <p:nvSpPr>
          <p:cNvPr id="7" name="Text 2"/>
          <p:cNvSpPr/>
          <p:nvPr/>
        </p:nvSpPr>
        <p:spPr>
          <a:xfrm>
            <a:off x="1275723" y="332918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Insert every player in the lineup</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285952"/>
            <a:ext cx="283461" cy="283468"/>
          </a:xfrm>
          <a:prstGeom prst="rect">
            <a:avLst/>
          </a:prstGeom>
        </p:spPr>
      </p:pic>
      <p:sp>
        <p:nvSpPr>
          <p:cNvPr id="9" name="Text 3"/>
          <p:cNvSpPr/>
          <p:nvPr/>
        </p:nvSpPr>
        <p:spPr>
          <a:xfrm>
            <a:off x="1275723" y="428009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types the same player twice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36865"/>
            <a:ext cx="283461" cy="283468"/>
          </a:xfrm>
          <a:prstGeom prst="rect">
            <a:avLst/>
          </a:prstGeom>
        </p:spPr>
      </p:pic>
      <p:sp>
        <p:nvSpPr>
          <p:cNvPr id="11" name="Text 4"/>
          <p:cNvSpPr/>
          <p:nvPr/>
        </p:nvSpPr>
        <p:spPr>
          <a:xfrm>
            <a:off x="1275723" y="5231011"/>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database refuses. Watch what is left behind.</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75627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match played by nobody</a:t>
            </a:r>
            <a:endParaRPr lang="en-US" sz="3700" dirty="0"/>
          </a:p>
        </p:txBody>
      </p:sp>
      <p:sp>
        <p:nvSpPr>
          <p:cNvPr id="3" name="Shape 1"/>
          <p:cNvSpPr/>
          <p:nvPr/>
        </p:nvSpPr>
        <p:spPr>
          <a:xfrm>
            <a:off x="661475" y="2724944"/>
            <a:ext cx="10868745" cy="1285280"/>
          </a:xfrm>
          <a:prstGeom prst="roundRect">
            <a:avLst>
              <a:gd name="adj" fmla="val 6177"/>
            </a:avLst>
          </a:prstGeom>
          <a:solidFill>
            <a:srgbClr val="F2F2F2"/>
          </a:solidFill>
          <a:ln/>
        </p:spPr>
      </p:sp>
      <p:sp>
        <p:nvSpPr>
          <p:cNvPr id="4" name="Text 2"/>
          <p:cNvSpPr/>
          <p:nvPr/>
        </p:nvSpPr>
        <p:spPr>
          <a:xfrm>
            <a:off x="888283" y="2913955"/>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database refused it: UNIQUE constraint failed: appearances.match_id, appearances.gamertag</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8  2027-03-17  Cedar Valley   Rocket League  2-1   0 players</a:t>
            </a:r>
            <a:endParaRPr lang="en-US" sz="1450" dirty="0"/>
          </a:p>
        </p:txBody>
      </p:sp>
      <p:sp>
        <p:nvSpPr>
          <p:cNvPr id="5" name="Shape 3"/>
          <p:cNvSpPr/>
          <p:nvPr/>
        </p:nvSpPr>
        <p:spPr>
          <a:xfrm>
            <a:off x="661475" y="4222849"/>
            <a:ext cx="10868745" cy="755948"/>
          </a:xfrm>
          <a:prstGeom prst="roundRect">
            <a:avLst>
              <a:gd name="adj" fmla="val 10502"/>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850482" y="4490541"/>
            <a:ext cx="236234" cy="189012"/>
          </a:xfrm>
          <a:prstGeom prst="rect">
            <a:avLst/>
          </a:prstGeom>
        </p:spPr>
      </p:pic>
      <p:sp>
        <p:nvSpPr>
          <p:cNvPr id="7" name="Text 4"/>
          <p:cNvSpPr/>
          <p:nvPr/>
        </p:nvSpPr>
        <p:spPr>
          <a:xfrm>
            <a:off x="1275723" y="4459089"/>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match row was committed. The appearances were not. An orphaned record remains.</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2163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indentation level fixes it</a:t>
            </a:r>
            <a:endParaRPr lang="en-US" sz="3700" dirty="0"/>
          </a:p>
        </p:txBody>
      </p:sp>
      <p:sp>
        <p:nvSpPr>
          <p:cNvPr id="3" name="Shape 1"/>
          <p:cNvSpPr/>
          <p:nvPr/>
        </p:nvSpPr>
        <p:spPr>
          <a:xfrm>
            <a:off x="661475" y="2708374"/>
            <a:ext cx="5203794" cy="2192536"/>
          </a:xfrm>
          <a:prstGeom prst="roundRect">
            <a:avLst>
              <a:gd name="adj" fmla="val 3621"/>
            </a:avLst>
          </a:prstGeom>
          <a:solidFill>
            <a:srgbClr val="F2F2F2"/>
          </a:solidFill>
          <a:ln/>
        </p:spPr>
      </p:sp>
      <p:sp>
        <p:nvSpPr>
          <p:cNvPr id="4" name="Text 2"/>
          <p:cNvSpPr/>
          <p:nvPr/>
        </p:nvSpPr>
        <p:spPr>
          <a:xfrm>
            <a:off x="888283" y="2897386"/>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with connection: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cursor = connection.execute("INSERT INTO matches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for player in lineup: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connection.execute("INSERT INTO appearances ...")</a:t>
            </a:r>
            <a:endParaRPr lang="en-US" sz="1450" dirty="0"/>
          </a:p>
        </p:txBody>
      </p:sp>
      <p:sp>
        <p:nvSpPr>
          <p:cNvPr id="5" name="Text 3"/>
          <p:cNvSpPr/>
          <p:nvPr/>
        </p:nvSpPr>
        <p:spPr>
          <a:xfrm>
            <a:off x="6332776" y="2665809"/>
            <a:ext cx="5203794" cy="913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Wrapping both operations in a single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with connection:</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block makes them one transaction. If any insert fails, the entire unit rolls back together.</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81223"/>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Two ON DELETE clauses, two beliefs</a:t>
            </a:r>
            <a:endParaRPr lang="en-US" sz="3250" dirty="0"/>
          </a:p>
        </p:txBody>
      </p:sp>
      <p:pic>
        <p:nvPicPr>
          <p:cNvPr id="3" name="Image 0" descr="preencoded.png">    </p:cNvPr>
          <p:cNvPicPr>
            <a:picLocks noChangeAspect="1"/>
          </p:cNvPicPr>
          <p:nvPr/>
        </p:nvPicPr>
        <p:blipFill>
          <a:blip r:embed="rId1"/>
          <a:stretch>
            <a:fillRect/>
          </a:stretch>
        </p:blipFill>
        <p:spPr>
          <a:xfrm>
            <a:off x="661475" y="1772741"/>
            <a:ext cx="6923410" cy="3923308"/>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94648" y="1477665"/>
            <a:ext cx="3541822" cy="1019870"/>
          </a:xfrm>
          <a:prstGeom prst="rect">
            <a:avLst/>
          </a:prstGeom>
        </p:spPr>
      </p:pic>
      <p:sp>
        <p:nvSpPr>
          <p:cNvPr id="5" name="Text 1"/>
          <p:cNvSpPr/>
          <p:nvPr/>
        </p:nvSpPr>
        <p:spPr>
          <a:xfrm>
            <a:off x="8255190" y="1662013"/>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CASCADE on the match</a:t>
            </a:r>
            <a:endParaRPr lang="en-US" sz="1600" dirty="0"/>
          </a:p>
        </p:txBody>
      </p:sp>
      <p:sp>
        <p:nvSpPr>
          <p:cNvPr id="6" name="Text 2"/>
          <p:cNvSpPr/>
          <p:nvPr/>
        </p:nvSpPr>
        <p:spPr>
          <a:xfrm>
            <a:off x="8255190" y="2065139"/>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Appearances are part of it</a:t>
            </a:r>
            <a:endParaRPr lang="en-US" sz="13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4648" y="2642195"/>
            <a:ext cx="3541822" cy="1019870"/>
          </a:xfrm>
          <a:prstGeom prst="rect">
            <a:avLst/>
          </a:prstGeom>
        </p:spPr>
      </p:pic>
      <p:sp>
        <p:nvSpPr>
          <p:cNvPr id="8" name="Text 3"/>
          <p:cNvSpPr/>
          <p:nvPr/>
        </p:nvSpPr>
        <p:spPr>
          <a:xfrm>
            <a:off x="8255190" y="2826544"/>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RESTRICT on the player</a:t>
            </a:r>
            <a:endParaRPr lang="en-US" sz="1600" dirty="0"/>
          </a:p>
        </p:txBody>
      </p:sp>
      <p:sp>
        <p:nvSpPr>
          <p:cNvPr id="9" name="Text 4"/>
          <p:cNvSpPr/>
          <p:nvPr/>
        </p:nvSpPr>
        <p:spPr>
          <a:xfrm>
            <a:off x="8255190" y="3229670"/>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Appearances are a record</a:t>
            </a:r>
            <a:endParaRPr lang="en-US" sz="13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4648" y="3806726"/>
            <a:ext cx="3541822" cy="1019870"/>
          </a:xfrm>
          <a:prstGeom prst="rect">
            <a:avLst/>
          </a:prstGeom>
        </p:spPr>
      </p:pic>
      <p:sp>
        <p:nvSpPr>
          <p:cNvPr id="11" name="Text 5"/>
          <p:cNvSpPr/>
          <p:nvPr/>
        </p:nvSpPr>
        <p:spPr>
          <a:xfrm>
            <a:off x="8255190" y="3991074"/>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Delete a match</a:t>
            </a:r>
            <a:endParaRPr lang="en-US" sz="1600" dirty="0"/>
          </a:p>
        </p:txBody>
      </p:sp>
      <p:sp>
        <p:nvSpPr>
          <p:cNvPr id="12" name="Text 6"/>
          <p:cNvSpPr/>
          <p:nvPr/>
        </p:nvSpPr>
        <p:spPr>
          <a:xfrm>
            <a:off x="8255190" y="4394200"/>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Three rows go quietly with it</a:t>
            </a:r>
            <a:endParaRPr lang="en-US" sz="13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94648" y="4971256"/>
            <a:ext cx="3541822" cy="1019870"/>
          </a:xfrm>
          <a:prstGeom prst="rect">
            <a:avLst/>
          </a:prstGeom>
        </p:spPr>
      </p:pic>
      <p:sp>
        <p:nvSpPr>
          <p:cNvPr id="14" name="Text 7"/>
          <p:cNvSpPr/>
          <p:nvPr/>
        </p:nvSpPr>
        <p:spPr>
          <a:xfrm>
            <a:off x="8255190" y="5155605"/>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Delete a player</a:t>
            </a:r>
            <a:endParaRPr lang="en-US" sz="1600" dirty="0"/>
          </a:p>
        </p:txBody>
      </p:sp>
      <p:sp>
        <p:nvSpPr>
          <p:cNvPr id="15" name="Text 8"/>
          <p:cNvSpPr/>
          <p:nvPr/>
        </p:nvSpPr>
        <p:spPr>
          <a:xfrm>
            <a:off x="8255190" y="5558730"/>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Refused</a:t>
            </a:r>
            <a:endParaRPr lang="en-US" sz="1300" dirty="0"/>
          </a:p>
        </p:txBody>
      </p:sp>
      <p:sp>
        <p:nvSpPr>
          <p:cNvPr id="16"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6562"/>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a rule lives</a:t>
            </a:r>
            <a:endParaRPr lang="en-US" sz="3700" dirty="0"/>
          </a:p>
        </p:txBody>
      </p:sp>
      <p:sp>
        <p:nvSpPr>
          <p:cNvPr id="4" name="Text 1"/>
          <p:cNvSpPr/>
          <p:nvPr/>
        </p:nvSpPr>
        <p:spPr>
          <a:xfrm>
            <a:off x="5233360" y="1780679"/>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5233360" y="2076549"/>
            <a:ext cx="3053877" cy="25400"/>
          </a:xfrm>
          <a:prstGeom prst="rect">
            <a:avLst/>
          </a:prstGeom>
          <a:solidFill>
            <a:srgbClr val="57A1EB"/>
          </a:solidFill>
          <a:ln/>
        </p:spPr>
      </p:sp>
      <p:sp>
        <p:nvSpPr>
          <p:cNvPr id="6" name="Text 3"/>
          <p:cNvSpPr/>
          <p:nvPr/>
        </p:nvSpPr>
        <p:spPr>
          <a:xfrm>
            <a:off x="5233360" y="2221805"/>
            <a:ext cx="3053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Front end</a:t>
            </a:r>
            <a:endParaRPr lang="en-US" sz="1850" dirty="0"/>
          </a:p>
        </p:txBody>
      </p:sp>
      <p:sp>
        <p:nvSpPr>
          <p:cNvPr id="7" name="Text 4"/>
          <p:cNvSpPr/>
          <p:nvPr/>
        </p:nvSpPr>
        <p:spPr>
          <a:xfrm>
            <a:off x="5233360" y="2630488"/>
            <a:ext cx="3053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message the person can act on</a:t>
            </a:r>
            <a:endParaRPr lang="en-US" sz="1450" dirty="0"/>
          </a:p>
        </p:txBody>
      </p:sp>
      <p:sp>
        <p:nvSpPr>
          <p:cNvPr id="8" name="Text 5"/>
          <p:cNvSpPr/>
          <p:nvPr/>
        </p:nvSpPr>
        <p:spPr>
          <a:xfrm>
            <a:off x="8476244" y="1780679"/>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9" name="Shape 6"/>
          <p:cNvSpPr/>
          <p:nvPr/>
        </p:nvSpPr>
        <p:spPr>
          <a:xfrm>
            <a:off x="8476244" y="2076549"/>
            <a:ext cx="3053976" cy="25400"/>
          </a:xfrm>
          <a:prstGeom prst="rect">
            <a:avLst/>
          </a:prstGeom>
          <a:solidFill>
            <a:srgbClr val="57A1EB"/>
          </a:solidFill>
          <a:ln/>
        </p:spPr>
      </p:sp>
      <p:sp>
        <p:nvSpPr>
          <p:cNvPr id="10" name="Text 7"/>
          <p:cNvSpPr/>
          <p:nvPr/>
        </p:nvSpPr>
        <p:spPr>
          <a:xfrm>
            <a:off x="8476244" y="2221805"/>
            <a:ext cx="305397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Loader</a:t>
            </a:r>
            <a:endParaRPr lang="en-US" sz="1850" dirty="0"/>
          </a:p>
        </p:txBody>
      </p:sp>
      <p:sp>
        <p:nvSpPr>
          <p:cNvPr id="11" name="Text 8"/>
          <p:cNvSpPr/>
          <p:nvPr/>
        </p:nvSpPr>
        <p:spPr>
          <a:xfrm>
            <a:off x="8476244" y="2630488"/>
            <a:ext cx="305397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Rules needing context, and collecting reasons</a:t>
            </a:r>
            <a:endParaRPr lang="en-US" sz="1450" dirty="0"/>
          </a:p>
        </p:txBody>
      </p:sp>
      <p:sp>
        <p:nvSpPr>
          <p:cNvPr id="12" name="Text 9"/>
          <p:cNvSpPr/>
          <p:nvPr/>
        </p:nvSpPr>
        <p:spPr>
          <a:xfrm>
            <a:off x="5233360" y="356602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3" name="Shape 10"/>
          <p:cNvSpPr/>
          <p:nvPr/>
        </p:nvSpPr>
        <p:spPr>
          <a:xfrm>
            <a:off x="5233360" y="3861891"/>
            <a:ext cx="6296860" cy="25400"/>
          </a:xfrm>
          <a:prstGeom prst="rect">
            <a:avLst/>
          </a:prstGeom>
          <a:solidFill>
            <a:srgbClr val="57A1EB"/>
          </a:solidFill>
          <a:ln/>
        </p:spPr>
      </p:sp>
      <p:sp>
        <p:nvSpPr>
          <p:cNvPr id="14" name="Text 11"/>
          <p:cNvSpPr/>
          <p:nvPr/>
        </p:nvSpPr>
        <p:spPr>
          <a:xfrm>
            <a:off x="5233360" y="4007148"/>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Schema</a:t>
            </a:r>
            <a:endParaRPr lang="en-US" sz="1850" dirty="0"/>
          </a:p>
        </p:txBody>
      </p:sp>
      <p:sp>
        <p:nvSpPr>
          <p:cNvPr id="15" name="Text 12"/>
          <p:cNvSpPr/>
          <p:nvPr/>
        </p:nvSpPr>
        <p:spPr>
          <a:xfrm>
            <a:off x="5233360" y="4415830"/>
            <a:ext cx="629686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Holds for every writer, forever</a:t>
            </a:r>
            <a:endParaRPr lang="en-US" sz="1450" dirty="0"/>
          </a:p>
        </p:txBody>
      </p:sp>
      <p:sp>
        <p:nvSpPr>
          <p:cNvPr id="16" name="Shape 13"/>
          <p:cNvSpPr/>
          <p:nvPr/>
        </p:nvSpPr>
        <p:spPr>
          <a:xfrm>
            <a:off x="5233360" y="5072559"/>
            <a:ext cx="6296860" cy="755948"/>
          </a:xfrm>
          <a:prstGeom prst="roundRect">
            <a:avLst>
              <a:gd name="adj" fmla="val 10502"/>
            </a:avLst>
          </a:prstGeom>
          <a:solidFill>
            <a:srgbClr val="D1E5FA"/>
          </a:solidFill>
          <a:ln/>
        </p:spPr>
      </p:sp>
      <p:pic>
        <p:nvPicPr>
          <p:cNvPr id="17" name="Image 1" descr="preencoded.png">    </p:cNvPr>
          <p:cNvPicPr>
            <a:picLocks noChangeAspect="1"/>
          </p:cNvPicPr>
          <p:nvPr/>
        </p:nvPicPr>
        <p:blipFill>
          <a:blip r:embed="rId2"/>
          <a:stretch>
            <a:fillRect/>
          </a:stretch>
        </p:blipFill>
        <p:spPr>
          <a:xfrm>
            <a:off x="5422367" y="5340251"/>
            <a:ext cx="236234" cy="189012"/>
          </a:xfrm>
          <a:prstGeom prst="rect">
            <a:avLst/>
          </a:prstGeom>
        </p:spPr>
      </p:pic>
      <p:sp>
        <p:nvSpPr>
          <p:cNvPr id="18" name="Text 14"/>
          <p:cNvSpPr/>
          <p:nvPr/>
        </p:nvSpPr>
        <p:spPr>
          <a:xfrm>
            <a:off x="5847608" y="5308798"/>
            <a:ext cx="6103190"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Put the rule in the schema, the message in the front end.</a:t>
            </a:r>
            <a:endParaRPr lang="en-US" sz="1450" dirty="0"/>
          </a:p>
        </p:txBody>
      </p:sp>
      <p:sp>
        <p:nvSpPr>
          <p:cNvPr id="19" name="Text 1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39849"/>
            <a:ext cx="6296860" cy="1052116"/>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What you are about to build</a:t>
            </a:r>
            <a:endParaRPr lang="en-US" sz="3300" dirty="0"/>
          </a:p>
        </p:txBody>
      </p:sp>
      <p:sp>
        <p:nvSpPr>
          <p:cNvPr id="4" name="Shape 1"/>
          <p:cNvSpPr/>
          <p:nvPr/>
        </p:nvSpPr>
        <p:spPr>
          <a:xfrm>
            <a:off x="5233360" y="1816795"/>
            <a:ext cx="6296860" cy="982166"/>
          </a:xfrm>
          <a:prstGeom prst="roundRect">
            <a:avLst>
              <a:gd name="adj" fmla="val 7199"/>
            </a:avLst>
          </a:prstGeom>
          <a:solidFill>
            <a:srgbClr val="D1E5FA"/>
          </a:solidFill>
          <a:ln w="19050">
            <a:solidFill>
              <a:srgbClr val="B7CBE0"/>
            </a:solidFill>
            <a:prstDash val="solid"/>
          </a:ln>
        </p:spPr>
      </p:sp>
      <p:sp>
        <p:nvSpPr>
          <p:cNvPr id="5" name="Text 2"/>
          <p:cNvSpPr/>
          <p:nvPr/>
        </p:nvSpPr>
        <p:spPr>
          <a:xfrm>
            <a:off x="5420681" y="2004120"/>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Lab M04-02</a:t>
            </a:r>
            <a:endParaRPr lang="en-US" sz="1650" dirty="0"/>
          </a:p>
        </p:txBody>
      </p:sp>
      <p:sp>
        <p:nvSpPr>
          <p:cNvPr id="6" name="Text 3"/>
          <p:cNvSpPr/>
          <p:nvPr/>
        </p:nvSpPr>
        <p:spPr>
          <a:xfrm>
            <a:off x="5420681" y="2357041"/>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You attack a working system four ways</a:t>
            </a:r>
            <a:endParaRPr lang="en-US" sz="1300" dirty="0"/>
          </a:p>
        </p:txBody>
      </p:sp>
      <p:sp>
        <p:nvSpPr>
          <p:cNvPr id="7" name="Shape 4"/>
          <p:cNvSpPr/>
          <p:nvPr/>
        </p:nvSpPr>
        <p:spPr>
          <a:xfrm>
            <a:off x="5233360" y="2948880"/>
            <a:ext cx="6296860" cy="982166"/>
          </a:xfrm>
          <a:prstGeom prst="roundRect">
            <a:avLst>
              <a:gd name="adj" fmla="val 7199"/>
            </a:avLst>
          </a:prstGeom>
          <a:solidFill>
            <a:srgbClr val="D1E5FA"/>
          </a:solidFill>
          <a:ln w="19050">
            <a:solidFill>
              <a:srgbClr val="B7CBE0"/>
            </a:solidFill>
            <a:prstDash val="solid"/>
          </a:ln>
        </p:spPr>
      </p:sp>
      <p:sp>
        <p:nvSpPr>
          <p:cNvPr id="8" name="Text 5"/>
          <p:cNvSpPr/>
          <p:nvPr/>
        </p:nvSpPr>
        <p:spPr>
          <a:xfrm>
            <a:off x="5420681" y="3136205"/>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Deliverable</a:t>
            </a:r>
            <a:endParaRPr lang="en-US" sz="1650" dirty="0"/>
          </a:p>
        </p:txBody>
      </p:sp>
      <p:sp>
        <p:nvSpPr>
          <p:cNvPr id="9" name="Text 6"/>
          <p:cNvSpPr/>
          <p:nvPr/>
        </p:nvSpPr>
        <p:spPr>
          <a:xfrm>
            <a:off x="5420681" y="3489127"/>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The write-ups, not the code</a:t>
            </a:r>
            <a:endParaRPr lang="en-US" sz="1300" dirty="0"/>
          </a:p>
        </p:txBody>
      </p:sp>
      <p:sp>
        <p:nvSpPr>
          <p:cNvPr id="10" name="Shape 7"/>
          <p:cNvSpPr/>
          <p:nvPr/>
        </p:nvSpPr>
        <p:spPr>
          <a:xfrm>
            <a:off x="5233360" y="4080966"/>
            <a:ext cx="6296860" cy="982166"/>
          </a:xfrm>
          <a:prstGeom prst="roundRect">
            <a:avLst>
              <a:gd name="adj" fmla="val 7199"/>
            </a:avLst>
          </a:prstGeom>
          <a:solidFill>
            <a:srgbClr val="D1E5FA"/>
          </a:solidFill>
          <a:ln w="19050">
            <a:solidFill>
              <a:srgbClr val="B7CBE0"/>
            </a:solidFill>
            <a:prstDash val="solid"/>
          </a:ln>
        </p:spPr>
      </p:sp>
      <p:sp>
        <p:nvSpPr>
          <p:cNvPr id="11" name="Text 8"/>
          <p:cNvSpPr/>
          <p:nvPr/>
        </p:nvSpPr>
        <p:spPr>
          <a:xfrm>
            <a:off x="5420681" y="4268291"/>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Scope</a:t>
            </a:r>
            <a:endParaRPr lang="en-US" sz="1650" dirty="0"/>
          </a:p>
        </p:txBody>
      </p:sp>
      <p:sp>
        <p:nvSpPr>
          <p:cNvPr id="12" name="Text 9"/>
          <p:cNvSpPr/>
          <p:nvPr/>
        </p:nvSpPr>
        <p:spPr>
          <a:xfrm>
            <a:off x="5420681" y="4621212"/>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Fifteen lines of changes, eight findings</a:t>
            </a:r>
            <a:endParaRPr lang="en-US" sz="1300" dirty="0"/>
          </a:p>
        </p:txBody>
      </p:sp>
      <p:sp>
        <p:nvSpPr>
          <p:cNvPr id="13" name="Shape 10"/>
          <p:cNvSpPr/>
          <p:nvPr/>
        </p:nvSpPr>
        <p:spPr>
          <a:xfrm>
            <a:off x="5233360" y="5213052"/>
            <a:ext cx="6296860" cy="982166"/>
          </a:xfrm>
          <a:prstGeom prst="roundRect">
            <a:avLst>
              <a:gd name="adj" fmla="val 7199"/>
            </a:avLst>
          </a:prstGeom>
          <a:solidFill>
            <a:srgbClr val="D1E5FA"/>
          </a:solidFill>
          <a:ln w="19050">
            <a:solidFill>
              <a:srgbClr val="B7CBE0"/>
            </a:solidFill>
            <a:prstDash val="solid"/>
          </a:ln>
        </p:spPr>
      </p:sp>
      <p:sp>
        <p:nvSpPr>
          <p:cNvPr id="14" name="Text 11"/>
          <p:cNvSpPr/>
          <p:nvPr/>
        </p:nvSpPr>
        <p:spPr>
          <a:xfrm>
            <a:off x="5420681" y="5400377"/>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Steps three and seven</a:t>
            </a:r>
            <a:endParaRPr lang="en-US" sz="1650" dirty="0"/>
          </a:p>
        </p:txBody>
      </p:sp>
      <p:sp>
        <p:nvSpPr>
          <p:cNvPr id="15" name="Text 12"/>
          <p:cNvSpPr/>
          <p:nvPr/>
        </p:nvSpPr>
        <p:spPr>
          <a:xfrm>
            <a:off x="5420681" y="5753298"/>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With no AI</a:t>
            </a:r>
            <a:endParaRPr lang="en-US" sz="13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2026-09-16T04:56:57Z</dcterms:created>
  <dcterms:modified xsi:type="dcterms:W3CDTF">2026-09-16T04:56:57Z</dcterms:modified>
</cp:coreProperties>
</file>