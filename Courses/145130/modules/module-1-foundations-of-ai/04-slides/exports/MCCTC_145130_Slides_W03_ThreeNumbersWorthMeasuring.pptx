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read a sentence like this about once a week for the rest of your career. Without the method it is not a measurement, it is a number somebody typed, and you cannot use it for anything including comparing it against your own. By Friday you will be able to say exactly what a benchmark does and does not establish.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measure different things and different people care about each one. Two systems with identical total latency can feel completely different: one shows nothing for four seconds then the whole answer, the other shows a word after half a second. Same wait. Only one of them gets called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tokens were produced during the wait before the first one. Dividing by total latency spreads the tokens over time the model spent doing something else and reports a rate it never ran at. This is the most common error in amateur benchmarks and it is on your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worth a second. A bug that is sometimes high and sometimes low gets noticed, because the numbers jump around. A bug that is always low looks like a consistent, slightly disappointing result, and nobody investigates a consistent result. Systematic errors hide better than random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run, two answers, and a quarter of a difference between them. Now here is the part that makes this worth a whole period rather than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producing those numbers was not a model. It was a stand-in we started ourselves with the rate on the command line, so we knew the truth before we measured. The correct method landed within two percent. The wrong one was a quarter low. That is how anybody ever comes to trust an instrument: you point it at something whose size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same program at the anchor stub and two columns say not applicable. The program had every chance to fill them. It could have divided by total latency and printed three thousand tokens per second. It refuses, and the note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rule lives in three functions in measure dot py and it is the part of today's lab you write. It is also the sentence I want in your benchmark report. A reader can work with a gap. A reader cannot work with a number that looks exactly like the real ones and was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source column in every run. These three are not equally trustworthy, and the benchmark records which one it used for every single number. That is why compare machines refuses to compare a server counter against a character estimate: those are not two measurements of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median, generation time, and tokens per second, and the self check will not pass until the None cases are right. Build two starts the streaming stand-in at a rate you choose and confirms your benchmark reports it. If your number is a quarter low, you know exactly which line to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Numbers Worth Measuring</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Our model runs at 42 tokens per second</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368252"/>
            <a:ext cx="6296860" cy="724098"/>
          </a:xfrm>
          <a:prstGeom prst="rect">
            <a:avLst/>
          </a:prstGeom>
        </p:spPr>
      </p:pic>
      <p:sp>
        <p:nvSpPr>
          <p:cNvPr id="5" name="Text 1"/>
          <p:cNvSpPr/>
          <p:nvPr/>
        </p:nvSpPr>
        <p:spPr>
          <a:xfrm>
            <a:off x="5549364"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number, no method</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81362"/>
            <a:ext cx="6296860" cy="724098"/>
          </a:xfrm>
          <a:prstGeom prst="rect">
            <a:avLst/>
          </a:prstGeom>
        </p:spPr>
      </p:pic>
      <p:sp>
        <p:nvSpPr>
          <p:cNvPr id="7" name="Text 2"/>
          <p:cNvSpPr/>
          <p:nvPr/>
        </p:nvSpPr>
        <p:spPr>
          <a:xfrm>
            <a:off x="5549364"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Which prompt, how many runs</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194473"/>
            <a:ext cx="6296860" cy="724098"/>
          </a:xfrm>
          <a:prstGeom prst="rect">
            <a:avLst/>
          </a:prstGeom>
        </p:spPr>
      </p:pic>
      <p:sp>
        <p:nvSpPr>
          <p:cNvPr id="9" name="Text 3"/>
          <p:cNvSpPr/>
          <p:nvPr/>
        </p:nvSpPr>
        <p:spPr>
          <a:xfrm>
            <a:off x="5549364"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Median, average, or best</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07583"/>
            <a:ext cx="6296860" cy="724098"/>
          </a:xfrm>
          <a:prstGeom prst="rect">
            <a:avLst/>
          </a:prstGeom>
        </p:spPr>
      </p:pic>
      <p:sp>
        <p:nvSpPr>
          <p:cNvPr id="11" name="Text 4"/>
          <p:cNvSpPr/>
          <p:nvPr/>
        </p:nvSpPr>
        <p:spPr>
          <a:xfrm>
            <a:off x="5549364"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Was the warm-up counted</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31963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numbers, three different people</a:t>
            </a:r>
            <a:endParaRPr lang="en-US" sz="3700" dirty="0"/>
          </a:p>
        </p:txBody>
      </p:sp>
      <p:sp>
        <p:nvSpPr>
          <p:cNvPr id="3" name="Shape 1"/>
          <p:cNvSpPr/>
          <p:nvPr/>
        </p:nvSpPr>
        <p:spPr>
          <a:xfrm>
            <a:off x="661475" y="3288308"/>
            <a:ext cx="3496877"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3496370"/>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Total latency</a:t>
            </a:r>
            <a:endParaRPr lang="en-US" sz="1850" dirty="0"/>
          </a:p>
        </p:txBody>
      </p:sp>
      <p:sp>
        <p:nvSpPr>
          <p:cNvPr id="5" name="Text 3"/>
          <p:cNvSpPr/>
          <p:nvPr/>
        </p:nvSpPr>
        <p:spPr>
          <a:xfrm>
            <a:off x="869531" y="3905052"/>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Anyone waiting</a:t>
            </a:r>
            <a:endParaRPr lang="en-US" sz="1450" dirty="0"/>
          </a:p>
        </p:txBody>
      </p:sp>
      <p:sp>
        <p:nvSpPr>
          <p:cNvPr id="6" name="Shape 4"/>
          <p:cNvSpPr/>
          <p:nvPr/>
        </p:nvSpPr>
        <p:spPr>
          <a:xfrm>
            <a:off x="4347359" y="3288308"/>
            <a:ext cx="3496877"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4555416" y="3496370"/>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Time to first token</a:t>
            </a:r>
            <a:endParaRPr lang="en-US" sz="1850" dirty="0"/>
          </a:p>
        </p:txBody>
      </p:sp>
      <p:sp>
        <p:nvSpPr>
          <p:cNvPr id="8" name="Text 6"/>
          <p:cNvSpPr/>
          <p:nvPr/>
        </p:nvSpPr>
        <p:spPr>
          <a:xfrm>
            <a:off x="4555416" y="3905052"/>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Anyone watching it type</a:t>
            </a:r>
            <a:endParaRPr lang="en-US" sz="1450" dirty="0"/>
          </a:p>
        </p:txBody>
      </p:sp>
      <p:sp>
        <p:nvSpPr>
          <p:cNvPr id="9" name="Shape 7"/>
          <p:cNvSpPr/>
          <p:nvPr/>
        </p:nvSpPr>
        <p:spPr>
          <a:xfrm>
            <a:off x="8033244" y="3288308"/>
            <a:ext cx="3496877"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241300" y="3496370"/>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Tokens per second</a:t>
            </a:r>
            <a:endParaRPr lang="en-US" sz="1850" dirty="0"/>
          </a:p>
        </p:txBody>
      </p:sp>
      <p:sp>
        <p:nvSpPr>
          <p:cNvPr id="11" name="Text 9"/>
          <p:cNvSpPr/>
          <p:nvPr/>
        </p:nvSpPr>
        <p:spPr>
          <a:xfrm>
            <a:off x="8241300" y="3905052"/>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Whoever bought the hardware</a:t>
            </a:r>
            <a:endParaRPr lang="en-US" sz="1450" dirty="0"/>
          </a:p>
        </p:txBody>
      </p:sp>
      <p:sp>
        <p:nvSpPr>
          <p:cNvPr id="12"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84130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arithmetic everybody gets wrong</a:t>
            </a:r>
            <a:endParaRPr lang="en-US" sz="3700" dirty="0"/>
          </a:p>
        </p:txBody>
      </p:sp>
      <p:sp>
        <p:nvSpPr>
          <p:cNvPr id="4" name="Shape 1"/>
          <p:cNvSpPr/>
          <p:nvPr/>
        </p:nvSpPr>
        <p:spPr>
          <a:xfrm>
            <a:off x="661475" y="3306068"/>
            <a:ext cx="6296860" cy="1587698"/>
          </a:xfrm>
          <a:prstGeom prst="roundRect">
            <a:avLst>
              <a:gd name="adj" fmla="val 5000"/>
            </a:avLst>
          </a:prstGeom>
          <a:solidFill>
            <a:srgbClr val="F2F2F2"/>
          </a:solidFill>
          <a:ln/>
        </p:spPr>
      </p:sp>
      <p:sp>
        <p:nvSpPr>
          <p:cNvPr id="5" name="Text 2"/>
          <p:cNvSpPr/>
          <p:nvPr/>
        </p:nvSpPr>
        <p:spPr>
          <a:xfrm>
            <a:off x="888283" y="3495080"/>
            <a:ext cx="58432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tokens_per_second = tokens / total_latency        WRONG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tokens_per_second = tokens / generation_time      RIGHT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generation_time = total_latency - time_to_first_token</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593354"/>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error always goes one way</a:t>
            </a:r>
            <a:endParaRPr lang="en-US" sz="3700" dirty="0"/>
          </a:p>
        </p:txBody>
      </p:sp>
      <p:sp>
        <p:nvSpPr>
          <p:cNvPr id="4" name="Text 1"/>
          <p:cNvSpPr/>
          <p:nvPr/>
        </p:nvSpPr>
        <p:spPr>
          <a:xfrm>
            <a:off x="8032251" y="3554313"/>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divisor is always too big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the number is always too low</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never overstates a model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understates slow-starting ones most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Do it both ways, with real numbers</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p1_short   median total 1335.7 ms   ttft 318.3 ms   tokens 40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wrong:  40 / 1.3357 = 29.9 tokens/sec</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right:  40 / (1.3357 - 0.3183) = 40 / 1.0174 = 39.3 tokens/sec</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We already knew the answer</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server was a stand-in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Started at 40 tokens, 25 ms each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Its true rate is 40 per second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right method reported 39.3</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a number cannot be known</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note: this server does not stream, so time to first token and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tokens per second are not measurable here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p1_short    15.0 ms    n/a    48.0    n/a   character_estimate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593354"/>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rule, written into the code</a:t>
            </a:r>
            <a:endParaRPr lang="en-US" sz="3700" dirty="0"/>
          </a:p>
        </p:txBody>
      </p:sp>
      <p:sp>
        <p:nvSpPr>
          <p:cNvPr id="4" name="Text 1"/>
          <p:cNvSpPr/>
          <p:nvPr/>
        </p:nvSpPr>
        <p:spPr>
          <a:xfrm>
            <a:off x="8032251" y="3554313"/>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When you cannot know a number, return None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Never return a guess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gap is a fact about your method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guess is a lie with a decimal point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3440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token count is a measurement too</a:t>
            </a:r>
            <a:endParaRPr lang="en-US" sz="3700" dirty="0"/>
          </a:p>
        </p:txBody>
      </p:sp>
      <p:sp>
        <p:nvSpPr>
          <p:cNvPr id="3" name="Shape 1"/>
          <p:cNvSpPr/>
          <p:nvPr/>
        </p:nvSpPr>
        <p:spPr>
          <a:xfrm>
            <a:off x="661475" y="3312716"/>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334813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3377605"/>
            <a:ext cx="285117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Server counter</a:t>
            </a:r>
            <a:endParaRPr lang="en-US" sz="1850" dirty="0"/>
          </a:p>
        </p:txBody>
      </p:sp>
      <p:sp>
        <p:nvSpPr>
          <p:cNvPr id="6" name="Text 4"/>
          <p:cNvSpPr/>
          <p:nvPr/>
        </p:nvSpPr>
        <p:spPr>
          <a:xfrm>
            <a:off x="1275723" y="3786287"/>
            <a:ext cx="285117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Best available</a:t>
            </a:r>
            <a:endParaRPr lang="en-US" sz="1450" dirty="0"/>
          </a:p>
        </p:txBody>
      </p:sp>
      <p:sp>
        <p:nvSpPr>
          <p:cNvPr id="7" name="Shape 5"/>
          <p:cNvSpPr/>
          <p:nvPr/>
        </p:nvSpPr>
        <p:spPr>
          <a:xfrm>
            <a:off x="4363135" y="3312716"/>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4434025" y="334813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7"/>
          <p:cNvSpPr/>
          <p:nvPr/>
        </p:nvSpPr>
        <p:spPr>
          <a:xfrm>
            <a:off x="4977383" y="3377605"/>
            <a:ext cx="285117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Stream chunks</a:t>
            </a:r>
            <a:endParaRPr lang="en-US" sz="1850" dirty="0"/>
          </a:p>
        </p:txBody>
      </p:sp>
      <p:sp>
        <p:nvSpPr>
          <p:cNvPr id="10" name="Text 8"/>
          <p:cNvSpPr/>
          <p:nvPr/>
        </p:nvSpPr>
        <p:spPr>
          <a:xfrm>
            <a:off x="4977383" y="3786287"/>
            <a:ext cx="285117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Good if one piece is one token</a:t>
            </a:r>
            <a:endParaRPr lang="en-US" sz="1450" dirty="0"/>
          </a:p>
        </p:txBody>
      </p:sp>
      <p:sp>
        <p:nvSpPr>
          <p:cNvPr id="11" name="Shape 9"/>
          <p:cNvSpPr/>
          <p:nvPr/>
        </p:nvSpPr>
        <p:spPr>
          <a:xfrm>
            <a:off x="8064794" y="3312716"/>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8135684" y="334813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11"/>
          <p:cNvSpPr/>
          <p:nvPr/>
        </p:nvSpPr>
        <p:spPr>
          <a:xfrm>
            <a:off x="8679042" y="3377605"/>
            <a:ext cx="285117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Character estimate</a:t>
            </a:r>
            <a:endParaRPr lang="en-US" sz="1850" dirty="0"/>
          </a:p>
        </p:txBody>
      </p:sp>
      <p:sp>
        <p:nvSpPr>
          <p:cNvPr id="14" name="Text 12"/>
          <p:cNvSpPr/>
          <p:nvPr/>
        </p:nvSpPr>
        <p:spPr>
          <a:xfrm>
            <a:off x="8679042" y="3786287"/>
            <a:ext cx="285117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Weak, and we print the assumption</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Three functions in measure.py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check_measure.py has thirteen cases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expected value worked out by hand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point bench.py at a known rate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2026-09-16T04:03:39Z</dcterms:created>
  <dcterms:modified xsi:type="dcterms:W3CDTF">2026-09-16T04:03:39Z</dcterms:modified>
</cp:coreProperties>
</file>