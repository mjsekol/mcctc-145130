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account, same person, two spellings, because a human typed it twice. Your entire schema turns on which of those two columns you pick as the key, and the file is telling you the answer if you look at it. Today is about picking keys and then living with the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words and you know four of them already. The one worth slowing down on is primary key, because a key is a promise about the real world rather than a detail about storage. If the promise is ever false, the key is wrong, and the database will tell you the first time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question. Which of these two values would still be the same tomorrow if the person changed their mind about the other one. A gamertag is an account. A name is typed by whoever is at the desk. You do not have to guess which is stable here because the file contains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table can hold the other, because a column holds one value. So the relationship gets its own table. Read that primary key out loud: one row per player per match. And notice where role lives. Role depends on the player and the match together, which is why it is here and not on players.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normalization without the formal definitions. Every fact gets written down once, and where it goes is decided by what it depends on. If you can say which of the three a fact depends on, you are finished. You do not need third normal form to do this week's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Kettlecorn moved up a grade. In the flat file that is three rows to edit and a fourth time somebody will miss one. In the normalized version it is one statement and one row. That is the whole argument for normalization in two lines, and it is not about elegance, it is about one place to change one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makerspace catalog hands you a tags array. Put it in one column and every item that needs training becomes a LIKE query that also matches a tag called training optional the day somebody adds one. Two tables cost you a join. They buy you a question you can answer exactly, which the report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CSV with a CREATE TABLE in front of it, and it is what you get if you ask a model for a table for this file, because it is literally what you asked for. It loads. Every query works. Predict what goes wrong before I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primary key, so the duplicate row goes in. The match is repeated on every player row, so two rows can disagree about the score. The grade is repeated, so one person is in two grades at the same time. Nothing raised. The table is perfectly happy and you now have two answers to one question about one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lab M zero four dash zero one. Step three is the four key questions and it is the part of the lab that is not typing. Step eight breaks a foreign key with the pragma on and then with it off, and you write down both results. The second one is the sentence you carry into Friday's Gate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image" Target="../media/image-2-2.png"/><Relationship Id="rId9" Type="http://schemas.openxmlformats.org/officeDocument/2006/relationships/image" Target="../media/image-2-3.sv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Tables, Keys, and the Fact Written Down Twice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021655"/>
            <a:ext cx="6296860" cy="94495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One player, two names, same person</a:t>
            </a:r>
            <a:endParaRPr lang="en-US" sz="29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250083"/>
            <a:ext cx="6296860" cy="724098"/>
          </a:xfrm>
          <a:prstGeom prst="rect">
            <a:avLst/>
          </a:prstGeom>
        </p:spPr>
      </p:pic>
      <p:sp>
        <p:nvSpPr>
          <p:cNvPr id="5" name="Text 1"/>
          <p:cNvSpPr/>
          <p:nvPr/>
        </p:nvSpPr>
        <p:spPr>
          <a:xfrm>
            <a:off x="977479" y="2464495"/>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nightowl99 is Jamal Petrov on line 4</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3163193"/>
            <a:ext cx="6296860" cy="724098"/>
          </a:xfrm>
          <a:prstGeom prst="rect">
            <a:avLst/>
          </a:prstGeom>
        </p:spPr>
      </p:pic>
      <p:sp>
        <p:nvSpPr>
          <p:cNvPr id="7" name="Text 2"/>
          <p:cNvSpPr/>
          <p:nvPr/>
        </p:nvSpPr>
        <p:spPr>
          <a:xfrm>
            <a:off x="977479" y="3377605"/>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nightowl99 is Jamaal Petrov on line 27</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4076303"/>
            <a:ext cx="6296860" cy="724098"/>
          </a:xfrm>
          <a:prstGeom prst="rect">
            <a:avLst/>
          </a:prstGeom>
        </p:spPr>
      </p:pic>
      <p:sp>
        <p:nvSpPr>
          <p:cNvPr id="9" name="Text 3"/>
          <p:cNvSpPr/>
          <p:nvPr/>
        </p:nvSpPr>
        <p:spPr>
          <a:xfrm>
            <a:off x="977479" y="4290715"/>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Key on the name and you have nine players</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4989413"/>
            <a:ext cx="6296860" cy="724098"/>
          </a:xfrm>
          <a:prstGeom prst="rect">
            <a:avLst/>
          </a:prstGeom>
        </p:spPr>
      </p:pic>
      <p:sp>
        <p:nvSpPr>
          <p:cNvPr id="11" name="Text 4"/>
          <p:cNvSpPr/>
          <p:nvPr/>
        </p:nvSpPr>
        <p:spPr>
          <a:xfrm>
            <a:off x="977479" y="5203825"/>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Key on the gamertag and you have eight</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720552"/>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The words, once, properly</a:t>
            </a:r>
            <a:endParaRPr lang="en-US" sz="2950" dirty="0"/>
          </a:p>
        </p:txBody>
      </p:sp>
      <p:sp>
        <p:nvSpPr>
          <p:cNvPr id="3" name="Shape 1"/>
          <p:cNvSpPr/>
          <p:nvPr/>
        </p:nvSpPr>
        <p:spPr>
          <a:xfrm>
            <a:off x="661475" y="2571055"/>
            <a:ext cx="3496877" cy="1127224"/>
          </a:xfrm>
          <a:prstGeom prst="roundRect">
            <a:avLst>
              <a:gd name="adj" fmla="val 7043"/>
            </a:avLst>
          </a:prstGeom>
          <a:solidFill>
            <a:srgbClr val="D1E5FA"/>
          </a:solidFill>
          <a:ln w="19050">
            <a:solidFill>
              <a:srgbClr val="B7CBE0"/>
            </a:solidFill>
            <a:prstDash val="solid"/>
          </a:ln>
        </p:spPr>
      </p:sp>
      <p:sp>
        <p:nvSpPr>
          <p:cNvPr id="4" name="Text 2"/>
          <p:cNvSpPr/>
          <p:nvPr/>
        </p:nvSpPr>
        <p:spPr>
          <a:xfrm>
            <a:off x="869531" y="2779117"/>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Table</a:t>
            </a:r>
            <a:endParaRPr lang="en-US" sz="1850" dirty="0"/>
          </a:p>
        </p:txBody>
      </p:sp>
      <p:sp>
        <p:nvSpPr>
          <p:cNvPr id="5" name="Text 3"/>
          <p:cNvSpPr/>
          <p:nvPr/>
        </p:nvSpPr>
        <p:spPr>
          <a:xfrm>
            <a:off x="869531" y="3187799"/>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One kind of thing</a:t>
            </a:r>
            <a:endParaRPr lang="en-US" sz="1450" dirty="0"/>
          </a:p>
        </p:txBody>
      </p:sp>
      <p:sp>
        <p:nvSpPr>
          <p:cNvPr id="6" name="Shape 4"/>
          <p:cNvSpPr/>
          <p:nvPr/>
        </p:nvSpPr>
        <p:spPr>
          <a:xfrm>
            <a:off x="4347359" y="2571055"/>
            <a:ext cx="3496877" cy="1127224"/>
          </a:xfrm>
          <a:prstGeom prst="roundRect">
            <a:avLst>
              <a:gd name="adj" fmla="val 7043"/>
            </a:avLst>
          </a:prstGeom>
          <a:solidFill>
            <a:srgbClr val="D1E5FA"/>
          </a:solidFill>
          <a:ln w="19050">
            <a:solidFill>
              <a:srgbClr val="B7CBE0"/>
            </a:solidFill>
            <a:prstDash val="solid"/>
          </a:ln>
        </p:spPr>
      </p:sp>
      <p:sp>
        <p:nvSpPr>
          <p:cNvPr id="7" name="Text 5"/>
          <p:cNvSpPr/>
          <p:nvPr/>
        </p:nvSpPr>
        <p:spPr>
          <a:xfrm>
            <a:off x="4555416" y="2779117"/>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Row</a:t>
            </a:r>
            <a:endParaRPr lang="en-US" sz="1850" dirty="0"/>
          </a:p>
        </p:txBody>
      </p:sp>
      <p:sp>
        <p:nvSpPr>
          <p:cNvPr id="8" name="Text 6"/>
          <p:cNvSpPr/>
          <p:nvPr/>
        </p:nvSpPr>
        <p:spPr>
          <a:xfrm>
            <a:off x="4555416" y="3187799"/>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One of that thing</a:t>
            </a:r>
            <a:endParaRPr lang="en-US" sz="1450" dirty="0"/>
          </a:p>
        </p:txBody>
      </p:sp>
      <p:sp>
        <p:nvSpPr>
          <p:cNvPr id="9" name="Shape 7"/>
          <p:cNvSpPr/>
          <p:nvPr/>
        </p:nvSpPr>
        <p:spPr>
          <a:xfrm>
            <a:off x="8033244" y="2571055"/>
            <a:ext cx="3496877" cy="1127224"/>
          </a:xfrm>
          <a:prstGeom prst="roundRect">
            <a:avLst>
              <a:gd name="adj" fmla="val 7043"/>
            </a:avLst>
          </a:prstGeom>
          <a:solidFill>
            <a:srgbClr val="D1E5FA"/>
          </a:solidFill>
          <a:ln w="19050">
            <a:solidFill>
              <a:srgbClr val="B7CBE0"/>
            </a:solidFill>
            <a:prstDash val="solid"/>
          </a:ln>
        </p:spPr>
      </p:sp>
      <p:sp>
        <p:nvSpPr>
          <p:cNvPr id="10" name="Text 8"/>
          <p:cNvSpPr/>
          <p:nvPr/>
        </p:nvSpPr>
        <p:spPr>
          <a:xfrm>
            <a:off x="8241300" y="2779117"/>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Column</a:t>
            </a:r>
            <a:endParaRPr lang="en-US" sz="1850" dirty="0"/>
          </a:p>
        </p:txBody>
      </p:sp>
      <p:sp>
        <p:nvSpPr>
          <p:cNvPr id="11" name="Text 9"/>
          <p:cNvSpPr/>
          <p:nvPr/>
        </p:nvSpPr>
        <p:spPr>
          <a:xfrm>
            <a:off x="8241300" y="3187799"/>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One fact about it</a:t>
            </a:r>
            <a:endParaRPr lang="en-US" sz="1450" dirty="0"/>
          </a:p>
        </p:txBody>
      </p:sp>
      <p:sp>
        <p:nvSpPr>
          <p:cNvPr id="12" name="Shape 10"/>
          <p:cNvSpPr/>
          <p:nvPr/>
        </p:nvSpPr>
        <p:spPr>
          <a:xfrm>
            <a:off x="661475" y="3887291"/>
            <a:ext cx="5339820" cy="1127224"/>
          </a:xfrm>
          <a:prstGeom prst="roundRect">
            <a:avLst>
              <a:gd name="adj" fmla="val 7043"/>
            </a:avLst>
          </a:prstGeom>
          <a:solidFill>
            <a:srgbClr val="D1E5FA"/>
          </a:solidFill>
          <a:ln w="19050">
            <a:solidFill>
              <a:srgbClr val="B7CBE0"/>
            </a:solidFill>
            <a:prstDash val="solid"/>
          </a:ln>
        </p:spPr>
      </p:sp>
      <p:sp>
        <p:nvSpPr>
          <p:cNvPr id="13" name="Text 11"/>
          <p:cNvSpPr/>
          <p:nvPr/>
        </p:nvSpPr>
        <p:spPr>
          <a:xfrm>
            <a:off x="869531" y="4095353"/>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Primary Key</a:t>
            </a:r>
            <a:endParaRPr lang="en-US" sz="1850" dirty="0"/>
          </a:p>
        </p:txBody>
      </p:sp>
      <p:sp>
        <p:nvSpPr>
          <p:cNvPr id="14" name="Text 12"/>
          <p:cNvSpPr/>
          <p:nvPr/>
        </p:nvSpPr>
        <p:spPr>
          <a:xfrm>
            <a:off x="869531" y="4504035"/>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Identifies exactly one row</a:t>
            </a:r>
            <a:endParaRPr lang="en-US" sz="1450" dirty="0"/>
          </a:p>
        </p:txBody>
      </p:sp>
      <p:sp>
        <p:nvSpPr>
          <p:cNvPr id="15" name="Shape 13"/>
          <p:cNvSpPr/>
          <p:nvPr/>
        </p:nvSpPr>
        <p:spPr>
          <a:xfrm>
            <a:off x="6190301" y="3887291"/>
            <a:ext cx="5339820" cy="1127224"/>
          </a:xfrm>
          <a:prstGeom prst="roundRect">
            <a:avLst>
              <a:gd name="adj" fmla="val 7043"/>
            </a:avLst>
          </a:prstGeom>
          <a:solidFill>
            <a:srgbClr val="D1E5FA"/>
          </a:solidFill>
          <a:ln w="19050">
            <a:solidFill>
              <a:srgbClr val="B7CBE0"/>
            </a:solidFill>
            <a:prstDash val="solid"/>
          </a:ln>
        </p:spPr>
      </p:sp>
      <p:sp>
        <p:nvSpPr>
          <p:cNvPr id="16" name="Text 14"/>
          <p:cNvSpPr/>
          <p:nvPr/>
        </p:nvSpPr>
        <p:spPr>
          <a:xfrm>
            <a:off x="6398358" y="4095353"/>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Foreign Key</a:t>
            </a:r>
            <a:endParaRPr lang="en-US" sz="1850" dirty="0"/>
          </a:p>
        </p:txBody>
      </p:sp>
      <p:sp>
        <p:nvSpPr>
          <p:cNvPr id="17" name="Text 15"/>
          <p:cNvSpPr/>
          <p:nvPr/>
        </p:nvSpPr>
        <p:spPr>
          <a:xfrm>
            <a:off x="6398358" y="4504035"/>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Points at a row elsewhere</a:t>
            </a:r>
            <a:endParaRPr lang="en-US" sz="1450" dirty="0"/>
          </a:p>
        </p:txBody>
      </p:sp>
      <p:sp>
        <p:nvSpPr>
          <p:cNvPr id="18"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0097"/>
            <a:ext cx="6908330" cy="3914775"/>
          </a:xfrm>
          <a:prstGeom prst="rect">
            <a:avLst/>
          </a:prstGeom>
        </p:spPr>
      </p:pic>
      <p:sp>
        <p:nvSpPr>
          <p:cNvPr id="3" name="Text 0"/>
          <p:cNvSpPr/>
          <p:nvPr/>
        </p:nvSpPr>
        <p:spPr>
          <a:xfrm>
            <a:off x="8022826" y="853877"/>
            <a:ext cx="3513645" cy="915392"/>
          </a:xfrm>
          <a:prstGeom prst="rect">
            <a:avLst/>
          </a:prstGeom>
          <a:noFill/>
          <a:ln/>
        </p:spPr>
        <p:txBody>
          <a:bodyPr wrap="square" lIns="0" tIns="0" rIns="0" bIns="0" rtlCol="0" anchor="t">
            <a:normAutofit/>
          </a:bodyPr>
          <a:lstStyle/>
          <a:p>
            <a:pPr algn="l" indent="0" marL="0">
              <a:lnSpc>
                <a:spcPct val="104000"/>
              </a:lnSpc>
              <a:buNone/>
            </a:pPr>
            <a:r>
              <a:rPr lang="en-US" sz="2850" b="1" dirty="0">
                <a:solidFill>
                  <a:srgbClr val="111111"/>
                </a:solidFill>
                <a:latin typeface="Orbitron Bold" pitchFamily="34" charset="0"/>
                <a:ea typeface="Orbitron Bold" pitchFamily="34" charset="-122"/>
                <a:cs typeface="Orbitron Bold" pitchFamily="34" charset="-120"/>
              </a:rPr>
              <a:t>The question that picks a key</a:t>
            </a:r>
            <a:endParaRPr lang="en-US" sz="2850" dirty="0"/>
          </a:p>
        </p:txBody>
      </p:sp>
      <p:sp>
        <p:nvSpPr>
          <p:cNvPr id="4" name="Shape 1"/>
          <p:cNvSpPr/>
          <p:nvPr/>
        </p:nvSpPr>
        <p:spPr>
          <a:xfrm>
            <a:off x="8022826" y="1968798"/>
            <a:ext cx="411946" cy="411956"/>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8612071" y="2031702"/>
            <a:ext cx="2924399" cy="858143"/>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Which value stays the same if they change their mind</a:t>
            </a:r>
            <a:endParaRPr lang="en-US" sz="1800" dirty="0"/>
          </a:p>
        </p:txBody>
      </p:sp>
      <p:sp>
        <p:nvSpPr>
          <p:cNvPr id="6" name="Shape 3"/>
          <p:cNvSpPr/>
          <p:nvPr/>
        </p:nvSpPr>
        <p:spPr>
          <a:xfrm>
            <a:off x="8022826" y="3244552"/>
            <a:ext cx="411946" cy="411956"/>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8612071" y="3307457"/>
            <a:ext cx="2924399"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A gamertag is chosen once</a:t>
            </a:r>
            <a:endParaRPr lang="en-US" sz="1800" dirty="0"/>
          </a:p>
        </p:txBody>
      </p:sp>
      <p:sp>
        <p:nvSpPr>
          <p:cNvPr id="8" name="Shape 5"/>
          <p:cNvSpPr/>
          <p:nvPr/>
        </p:nvSpPr>
        <p:spPr>
          <a:xfrm>
            <a:off x="8022826" y="4234259"/>
            <a:ext cx="411946" cy="411956"/>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8612071" y="4297164"/>
            <a:ext cx="2924399"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A name is typed every time</a:t>
            </a:r>
            <a:endParaRPr lang="en-US" sz="1800" dirty="0"/>
          </a:p>
        </p:txBody>
      </p:sp>
      <p:sp>
        <p:nvSpPr>
          <p:cNvPr id="10" name="Shape 7"/>
          <p:cNvSpPr/>
          <p:nvPr/>
        </p:nvSpPr>
        <p:spPr>
          <a:xfrm>
            <a:off x="8022826" y="5223966"/>
            <a:ext cx="411946" cy="411956"/>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8612071" y="5286871"/>
            <a:ext cx="2924399"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The file already proves which is stable</a:t>
            </a:r>
            <a:endParaRPr lang="en-US" sz="180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609824"/>
            <a:ext cx="10868745" cy="94495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A match has many players, a player has many matches</a:t>
            </a:r>
            <a:endParaRPr lang="en-US" sz="2950" dirty="0"/>
          </a:p>
        </p:txBody>
      </p:sp>
      <p:sp>
        <p:nvSpPr>
          <p:cNvPr id="3" name="Shape 1"/>
          <p:cNvSpPr/>
          <p:nvPr/>
        </p:nvSpPr>
        <p:spPr>
          <a:xfrm>
            <a:off x="661475" y="2932807"/>
            <a:ext cx="10868745" cy="2192536"/>
          </a:xfrm>
          <a:prstGeom prst="roundRect">
            <a:avLst>
              <a:gd name="adj" fmla="val 3621"/>
            </a:avLst>
          </a:prstGeom>
          <a:solidFill>
            <a:srgbClr val="F2F2F2"/>
          </a:solidFill>
          <a:ln/>
        </p:spPr>
      </p:sp>
      <p:sp>
        <p:nvSpPr>
          <p:cNvPr id="4" name="Text 2"/>
          <p:cNvSpPr/>
          <p:nvPr/>
        </p:nvSpPr>
        <p:spPr>
          <a:xfrm>
            <a:off x="888283" y="3121819"/>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CREATE TABLE appearances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match_id INTEGER NOT NULL REFERENCES matches (match_id),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gamertag TEXT NOT NULL REFERENCES players (gamertag),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role     TEXT NOT NULL,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PRIMARY KEY (match_id, gamertag)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764778"/>
            <a:ext cx="6296860" cy="465138"/>
          </a:xfrm>
          <a:prstGeom prst="rect">
            <a:avLst/>
          </a:prstGeom>
          <a:noFill/>
          <a:ln/>
        </p:spPr>
        <p:txBody>
          <a:bodyPr wrap="none" lIns="0" tIns="0" rIns="0" bIns="0" rtlCol="0" anchor="t"/>
          <a:lstStyle/>
          <a:p>
            <a:pPr algn="l" indent="0" marL="0">
              <a:lnSpc>
                <a:spcPct val="104000"/>
              </a:lnSpc>
              <a:buNone/>
            </a:pPr>
            <a:r>
              <a:rPr lang="en-US" sz="2900" b="1" dirty="0">
                <a:solidFill>
                  <a:srgbClr val="111111"/>
                </a:solidFill>
                <a:latin typeface="Orbitron Bold" pitchFamily="34" charset="0"/>
                <a:ea typeface="Orbitron Bold" pitchFamily="34" charset="-122"/>
                <a:cs typeface="Orbitron Bold" pitchFamily="34" charset="-120"/>
              </a:rPr>
              <a:t>What does this fact depend on</a:t>
            </a:r>
            <a:endParaRPr lang="en-US" sz="2900" dirty="0"/>
          </a:p>
        </p:txBody>
      </p:sp>
      <p:pic>
        <p:nvPicPr>
          <p:cNvPr id="4" name="Image 1" descr="preencoded.png">    </p:cNvPr>
          <p:cNvPicPr>
            <a:picLocks noChangeAspect="1"/>
          </p:cNvPicPr>
          <p:nvPr/>
        </p:nvPicPr>
        <p:blipFill>
          <a:blip r:embed="rId2"/>
          <a:stretch>
            <a:fillRect/>
          </a:stretch>
        </p:blipFill>
        <p:spPr>
          <a:xfrm>
            <a:off x="5233360" y="1504652"/>
            <a:ext cx="930252" cy="1116409"/>
          </a:xfrm>
          <a:prstGeom prst="rect">
            <a:avLst/>
          </a:prstGeom>
        </p:spPr>
      </p:pic>
      <p:sp>
        <p:nvSpPr>
          <p:cNvPr id="5" name="Text 1"/>
          <p:cNvSpPr/>
          <p:nvPr/>
        </p:nvSpPr>
        <p:spPr>
          <a:xfrm>
            <a:off x="6346765" y="1690688"/>
            <a:ext cx="5183455"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Score</a:t>
            </a:r>
            <a:endParaRPr lang="en-US" sz="1800" dirty="0"/>
          </a:p>
        </p:txBody>
      </p:sp>
      <p:sp>
        <p:nvSpPr>
          <p:cNvPr id="6" name="Text 2"/>
          <p:cNvSpPr/>
          <p:nvPr/>
        </p:nvSpPr>
        <p:spPr>
          <a:xfrm>
            <a:off x="6346765" y="2091234"/>
            <a:ext cx="5183455"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Depends on the match</a:t>
            </a:r>
            <a:endParaRPr lang="en-US" sz="1450" dirty="0"/>
          </a:p>
        </p:txBody>
      </p:sp>
      <p:pic>
        <p:nvPicPr>
          <p:cNvPr id="7" name="Image 2" descr="preencoded.png">    </p:cNvPr>
          <p:cNvPicPr>
            <a:picLocks noChangeAspect="1"/>
          </p:cNvPicPr>
          <p:nvPr/>
        </p:nvPicPr>
        <p:blipFill>
          <a:blip r:embed="rId3"/>
          <a:stretch>
            <a:fillRect/>
          </a:stretch>
        </p:blipFill>
        <p:spPr>
          <a:xfrm>
            <a:off x="5233360" y="2621062"/>
            <a:ext cx="930252" cy="1116409"/>
          </a:xfrm>
          <a:prstGeom prst="rect">
            <a:avLst/>
          </a:prstGeom>
        </p:spPr>
      </p:pic>
      <p:sp>
        <p:nvSpPr>
          <p:cNvPr id="8" name="Text 3"/>
          <p:cNvSpPr/>
          <p:nvPr/>
        </p:nvSpPr>
        <p:spPr>
          <a:xfrm>
            <a:off x="6346765" y="2807097"/>
            <a:ext cx="5183455"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Grade</a:t>
            </a:r>
            <a:endParaRPr lang="en-US" sz="1800" dirty="0"/>
          </a:p>
        </p:txBody>
      </p:sp>
      <p:sp>
        <p:nvSpPr>
          <p:cNvPr id="9" name="Text 4"/>
          <p:cNvSpPr/>
          <p:nvPr/>
        </p:nvSpPr>
        <p:spPr>
          <a:xfrm>
            <a:off x="6346765" y="3207643"/>
            <a:ext cx="5183455"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Depends on the player</a:t>
            </a:r>
            <a:endParaRPr lang="en-US" sz="1450" dirty="0"/>
          </a:p>
        </p:txBody>
      </p:sp>
      <p:pic>
        <p:nvPicPr>
          <p:cNvPr id="10" name="Image 3" descr="preencoded.png">    </p:cNvPr>
          <p:cNvPicPr>
            <a:picLocks noChangeAspect="1"/>
          </p:cNvPicPr>
          <p:nvPr/>
        </p:nvPicPr>
        <p:blipFill>
          <a:blip r:embed="rId4"/>
          <a:stretch>
            <a:fillRect/>
          </a:stretch>
        </p:blipFill>
        <p:spPr>
          <a:xfrm>
            <a:off x="5233360" y="3737471"/>
            <a:ext cx="930252" cy="1116409"/>
          </a:xfrm>
          <a:prstGeom prst="rect">
            <a:avLst/>
          </a:prstGeom>
        </p:spPr>
      </p:pic>
      <p:sp>
        <p:nvSpPr>
          <p:cNvPr id="11" name="Text 5"/>
          <p:cNvSpPr/>
          <p:nvPr/>
        </p:nvSpPr>
        <p:spPr>
          <a:xfrm>
            <a:off x="6346765" y="3923506"/>
            <a:ext cx="5183455"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Role</a:t>
            </a:r>
            <a:endParaRPr lang="en-US" sz="1800" dirty="0"/>
          </a:p>
        </p:txBody>
      </p:sp>
      <p:sp>
        <p:nvSpPr>
          <p:cNvPr id="12" name="Text 6"/>
          <p:cNvSpPr/>
          <p:nvPr/>
        </p:nvSpPr>
        <p:spPr>
          <a:xfrm>
            <a:off x="6346765" y="4324052"/>
            <a:ext cx="5183455"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Depends on both together</a:t>
            </a:r>
            <a:endParaRPr lang="en-US" sz="1450" dirty="0"/>
          </a:p>
        </p:txBody>
      </p:sp>
      <p:pic>
        <p:nvPicPr>
          <p:cNvPr id="13" name="Image 4" descr="preencoded.png">    </p:cNvPr>
          <p:cNvPicPr>
            <a:picLocks noChangeAspect="1"/>
          </p:cNvPicPr>
          <p:nvPr/>
        </p:nvPicPr>
        <p:blipFill>
          <a:blip r:embed="rId5"/>
          <a:stretch>
            <a:fillRect/>
          </a:stretch>
        </p:blipFill>
        <p:spPr>
          <a:xfrm>
            <a:off x="5233360" y="4853880"/>
            <a:ext cx="930252" cy="1116409"/>
          </a:xfrm>
          <a:prstGeom prst="rect">
            <a:avLst/>
          </a:prstGeom>
        </p:spPr>
      </p:pic>
      <p:sp>
        <p:nvSpPr>
          <p:cNvPr id="14" name="Text 7"/>
          <p:cNvSpPr/>
          <p:nvPr/>
        </p:nvSpPr>
        <p:spPr>
          <a:xfrm>
            <a:off x="6346765" y="5039916"/>
            <a:ext cx="5183455"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Normalized</a:t>
            </a:r>
            <a:endParaRPr lang="en-US" sz="1800" dirty="0"/>
          </a:p>
        </p:txBody>
      </p:sp>
      <p:sp>
        <p:nvSpPr>
          <p:cNvPr id="15" name="Text 8"/>
          <p:cNvSpPr/>
          <p:nvPr/>
        </p:nvSpPr>
        <p:spPr>
          <a:xfrm>
            <a:off x="6346765" y="5440462"/>
            <a:ext cx="5183455"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Answer that and you have it</a:t>
            </a:r>
            <a:endParaRPr lang="en-US" sz="1450" dirty="0"/>
          </a:p>
        </p:txBody>
      </p:sp>
      <p:sp>
        <p:nvSpPr>
          <p:cNvPr id="16"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815405"/>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What repetition costs, exactly</a:t>
            </a:r>
            <a:endParaRPr lang="en-US" sz="2950" dirty="0"/>
          </a:p>
        </p:txBody>
      </p:sp>
      <p:sp>
        <p:nvSpPr>
          <p:cNvPr id="3" name="Shape 1"/>
          <p:cNvSpPr/>
          <p:nvPr/>
        </p:nvSpPr>
        <p:spPr>
          <a:xfrm>
            <a:off x="661475" y="2665909"/>
            <a:ext cx="10868745" cy="1285280"/>
          </a:xfrm>
          <a:prstGeom prst="roundRect">
            <a:avLst>
              <a:gd name="adj" fmla="val 6177"/>
            </a:avLst>
          </a:prstGeom>
          <a:solidFill>
            <a:srgbClr val="F2F2F2"/>
          </a:solidFill>
          <a:ln/>
        </p:spPr>
      </p:sp>
      <p:sp>
        <p:nvSpPr>
          <p:cNvPr id="4" name="Text 2"/>
          <p:cNvSpPr/>
          <p:nvPr/>
        </p:nvSpPr>
        <p:spPr>
          <a:xfrm>
            <a:off x="888283" y="2854920"/>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kettlecorn appears in 3 rows of the flat file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UPDATE players SET grade_level = 12 WHERE gamertag = 'kettlecorn';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1 row changed</a:t>
            </a:r>
            <a:endParaRPr lang="en-US" sz="1450" dirty="0"/>
          </a:p>
        </p:txBody>
      </p:sp>
      <p:sp>
        <p:nvSpPr>
          <p:cNvPr id="5" name="Shape 3"/>
          <p:cNvSpPr/>
          <p:nvPr/>
        </p:nvSpPr>
        <p:spPr>
          <a:xfrm>
            <a:off x="661475" y="4163814"/>
            <a:ext cx="10868745" cy="755948"/>
          </a:xfrm>
          <a:prstGeom prst="roundRect">
            <a:avLst>
              <a:gd name="adj" fmla="val 10502"/>
            </a:avLst>
          </a:prstGeom>
          <a:solidFill>
            <a:srgbClr val="D1E5FA"/>
          </a:solidFill>
          <a:ln/>
        </p:spPr>
      </p:sp>
      <p:pic>
        <p:nvPicPr>
          <p:cNvPr id="6" name="Image 0" descr="preencoded.png">    </p:cNvPr>
          <p:cNvPicPr>
            <a:picLocks noChangeAspect="1"/>
          </p:cNvPicPr>
          <p:nvPr/>
        </p:nvPicPr>
        <p:blipFill>
          <a:blip r:embed="rId1"/>
          <a:stretch>
            <a:fillRect/>
          </a:stretch>
        </p:blipFill>
        <p:spPr>
          <a:xfrm>
            <a:off x="850482" y="4431506"/>
            <a:ext cx="236234" cy="189012"/>
          </a:xfrm>
          <a:prstGeom prst="rect">
            <a:avLst/>
          </a:prstGeom>
        </p:spPr>
      </p:pic>
      <p:sp>
        <p:nvSpPr>
          <p:cNvPr id="7" name="Text 4"/>
          <p:cNvSpPr/>
          <p:nvPr/>
        </p:nvSpPr>
        <p:spPr>
          <a:xfrm>
            <a:off x="1275723" y="4400054"/>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One row changed. Not three. That is the point.</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2158008"/>
            <a:ext cx="5203794" cy="94495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An array does not fit in a column</a:t>
            </a:r>
            <a:endParaRPr lang="en-US" sz="2950" dirty="0"/>
          </a:p>
        </p:txBody>
      </p:sp>
      <p:sp>
        <p:nvSpPr>
          <p:cNvPr id="3" name="Text 1"/>
          <p:cNvSpPr/>
          <p:nvPr/>
        </p:nvSpPr>
        <p:spPr>
          <a:xfrm>
            <a:off x="661475" y="3291979"/>
            <a:ext cx="5203794"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catalog gives four tags per item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column means LIKE and hope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Two tables means a question with an exact answer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Renaming a tag stops being a search and replace</a:t>
            </a:r>
            <a:endParaRPr lang="en-US" sz="1450" dirty="0"/>
          </a:p>
        </p:txBody>
      </p:sp>
      <p:pic>
        <p:nvPicPr>
          <p:cNvPr id="4" name="Image 0" descr="preencoded.png">    </p:cNvPr>
          <p:cNvPicPr>
            <a:picLocks noChangeAspect="1"/>
          </p:cNvPicPr>
          <p:nvPr/>
        </p:nvPicPr>
        <p:blipFill>
          <a:blip r:embed="rId1"/>
          <a:stretch>
            <a:fillRect/>
          </a:stretch>
        </p:blipFill>
        <p:spPr>
          <a:xfrm>
            <a:off x="6332776" y="765572"/>
            <a:ext cx="5203794" cy="5203924"/>
          </a:xfrm>
          <a:prstGeom prst="rect">
            <a:avLst/>
          </a:prstGeom>
        </p:spPr>
      </p:pic>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997273"/>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Here is the wrong one</a:t>
            </a:r>
            <a:endParaRPr lang="en-US" sz="2950" dirty="0"/>
          </a:p>
        </p:txBody>
      </p:sp>
      <p:sp>
        <p:nvSpPr>
          <p:cNvPr id="3" name="Shape 1"/>
          <p:cNvSpPr/>
          <p:nvPr/>
        </p:nvSpPr>
        <p:spPr>
          <a:xfrm>
            <a:off x="661475" y="2847777"/>
            <a:ext cx="10868745" cy="1890117"/>
          </a:xfrm>
          <a:prstGeom prst="roundRect">
            <a:avLst>
              <a:gd name="adj" fmla="val 4200"/>
            </a:avLst>
          </a:prstGeom>
          <a:solidFill>
            <a:srgbClr val="F2F2F2"/>
          </a:solidFill>
          <a:ln/>
        </p:spPr>
      </p:sp>
      <p:sp>
        <p:nvSpPr>
          <p:cNvPr id="4" name="Text 2"/>
          <p:cNvSpPr/>
          <p:nvPr/>
        </p:nvSpPr>
        <p:spPr>
          <a:xfrm>
            <a:off x="888283" y="3036788"/>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CREATE TABLE season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played_on TEXT, opponent TEXT, our_score INTEGER,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gamertag TEXT, player_name TEXT, grade_level INTEGER,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role TEXT, kills INTEGER, deaths INTEGER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966615"/>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Two answers, one person, no error</a:t>
            </a:r>
            <a:endParaRPr lang="en-US" sz="2950" dirty="0"/>
          </a:p>
        </p:txBody>
      </p:sp>
      <p:sp>
        <p:nvSpPr>
          <p:cNvPr id="3" name="Shape 1"/>
          <p:cNvSpPr/>
          <p:nvPr/>
        </p:nvSpPr>
        <p:spPr>
          <a:xfrm>
            <a:off x="661475" y="2817118"/>
            <a:ext cx="10868745" cy="982861"/>
          </a:xfrm>
          <a:prstGeom prst="roundRect">
            <a:avLst>
              <a:gd name="adj" fmla="val 8077"/>
            </a:avLst>
          </a:prstGeom>
          <a:solidFill>
            <a:srgbClr val="F2F2F2"/>
          </a:solidFill>
          <a:ln/>
        </p:spPr>
      </p:sp>
      <p:sp>
        <p:nvSpPr>
          <p:cNvPr id="4" name="Text 2"/>
          <p:cNvSpPr/>
          <p:nvPr/>
        </p:nvSpPr>
        <p:spPr>
          <a:xfrm>
            <a:off x="888283" y="3006130"/>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SELECT DISTINCT grade_level FROM season WHERE gamertag = 'kettlecorn';</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[(11,), (12,)]</a:t>
            </a:r>
            <a:endParaRPr lang="en-US" sz="1450" dirty="0"/>
          </a:p>
        </p:txBody>
      </p:sp>
      <p:sp>
        <p:nvSpPr>
          <p:cNvPr id="5" name="Shape 3"/>
          <p:cNvSpPr/>
          <p:nvPr/>
        </p:nvSpPr>
        <p:spPr>
          <a:xfrm>
            <a:off x="661475" y="4012605"/>
            <a:ext cx="10868745" cy="755948"/>
          </a:xfrm>
          <a:prstGeom prst="roundRect">
            <a:avLst>
              <a:gd name="adj" fmla="val 10502"/>
            </a:avLst>
          </a:prstGeom>
          <a:solidFill>
            <a:srgbClr val="FFB3B4"/>
          </a:solidFill>
          <a:ln/>
        </p:spPr>
      </p:sp>
      <p:pic>
        <p:nvPicPr>
          <p:cNvPr id="6" name="Image 0" descr="preencoded.png">    </p:cNvPr>
          <p:cNvPicPr>
            <a:picLocks noChangeAspect="1"/>
          </p:cNvPicPr>
          <p:nvPr/>
        </p:nvPicPr>
        <p:blipFill>
          <a:blip r:embed="rId1"/>
          <a:stretch>
            <a:fillRect/>
          </a:stretch>
        </p:blipFill>
        <p:spPr>
          <a:xfrm>
            <a:off x="850482" y="4280297"/>
            <a:ext cx="236234" cy="189012"/>
          </a:xfrm>
          <a:prstGeom prst="rect">
            <a:avLst/>
          </a:prstGeom>
        </p:spPr>
      </p:pic>
      <p:sp>
        <p:nvSpPr>
          <p:cNvPr id="7" name="Text 4"/>
          <p:cNvSpPr/>
          <p:nvPr/>
        </p:nvSpPr>
        <p:spPr>
          <a:xfrm>
            <a:off x="1275723" y="4248845"/>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Two distinct grade levels returned for one gamertag. The flat table cannot tell you which is true.</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283295"/>
            <a:ext cx="6296860"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What you are about to build</a:t>
            </a:r>
            <a:endParaRPr lang="en-US" sz="2950" dirty="0"/>
          </a:p>
        </p:txBody>
      </p:sp>
      <p:sp>
        <p:nvSpPr>
          <p:cNvPr id="4" name="Shape 1"/>
          <p:cNvSpPr/>
          <p:nvPr/>
        </p:nvSpPr>
        <p:spPr>
          <a:xfrm>
            <a:off x="661475" y="2039243"/>
            <a:ext cx="6296860" cy="711398"/>
          </a:xfrm>
          <a:prstGeom prst="roundRect">
            <a:avLst>
              <a:gd name="adj" fmla="val 11159"/>
            </a:avLst>
          </a:prstGeom>
          <a:solidFill>
            <a:srgbClr val="D1E5FA"/>
          </a:solidFill>
          <a:ln w="19050">
            <a:solidFill>
              <a:srgbClr val="B7CBE0"/>
            </a:solidFill>
            <a:prstDash val="solid"/>
          </a:ln>
        </p:spPr>
      </p:sp>
      <p:sp>
        <p:nvSpPr>
          <p:cNvPr id="5" name="Text 2"/>
          <p:cNvSpPr/>
          <p:nvPr/>
        </p:nvSpPr>
        <p:spPr>
          <a:xfrm>
            <a:off x="869531" y="224730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Three tables out of twenty eight flat rows</a:t>
            </a:r>
            <a:endParaRPr lang="en-US" sz="1850" dirty="0"/>
          </a:p>
        </p:txBody>
      </p:sp>
      <p:sp>
        <p:nvSpPr>
          <p:cNvPr id="6" name="Shape 3"/>
          <p:cNvSpPr/>
          <p:nvPr/>
        </p:nvSpPr>
        <p:spPr>
          <a:xfrm>
            <a:off x="661475" y="2939653"/>
            <a:ext cx="6296860" cy="711398"/>
          </a:xfrm>
          <a:prstGeom prst="roundRect">
            <a:avLst>
              <a:gd name="adj" fmla="val 11159"/>
            </a:avLst>
          </a:prstGeom>
          <a:solidFill>
            <a:srgbClr val="D1E5FA"/>
          </a:solidFill>
          <a:ln w="19050">
            <a:solidFill>
              <a:srgbClr val="B7CBE0"/>
            </a:solidFill>
            <a:prstDash val="solid"/>
          </a:ln>
        </p:spPr>
      </p:sp>
      <p:sp>
        <p:nvSpPr>
          <p:cNvPr id="7" name="Text 4"/>
          <p:cNvSpPr/>
          <p:nvPr/>
        </p:nvSpPr>
        <p:spPr>
          <a:xfrm>
            <a:off x="869531" y="314771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Four key decisions, written down, no AI</a:t>
            </a:r>
            <a:endParaRPr lang="en-US" sz="1850" dirty="0"/>
          </a:p>
        </p:txBody>
      </p:sp>
      <p:sp>
        <p:nvSpPr>
          <p:cNvPr id="8" name="Shape 5"/>
          <p:cNvSpPr/>
          <p:nvPr/>
        </p:nvSpPr>
        <p:spPr>
          <a:xfrm>
            <a:off x="661475" y="3840063"/>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869531" y="404812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Two deliberate breaks in step eight</a:t>
            </a:r>
            <a:endParaRPr lang="en-US" sz="1850" dirty="0"/>
          </a:p>
        </p:txBody>
      </p:sp>
      <p:sp>
        <p:nvSpPr>
          <p:cNvPr id="10" name="Shape 7"/>
          <p:cNvSpPr/>
          <p:nvPr/>
        </p:nvSpPr>
        <p:spPr>
          <a:xfrm>
            <a:off x="661475" y="4740473"/>
            <a:ext cx="6296860" cy="711398"/>
          </a:xfrm>
          <a:prstGeom prst="roundRect">
            <a:avLst>
              <a:gd name="adj" fmla="val 11159"/>
            </a:avLst>
          </a:prstGeom>
          <a:solidFill>
            <a:srgbClr val="D1E5FA"/>
          </a:solidFill>
          <a:ln w="19050">
            <a:solidFill>
              <a:srgbClr val="B7CBE0"/>
            </a:solidFill>
            <a:prstDash val="solid"/>
          </a:ln>
        </p:spPr>
      </p:sp>
      <p:sp>
        <p:nvSpPr>
          <p:cNvPr id="11" name="Text 8"/>
          <p:cNvSpPr/>
          <p:nvPr/>
        </p:nvSpPr>
        <p:spPr>
          <a:xfrm>
            <a:off x="869531" y="494853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one UPDATE that touches one row</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2026-09-16T04:55:10Z</dcterms:created>
  <dcterms:modified xsi:type="dcterms:W3CDTF">2026-09-16T04:55:10Z</dcterms:modified>
</cp:coreProperties>
</file>