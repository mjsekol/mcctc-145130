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money or a decision rides on your description of a product, you are in the territory this law governs. And AI products attract exactly the kind of claim this law exists to control, because the product is hard to test and a number like ninety four percent sounds like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principle is called substantiation and it is the part students find surprising. The rule is not that a false claim gets you in trouble later. It is that you need the evidence first. Which means the work happens before the poster is printed, not after a question at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those four lines carefully. Likely to mislead means nobody has to have actually been fooled. And the last one is the one that catches good people: leaving out the fact that changes the picture is a way of deceiving, and every cherry-picked demo lives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thirty four acceptable hints in all three lines. The only thing that changed is the denominator. Twenty six points of spread, three correct divisions, no error anywhere. Which one goes on the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eight percent, because from where the user stands, the ten cards that got no hint were failures. Not returned is a category the user does not have. And look at how ninety four was built: exclude ambiguous, exclude failures. Both exclusions have a sensible engineering reason and neither is visible in the printed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test of fifty chemistry cards, hints were produced for forty and a teacher accepted thirty four. Counting every card asked about, sixty eight percent produced an accepted hint. Ratings are in tests slash hint quality dot md. That is substantiation and it took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is the one people resist. A claim about a competitor is a factual claim and it needs the same basis as a claim about yourself. Better than the leading tutor app is a testable sentence, which means somebody has to have tested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is wrong about two rows on purpose and finding them is your exercise. A keyword list cannot tell a factual claim from an opinion, because the difference is about what is being asserted, not about which words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question catches the comparative claims the keyword list misses, because better than theirs is settleable by testing both. Use it on every sentence on your own poster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true claim is the one somebody will actually build a decision on. A reader who checks works with any subject and finds it false has no reason to believe the sentence about data. Unsubstantiated claims cost you the credibility of your substantiated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claims audit of your own project text. Build two writes the honest demo sentence: we also tested two harder cases and those work about half the time, here is one. Saying that in front of a judge is a strength, because a judge who finds a weakness you disclosed trusts everything else you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2.png"/><Relationship Id="rId7" Type="http://schemas.openxmlformats.org/officeDocument/2006/relationships/image" Target="../media/image-10-3.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Consumer Protection, and the Claims on Your Own Poster</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18232"/>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are about to describe this to a stranger</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679502"/>
            <a:ext cx="283461" cy="283468"/>
          </a:xfrm>
          <a:prstGeom prst="rect">
            <a:avLst/>
          </a:prstGeom>
        </p:spPr>
      </p:pic>
      <p:sp>
        <p:nvSpPr>
          <p:cNvPr id="5" name="Text 1"/>
          <p:cNvSpPr/>
          <p:nvPr/>
        </p:nvSpPr>
        <p:spPr>
          <a:xfrm>
            <a:off x="5847608" y="267364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showcase table, the submission form, the README</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648075"/>
            <a:ext cx="283461" cy="283468"/>
          </a:xfrm>
          <a:prstGeom prst="rect">
            <a:avLst/>
          </a:prstGeom>
        </p:spPr>
      </p:pic>
      <p:sp>
        <p:nvSpPr>
          <p:cNvPr id="7" name="Text 2"/>
          <p:cNvSpPr/>
          <p:nvPr/>
        </p:nvSpPr>
        <p:spPr>
          <a:xfrm>
            <a:off x="5847608" y="364222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Somebody who has not used it will read it</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598988"/>
            <a:ext cx="283461" cy="283468"/>
          </a:xfrm>
          <a:prstGeom prst="rect">
            <a:avLst/>
          </a:prstGeom>
        </p:spPr>
      </p:pic>
      <p:sp>
        <p:nvSpPr>
          <p:cNvPr id="9" name="Text 3"/>
          <p:cNvSpPr/>
          <p:nvPr/>
        </p:nvSpPr>
        <p:spPr>
          <a:xfrm>
            <a:off x="5847608" y="459313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decision rides on your description</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549900"/>
            <a:ext cx="283461" cy="283468"/>
          </a:xfrm>
          <a:prstGeom prst="rect">
            <a:avLst/>
          </a:prstGeom>
        </p:spPr>
      </p:pic>
      <p:sp>
        <p:nvSpPr>
          <p:cNvPr id="11" name="Text 4"/>
          <p:cNvSpPr/>
          <p:nvPr/>
        </p:nvSpPr>
        <p:spPr>
          <a:xfrm>
            <a:off x="5847608" y="554404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standard is higher than "I believed it"</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397893"/>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rule, in one line</a:t>
            </a:r>
            <a:endParaRPr lang="en-US" sz="3700" dirty="0"/>
          </a:p>
        </p:txBody>
      </p:sp>
      <p:sp>
        <p:nvSpPr>
          <p:cNvPr id="4" name="Shape 1"/>
          <p:cNvSpPr/>
          <p:nvPr/>
        </p:nvSpPr>
        <p:spPr>
          <a:xfrm>
            <a:off x="661475" y="2272010"/>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732365" y="230743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1275723" y="233689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Make a factual claim about a product</a:t>
            </a:r>
            <a:endParaRPr lang="en-US" sz="1850" dirty="0"/>
          </a:p>
        </p:txBody>
      </p:sp>
      <p:sp>
        <p:nvSpPr>
          <p:cNvPr id="7" name="Shape 4"/>
          <p:cNvSpPr/>
          <p:nvPr/>
        </p:nvSpPr>
        <p:spPr>
          <a:xfrm>
            <a:off x="661475" y="3075285"/>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732365" y="311070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1275723" y="314017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you need a reasonable basis before you make it</a:t>
            </a:r>
            <a:endParaRPr lang="en-US" sz="1850" dirty="0"/>
          </a:p>
        </p:txBody>
      </p:sp>
      <p:sp>
        <p:nvSpPr>
          <p:cNvPr id="10" name="Shape 7"/>
          <p:cNvSpPr/>
          <p:nvPr/>
        </p:nvSpPr>
        <p:spPr>
          <a:xfrm>
            <a:off x="661475" y="410874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732365" y="4144169"/>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1275723" y="417363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after somebody disproves it</a:t>
            </a:r>
            <a:endParaRPr lang="en-US" sz="1850" dirty="0"/>
          </a:p>
        </p:txBody>
      </p:sp>
      <p:sp>
        <p:nvSpPr>
          <p:cNvPr id="13" name="Shape 10"/>
          <p:cNvSpPr/>
          <p:nvPr/>
        </p:nvSpPr>
        <p:spPr>
          <a:xfrm>
            <a:off x="661475" y="4912023"/>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732365" y="494744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1275723" y="4976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 has disproved it" is not evidence</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55427"/>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What deception means here</a:t>
            </a:r>
            <a:endParaRPr lang="en-US" sz="3400" dirty="0"/>
          </a:p>
        </p:txBody>
      </p:sp>
      <p:pic>
        <p:nvPicPr>
          <p:cNvPr id="3" name="Image 0" descr="preencoded.png">    </p:cNvPr>
          <p:cNvPicPr>
            <a:picLocks noChangeAspect="1"/>
          </p:cNvPicPr>
          <p:nvPr/>
        </p:nvPicPr>
        <p:blipFill>
          <a:blip r:embed="rId1"/>
          <a:stretch>
            <a:fillRect/>
          </a:stretch>
        </p:blipFill>
        <p:spPr>
          <a:xfrm>
            <a:off x="661475" y="1800721"/>
            <a:ext cx="6915870" cy="3919041"/>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08737" y="1521520"/>
            <a:ext cx="3527734" cy="930870"/>
          </a:xfrm>
          <a:prstGeom prst="rect">
            <a:avLst/>
          </a:prstGeom>
        </p:spPr>
      </p:pic>
      <p:sp>
        <p:nvSpPr>
          <p:cNvPr id="5" name="Text 1"/>
          <p:cNvSpPr/>
          <p:nvPr/>
        </p:nvSpPr>
        <p:spPr>
          <a:xfrm>
            <a:off x="8278209" y="1714798"/>
            <a:ext cx="3064989"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Likely to mislead. Nobody has to be fooled</a:t>
            </a:r>
            <a:endParaRPr lang="en-US" sz="17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08737" y="2613025"/>
            <a:ext cx="3527734" cy="1203027"/>
          </a:xfrm>
          <a:prstGeom prst="rect">
            <a:avLst/>
          </a:prstGeom>
        </p:spPr>
      </p:pic>
      <p:sp>
        <p:nvSpPr>
          <p:cNvPr id="7" name="Text 2"/>
          <p:cNvSpPr/>
          <p:nvPr/>
        </p:nvSpPr>
        <p:spPr>
          <a:xfrm>
            <a:off x="8278209" y="2806303"/>
            <a:ext cx="3064989" cy="816471"/>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 consumer acting reasonably, not the most careless</a:t>
            </a:r>
            <a:endParaRPr lang="en-US" sz="17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08737" y="3976688"/>
            <a:ext cx="3527734" cy="930870"/>
          </a:xfrm>
          <a:prstGeom prst="rect">
            <a:avLst/>
          </a:prstGeom>
        </p:spPr>
      </p:pic>
      <p:sp>
        <p:nvSpPr>
          <p:cNvPr id="9" name="Text 3"/>
          <p:cNvSpPr/>
          <p:nvPr/>
        </p:nvSpPr>
        <p:spPr>
          <a:xfrm>
            <a:off x="8278209" y="4169966"/>
            <a:ext cx="3064989"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Material: it could affect a decision</a:t>
            </a:r>
            <a:endParaRPr lang="en-US" sz="17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08737" y="5068193"/>
            <a:ext cx="3527734" cy="930870"/>
          </a:xfrm>
          <a:prstGeom prst="rect">
            <a:avLst/>
          </a:prstGeom>
        </p:spPr>
      </p:pic>
      <p:sp>
        <p:nvSpPr>
          <p:cNvPr id="11" name="Text 4"/>
          <p:cNvSpPr/>
          <p:nvPr/>
        </p:nvSpPr>
        <p:spPr>
          <a:xfrm>
            <a:off x="8278209" y="5261471"/>
            <a:ext cx="3064989"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An omission counts as much as a statement</a:t>
            </a:r>
            <a:endParaRPr lang="en-US" sz="170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test run, three accuracy numbers</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Accepted, out of hints that were not ambiguous : 94.4%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Accepted, out of hints returned                : 85.0%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Accepted, out of cards the user asked about    : 68.0%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5820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honest denominator is the user's</a:t>
            </a:r>
            <a:endParaRPr lang="en-US" sz="3700" dirty="0"/>
          </a:p>
        </p:txBody>
      </p:sp>
      <p:sp>
        <p:nvSpPr>
          <p:cNvPr id="3" name="Shape 1"/>
          <p:cNvSpPr/>
          <p:nvPr/>
        </p:nvSpPr>
        <p:spPr>
          <a:xfrm>
            <a:off x="661475" y="2326878"/>
            <a:ext cx="10868745" cy="1587698"/>
          </a:xfrm>
          <a:prstGeom prst="roundRect">
            <a:avLst>
              <a:gd name="adj" fmla="val 5000"/>
            </a:avLst>
          </a:prstGeom>
          <a:solidFill>
            <a:srgbClr val="F2F2F2"/>
          </a:solidFill>
          <a:ln/>
        </p:spPr>
      </p:sp>
      <p:sp>
        <p:nvSpPr>
          <p:cNvPr id="4" name="Text 2"/>
          <p:cNvSpPr/>
          <p:nvPr/>
        </p:nvSpPr>
        <p:spPr>
          <a:xfrm>
            <a:off x="888283" y="2515890"/>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50 cards tested</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40 hints returned    (10 got nothing: the model was unreachable)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34 accepted by a teacher</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4 of the 6 rejections were arguable</a:t>
            </a:r>
            <a:endParaRPr lang="en-US" sz="1450" dirty="0"/>
          </a:p>
        </p:txBody>
      </p:sp>
      <p:sp>
        <p:nvSpPr>
          <p:cNvPr id="5" name="Text 3"/>
          <p:cNvSpPr/>
          <p:nvPr/>
        </p:nvSpPr>
        <p:spPr>
          <a:xfrm>
            <a:off x="661475" y="4221659"/>
            <a:ext cx="3465426" cy="623788"/>
          </a:xfrm>
          <a:prstGeom prst="rect">
            <a:avLst/>
          </a:prstGeom>
          <a:noFill/>
          <a:ln/>
        </p:spPr>
        <p:txBody>
          <a:bodyPr wrap="none" lIns="0" tIns="0" rIns="0" bIns="0" rtlCol="0" anchor="t"/>
          <a:lstStyle/>
          <a:p>
            <a:pPr algn="ctr" indent="0" marL="0">
              <a:lnSpc>
                <a:spcPct val="83000"/>
              </a:lnSpc>
              <a:buNone/>
            </a:pPr>
            <a:r>
              <a:rPr lang="en-US" sz="4900" b="1" dirty="0">
                <a:solidFill>
                  <a:srgbClr val="1C1C1C"/>
                </a:solidFill>
                <a:latin typeface="Orbitron Bold" pitchFamily="34" charset="0"/>
                <a:ea typeface="Orbitron Bold" pitchFamily="34" charset="-122"/>
                <a:cs typeface="Orbitron Bold" pitchFamily="34" charset="-120"/>
              </a:rPr>
              <a:t>50</a:t>
            </a:r>
            <a:endParaRPr lang="en-US" sz="4900" dirty="0"/>
          </a:p>
        </p:txBody>
      </p:sp>
      <p:sp>
        <p:nvSpPr>
          <p:cNvPr id="6" name="Text 4"/>
          <p:cNvSpPr/>
          <p:nvPr/>
        </p:nvSpPr>
        <p:spPr>
          <a:xfrm>
            <a:off x="661475" y="5081588"/>
            <a:ext cx="3465426" cy="295275"/>
          </a:xfrm>
          <a:prstGeom prst="rect">
            <a:avLst/>
          </a:prstGeom>
          <a:noFill/>
          <a:ln/>
        </p:spPr>
        <p:txBody>
          <a:bodyPr wrap="none" lIns="0" tIns="0" rIns="0" bIns="0" rtlCol="0" anchor="t"/>
          <a:lstStyle/>
          <a:p>
            <a:pPr algn="ct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Cards tested</a:t>
            </a:r>
            <a:endParaRPr lang="en-US" sz="1850" dirty="0"/>
          </a:p>
        </p:txBody>
      </p:sp>
      <p:sp>
        <p:nvSpPr>
          <p:cNvPr id="7" name="Text 5"/>
          <p:cNvSpPr/>
          <p:nvPr/>
        </p:nvSpPr>
        <p:spPr>
          <a:xfrm>
            <a:off x="4363135" y="4221659"/>
            <a:ext cx="3465426" cy="623788"/>
          </a:xfrm>
          <a:prstGeom prst="rect">
            <a:avLst/>
          </a:prstGeom>
          <a:noFill/>
          <a:ln/>
        </p:spPr>
        <p:txBody>
          <a:bodyPr wrap="none" lIns="0" tIns="0" rIns="0" bIns="0" rtlCol="0" anchor="t"/>
          <a:lstStyle/>
          <a:p>
            <a:pPr algn="ctr" indent="0" marL="0">
              <a:lnSpc>
                <a:spcPct val="83000"/>
              </a:lnSpc>
              <a:buNone/>
            </a:pPr>
            <a:r>
              <a:rPr lang="en-US" sz="4900" b="1" dirty="0">
                <a:solidFill>
                  <a:srgbClr val="1C1C1C"/>
                </a:solidFill>
                <a:latin typeface="Orbitron Bold" pitchFamily="34" charset="0"/>
                <a:ea typeface="Orbitron Bold" pitchFamily="34" charset="-122"/>
                <a:cs typeface="Orbitron Bold" pitchFamily="34" charset="-120"/>
              </a:rPr>
              <a:t>40</a:t>
            </a:r>
            <a:endParaRPr lang="en-US" sz="4900" dirty="0"/>
          </a:p>
        </p:txBody>
      </p:sp>
      <p:sp>
        <p:nvSpPr>
          <p:cNvPr id="8" name="Text 6"/>
          <p:cNvSpPr/>
          <p:nvPr/>
        </p:nvSpPr>
        <p:spPr>
          <a:xfrm>
            <a:off x="4363135" y="5081588"/>
            <a:ext cx="3465426" cy="295275"/>
          </a:xfrm>
          <a:prstGeom prst="rect">
            <a:avLst/>
          </a:prstGeom>
          <a:noFill/>
          <a:ln/>
        </p:spPr>
        <p:txBody>
          <a:bodyPr wrap="none" lIns="0" tIns="0" rIns="0" bIns="0" rtlCol="0" anchor="t"/>
          <a:lstStyle/>
          <a:p>
            <a:pPr algn="ct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Hints returned</a:t>
            </a:r>
            <a:endParaRPr lang="en-US" sz="1850" dirty="0"/>
          </a:p>
        </p:txBody>
      </p:sp>
      <p:sp>
        <p:nvSpPr>
          <p:cNvPr id="9" name="Text 7"/>
          <p:cNvSpPr/>
          <p:nvPr/>
        </p:nvSpPr>
        <p:spPr>
          <a:xfrm>
            <a:off x="8064794" y="4221659"/>
            <a:ext cx="3465426" cy="623788"/>
          </a:xfrm>
          <a:prstGeom prst="rect">
            <a:avLst/>
          </a:prstGeom>
          <a:noFill/>
          <a:ln/>
        </p:spPr>
        <p:txBody>
          <a:bodyPr wrap="none" lIns="0" tIns="0" rIns="0" bIns="0" rtlCol="0" anchor="t"/>
          <a:lstStyle/>
          <a:p>
            <a:pPr algn="ctr" indent="0" marL="0">
              <a:lnSpc>
                <a:spcPct val="83000"/>
              </a:lnSpc>
              <a:buNone/>
            </a:pPr>
            <a:r>
              <a:rPr lang="en-US" sz="4900" b="1" dirty="0">
                <a:solidFill>
                  <a:srgbClr val="1C1C1C"/>
                </a:solidFill>
                <a:latin typeface="Orbitron Bold" pitchFamily="34" charset="0"/>
                <a:ea typeface="Orbitron Bold" pitchFamily="34" charset="-122"/>
                <a:cs typeface="Orbitron Bold" pitchFamily="34" charset="-120"/>
              </a:rPr>
              <a:t>34</a:t>
            </a:r>
            <a:endParaRPr lang="en-US" sz="4900" dirty="0"/>
          </a:p>
        </p:txBody>
      </p:sp>
      <p:sp>
        <p:nvSpPr>
          <p:cNvPr id="10" name="Text 8"/>
          <p:cNvSpPr/>
          <p:nvPr/>
        </p:nvSpPr>
        <p:spPr>
          <a:xfrm>
            <a:off x="8064794" y="5081588"/>
            <a:ext cx="3465426" cy="295275"/>
          </a:xfrm>
          <a:prstGeom prst="rect">
            <a:avLst/>
          </a:prstGeom>
          <a:noFill/>
          <a:ln/>
        </p:spPr>
        <p:txBody>
          <a:bodyPr wrap="none" lIns="0" tIns="0" rIns="0" bIns="0" rtlCol="0" anchor="t"/>
          <a:lstStyle/>
          <a:p>
            <a:pPr algn="ct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Accepted by teacher</a:t>
            </a:r>
            <a:endParaRPr lang="en-US" sz="18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26157"/>
            <a:ext cx="6296860" cy="166122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Substantiation is a sentence, not a bigger number</a:t>
            </a:r>
            <a:endParaRPr lang="en-US" sz="3450" dirty="0"/>
          </a:p>
        </p:txBody>
      </p:sp>
      <p:sp>
        <p:nvSpPr>
          <p:cNvPr id="4" name="Text 1"/>
          <p:cNvSpPr/>
          <p:nvPr/>
        </p:nvSpPr>
        <p:spPr>
          <a:xfrm>
            <a:off x="661475" y="2436515"/>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01</a:t>
            </a:r>
            <a:endParaRPr lang="en-US" sz="1350" dirty="0"/>
          </a:p>
        </p:txBody>
      </p:sp>
      <p:sp>
        <p:nvSpPr>
          <p:cNvPr id="5" name="Shape 2"/>
          <p:cNvSpPr/>
          <p:nvPr/>
        </p:nvSpPr>
        <p:spPr>
          <a:xfrm>
            <a:off x="661475" y="2718594"/>
            <a:ext cx="6296860" cy="19050"/>
          </a:xfrm>
          <a:prstGeom prst="rect">
            <a:avLst/>
          </a:prstGeom>
          <a:solidFill>
            <a:srgbClr val="57A1EB"/>
          </a:solidFill>
          <a:ln/>
        </p:spPr>
      </p:sp>
      <p:sp>
        <p:nvSpPr>
          <p:cNvPr id="6" name="Text 3"/>
          <p:cNvSpPr/>
          <p:nvPr/>
        </p:nvSpPr>
        <p:spPr>
          <a:xfrm>
            <a:off x="661475" y="2845296"/>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Say the test set</a:t>
            </a:r>
            <a:endParaRPr lang="en-US" sz="1700" dirty="0"/>
          </a:p>
        </p:txBody>
      </p:sp>
      <p:sp>
        <p:nvSpPr>
          <p:cNvPr id="7" name="Text 4"/>
          <p:cNvSpPr/>
          <p:nvPr/>
        </p:nvSpPr>
        <p:spPr>
          <a:xfrm>
            <a:off x="661475" y="3421162"/>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02</a:t>
            </a:r>
            <a:endParaRPr lang="en-US" sz="1350" dirty="0"/>
          </a:p>
        </p:txBody>
      </p:sp>
      <p:sp>
        <p:nvSpPr>
          <p:cNvPr id="8" name="Shape 5"/>
          <p:cNvSpPr/>
          <p:nvPr/>
        </p:nvSpPr>
        <p:spPr>
          <a:xfrm>
            <a:off x="661475" y="3703241"/>
            <a:ext cx="6296860" cy="19050"/>
          </a:xfrm>
          <a:prstGeom prst="rect">
            <a:avLst/>
          </a:prstGeom>
          <a:solidFill>
            <a:srgbClr val="57A1EB"/>
          </a:solidFill>
          <a:ln/>
        </p:spPr>
      </p:sp>
      <p:sp>
        <p:nvSpPr>
          <p:cNvPr id="9" name="Text 6"/>
          <p:cNvSpPr/>
          <p:nvPr/>
        </p:nvSpPr>
        <p:spPr>
          <a:xfrm>
            <a:off x="661475" y="3829943"/>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Say the denominator</a:t>
            </a:r>
            <a:endParaRPr lang="en-US" sz="1700" dirty="0"/>
          </a:p>
        </p:txBody>
      </p:sp>
      <p:sp>
        <p:nvSpPr>
          <p:cNvPr id="10" name="Text 7"/>
          <p:cNvSpPr/>
          <p:nvPr/>
        </p:nvSpPr>
        <p:spPr>
          <a:xfrm>
            <a:off x="661475" y="4405809"/>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03</a:t>
            </a:r>
            <a:endParaRPr lang="en-US" sz="1350" dirty="0"/>
          </a:p>
        </p:txBody>
      </p:sp>
      <p:sp>
        <p:nvSpPr>
          <p:cNvPr id="11" name="Shape 8"/>
          <p:cNvSpPr/>
          <p:nvPr/>
        </p:nvSpPr>
        <p:spPr>
          <a:xfrm>
            <a:off x="661475" y="4687888"/>
            <a:ext cx="6296860" cy="19050"/>
          </a:xfrm>
          <a:prstGeom prst="rect">
            <a:avLst/>
          </a:prstGeom>
          <a:solidFill>
            <a:srgbClr val="57A1EB"/>
          </a:solidFill>
          <a:ln/>
        </p:spPr>
      </p:sp>
      <p:sp>
        <p:nvSpPr>
          <p:cNvPr id="12" name="Text 9"/>
          <p:cNvSpPr/>
          <p:nvPr/>
        </p:nvSpPr>
        <p:spPr>
          <a:xfrm>
            <a:off x="661475" y="4814590"/>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Say who judged and how</a:t>
            </a:r>
            <a:endParaRPr lang="en-US" sz="1700" dirty="0"/>
          </a:p>
        </p:txBody>
      </p:sp>
      <p:sp>
        <p:nvSpPr>
          <p:cNvPr id="13" name="Text 10"/>
          <p:cNvSpPr/>
          <p:nvPr/>
        </p:nvSpPr>
        <p:spPr>
          <a:xfrm>
            <a:off x="661475" y="5390455"/>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04</a:t>
            </a:r>
            <a:endParaRPr lang="en-US" sz="1350" dirty="0"/>
          </a:p>
        </p:txBody>
      </p:sp>
      <p:sp>
        <p:nvSpPr>
          <p:cNvPr id="14" name="Shape 11"/>
          <p:cNvSpPr/>
          <p:nvPr/>
        </p:nvSpPr>
        <p:spPr>
          <a:xfrm>
            <a:off x="661475" y="5672534"/>
            <a:ext cx="6296860" cy="19050"/>
          </a:xfrm>
          <a:prstGeom prst="rect">
            <a:avLst/>
          </a:prstGeom>
          <a:solidFill>
            <a:srgbClr val="57A1EB"/>
          </a:solidFill>
          <a:ln/>
        </p:spPr>
      </p:sp>
      <p:sp>
        <p:nvSpPr>
          <p:cNvPr id="15" name="Text 12"/>
          <p:cNvSpPr/>
          <p:nvPr/>
        </p:nvSpPr>
        <p:spPr>
          <a:xfrm>
            <a:off x="661475" y="5799237"/>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Name the file the ratings are in</a:t>
            </a:r>
            <a:endParaRPr lang="en-US" sz="17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55427"/>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AI-specific patterns to watch for</a:t>
            </a:r>
            <a:endParaRPr lang="en-US" sz="3400" dirty="0"/>
          </a:p>
        </p:txBody>
      </p:sp>
      <p:pic>
        <p:nvPicPr>
          <p:cNvPr id="3" name="Image 0" descr="preencoded.png">    </p:cNvPr>
          <p:cNvPicPr>
            <a:picLocks noChangeAspect="1"/>
          </p:cNvPicPr>
          <p:nvPr/>
        </p:nvPicPr>
        <p:blipFill>
          <a:blip r:embed="rId1"/>
          <a:stretch>
            <a:fillRect/>
          </a:stretch>
        </p:blipFill>
        <p:spPr>
          <a:xfrm>
            <a:off x="661475" y="1800721"/>
            <a:ext cx="6915870" cy="3919041"/>
          </a:xfrm>
          <a:prstGeom prst="rect">
            <a:avLst/>
          </a:prstGeom>
        </p:spPr>
      </p:pic>
      <p:sp>
        <p:nvSpPr>
          <p:cNvPr id="4" name="Shape 1"/>
          <p:cNvSpPr/>
          <p:nvPr/>
        </p:nvSpPr>
        <p:spPr>
          <a:xfrm>
            <a:off x="8008737" y="1521520"/>
            <a:ext cx="3527734" cy="930870"/>
          </a:xfrm>
          <a:prstGeom prst="roundRect">
            <a:avLst>
              <a:gd name="adj" fmla="val 7862"/>
            </a:avLst>
          </a:prstGeom>
          <a:solidFill>
            <a:srgbClr val="FFFFFF"/>
          </a:solidFill>
          <a:ln w="19050">
            <a:solidFill>
              <a:srgbClr val="B7CBE0"/>
            </a:solidFill>
            <a:prstDash val="solid"/>
          </a:ln>
        </p:spPr>
      </p:sp>
      <p:sp>
        <p:nvSpPr>
          <p:cNvPr id="5" name="Text 2"/>
          <p:cNvSpPr/>
          <p:nvPr/>
        </p:nvSpPr>
        <p:spPr>
          <a:xfrm>
            <a:off x="8202010" y="1714798"/>
            <a:ext cx="3141187"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AI washing: calling it AI when it is templates</a:t>
            </a:r>
            <a:endParaRPr lang="en-US" sz="1700" dirty="0"/>
          </a:p>
        </p:txBody>
      </p:sp>
      <p:sp>
        <p:nvSpPr>
          <p:cNvPr id="6" name="Shape 3"/>
          <p:cNvSpPr/>
          <p:nvPr/>
        </p:nvSpPr>
        <p:spPr>
          <a:xfrm>
            <a:off x="8008737" y="2613025"/>
            <a:ext cx="3527734" cy="930870"/>
          </a:xfrm>
          <a:prstGeom prst="roundRect">
            <a:avLst>
              <a:gd name="adj" fmla="val 7862"/>
            </a:avLst>
          </a:prstGeom>
          <a:solidFill>
            <a:srgbClr val="FFFFFF"/>
          </a:solidFill>
          <a:ln w="19050">
            <a:solidFill>
              <a:srgbClr val="B7CBE0"/>
            </a:solidFill>
            <a:prstDash val="solid"/>
          </a:ln>
        </p:spPr>
      </p:sp>
      <p:sp>
        <p:nvSpPr>
          <p:cNvPr id="7" name="Text 4"/>
          <p:cNvSpPr/>
          <p:nvPr/>
        </p:nvSpPr>
        <p:spPr>
          <a:xfrm>
            <a:off x="8202010" y="2806303"/>
            <a:ext cx="3141187"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Cherry-picked demo, hidden automation</a:t>
            </a:r>
            <a:endParaRPr lang="en-US" sz="1700" dirty="0"/>
          </a:p>
        </p:txBody>
      </p:sp>
      <p:sp>
        <p:nvSpPr>
          <p:cNvPr id="8" name="Shape 5"/>
          <p:cNvSpPr/>
          <p:nvPr/>
        </p:nvSpPr>
        <p:spPr>
          <a:xfrm>
            <a:off x="8008737" y="3704530"/>
            <a:ext cx="3527734" cy="930870"/>
          </a:xfrm>
          <a:prstGeom prst="roundRect">
            <a:avLst>
              <a:gd name="adj" fmla="val 7862"/>
            </a:avLst>
          </a:prstGeom>
          <a:solidFill>
            <a:srgbClr val="FFFFFF"/>
          </a:solidFill>
          <a:ln w="19050">
            <a:solidFill>
              <a:srgbClr val="B7CBE0"/>
            </a:solidFill>
            <a:prstDash val="solid"/>
          </a:ln>
        </p:spPr>
      </p:sp>
      <p:sp>
        <p:nvSpPr>
          <p:cNvPr id="9" name="Text 6"/>
          <p:cNvSpPr/>
          <p:nvPr/>
        </p:nvSpPr>
        <p:spPr>
          <a:xfrm>
            <a:off x="8202010" y="3897809"/>
            <a:ext cx="3141187"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Silent capability change when the model changes</a:t>
            </a:r>
            <a:endParaRPr lang="en-US" sz="1700" dirty="0"/>
          </a:p>
        </p:txBody>
      </p:sp>
      <p:sp>
        <p:nvSpPr>
          <p:cNvPr id="10" name="Shape 7"/>
          <p:cNvSpPr/>
          <p:nvPr/>
        </p:nvSpPr>
        <p:spPr>
          <a:xfrm>
            <a:off x="8008737" y="4796036"/>
            <a:ext cx="3527734" cy="1203027"/>
          </a:xfrm>
          <a:prstGeom prst="roundRect">
            <a:avLst>
              <a:gd name="adj" fmla="val 6083"/>
            </a:avLst>
          </a:prstGeom>
          <a:solidFill>
            <a:srgbClr val="FFFFFF"/>
          </a:solidFill>
          <a:ln w="19050">
            <a:solidFill>
              <a:srgbClr val="B7CBE0"/>
            </a:solidFill>
            <a:prstDash val="solid"/>
          </a:ln>
        </p:spPr>
      </p:sp>
      <p:sp>
        <p:nvSpPr>
          <p:cNvPr id="11" name="Text 8"/>
          <p:cNvSpPr/>
          <p:nvPr/>
        </p:nvSpPr>
        <p:spPr>
          <a:xfrm>
            <a:off x="8202010" y="4989314"/>
            <a:ext cx="3141187" cy="816471"/>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Comparative claims about somebody else's product</a:t>
            </a:r>
            <a:endParaRPr lang="en-US" sz="170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Sorting your own copy</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Study Buddy makes studying better              opinion     none needed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Study Buddy writes hints that are 94% accurate measurable  NONE. Do not publish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Study Buddy runs entirely on your own computer measurable  read the source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Study Buddy is the best flashcard app          opinion     none needed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Study Buddy never sends your notes anywhere    measurable  ran with adapter off</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Study Buddy works with any subject             measurable  NONE. Do not publish</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The question that classifies any sentence</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04787" y="3243362"/>
            <a:ext cx="2642725" cy="320675"/>
          </a:xfrm>
          <a:prstGeom prst="rect">
            <a:avLst/>
          </a:prstGeom>
        </p:spPr>
      </p:pic>
      <p:sp>
        <p:nvSpPr>
          <p:cNvPr id="5" name="Text 1"/>
          <p:cNvSpPr/>
          <p:nvPr/>
        </p:nvSpPr>
        <p:spPr>
          <a:xfrm>
            <a:off x="6337340" y="3256062"/>
            <a:ext cx="2510172" cy="295275"/>
          </a:xfrm>
          <a:prstGeom prst="rect">
            <a:avLst/>
          </a:prstGeom>
          <a:noFill/>
          <a:ln/>
        </p:spPr>
        <p:txBody>
          <a:bodyPr wrap="square" lIns="0" tIns="0" rIns="0" bIns="0" rtlCol="0" anchor="t">
            <a:normAutofit/>
          </a:bodyPr>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Could two honest people settle this by testing</a:t>
            </a:r>
            <a:endParaRPr lang="en-US" sz="9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3845" y="3243362"/>
            <a:ext cx="2642725" cy="320675"/>
          </a:xfrm>
          <a:prstGeom prst="rect">
            <a:avLst/>
          </a:prstGeom>
        </p:spPr>
      </p:pic>
      <p:sp>
        <p:nvSpPr>
          <p:cNvPr id="7" name="Text 2"/>
          <p:cNvSpPr/>
          <p:nvPr/>
        </p:nvSpPr>
        <p:spPr>
          <a:xfrm>
            <a:off x="9026398" y="3256062"/>
            <a:ext cx="2510172" cy="295275"/>
          </a:xfrm>
          <a:prstGeom prst="rect">
            <a:avLst/>
          </a:prstGeom>
          <a:noFill/>
          <a:ln/>
        </p:spPr>
        <p:txBody>
          <a:bodyPr wrap="square" lIns="0" tIns="0" rIns="0" bIns="0" rtlCol="0" anchor="t">
            <a:normAutofit/>
          </a:bodyPr>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With access to the product and enough time</a:t>
            </a:r>
            <a:endParaRPr lang="en-US" sz="9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4787" y="3633093"/>
            <a:ext cx="2642725" cy="320675"/>
          </a:xfrm>
          <a:prstGeom prst="rect">
            <a:avLst/>
          </a:prstGeom>
        </p:spPr>
      </p:pic>
      <p:sp>
        <p:nvSpPr>
          <p:cNvPr id="9" name="Text 3"/>
          <p:cNvSpPr/>
          <p:nvPr/>
        </p:nvSpPr>
        <p:spPr>
          <a:xfrm>
            <a:off x="6337340" y="3645793"/>
            <a:ext cx="2510172" cy="295275"/>
          </a:xfrm>
          <a:prstGeom prst="rect">
            <a:avLst/>
          </a:prstGeom>
          <a:noFill/>
          <a:ln/>
        </p:spPr>
        <p:txBody>
          <a:bodyPr wrap="square" lIns="0" tIns="0" rIns="0" bIns="0" rtlCol="0" anchor="t">
            <a:normAutofit/>
          </a:bodyPr>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Yes means you need evidence before publishing</a:t>
            </a:r>
            <a:endParaRPr lang="en-US" sz="9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93845" y="3633093"/>
            <a:ext cx="2642725" cy="320675"/>
          </a:xfrm>
          <a:prstGeom prst="rect">
            <a:avLst/>
          </a:prstGeom>
        </p:spPr>
      </p:pic>
      <p:sp>
        <p:nvSpPr>
          <p:cNvPr id="11" name="Text 4"/>
          <p:cNvSpPr/>
          <p:nvPr/>
        </p:nvSpPr>
        <p:spPr>
          <a:xfrm>
            <a:off x="9026398" y="3645793"/>
            <a:ext cx="2510172"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No means it is opinion</a:t>
            </a:r>
            <a:endParaRPr lang="en-US" sz="900" dirty="0"/>
          </a:p>
        </p:txBody>
      </p:sp>
      <p:sp>
        <p:nvSpPr>
          <p:cNvPr id="12" name="Text 5"/>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36178"/>
            <a:ext cx="6296860" cy="1744266"/>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The claim that mattered, ruined by its neighbours</a:t>
            </a:r>
            <a:endParaRPr lang="en-US" sz="3650" dirty="0"/>
          </a:p>
        </p:txBody>
      </p:sp>
      <p:sp>
        <p:nvSpPr>
          <p:cNvPr id="4" name="Shape 1"/>
          <p:cNvSpPr/>
          <p:nvPr/>
        </p:nvSpPr>
        <p:spPr>
          <a:xfrm>
            <a:off x="5233360" y="2555180"/>
            <a:ext cx="6296860" cy="700881"/>
          </a:xfrm>
          <a:prstGeom prst="roundRect">
            <a:avLst>
              <a:gd name="adj" fmla="val 11150"/>
            </a:avLst>
          </a:prstGeom>
          <a:solidFill>
            <a:srgbClr val="D1E5FA"/>
          </a:solidFill>
          <a:ln w="19050">
            <a:solidFill>
              <a:srgbClr val="B7CBE0"/>
            </a:solidFill>
            <a:prstDash val="solid"/>
          </a:ln>
        </p:spPr>
      </p:sp>
      <p:sp>
        <p:nvSpPr>
          <p:cNvPr id="5" name="Text 2"/>
          <p:cNvSpPr/>
          <p:nvPr/>
        </p:nvSpPr>
        <p:spPr>
          <a:xfrm>
            <a:off x="5438441" y="2760266"/>
            <a:ext cx="5886700"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Your data never leaves your computer: </a:t>
            </a:r>
            <a:pPr algn="l" indent="0" marL="0">
              <a:lnSpc>
                <a:spcPct val="104000"/>
              </a:lnSpc>
              <a:buNone/>
            </a:pPr>
            <a:r>
              <a:rPr lang="en-US" sz="1800" b="1" dirty="0">
                <a:solidFill>
                  <a:srgbClr val="57A1EB"/>
                </a:solidFill>
                <a:latin typeface="Orbitron Bold" pitchFamily="34" charset="0"/>
                <a:ea typeface="Orbitron Bold" pitchFamily="34" charset="-122"/>
                <a:cs typeface="Orbitron Bold" pitchFamily="34" charset="-120"/>
              </a:rPr>
              <a:t>true</a:t>
            </a:r>
            <a:endParaRPr lang="en-US" sz="1800" dirty="0"/>
          </a:p>
        </p:txBody>
      </p:sp>
      <p:sp>
        <p:nvSpPr>
          <p:cNvPr id="6" name="Shape 3"/>
          <p:cNvSpPr/>
          <p:nvPr/>
        </p:nvSpPr>
        <p:spPr>
          <a:xfrm>
            <a:off x="5233360" y="3439220"/>
            <a:ext cx="6296860" cy="700881"/>
          </a:xfrm>
          <a:prstGeom prst="roundRect">
            <a:avLst>
              <a:gd name="adj" fmla="val 11150"/>
            </a:avLst>
          </a:prstGeom>
          <a:solidFill>
            <a:srgbClr val="D1E5FA"/>
          </a:solidFill>
          <a:ln w="19050">
            <a:solidFill>
              <a:srgbClr val="B7CBE0"/>
            </a:solidFill>
            <a:prstDash val="solid"/>
          </a:ln>
        </p:spPr>
      </p:sp>
      <p:sp>
        <p:nvSpPr>
          <p:cNvPr id="7" name="Text 4"/>
          <p:cNvSpPr/>
          <p:nvPr/>
        </p:nvSpPr>
        <p:spPr>
          <a:xfrm>
            <a:off x="5438441" y="3644305"/>
            <a:ext cx="5886700"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Works with any subject: </a:t>
            </a:r>
            <a:pPr algn="l" indent="0" marL="0">
              <a:lnSpc>
                <a:spcPct val="104000"/>
              </a:lnSpc>
              <a:buNone/>
            </a:pPr>
            <a:r>
              <a:rPr lang="en-US" sz="1800" b="1" dirty="0">
                <a:solidFill>
                  <a:srgbClr val="B0001D"/>
                </a:solidFill>
                <a:latin typeface="Orbitron Bold" pitchFamily="34" charset="0"/>
                <a:ea typeface="Orbitron Bold" pitchFamily="34" charset="-122"/>
                <a:cs typeface="Orbitron Bold" pitchFamily="34" charset="-120"/>
              </a:rPr>
              <a:t>not tested</a:t>
            </a:r>
            <a:endParaRPr lang="en-US" sz="1800" dirty="0"/>
          </a:p>
        </p:txBody>
      </p:sp>
      <p:sp>
        <p:nvSpPr>
          <p:cNvPr id="8" name="Shape 5"/>
          <p:cNvSpPr/>
          <p:nvPr/>
        </p:nvSpPr>
        <p:spPr>
          <a:xfrm>
            <a:off x="5233360" y="4323259"/>
            <a:ext cx="6296860" cy="700881"/>
          </a:xfrm>
          <a:prstGeom prst="roundRect">
            <a:avLst>
              <a:gd name="adj" fmla="val 11150"/>
            </a:avLst>
          </a:prstGeom>
          <a:solidFill>
            <a:srgbClr val="D1E5FA"/>
          </a:solidFill>
          <a:ln w="19050">
            <a:solidFill>
              <a:srgbClr val="B7CBE0"/>
            </a:solidFill>
            <a:prstDash val="solid"/>
          </a:ln>
        </p:spPr>
      </p:sp>
      <p:sp>
        <p:nvSpPr>
          <p:cNvPr id="9" name="Text 6"/>
          <p:cNvSpPr/>
          <p:nvPr/>
        </p:nvSpPr>
        <p:spPr>
          <a:xfrm>
            <a:off x="5438441" y="4528344"/>
            <a:ext cx="5886700"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Trusted across the district: </a:t>
            </a:r>
            <a:pPr algn="l" indent="0" marL="0">
              <a:lnSpc>
                <a:spcPct val="104000"/>
              </a:lnSpc>
              <a:buNone/>
            </a:pPr>
            <a:r>
              <a:rPr lang="en-US" sz="1800" b="1" dirty="0">
                <a:solidFill>
                  <a:srgbClr val="B0001D"/>
                </a:solidFill>
                <a:latin typeface="Orbitron Bold" pitchFamily="34" charset="0"/>
                <a:ea typeface="Orbitron Bold" pitchFamily="34" charset="-122"/>
                <a:cs typeface="Orbitron Bold" pitchFamily="34" charset="-120"/>
              </a:rPr>
              <a:t>six friends</a:t>
            </a:r>
            <a:endParaRPr lang="en-US" sz="1800" dirty="0"/>
          </a:p>
        </p:txBody>
      </p:sp>
      <p:sp>
        <p:nvSpPr>
          <p:cNvPr id="10" name="Shape 7"/>
          <p:cNvSpPr/>
          <p:nvPr/>
        </p:nvSpPr>
        <p:spPr>
          <a:xfrm>
            <a:off x="5233360" y="5207298"/>
            <a:ext cx="6296860" cy="991592"/>
          </a:xfrm>
          <a:prstGeom prst="roundRect">
            <a:avLst>
              <a:gd name="adj" fmla="val 7881"/>
            </a:avLst>
          </a:prstGeom>
          <a:solidFill>
            <a:srgbClr val="D1E5FA"/>
          </a:solidFill>
          <a:ln w="19050">
            <a:solidFill>
              <a:srgbClr val="B7CBE0"/>
            </a:solidFill>
            <a:prstDash val="solid"/>
          </a:ln>
        </p:spPr>
      </p:sp>
      <p:sp>
        <p:nvSpPr>
          <p:cNvPr id="11" name="Text 8"/>
          <p:cNvSpPr/>
          <p:nvPr/>
        </p:nvSpPr>
        <p:spPr>
          <a:xfrm>
            <a:off x="5438441" y="5412383"/>
            <a:ext cx="5886700"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 reader checks one, and stops believing all four</a:t>
            </a:r>
            <a:endParaRPr lang="en-US" sz="180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8742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5233360" y="2452191"/>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304251" y="2487612"/>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5847608" y="2517080"/>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Rewrite your project blurb, claim by claim</a:t>
            </a:r>
            <a:endParaRPr lang="en-US" sz="1850" dirty="0"/>
          </a:p>
        </p:txBody>
      </p:sp>
      <p:sp>
        <p:nvSpPr>
          <p:cNvPr id="7" name="Shape 4"/>
          <p:cNvSpPr/>
          <p:nvPr/>
        </p:nvSpPr>
        <p:spPr>
          <a:xfrm>
            <a:off x="5233360" y="3255466"/>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5304251" y="3290888"/>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5847608" y="332035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surviving claim names an evidence file</a:t>
            </a:r>
            <a:endParaRPr lang="en-US" sz="1850" dirty="0"/>
          </a:p>
        </p:txBody>
      </p:sp>
      <p:sp>
        <p:nvSpPr>
          <p:cNvPr id="10" name="Shape 7"/>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304251" y="432435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Say what you dropped and why</a:t>
            </a:r>
            <a:endParaRPr lang="en-US" sz="1850" dirty="0"/>
          </a:p>
        </p:txBody>
      </p:sp>
      <p:sp>
        <p:nvSpPr>
          <p:cNvPr id="13" name="Shape 10"/>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5304251" y="51276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5847608" y="515709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one sentence you say during your demo</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2026-09-16T03:36:57Z</dcterms:created>
  <dcterms:modified xsi:type="dcterms:W3CDTF">2026-09-16T03:36:57Z</dcterms:modified>
</cp:coreProperties>
</file>