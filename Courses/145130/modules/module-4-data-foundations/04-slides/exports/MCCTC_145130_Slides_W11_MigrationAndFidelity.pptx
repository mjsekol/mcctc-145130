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export of the makerspace loans. Thirty three rows went out and thirty three came back, so the migration is fine. It is not fine. It lost two catalog items, a member, every tag relationship, and every quarantined row. A row count is the check that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Migrate the data to a new format sounds like a file operation. It is not. Each format can say some things and not others, and the things it cannot say vanish quietly. The half everybody does is the export. The half that is graded is loading it back and counting what came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that decides most arguments is the null column. In a CSV, a field that is empty and a field whose value is unknown are the same thing: nothing at all. And the seven loans that have not come back are exactly the rows that difference matters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fingerprint is a hash of every row, sorted, with null hashed as something the empty string cannot produce. Same rows, same fingerprint, both ways. JSON has null natively, so nothing had to be agreed in advance and nothing was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export both times. The only difference is whether the importer knew that backslash N means null. Read the row counts on the failing lines: fourteen out, fourteen back, thirty three out, thirty three back. Every row is there and two tables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pieces of equipment have not come back, and the new database believes every item is on the shelf. The convention was written down, in a file next to the export, and an importer that did not read it produced a database that passes every count and answers one question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flat export is a join, and a join produces rows where the join matches. Somebody who has never borrowed anything matches nothing, so they are not there. Nothing was deleted. The row was never eligible, and that is the first thing to check when a count comes out short: ask whether the export was a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in that output is true, and the migration lost four things. A row count proves exactly one thing: that no row of the one table you counted went missing. It says nothing about columns, nothing about nulls, and nothing about the tables you did not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raw folder is preservation, and that is why the rule is never to edit it. Migration is the risky one, because after a migration the thing you lost is gone rather than merely absent from a copy. Convert, load back, compare, and only then stop writing to the old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is the migration stage of your project, and the requirement is not only to export. Load it back into a database built from the same schema file and compare each table. At least one of your formats has to lose something, and the README has to say exactly what and why. That is the graded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Migration, and How to Find Out What You Lost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Thirty three rows out, thirty three rows back</a:t>
            </a:r>
            <a:endParaRPr lang="en-US" sz="3700" dirty="0"/>
          </a:p>
        </p:txBody>
      </p:sp>
      <p:sp>
        <p:nvSpPr>
          <p:cNvPr id="4" name="Shape 1"/>
          <p:cNvSpPr/>
          <p:nvPr/>
        </p:nvSpPr>
        <p:spPr>
          <a:xfrm>
            <a:off x="661475"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row count matches exactly</a:t>
            </a:r>
            <a:endParaRPr lang="en-US" sz="1850" dirty="0"/>
          </a:p>
        </p:txBody>
      </p:sp>
      <p:sp>
        <p:nvSpPr>
          <p:cNvPr id="6" name="Shape 3"/>
          <p:cNvSpPr/>
          <p:nvPr/>
        </p:nvSpPr>
        <p:spPr>
          <a:xfrm>
            <a:off x="661475"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migration lost four things</a:t>
            </a:r>
            <a:endParaRPr lang="en-US" sz="1850" dirty="0"/>
          </a:p>
        </p:txBody>
      </p:sp>
      <p:sp>
        <p:nvSpPr>
          <p:cNvPr id="8" name="Shape 5"/>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in the file says so</a:t>
            </a:r>
            <a:endParaRPr lang="en-US" sz="1850" dirty="0"/>
          </a:p>
        </p:txBody>
      </p:sp>
      <p:sp>
        <p:nvSpPr>
          <p:cNvPr id="10" name="Shape 7"/>
          <p:cNvSpPr/>
          <p:nvPr/>
        </p:nvSpPr>
        <p:spPr>
          <a:xfrm>
            <a:off x="661475"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is the check most people run</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0888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Convert is half the job</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088852"/>
            <a:ext cx="283461" cy="283468"/>
          </a:xfrm>
          <a:prstGeom prst="rect">
            <a:avLst/>
          </a:prstGeom>
        </p:spPr>
      </p:pic>
      <p:sp>
        <p:nvSpPr>
          <p:cNvPr id="5" name="Text 1"/>
          <p:cNvSpPr/>
          <p:nvPr/>
        </p:nvSpPr>
        <p:spPr>
          <a:xfrm>
            <a:off x="5847608" y="208299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format holds some of what a database holds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057426"/>
            <a:ext cx="283461" cy="283468"/>
          </a:xfrm>
          <a:prstGeom prst="rect">
            <a:avLst/>
          </a:prstGeom>
        </p:spPr>
      </p:pic>
      <p:sp>
        <p:nvSpPr>
          <p:cNvPr id="7" name="Text 2"/>
          <p:cNvSpPr/>
          <p:nvPr/>
        </p:nvSpPr>
        <p:spPr>
          <a:xfrm>
            <a:off x="5847608" y="30515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rest disappears with no error</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008338"/>
            <a:ext cx="283461" cy="283468"/>
          </a:xfrm>
          <a:prstGeom prst="rect">
            <a:avLst/>
          </a:prstGeom>
        </p:spPr>
      </p:pic>
      <p:sp>
        <p:nvSpPr>
          <p:cNvPr id="9" name="Text 3"/>
          <p:cNvSpPr/>
          <p:nvPr/>
        </p:nvSpPr>
        <p:spPr>
          <a:xfrm>
            <a:off x="5847608" y="400248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export, then load it back, then compare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4959251"/>
            <a:ext cx="283461" cy="283468"/>
          </a:xfrm>
          <a:prstGeom prst="rect">
            <a:avLst/>
          </a:prstGeom>
        </p:spPr>
      </p:pic>
      <p:sp>
        <p:nvSpPr>
          <p:cNvPr id="11" name="Text 4"/>
          <p:cNvSpPr/>
          <p:nvPr/>
        </p:nvSpPr>
        <p:spPr>
          <a:xfrm>
            <a:off x="5847608" y="495339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skips the first half</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What each format can actually say</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7487" y="2689523"/>
            <a:ext cx="5319083" cy="522585"/>
          </a:xfrm>
          <a:prstGeom prst="rect">
            <a:avLst/>
          </a:prstGeom>
        </p:spPr>
      </p:pic>
      <p:sp>
        <p:nvSpPr>
          <p:cNvPr id="5" name="Text 1"/>
          <p:cNvSpPr/>
          <p:nvPr/>
        </p:nvSpPr>
        <p:spPr>
          <a:xfrm>
            <a:off x="6375439" y="2796679"/>
            <a:ext cx="5053977"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JSON</a:t>
            </a:r>
            <a:endParaRPr lang="en-US" sz="900" dirty="0"/>
          </a:p>
        </p:txBody>
      </p:sp>
      <p:sp>
        <p:nvSpPr>
          <p:cNvPr id="6" name="Text 2"/>
          <p:cNvSpPr/>
          <p:nvPr/>
        </p:nvSpPr>
        <p:spPr>
          <a:xfrm>
            <a:off x="6375439" y="2991545"/>
            <a:ext cx="5053977"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Has null, nesting, and arrays</a:t>
            </a:r>
            <a:endParaRPr lang="en-US" sz="7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487" y="3259336"/>
            <a:ext cx="5319083" cy="678458"/>
          </a:xfrm>
          <a:prstGeom prst="rect">
            <a:avLst/>
          </a:prstGeom>
        </p:spPr>
      </p:pic>
      <p:sp>
        <p:nvSpPr>
          <p:cNvPr id="8" name="Text 3"/>
          <p:cNvSpPr/>
          <p:nvPr/>
        </p:nvSpPr>
        <p:spPr>
          <a:xfrm>
            <a:off x="6375439" y="3366492"/>
            <a:ext cx="5053977"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CSV</a:t>
            </a:r>
            <a:endParaRPr lang="en-US" sz="900" dirty="0"/>
          </a:p>
        </p:txBody>
      </p:sp>
      <p:sp>
        <p:nvSpPr>
          <p:cNvPr id="9" name="Text 4"/>
          <p:cNvSpPr/>
          <p:nvPr/>
        </p:nvSpPr>
        <p:spPr>
          <a:xfrm>
            <a:off x="6375439" y="3561358"/>
            <a:ext cx="5053977" cy="269280"/>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Has rows and columns and all text</a:t>
            </a:r>
            <a:endParaRPr lang="en-US" sz="700" dirty="0"/>
          </a:p>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Has no way at all to say no value</a:t>
            </a:r>
            <a:endParaRPr lang="en-US" sz="7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487" y="3985022"/>
            <a:ext cx="5319083" cy="522585"/>
          </a:xfrm>
          <a:prstGeom prst="rect">
            <a:avLst/>
          </a:prstGeom>
        </p:spPr>
      </p:pic>
      <p:sp>
        <p:nvSpPr>
          <p:cNvPr id="11" name="Text 5"/>
          <p:cNvSpPr/>
          <p:nvPr/>
        </p:nvSpPr>
        <p:spPr>
          <a:xfrm>
            <a:off x="6375439" y="4092178"/>
            <a:ext cx="5053977"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Flat file</a:t>
            </a:r>
            <a:endParaRPr lang="en-US" sz="900" dirty="0"/>
          </a:p>
        </p:txBody>
      </p:sp>
      <p:sp>
        <p:nvSpPr>
          <p:cNvPr id="12" name="Text 6"/>
          <p:cNvSpPr/>
          <p:nvPr/>
        </p:nvSpPr>
        <p:spPr>
          <a:xfrm>
            <a:off x="6375439" y="4287044"/>
            <a:ext cx="5053977"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Has no relationships left</a:t>
            </a:r>
            <a:endParaRPr lang="en-US" sz="700" dirty="0"/>
          </a:p>
        </p:txBody>
      </p:sp>
      <p:sp>
        <p:nvSpPr>
          <p:cNvPr id="13" name="Text 7"/>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0506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JSON round trips exactly</a:t>
            </a:r>
            <a:endParaRPr lang="en-US" sz="3700" dirty="0"/>
          </a:p>
        </p:txBody>
      </p:sp>
      <p:sp>
        <p:nvSpPr>
          <p:cNvPr id="3" name="Shape 1"/>
          <p:cNvSpPr/>
          <p:nvPr/>
        </p:nvSpPr>
        <p:spPr>
          <a:xfrm>
            <a:off x="661475" y="2573734"/>
            <a:ext cx="10868745" cy="1587698"/>
          </a:xfrm>
          <a:prstGeom prst="roundRect">
            <a:avLst>
              <a:gd name="adj" fmla="val 5000"/>
            </a:avLst>
          </a:prstGeom>
          <a:solidFill>
            <a:srgbClr val="F2F2F2"/>
          </a:solidFill>
          <a:ln/>
        </p:spPr>
      </p:sp>
      <p:sp>
        <p:nvSpPr>
          <p:cNvPr id="4" name="Text 2"/>
          <p:cNvSpPr/>
          <p:nvPr/>
        </p:nvSpPr>
        <p:spPr>
          <a:xfrm>
            <a:off x="888283" y="2762746"/>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json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members    14   14  ce94ac920c46 -&gt; ce94ac920c46  yes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loans      33   33  1f8b3a7fc2b3 -&gt; 1f8b3a7fc2b3  yes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round trip: exact</a:t>
            </a:r>
            <a:endParaRPr lang="en-US" sz="1450" dirty="0"/>
          </a:p>
        </p:txBody>
      </p:sp>
      <p:sp>
        <p:nvSpPr>
          <p:cNvPr id="5" name="Shape 3"/>
          <p:cNvSpPr/>
          <p:nvPr/>
        </p:nvSpPr>
        <p:spPr>
          <a:xfrm>
            <a:off x="661475" y="4374059"/>
            <a:ext cx="10868745" cy="755948"/>
          </a:xfrm>
          <a:prstGeom prst="roundRect">
            <a:avLst>
              <a:gd name="adj" fmla="val 10502"/>
            </a:avLst>
          </a:prstGeom>
          <a:solidFill>
            <a:srgbClr val="B6FCB8"/>
          </a:solidFill>
          <a:ln/>
        </p:spPr>
      </p:sp>
      <p:pic>
        <p:nvPicPr>
          <p:cNvPr id="6" name="Image 0" descr="preencoded.png">    </p:cNvPr>
          <p:cNvPicPr>
            <a:picLocks noChangeAspect="1"/>
          </p:cNvPicPr>
          <p:nvPr/>
        </p:nvPicPr>
        <p:blipFill>
          <a:blip r:embed="rId1"/>
          <a:stretch>
            <a:fillRect/>
          </a:stretch>
        </p:blipFill>
        <p:spPr>
          <a:xfrm>
            <a:off x="850482" y="4641751"/>
            <a:ext cx="236234" cy="189012"/>
          </a:xfrm>
          <a:prstGeom prst="rect">
            <a:avLst/>
          </a:prstGeom>
        </p:spPr>
      </p:pic>
      <p:sp>
        <p:nvSpPr>
          <p:cNvPr id="7" name="Text 4"/>
          <p:cNvSpPr/>
          <p:nvPr/>
        </p:nvSpPr>
        <p:spPr>
          <a:xfrm>
            <a:off x="1275723" y="4610298"/>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Round trip: exact</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0506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CSV per table, with a convention</a:t>
            </a:r>
            <a:endParaRPr lang="en-US" sz="3700" dirty="0"/>
          </a:p>
        </p:txBody>
      </p:sp>
      <p:sp>
        <p:nvSpPr>
          <p:cNvPr id="3" name="Shape 1"/>
          <p:cNvSpPr/>
          <p:nvPr/>
        </p:nvSpPr>
        <p:spPr>
          <a:xfrm>
            <a:off x="661475" y="2573734"/>
            <a:ext cx="10868745" cy="1587698"/>
          </a:xfrm>
          <a:prstGeom prst="roundRect">
            <a:avLst>
              <a:gd name="adj" fmla="val 5000"/>
            </a:avLst>
          </a:prstGeom>
          <a:solidFill>
            <a:srgbClr val="F2F2F2"/>
          </a:solidFill>
          <a:ln/>
        </p:spPr>
      </p:sp>
      <p:sp>
        <p:nvSpPr>
          <p:cNvPr id="4" name="Text 2"/>
          <p:cNvSpPr/>
          <p:nvPr/>
        </p:nvSpPr>
        <p:spPr>
          <a:xfrm>
            <a:off x="888283" y="2762746"/>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csv-tables, sentinel honoured                    round trip: exact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csv-tables, importer that never read the note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members    14   14  ce94ac920c46 -&gt; 1861c72a06a2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loans      33   33  1f8b3a7fc2b3 -&gt; 11219c45bc75  NO</a:t>
            </a:r>
            <a:endParaRPr lang="en-US" sz="1450" dirty="0"/>
          </a:p>
        </p:txBody>
      </p:sp>
      <p:sp>
        <p:nvSpPr>
          <p:cNvPr id="5" name="Shape 3"/>
          <p:cNvSpPr/>
          <p:nvPr/>
        </p:nvSpPr>
        <p:spPr>
          <a:xfrm>
            <a:off x="661475" y="4374059"/>
            <a:ext cx="10868745" cy="755948"/>
          </a:xfrm>
          <a:prstGeom prst="roundRect">
            <a:avLst>
              <a:gd name="adj" fmla="val 10502"/>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641751"/>
            <a:ext cx="236234" cy="189012"/>
          </a:xfrm>
          <a:prstGeom prst="rect">
            <a:avLst/>
          </a:prstGeom>
        </p:spPr>
      </p:pic>
      <p:sp>
        <p:nvSpPr>
          <p:cNvPr id="7" name="Text 4"/>
          <p:cNvSpPr/>
          <p:nvPr/>
        </p:nvSpPr>
        <p:spPr>
          <a:xfrm>
            <a:off x="1275723" y="4610298"/>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When the importer ignores the sentinel, hashes diverge on both tables.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812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Seven loans were still out. Now none are.</a:t>
            </a:r>
            <a:endParaRPr lang="en-US" sz="3700" dirty="0"/>
          </a:p>
        </p:txBody>
      </p:sp>
      <p:sp>
        <p:nvSpPr>
          <p:cNvPr id="4" name="Shape 1"/>
          <p:cNvSpPr/>
          <p:nvPr/>
        </p:nvSpPr>
        <p:spPr>
          <a:xfrm>
            <a:off x="5233360" y="2246015"/>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45407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Sentinel loaded as data, not as null</a:t>
            </a:r>
            <a:endParaRPr lang="en-US" sz="1850" dirty="0"/>
          </a:p>
        </p:txBody>
      </p:sp>
      <p:sp>
        <p:nvSpPr>
          <p:cNvPr id="6" name="Shape 3"/>
          <p:cNvSpPr/>
          <p:nvPr/>
        </p:nvSpPr>
        <p:spPr>
          <a:xfrm>
            <a:off x="5233360" y="3146425"/>
            <a:ext cx="6296860" cy="1006673"/>
          </a:xfrm>
          <a:prstGeom prst="roundRect">
            <a:avLst>
              <a:gd name="adj" fmla="val 7886"/>
            </a:avLst>
          </a:prstGeom>
          <a:solidFill>
            <a:srgbClr val="D1E5FA"/>
          </a:solidFill>
          <a:ln w="19050">
            <a:solidFill>
              <a:srgbClr val="B7CBE0"/>
            </a:solidFill>
            <a:prstDash val="solid"/>
          </a:ln>
        </p:spPr>
      </p:sp>
      <p:sp>
        <p:nvSpPr>
          <p:cNvPr id="7" name="Text 4"/>
          <p:cNvSpPr/>
          <p:nvPr/>
        </p:nvSpPr>
        <p:spPr>
          <a:xfrm>
            <a:off x="5441417" y="3354487"/>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returned_on is now the two characters backslash N</a:t>
            </a:r>
            <a:endParaRPr lang="en-US" sz="1850" dirty="0"/>
          </a:p>
        </p:txBody>
      </p:sp>
      <p:sp>
        <p:nvSpPr>
          <p:cNvPr id="8" name="Shape 5"/>
          <p:cNvSpPr/>
          <p:nvPr/>
        </p:nvSpPr>
        <p:spPr>
          <a:xfrm>
            <a:off x="5233360" y="4342110"/>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55017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count of rows is perfect</a:t>
            </a:r>
            <a:endParaRPr lang="en-US" sz="1850" dirty="0"/>
          </a:p>
        </p:txBody>
      </p:sp>
      <p:sp>
        <p:nvSpPr>
          <p:cNvPr id="10" name="Shape 7"/>
          <p:cNvSpPr/>
          <p:nvPr/>
        </p:nvSpPr>
        <p:spPr>
          <a:xfrm>
            <a:off x="5233360" y="5242520"/>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45058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meaning of two tables is gone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5427"/>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The flat export, and what it costs</a:t>
            </a:r>
            <a:endParaRPr lang="en-US" sz="3400" dirty="0"/>
          </a:p>
        </p:txBody>
      </p:sp>
      <p:pic>
        <p:nvPicPr>
          <p:cNvPr id="3" name="Image 0" descr="preencoded.png">    </p:cNvPr>
          <p:cNvPicPr>
            <a:picLocks noChangeAspect="1"/>
          </p:cNvPicPr>
          <p:nvPr/>
        </p:nvPicPr>
        <p:blipFill>
          <a:blip r:embed="rId1"/>
          <a:stretch>
            <a:fillRect/>
          </a:stretch>
        </p:blipFill>
        <p:spPr>
          <a:xfrm>
            <a:off x="661475" y="1800721"/>
            <a:ext cx="6915870" cy="3919041"/>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08737" y="1521520"/>
            <a:ext cx="3527734" cy="930870"/>
          </a:xfrm>
          <a:prstGeom prst="rect">
            <a:avLst/>
          </a:prstGeom>
        </p:spPr>
      </p:pic>
      <p:sp>
        <p:nvSpPr>
          <p:cNvPr id="5" name="Text 1"/>
          <p:cNvSpPr/>
          <p:nvPr/>
        </p:nvSpPr>
        <p:spPr>
          <a:xfrm>
            <a:off x="8278209" y="1714798"/>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 member with no loan is not in the file</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8737" y="2613025"/>
            <a:ext cx="3527734" cy="1203027"/>
          </a:xfrm>
          <a:prstGeom prst="rect">
            <a:avLst/>
          </a:prstGeom>
        </p:spPr>
      </p:pic>
      <p:sp>
        <p:nvSpPr>
          <p:cNvPr id="7" name="Text 2"/>
          <p:cNvSpPr/>
          <p:nvPr/>
        </p:nvSpPr>
        <p:spPr>
          <a:xfrm>
            <a:off x="8278209" y="2806303"/>
            <a:ext cx="3064989" cy="816471"/>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Two items nobody borrowed are not in the file</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08737" y="3976688"/>
            <a:ext cx="3527734" cy="930870"/>
          </a:xfrm>
          <a:prstGeom prst="rect">
            <a:avLst/>
          </a:prstGeom>
        </p:spPr>
      </p:pic>
      <p:sp>
        <p:nvSpPr>
          <p:cNvPr id="9" name="Text 3"/>
          <p:cNvSpPr/>
          <p:nvPr/>
        </p:nvSpPr>
        <p:spPr>
          <a:xfrm>
            <a:off x="8278209" y="4169966"/>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Thirty tag links became text in one column</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8737" y="5068193"/>
            <a:ext cx="3527734" cy="930870"/>
          </a:xfrm>
          <a:prstGeom prst="rect">
            <a:avLst/>
          </a:prstGeom>
        </p:spPr>
      </p:pic>
      <p:sp>
        <p:nvSpPr>
          <p:cNvPr id="11" name="Text 4"/>
          <p:cNvSpPr/>
          <p:nvPr/>
        </p:nvSpPr>
        <p:spPr>
          <a:xfrm>
            <a:off x="8278209" y="5261471"/>
            <a:ext cx="3064989" cy="544314"/>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Six quarantined rows have nowhere to go</a:t>
            </a:r>
            <a:endParaRPr lang="en-US" sz="17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30978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check that looks like proof</a:t>
            </a:r>
            <a:endParaRPr lang="en-US" sz="3700" dirty="0"/>
          </a:p>
        </p:txBody>
      </p:sp>
      <p:sp>
        <p:nvSpPr>
          <p:cNvPr id="3" name="Shape 1"/>
          <p:cNvSpPr/>
          <p:nvPr/>
        </p:nvSpPr>
        <p:spPr>
          <a:xfrm>
            <a:off x="661475" y="2278459"/>
            <a:ext cx="10868745" cy="1285280"/>
          </a:xfrm>
          <a:prstGeom prst="roundRect">
            <a:avLst>
              <a:gd name="adj" fmla="val 6177"/>
            </a:avLst>
          </a:prstGeom>
          <a:solidFill>
            <a:srgbClr val="F2F2F2"/>
          </a:solidFill>
          <a:ln/>
        </p:spPr>
      </p:sp>
      <p:sp>
        <p:nvSpPr>
          <p:cNvPr id="4" name="Text 2"/>
          <p:cNvSpPr/>
          <p:nvPr/>
        </p:nvSpPr>
        <p:spPr>
          <a:xfrm>
            <a:off x="888283" y="2467471"/>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before = connection.execute("SELECT COUNT(*) FROM loans").fetchone()[0]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after  = len(list(csv.DictReader(open("loans_flat.csv"))))</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print("migration ok" if before == after else "MISMATCH")</a:t>
            </a:r>
            <a:endParaRPr lang="en-US" sz="1450" dirty="0"/>
          </a:p>
        </p:txBody>
      </p:sp>
      <p:sp>
        <p:nvSpPr>
          <p:cNvPr id="5" name="Shape 3"/>
          <p:cNvSpPr/>
          <p:nvPr/>
        </p:nvSpPr>
        <p:spPr>
          <a:xfrm>
            <a:off x="661475" y="3776365"/>
            <a:ext cx="10868745" cy="680442"/>
          </a:xfrm>
          <a:prstGeom prst="roundRect">
            <a:avLst>
              <a:gd name="adj" fmla="val 11667"/>
            </a:avLst>
          </a:prstGeom>
          <a:solidFill>
            <a:srgbClr val="F2F2F2"/>
          </a:solidFill>
          <a:ln/>
        </p:spPr>
      </p:sp>
      <p:sp>
        <p:nvSpPr>
          <p:cNvPr id="6" name="Text 4"/>
          <p:cNvSpPr/>
          <p:nvPr/>
        </p:nvSpPr>
        <p:spPr>
          <a:xfrm>
            <a:off x="888283" y="396537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migration ok</a:t>
            </a:r>
            <a:endParaRPr lang="en-US" sz="1450" dirty="0"/>
          </a:p>
        </p:txBody>
      </p:sp>
      <p:sp>
        <p:nvSpPr>
          <p:cNvPr id="7" name="Shape 5"/>
          <p:cNvSpPr/>
          <p:nvPr/>
        </p:nvSpPr>
        <p:spPr>
          <a:xfrm>
            <a:off x="661475" y="4669433"/>
            <a:ext cx="10868745" cy="755948"/>
          </a:xfrm>
          <a:prstGeom prst="roundRect">
            <a:avLst>
              <a:gd name="adj" fmla="val 10502"/>
            </a:avLst>
          </a:prstGeom>
          <a:solidFill>
            <a:srgbClr val="FCF2B5"/>
          </a:solidFill>
          <a:ln/>
        </p:spPr>
      </p:sp>
      <p:pic>
        <p:nvPicPr>
          <p:cNvPr id="8" name="Image 0" descr="preencoded.png">    </p:cNvPr>
          <p:cNvPicPr>
            <a:picLocks noChangeAspect="1"/>
          </p:cNvPicPr>
          <p:nvPr/>
        </p:nvPicPr>
        <p:blipFill>
          <a:blip r:embed="rId1"/>
          <a:stretch>
            <a:fillRect/>
          </a:stretch>
        </p:blipFill>
        <p:spPr>
          <a:xfrm>
            <a:off x="850482" y="4937125"/>
            <a:ext cx="236234" cy="189012"/>
          </a:xfrm>
          <a:prstGeom prst="rect">
            <a:avLst/>
          </a:prstGeom>
        </p:spPr>
      </p:pic>
      <p:sp>
        <p:nvSpPr>
          <p:cNvPr id="9" name="Text 6"/>
          <p:cNvSpPr/>
          <p:nvPr/>
        </p:nvSpPr>
        <p:spPr>
          <a:xfrm>
            <a:off x="1275723" y="4905673"/>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row count matches. The data loss is invisible to this check.</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96205"/>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Preserve, convert, migrate are three words</a:t>
            </a:r>
            <a:endParaRPr lang="en-US" sz="3700" dirty="0"/>
          </a:p>
        </p:txBody>
      </p:sp>
      <p:sp>
        <p:nvSpPr>
          <p:cNvPr id="4" name="Shape 1"/>
          <p:cNvSpPr/>
          <p:nvPr/>
        </p:nvSpPr>
        <p:spPr>
          <a:xfrm>
            <a:off x="5233360" y="2651621"/>
            <a:ext cx="6296860" cy="2518767"/>
          </a:xfrm>
          <a:prstGeom prst="roundRect">
            <a:avLst>
              <a:gd name="adj" fmla="val 3152"/>
            </a:avLst>
          </a:prstGeom>
          <a:solidFill>
            <a:srgbClr val="D1E5FA"/>
          </a:solidFill>
          <a:ln w="19050">
            <a:solidFill>
              <a:srgbClr val="B7CBE0"/>
            </a:solidFill>
            <a:prstDash val="solid"/>
          </a:ln>
        </p:spPr>
      </p:sp>
      <p:sp>
        <p:nvSpPr>
          <p:cNvPr id="5" name="Shape 2"/>
          <p:cNvSpPr/>
          <p:nvPr/>
        </p:nvSpPr>
        <p:spPr>
          <a:xfrm>
            <a:off x="5252410" y="2670671"/>
            <a:ext cx="3129380" cy="1391543"/>
          </a:xfrm>
          <a:custGeom>
            <a:avLst/>
            <a:gdLst/>
            <a:ahLst/>
            <a:cxnLst/>
            <a:rect l="l" t="t" r="r" b="b"/>
            <a:pathLst>
              <a:path w="3129380" h="1391543">
                <a:moveTo>
                  <a:pt x="66156" y="0"/>
                </a:moveTo>
                <a:lnTo>
                  <a:pt x="3129380" y="0"/>
                </a:lnTo>
                <a:lnTo>
                  <a:pt x="3129380" y="1391543"/>
                </a:lnTo>
                <a:lnTo>
                  <a:pt x="0" y="1391543"/>
                </a:lnTo>
                <a:lnTo>
                  <a:pt x="0" y="66158"/>
                </a:lnTo>
                <a:arcTo hR="66158" wR="66156" stAng="10800000" swAng="5400000"/>
                <a:close/>
              </a:path>
            </a:pathLst>
          </a:custGeom>
          <a:solidFill>
            <a:srgbClr val="D1E5FA"/>
          </a:solidFill>
          <a:ln/>
        </p:spPr>
      </p:sp>
      <p:sp>
        <p:nvSpPr>
          <p:cNvPr id="6" name="Text 3"/>
          <p:cNvSpPr/>
          <p:nvPr/>
        </p:nvSpPr>
        <p:spPr>
          <a:xfrm>
            <a:off x="5441417" y="2859683"/>
            <a:ext cx="275136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Preserve</a:t>
            </a:r>
            <a:endParaRPr lang="en-US" sz="1850" dirty="0"/>
          </a:p>
        </p:txBody>
      </p:sp>
      <p:sp>
        <p:nvSpPr>
          <p:cNvPr id="7" name="Text 4"/>
          <p:cNvSpPr/>
          <p:nvPr/>
        </p:nvSpPr>
        <p:spPr>
          <a:xfrm>
            <a:off x="5441417" y="3268365"/>
            <a:ext cx="275136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Keeps the original so mistakes are recoverable</a:t>
            </a:r>
            <a:endParaRPr lang="en-US" sz="1450" dirty="0"/>
          </a:p>
        </p:txBody>
      </p:sp>
      <p:sp>
        <p:nvSpPr>
          <p:cNvPr id="8" name="Shape 5"/>
          <p:cNvSpPr/>
          <p:nvPr/>
        </p:nvSpPr>
        <p:spPr>
          <a:xfrm>
            <a:off x="8381790" y="2670671"/>
            <a:ext cx="3129380" cy="1391543"/>
          </a:xfrm>
          <a:custGeom>
            <a:avLst/>
            <a:gdLst/>
            <a:ahLst/>
            <a:cxnLst/>
            <a:rect l="l" t="t" r="r" b="b"/>
            <a:pathLst>
              <a:path w="3129380" h="1391543">
                <a:moveTo>
                  <a:pt x="0" y="0"/>
                </a:moveTo>
                <a:lnTo>
                  <a:pt x="3063224" y="0"/>
                </a:lnTo>
                <a:arcTo hR="66158" wR="66156" stAng="16200000" swAng="5400000"/>
                <a:lnTo>
                  <a:pt x="3129380" y="1391543"/>
                </a:lnTo>
                <a:lnTo>
                  <a:pt x="0" y="1391543"/>
                </a:lnTo>
                <a:lnTo>
                  <a:pt x="0" y="0"/>
                </a:lnTo>
                <a:close/>
              </a:path>
            </a:pathLst>
          </a:custGeom>
          <a:solidFill>
            <a:srgbClr val="D1E5FA"/>
          </a:solidFill>
          <a:ln/>
        </p:spPr>
      </p:sp>
      <p:sp>
        <p:nvSpPr>
          <p:cNvPr id="9" name="Shape 6"/>
          <p:cNvSpPr/>
          <p:nvPr/>
        </p:nvSpPr>
        <p:spPr>
          <a:xfrm>
            <a:off x="8381790" y="2670671"/>
            <a:ext cx="25399" cy="1391543"/>
          </a:xfrm>
          <a:prstGeom prst="roundRect">
            <a:avLst>
              <a:gd name="adj" fmla="val 50001"/>
            </a:avLst>
          </a:prstGeom>
          <a:solidFill>
            <a:srgbClr val="B7CBE0"/>
          </a:solidFill>
          <a:ln/>
        </p:spPr>
      </p:sp>
      <p:sp>
        <p:nvSpPr>
          <p:cNvPr id="10" name="Text 7"/>
          <p:cNvSpPr/>
          <p:nvPr/>
        </p:nvSpPr>
        <p:spPr>
          <a:xfrm>
            <a:off x="8570797" y="2859683"/>
            <a:ext cx="275136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Convert</a:t>
            </a:r>
            <a:endParaRPr lang="en-US" sz="1850" dirty="0"/>
          </a:p>
        </p:txBody>
      </p:sp>
      <p:sp>
        <p:nvSpPr>
          <p:cNvPr id="11" name="Text 8"/>
          <p:cNvSpPr/>
          <p:nvPr/>
        </p:nvSpPr>
        <p:spPr>
          <a:xfrm>
            <a:off x="8570797" y="3268365"/>
            <a:ext cx="275136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Produces the same data elsewhere</a:t>
            </a:r>
            <a:endParaRPr lang="en-US" sz="1450" dirty="0"/>
          </a:p>
        </p:txBody>
      </p:sp>
      <p:sp>
        <p:nvSpPr>
          <p:cNvPr id="12" name="Shape 9"/>
          <p:cNvSpPr/>
          <p:nvPr/>
        </p:nvSpPr>
        <p:spPr>
          <a:xfrm>
            <a:off x="5252410" y="4062214"/>
            <a:ext cx="6258761" cy="1089124"/>
          </a:xfrm>
          <a:custGeom>
            <a:avLst/>
            <a:gdLst/>
            <a:ahLst/>
            <a:cxnLst/>
            <a:rect l="l" t="t" r="r" b="b"/>
            <a:pathLst>
              <a:path w="6258761" h="1089124">
                <a:moveTo>
                  <a:pt x="0" y="0"/>
                </a:moveTo>
                <a:lnTo>
                  <a:pt x="6258761" y="0"/>
                </a:lnTo>
                <a:lnTo>
                  <a:pt x="6258761" y="1022966"/>
                </a:lnTo>
                <a:arcTo hR="66158" wR="66156" stAng="0" swAng="5400000"/>
                <a:lnTo>
                  <a:pt x="66156" y="1089124"/>
                </a:lnTo>
                <a:arcTo hR="66158" wR="66156" stAng="5400000" swAng="5400000"/>
                <a:lnTo>
                  <a:pt x="0" y="0"/>
                </a:lnTo>
                <a:close/>
              </a:path>
            </a:pathLst>
          </a:custGeom>
          <a:solidFill>
            <a:srgbClr val="D1E5FA"/>
          </a:solidFill>
          <a:ln/>
        </p:spPr>
      </p:sp>
      <p:sp>
        <p:nvSpPr>
          <p:cNvPr id="13" name="Shape 10"/>
          <p:cNvSpPr/>
          <p:nvPr/>
        </p:nvSpPr>
        <p:spPr>
          <a:xfrm>
            <a:off x="5252410" y="4062214"/>
            <a:ext cx="6258761" cy="25400"/>
          </a:xfrm>
          <a:prstGeom prst="roundRect">
            <a:avLst>
              <a:gd name="adj" fmla="val 49999"/>
            </a:avLst>
          </a:prstGeom>
          <a:solidFill>
            <a:srgbClr val="B7CBE0"/>
          </a:solidFill>
          <a:ln/>
        </p:spPr>
      </p:sp>
      <p:sp>
        <p:nvSpPr>
          <p:cNvPr id="14" name="Text 11"/>
          <p:cNvSpPr/>
          <p:nvPr/>
        </p:nvSpPr>
        <p:spPr>
          <a:xfrm>
            <a:off x="5441417" y="4251226"/>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Migrate</a:t>
            </a:r>
            <a:endParaRPr lang="en-US" sz="1850" dirty="0"/>
          </a:p>
        </p:txBody>
      </p:sp>
      <p:sp>
        <p:nvSpPr>
          <p:cNvPr id="15" name="Text 12"/>
          <p:cNvSpPr/>
          <p:nvPr/>
        </p:nvSpPr>
        <p:spPr>
          <a:xfrm>
            <a:off x="5441417" y="4659908"/>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Means the old system stops being updated</a:t>
            </a:r>
            <a:endParaRPr lang="en-US" sz="1450" dirty="0"/>
          </a:p>
        </p:txBody>
      </p:sp>
      <p:sp>
        <p:nvSpPr>
          <p:cNvPr id="16" name="Shape 13"/>
          <p:cNvSpPr/>
          <p:nvPr/>
        </p:nvSpPr>
        <p:spPr>
          <a:xfrm>
            <a:off x="5233360" y="5383014"/>
            <a:ext cx="6296860" cy="755948"/>
          </a:xfrm>
          <a:prstGeom prst="roundRect">
            <a:avLst>
              <a:gd name="adj" fmla="val 10502"/>
            </a:avLst>
          </a:prstGeom>
          <a:solidFill>
            <a:srgbClr val="D1E5FA"/>
          </a:solidFill>
          <a:ln/>
        </p:spPr>
      </p:sp>
      <p:pic>
        <p:nvPicPr>
          <p:cNvPr id="17" name="Image 1" descr="preencoded.png">    </p:cNvPr>
          <p:cNvPicPr>
            <a:picLocks noChangeAspect="1"/>
          </p:cNvPicPr>
          <p:nvPr/>
        </p:nvPicPr>
        <p:blipFill>
          <a:blip r:embed="rId2"/>
          <a:stretch>
            <a:fillRect/>
          </a:stretch>
        </p:blipFill>
        <p:spPr>
          <a:xfrm>
            <a:off x="5422367" y="5650706"/>
            <a:ext cx="236234" cy="189012"/>
          </a:xfrm>
          <a:prstGeom prst="rect">
            <a:avLst/>
          </a:prstGeom>
        </p:spPr>
      </p:pic>
      <p:sp>
        <p:nvSpPr>
          <p:cNvPr id="18" name="Text 14"/>
          <p:cNvSpPr/>
          <p:nvPr/>
        </p:nvSpPr>
        <p:spPr>
          <a:xfrm>
            <a:off x="5847608" y="5619254"/>
            <a:ext cx="6103190"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Never migrate without a round trip.</a:t>
            </a:r>
            <a:endParaRPr lang="en-US" sz="1450" dirty="0"/>
          </a:p>
        </p:txBody>
      </p:sp>
      <p:sp>
        <p:nvSpPr>
          <p:cNvPr id="19" name="Text 1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Two export formats from your own database</a:t>
            </a:r>
            <a:endParaRPr lang="en-US" sz="1800" dirty="0"/>
          </a:p>
        </p:txBody>
      </p:sp>
      <p:sp>
        <p:nvSpPr>
          <p:cNvPr id="7" name="Text 4"/>
          <p:cNvSpPr/>
          <p:nvPr/>
        </p:nvSpPr>
        <p:spPr>
          <a:xfrm>
            <a:off x="661475"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275409"/>
            <a:ext cx="6296860" cy="25400"/>
          </a:xfrm>
          <a:prstGeom prst="rect">
            <a:avLst/>
          </a:prstGeom>
          <a:solidFill>
            <a:srgbClr val="57A1EB"/>
          </a:solidFill>
          <a:ln/>
        </p:spPr>
      </p:sp>
      <p:sp>
        <p:nvSpPr>
          <p:cNvPr id="9" name="Text 6"/>
          <p:cNvSpPr/>
          <p:nvPr/>
        </p:nvSpPr>
        <p:spPr>
          <a:xfrm>
            <a:off x="661475"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Load both back into a fresh empty schema</a:t>
            </a:r>
            <a:endParaRPr lang="en-US" sz="1800" dirty="0"/>
          </a:p>
        </p:txBody>
      </p:sp>
      <p:sp>
        <p:nvSpPr>
          <p:cNvPr id="10" name="Text 7"/>
          <p:cNvSpPr/>
          <p:nvPr/>
        </p:nvSpPr>
        <p:spPr>
          <a:xfrm>
            <a:off x="661475"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304109"/>
            <a:ext cx="6296860" cy="25400"/>
          </a:xfrm>
          <a:prstGeom prst="rect">
            <a:avLst/>
          </a:prstGeom>
          <a:solidFill>
            <a:srgbClr val="57A1EB"/>
          </a:solidFill>
          <a:ln/>
        </p:spPr>
      </p:sp>
      <p:sp>
        <p:nvSpPr>
          <p:cNvPr id="12" name="Text 9"/>
          <p:cNvSpPr/>
          <p:nvPr/>
        </p:nvSpPr>
        <p:spPr>
          <a:xfrm>
            <a:off x="661475" y="44463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Compare table by table, not by row count</a:t>
            </a:r>
            <a:endParaRPr lang="en-US" sz="1800" dirty="0"/>
          </a:p>
        </p:txBody>
      </p:sp>
      <p:sp>
        <p:nvSpPr>
          <p:cNvPr id="13" name="Text 10"/>
          <p:cNvSpPr/>
          <p:nvPr/>
        </p:nvSpPr>
        <p:spPr>
          <a:xfrm>
            <a:off x="661475" y="50470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332809"/>
            <a:ext cx="6296860" cy="25400"/>
          </a:xfrm>
          <a:prstGeom prst="rect">
            <a:avLst/>
          </a:prstGeom>
          <a:solidFill>
            <a:srgbClr val="57A1EB"/>
          </a:solidFill>
          <a:ln/>
        </p:spPr>
      </p:sp>
      <p:sp>
        <p:nvSpPr>
          <p:cNvPr id="15" name="Text 12"/>
          <p:cNvSpPr/>
          <p:nvPr/>
        </p:nvSpPr>
        <p:spPr>
          <a:xfrm>
            <a:off x="661475" y="54750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At least one format must lose something, and you say what</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2026-09-16T05:08:12Z</dcterms:created>
  <dcterms:modified xsi:type="dcterms:W3CDTF">2026-09-16T05:08:12Z</dcterms:modified>
</cp:coreProperties>
</file>