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true" autoCompressPictures="0" embedTrueTypeFonts="true">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1695" cy="6858000"/>
  <p:notesSz cx="6858000" cy="12191695"/>
  <p:embeddedFontLst>
    <p:embeddedFont>
      <p:font typeface="Orbitron Bold"/>
      <p:regular r:id="rId201314"/>
    </p:embeddedFont>
    <p:embeddedFont>
      <p:font typeface="Orbitron"/>
      <p:regular r:id="rId201315"/>
    </p:embeddedFont>
    <p:embeddedFont>
      <p:font typeface="Roboto Condensed Bold"/>
      <p:regular r:id="rId201316"/>
    </p:embeddedFont>
    <p:embeddedFont>
      <p:font typeface="Roboto Condensed"/>
      <p:regular r:id="rId201317"/>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 Id="rId201314" Target="fonts/201314.fntdata" Type="http://schemas.openxmlformats.org/officeDocument/2006/relationships/font"/><Relationship Id="rId201315" Target="fonts/201315.fntdata" Type="http://schemas.openxmlformats.org/officeDocument/2006/relationships/font"/><Relationship Id="rId201316" Target="fonts/201316.fntdata" Type="http://schemas.openxmlformats.org/officeDocument/2006/relationships/font"/><Relationship Id="rId201317" Target="fonts/201317.fntdata" Type="http://schemas.openxmlformats.org/officeDocument/2006/relationships/font"/><Relationship Id="rId201318" Target="fonts/201318.fntdata" Type="http://schemas.openxmlformats.org/officeDocument/2006/relationships/font"/><Relationship Id="rId201319" Target="fonts/201319.fntdata" Type="http://schemas.openxmlformats.org/officeDocument/2006/relationships/font"/><Relationship Id="rId201320" Target="fonts/201320.fntdata" Type="http://schemas.openxmlformats.org/officeDocument/2006/relationships/font"/><Relationship Id="rId201321" Target="fonts/201321.fntdata" Type="http://schemas.openxmlformats.org/officeDocument/2006/relationships/font"/></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Last week you learned to change the input. This week you judge the output, and the two skills are worth different amounts. Anybody can get a different answer. Far fewer people can say whether the answer they got is any good and say it in a way somebody else can check. The question almost everybody asks is is it right, and it is too coarse. Ohio names five parameters in competency two point fourteen point four. Those five words are on the exam and they are the spine of this module, and you use them exactly.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They fail separately and they are caught by different methods, and that is the whole reason there are five rather than one. Validity you catch by testing the real thing. Relevance you catch by rereading the request. Authenticity you catch by searching for the phrasing. Potential Bias you catch by asking who is absent. Hallucinations you catch by going to look and finding nothing. Five parameters, five different actions, and if you only know one action you only ever find one kind of failure.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met this in 145060 in the Infographic Autopsy, and some of you will remember it. The titlecase method was a hallucination, because there is no such method, so there is nothing to be wrong about. Print separates values with a comma was a validity failure, because print exists and the sentence about it is false. Here is why the distinction is practical rather than academic. A reviewer who checks things finds validity failures. A reviewer who checks that things exist finds both, and almost nobody does the second one unless they were taught 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claim is about something real, so there is a real thing for the sentence to be wrong about. If the posted procedure says returns are due the same day, the sentence is false and the finding is Validity, and your evidence is the posted procedure named specifically. Now look at the bottom line. That does not sound right to me is not evidence. The autopsy in 145060 scored a finding zero when the how you know was missing, and so does this module.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prompt at the top, then read the reply. Both sources were supplied by you, so nothing here is fabricated. Nothing is false in a way a reader would catch. Every individual sentence survives every check you have learned so far. Take thirty seconds and tell me which of the five parameters this fails.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cleanest Relevance failure you will see all module. Notice what caught it. Not a tool. You compared the answer to the question, which is the step everybody skips because it feels like it does not need doing. Relevance is the only parameter that is about the relationship between the output and the request, rather than about the output on its own, which is exactly why it gets missed. And notice the harder thing. Fixing one parameter broke another, and an evaluation that only looks at the parameter you were worried about will walk straight past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Formatted correctly. Plausible years. Page ranges that look like page ranges. Before I say anything else, point at the one you would have believed, and most rooms point at the third one. Hold that.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that plainly and say it before anybody leaves the room. Every one of those is fabricated. Now the part worth arguing about. Source three looks like the best match and that is suspicious for a real reason, because the model produced a title shaped like the question it was handed. It is still not evidence. Plenty of real papers have titles that match the question, which is why they came up when you searched. A tell is not a finding, and Tuesday is entirely about the difference.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wrong version and I write it on the board every year. If the claim is inaccurate, say Validity and prove it with a source. Bias is the different question, and it is about absence. Who is the default person in that sentence? A student, because grade level is a property students have. Who does it not fit? A teacher borrowing a camera, a parent volunteer at an event, an alum helping at a shoot. None of them has a grade level, and the sentence never mentions that they exist. Nothing in it is false and a procedure built from it has no row for any of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finding missing any of those four scores zero, in every artifact this module. It seems wrong and I could tell are not part four. And read the last line, because it saves you from the other failure. If you looked for a Relevance failure and there is not one, write that you looked and did not find one, and say where you looked. Manufacturing a defect to fill a category is its own failure mode, reviewers do it under pressure to look thorough, and the reader who checks your weakest finding decides how much to trust your strongest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Build one is the last block on the autopsy and it is due when it ends. Five materially different prompts, five recorded runs, a comparison table, four written observations attributing a countable difference to one element, and a decision log, pushed before you leave Build one. Build two starts with twenty minutes trading autopsies. Name the place, say what you observed, end on a question, and that gets taught properly next week. Then the reference runs, scored on all five. At least one Hallucination and one Validity, with a sentence on each saying why it is not the other. That sentence is the assessment.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AFAFA"/>
          </a:solidFill>
          <a:ln/>
        </p:spPr>
      </p:sp>
      <p:sp>
        <p:nvSpPr>
          <p:cNvPr id="3" name="Shape 1"/>
          <p:cNvSpPr/>
          <p:nvPr/>
        </p:nvSpPr>
        <p:spPr>
          <a:xfrm>
            <a:off x="0" y="0"/>
            <a:ext cx="12191695" cy="6858000"/>
          </a:xfrm>
          <a:prstGeom prst="rect">
            <a:avLst/>
          </a:prstGeom>
          <a:solidFill>
            <a:srgbClr val="FFFFFF"/>
          </a:solidFill>
          <a:ln/>
        </p:spPr>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e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svg"/><Relationship Id="rId3" Type="http://schemas.openxmlformats.org/officeDocument/2006/relationships/image" Target="../media/image-3-1.png"/><Relationship Id="rId4" Type="http://schemas.openxmlformats.org/officeDocument/2006/relationships/image" Target="../media/image-3-2.svg"/><Relationship Id="rId5" Type="http://schemas.openxmlformats.org/officeDocument/2006/relationships/image" Target="../media/image-3-1.png"/><Relationship Id="rId6" Type="http://schemas.openxmlformats.org/officeDocument/2006/relationships/image" Target="../media/image-3-2.svg"/><Relationship Id="rId7" Type="http://schemas.openxmlformats.org/officeDocument/2006/relationships/image" Target="../media/image-3-1.png"/><Relationship Id="rId8" Type="http://schemas.openxmlformats.org/officeDocument/2006/relationships/image" Target="../media/image-3-2.svg"/><Relationship Id="rId9" Type="http://schemas.openxmlformats.org/officeDocument/2006/relationships/image" Target="../media/image-3-1.png"/><Relationship Id="rId10" Type="http://schemas.openxmlformats.org/officeDocument/2006/relationships/image" Target="../media/image-3-2.svg"/><Relationship Id="rId11" Type="http://schemas.openxmlformats.org/officeDocument/2006/relationships/slideLayout" Target="../slideLayouts/slideLayout2.xml"/><Relationship Id="rId1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e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svg"/><Relationship Id="rId3" Type="http://schemas.openxmlformats.org/officeDocument/2006/relationships/image" Target="../media/image-7-1.png"/><Relationship Id="rId4" Type="http://schemas.openxmlformats.org/officeDocument/2006/relationships/image" Target="../media/image-7-2.svg"/><Relationship Id="rId5" Type="http://schemas.openxmlformats.org/officeDocument/2006/relationships/image" Target="../media/image-7-1.png"/><Relationship Id="rId6" Type="http://schemas.openxmlformats.org/officeDocument/2006/relationships/image" Target="../media/image-7-2.svg"/><Relationship Id="rId7" Type="http://schemas.openxmlformats.org/officeDocument/2006/relationships/image" Target="../media/image-7-1.png"/><Relationship Id="rId8" Type="http://schemas.openxmlformats.org/officeDocument/2006/relationships/image" Target="../media/image-7-2.svg"/><Relationship Id="rId9" Type="http://schemas.openxmlformats.org/officeDocument/2006/relationships/image" Target="../media/image-7-1.png"/><Relationship Id="rId10" Type="http://schemas.openxmlformats.org/officeDocument/2006/relationships/image" Target="../media/image-7-2.svg"/><Relationship Id="rId11" Type="http://schemas.openxmlformats.org/officeDocument/2006/relationships/slideLayout" Target="../slideLayouts/slideLayout2.xml"/><Relationship Id="rId1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svg"/><Relationship Id="rId3" Type="http://schemas.openxmlformats.org/officeDocument/2006/relationships/image" Target="../media/image-9-1.png"/><Relationship Id="rId4" Type="http://schemas.openxmlformats.org/officeDocument/2006/relationships/image" Target="../media/image-9-2.svg"/><Relationship Id="rId5" Type="http://schemas.openxmlformats.org/officeDocument/2006/relationships/image" Target="../media/image-9-1.png"/><Relationship Id="rId6" Type="http://schemas.openxmlformats.org/officeDocument/2006/relationships/image" Target="../media/image-9-2.svg"/><Relationship Id="rId7" Type="http://schemas.openxmlformats.org/officeDocument/2006/relationships/image" Target="../media/image-9-1.png"/><Relationship Id="rId8" Type="http://schemas.openxmlformats.org/officeDocument/2006/relationships/image" Target="../media/image-9-2.svg"/><Relationship Id="rId9" Type="http://schemas.openxmlformats.org/officeDocument/2006/relationships/image" Target="../media/image-9-1.png"/><Relationship Id="rId10" Type="http://schemas.openxmlformats.org/officeDocument/2006/relationships/image" Target="../media/image-9-2.svg"/><Relationship Id="rId11" Type="http://schemas.openxmlformats.org/officeDocument/2006/relationships/slideLayout" Target="../slideLayouts/slideLayout2.xml"/><Relationship Id="rId1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eg"/><Relationship Id="rId2" Type="http://schemas.openxmlformats.org/officeDocument/2006/relationships/image" Target="../media/image-10-2.png"/><Relationship Id="rId3" Type="http://schemas.openxmlformats.org/officeDocument/2006/relationships/slideLayout" Target="../slideLayouts/slideLayout2.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jpe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4571886" cy="6858000"/>
          </a:xfrm>
          <a:prstGeom prst="rect">
            <a:avLst/>
          </a:prstGeom>
        </p:spPr>
      </p:pic>
      <p:sp>
        <p:nvSpPr>
          <p:cNvPr id="3" name="Text 0"/>
          <p:cNvSpPr/>
          <p:nvPr/>
        </p:nvSpPr>
        <p:spPr>
          <a:xfrm>
            <a:off x="5233360" y="2776934"/>
            <a:ext cx="6296860" cy="1181298"/>
          </a:xfrm>
          <a:prstGeom prst="rect">
            <a:avLst/>
          </a:prstGeom>
          <a:noFill/>
          <a:ln/>
        </p:spPr>
        <p:txBody>
          <a:bodyPr wrap="square" lIns="0" tIns="0" rIns="0" bIns="0" rtlCol="0" anchor="t">
            <a:normAutofit/>
          </a:bodyPr>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The Five Evaluation Parameters</a:t>
            </a:r>
            <a:endParaRPr lang="en-US" sz="37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661475" y="768747"/>
            <a:ext cx="10868745" cy="1181298"/>
          </a:xfrm>
          <a:prstGeom prst="rect">
            <a:avLst/>
          </a:prstGeom>
          <a:noFill/>
          <a:ln/>
        </p:spPr>
        <p:txBody>
          <a:bodyPr wrap="square" lIns="0" tIns="0" rIns="0" bIns="0" rtlCol="0" anchor="t">
            <a:normAutofit/>
          </a:bodyPr>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Is it right catches about two failures out of five</a:t>
            </a:r>
            <a:endParaRPr lang="en-US" sz="3700" dirty="0"/>
          </a:p>
        </p:txBody>
      </p:sp>
      <p:sp>
        <p:nvSpPr>
          <p:cNvPr id="3" name="Shape 1"/>
          <p:cNvSpPr/>
          <p:nvPr/>
        </p:nvSpPr>
        <p:spPr>
          <a:xfrm>
            <a:off x="661475" y="2328069"/>
            <a:ext cx="425241" cy="425252"/>
          </a:xfrm>
          <a:prstGeom prst="roundRect">
            <a:avLst>
              <a:gd name="adj" fmla="val 18669"/>
            </a:avLst>
          </a:prstGeom>
          <a:solidFill>
            <a:srgbClr val="D1E5FA"/>
          </a:solidFill>
          <a:ln w="19050">
            <a:solidFill>
              <a:srgbClr val="B7CBE0"/>
            </a:solidFill>
            <a:prstDash val="solid"/>
          </a:ln>
        </p:spPr>
      </p:sp>
      <p:sp>
        <p:nvSpPr>
          <p:cNvPr id="4" name="Text 2"/>
          <p:cNvSpPr/>
          <p:nvPr/>
        </p:nvSpPr>
        <p:spPr>
          <a:xfrm>
            <a:off x="1275723" y="2392958"/>
            <a:ext cx="10254497"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You read an AI answer and ask one question</a:t>
            </a:r>
            <a:endParaRPr lang="en-US" sz="1850" dirty="0"/>
          </a:p>
        </p:txBody>
      </p:sp>
      <p:sp>
        <p:nvSpPr>
          <p:cNvPr id="5" name="Shape 3"/>
          <p:cNvSpPr/>
          <p:nvPr/>
        </p:nvSpPr>
        <p:spPr>
          <a:xfrm>
            <a:off x="661475" y="3131344"/>
            <a:ext cx="425241" cy="425252"/>
          </a:xfrm>
          <a:prstGeom prst="roundRect">
            <a:avLst>
              <a:gd name="adj" fmla="val 18669"/>
            </a:avLst>
          </a:prstGeom>
          <a:solidFill>
            <a:srgbClr val="D1E5FA"/>
          </a:solidFill>
          <a:ln w="19050">
            <a:solidFill>
              <a:srgbClr val="B7CBE0"/>
            </a:solidFill>
            <a:prstDash val="solid"/>
          </a:ln>
        </p:spPr>
      </p:sp>
      <p:sp>
        <p:nvSpPr>
          <p:cNvPr id="6" name="Text 4"/>
          <p:cNvSpPr/>
          <p:nvPr/>
        </p:nvSpPr>
        <p:spPr>
          <a:xfrm>
            <a:off x="1275723" y="3196233"/>
            <a:ext cx="10254497"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Is it right</a:t>
            </a:r>
            <a:endParaRPr lang="en-US" sz="1850" dirty="0"/>
          </a:p>
        </p:txBody>
      </p:sp>
      <p:sp>
        <p:nvSpPr>
          <p:cNvPr id="7" name="Shape 5"/>
          <p:cNvSpPr/>
          <p:nvPr/>
        </p:nvSpPr>
        <p:spPr>
          <a:xfrm>
            <a:off x="661475" y="3934619"/>
            <a:ext cx="425241" cy="425252"/>
          </a:xfrm>
          <a:prstGeom prst="roundRect">
            <a:avLst>
              <a:gd name="adj" fmla="val 18669"/>
            </a:avLst>
          </a:prstGeom>
          <a:solidFill>
            <a:srgbClr val="D1E5FA"/>
          </a:solidFill>
          <a:ln w="19050">
            <a:solidFill>
              <a:srgbClr val="B7CBE0"/>
            </a:solidFill>
            <a:prstDash val="solid"/>
          </a:ln>
        </p:spPr>
      </p:sp>
      <p:sp>
        <p:nvSpPr>
          <p:cNvPr id="8" name="Text 6"/>
          <p:cNvSpPr/>
          <p:nvPr/>
        </p:nvSpPr>
        <p:spPr>
          <a:xfrm>
            <a:off x="1275723" y="3999508"/>
            <a:ext cx="10254497"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That question collapses five different failures into one word</a:t>
            </a:r>
            <a:endParaRPr lang="en-US" sz="1850" dirty="0"/>
          </a:p>
        </p:txBody>
      </p:sp>
      <p:sp>
        <p:nvSpPr>
          <p:cNvPr id="9" name="Shape 7"/>
          <p:cNvSpPr/>
          <p:nvPr/>
        </p:nvSpPr>
        <p:spPr>
          <a:xfrm>
            <a:off x="661475" y="4737894"/>
            <a:ext cx="425241" cy="425252"/>
          </a:xfrm>
          <a:prstGeom prst="roundRect">
            <a:avLst>
              <a:gd name="adj" fmla="val 18669"/>
            </a:avLst>
          </a:prstGeom>
          <a:solidFill>
            <a:srgbClr val="D1E5FA"/>
          </a:solidFill>
          <a:ln w="19050">
            <a:solidFill>
              <a:srgbClr val="B7CBE0"/>
            </a:solidFill>
            <a:prstDash val="solid"/>
          </a:ln>
        </p:spPr>
      </p:sp>
      <p:sp>
        <p:nvSpPr>
          <p:cNvPr id="10" name="Text 8"/>
          <p:cNvSpPr/>
          <p:nvPr/>
        </p:nvSpPr>
        <p:spPr>
          <a:xfrm>
            <a:off x="1275723" y="4802783"/>
            <a:ext cx="10254497"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It catches roughly two of them</a:t>
            </a:r>
            <a:endParaRPr lang="en-US" sz="1850" dirty="0"/>
          </a:p>
        </p:txBody>
      </p:sp>
      <p:sp>
        <p:nvSpPr>
          <p:cNvPr id="11" name="Shape 9"/>
          <p:cNvSpPr/>
          <p:nvPr/>
        </p:nvSpPr>
        <p:spPr>
          <a:xfrm>
            <a:off x="661475" y="5541169"/>
            <a:ext cx="425241" cy="425252"/>
          </a:xfrm>
          <a:prstGeom prst="roundRect">
            <a:avLst>
              <a:gd name="adj" fmla="val 18669"/>
            </a:avLst>
          </a:prstGeom>
          <a:solidFill>
            <a:srgbClr val="D1E5FA"/>
          </a:solidFill>
          <a:ln w="19050">
            <a:solidFill>
              <a:srgbClr val="B7CBE0"/>
            </a:solidFill>
            <a:prstDash val="solid"/>
          </a:ln>
        </p:spPr>
      </p:sp>
      <p:sp>
        <p:nvSpPr>
          <p:cNvPr id="12" name="Text 10"/>
          <p:cNvSpPr/>
          <p:nvPr/>
        </p:nvSpPr>
        <p:spPr>
          <a:xfrm>
            <a:off x="1275723" y="5606058"/>
            <a:ext cx="10254497"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The other three walk past you looking finished</a:t>
            </a:r>
            <a:endParaRPr lang="en-US" sz="1850" dirty="0"/>
          </a:p>
        </p:txBody>
      </p:sp>
      <p:sp>
        <p:nvSpPr>
          <p:cNvPr id="13" name="Text 11"/>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661475" y="575866"/>
            <a:ext cx="10868745" cy="461466"/>
          </a:xfrm>
          <a:prstGeom prst="rect">
            <a:avLst/>
          </a:prstGeom>
          <a:noFill/>
          <a:ln/>
        </p:spPr>
        <p:txBody>
          <a:bodyPr wrap="none" lIns="0" tIns="0" rIns="0" bIns="0" rtlCol="0" anchor="t"/>
          <a:lstStyle/>
          <a:p>
            <a:pPr algn="l" indent="0" marL="0">
              <a:lnSpc>
                <a:spcPct val="104000"/>
              </a:lnSpc>
              <a:buNone/>
            </a:pPr>
            <a:r>
              <a:rPr lang="en-US" sz="2900" b="1" dirty="0">
                <a:solidFill>
                  <a:srgbClr val="111111"/>
                </a:solidFill>
                <a:latin typeface="Orbitron Bold" pitchFamily="34" charset="0"/>
                <a:ea typeface="Orbitron Bold" pitchFamily="34" charset="-122"/>
                <a:cs typeface="Orbitron Bold" pitchFamily="34" charset="-120"/>
              </a:rPr>
              <a:t>The five, verbatim</a:t>
            </a:r>
            <a:endParaRPr lang="en-US" sz="2900" dirty="0"/>
          </a:p>
        </p:txBody>
      </p:sp>
      <p:pic>
        <p:nvPicPr>
          <p:cNvPr id="3"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661475" y="1268016"/>
            <a:ext cx="10868745" cy="886023"/>
          </a:xfrm>
          <a:prstGeom prst="rect">
            <a:avLst/>
          </a:prstGeom>
        </p:spPr>
      </p:pic>
      <p:sp>
        <p:nvSpPr>
          <p:cNvPr id="4" name="Text 1"/>
          <p:cNvSpPr/>
          <p:nvPr/>
        </p:nvSpPr>
        <p:spPr>
          <a:xfrm>
            <a:off x="1386448" y="1434703"/>
            <a:ext cx="9977089" cy="230684"/>
          </a:xfrm>
          <a:prstGeom prst="rect">
            <a:avLst/>
          </a:prstGeom>
          <a:noFill/>
          <a:ln/>
        </p:spPr>
        <p:txBody>
          <a:bodyPr wrap="none" lIns="0" tIns="0" rIns="0" bIns="0" rtlCol="0" anchor="t"/>
          <a:lstStyle/>
          <a:p>
            <a:pPr algn="l" indent="0" marL="0">
              <a:lnSpc>
                <a:spcPct val="104000"/>
              </a:lnSpc>
              <a:buNone/>
            </a:pPr>
            <a:r>
              <a:rPr lang="en-US" sz="1450" b="1" dirty="0">
                <a:solidFill>
                  <a:srgbClr val="1C1C1C"/>
                </a:solidFill>
                <a:latin typeface="Orbitron Bold" pitchFamily="34" charset="0"/>
                <a:ea typeface="Orbitron Bold" pitchFamily="34" charset="-122"/>
                <a:cs typeface="Orbitron Bold" pitchFamily="34" charset="-120"/>
              </a:rPr>
              <a:t>Validity</a:t>
            </a:r>
            <a:endParaRPr lang="en-US" sz="1450" dirty="0"/>
          </a:p>
        </p:txBody>
      </p:sp>
      <p:sp>
        <p:nvSpPr>
          <p:cNvPr id="5" name="Text 2"/>
          <p:cNvSpPr/>
          <p:nvPr/>
        </p:nvSpPr>
        <p:spPr>
          <a:xfrm>
            <a:off x="1386448" y="1734542"/>
            <a:ext cx="9977089" cy="210344"/>
          </a:xfrm>
          <a:prstGeom prst="rect">
            <a:avLst/>
          </a:prstGeom>
          <a:noFill/>
          <a:ln/>
        </p:spPr>
        <p:txBody>
          <a:bodyPr wrap="none" lIns="0" tIns="0" rIns="0" bIns="0" rtlCol="0" anchor="t"/>
          <a:lstStyle/>
          <a:p>
            <a:pPr algn="l" indent="0" marL="0">
              <a:lnSpc>
                <a:spcPct val="119000"/>
              </a:lnSpc>
              <a:buNone/>
            </a:pPr>
            <a:r>
              <a:rPr lang="en-US" sz="1150" dirty="0">
                <a:solidFill>
                  <a:srgbClr val="1C1C1C"/>
                </a:solidFill>
                <a:latin typeface="Roboto Condensed" pitchFamily="34" charset="0"/>
                <a:ea typeface="Roboto Condensed" pitchFamily="34" charset="-122"/>
                <a:cs typeface="Roboto Condensed" pitchFamily="34" charset="-120"/>
              </a:rPr>
              <a:t>Is the claim about a real thing false</a:t>
            </a:r>
            <a:endParaRPr lang="en-US" sz="1150" dirty="0"/>
          </a:p>
        </p:txBody>
      </p:sp>
      <p:pic>
        <p:nvPicPr>
          <p:cNvPr id="6"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61475" y="2269331"/>
            <a:ext cx="10868745" cy="886023"/>
          </a:xfrm>
          <a:prstGeom prst="rect">
            <a:avLst/>
          </a:prstGeom>
        </p:spPr>
      </p:pic>
      <p:sp>
        <p:nvSpPr>
          <p:cNvPr id="7" name="Text 3"/>
          <p:cNvSpPr/>
          <p:nvPr/>
        </p:nvSpPr>
        <p:spPr>
          <a:xfrm>
            <a:off x="1386448" y="2436019"/>
            <a:ext cx="9977089" cy="230684"/>
          </a:xfrm>
          <a:prstGeom prst="rect">
            <a:avLst/>
          </a:prstGeom>
          <a:noFill/>
          <a:ln/>
        </p:spPr>
        <p:txBody>
          <a:bodyPr wrap="none" lIns="0" tIns="0" rIns="0" bIns="0" rtlCol="0" anchor="t"/>
          <a:lstStyle/>
          <a:p>
            <a:pPr algn="l" indent="0" marL="0">
              <a:lnSpc>
                <a:spcPct val="104000"/>
              </a:lnSpc>
              <a:buNone/>
            </a:pPr>
            <a:r>
              <a:rPr lang="en-US" sz="1450" b="1" dirty="0">
                <a:solidFill>
                  <a:srgbClr val="1C1C1C"/>
                </a:solidFill>
                <a:latin typeface="Orbitron Bold" pitchFamily="34" charset="0"/>
                <a:ea typeface="Orbitron Bold" pitchFamily="34" charset="-122"/>
                <a:cs typeface="Orbitron Bold" pitchFamily="34" charset="-120"/>
              </a:rPr>
              <a:t>Relevance</a:t>
            </a:r>
            <a:endParaRPr lang="en-US" sz="1450" dirty="0"/>
          </a:p>
        </p:txBody>
      </p:sp>
      <p:sp>
        <p:nvSpPr>
          <p:cNvPr id="8" name="Text 4"/>
          <p:cNvSpPr/>
          <p:nvPr/>
        </p:nvSpPr>
        <p:spPr>
          <a:xfrm>
            <a:off x="1386448" y="2735858"/>
            <a:ext cx="9977089" cy="210344"/>
          </a:xfrm>
          <a:prstGeom prst="rect">
            <a:avLst/>
          </a:prstGeom>
          <a:noFill/>
          <a:ln/>
        </p:spPr>
        <p:txBody>
          <a:bodyPr wrap="none" lIns="0" tIns="0" rIns="0" bIns="0" rtlCol="0" anchor="t"/>
          <a:lstStyle/>
          <a:p>
            <a:pPr algn="l" indent="0" marL="0">
              <a:lnSpc>
                <a:spcPct val="119000"/>
              </a:lnSpc>
              <a:buNone/>
            </a:pPr>
            <a:r>
              <a:rPr lang="en-US" sz="1150" dirty="0">
                <a:solidFill>
                  <a:srgbClr val="1C1C1C"/>
                </a:solidFill>
                <a:latin typeface="Roboto Condensed" pitchFamily="34" charset="0"/>
                <a:ea typeface="Roboto Condensed" pitchFamily="34" charset="-122"/>
                <a:cs typeface="Roboto Condensed" pitchFamily="34" charset="-120"/>
              </a:rPr>
              <a:t>Does it answer what was actually asked</a:t>
            </a:r>
            <a:endParaRPr lang="en-US" sz="1150" dirty="0"/>
          </a:p>
        </p:txBody>
      </p:sp>
      <p:pic>
        <p:nvPicPr>
          <p:cNvPr id="9"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61475" y="3270647"/>
            <a:ext cx="10868745" cy="886023"/>
          </a:xfrm>
          <a:prstGeom prst="rect">
            <a:avLst/>
          </a:prstGeom>
        </p:spPr>
      </p:pic>
      <p:sp>
        <p:nvSpPr>
          <p:cNvPr id="10" name="Text 5"/>
          <p:cNvSpPr/>
          <p:nvPr/>
        </p:nvSpPr>
        <p:spPr>
          <a:xfrm>
            <a:off x="1386448" y="3437334"/>
            <a:ext cx="9977089" cy="230684"/>
          </a:xfrm>
          <a:prstGeom prst="rect">
            <a:avLst/>
          </a:prstGeom>
          <a:noFill/>
          <a:ln/>
        </p:spPr>
        <p:txBody>
          <a:bodyPr wrap="none" lIns="0" tIns="0" rIns="0" bIns="0" rtlCol="0" anchor="t"/>
          <a:lstStyle/>
          <a:p>
            <a:pPr algn="l" indent="0" marL="0">
              <a:lnSpc>
                <a:spcPct val="104000"/>
              </a:lnSpc>
              <a:buNone/>
            </a:pPr>
            <a:r>
              <a:rPr lang="en-US" sz="1450" b="1" dirty="0">
                <a:solidFill>
                  <a:srgbClr val="1C1C1C"/>
                </a:solidFill>
                <a:latin typeface="Orbitron Bold" pitchFamily="34" charset="0"/>
                <a:ea typeface="Orbitron Bold" pitchFamily="34" charset="-122"/>
                <a:cs typeface="Orbitron Bold" pitchFamily="34" charset="-120"/>
              </a:rPr>
              <a:t>Authenticity</a:t>
            </a:r>
            <a:endParaRPr lang="en-US" sz="1450" dirty="0"/>
          </a:p>
        </p:txBody>
      </p:sp>
      <p:sp>
        <p:nvSpPr>
          <p:cNvPr id="11" name="Text 6"/>
          <p:cNvSpPr/>
          <p:nvPr/>
        </p:nvSpPr>
        <p:spPr>
          <a:xfrm>
            <a:off x="1386448" y="3737173"/>
            <a:ext cx="9977089" cy="210344"/>
          </a:xfrm>
          <a:prstGeom prst="rect">
            <a:avLst/>
          </a:prstGeom>
          <a:noFill/>
          <a:ln/>
        </p:spPr>
        <p:txBody>
          <a:bodyPr wrap="none" lIns="0" tIns="0" rIns="0" bIns="0" rtlCol="0" anchor="t"/>
          <a:lstStyle/>
          <a:p>
            <a:pPr algn="l" indent="0" marL="0">
              <a:lnSpc>
                <a:spcPct val="119000"/>
              </a:lnSpc>
              <a:buNone/>
            </a:pPr>
            <a:r>
              <a:rPr lang="en-US" sz="1150" dirty="0">
                <a:solidFill>
                  <a:srgbClr val="1C1C1C"/>
                </a:solidFill>
                <a:latin typeface="Roboto Condensed" pitchFamily="34" charset="0"/>
                <a:ea typeface="Roboto Condensed" pitchFamily="34" charset="-122"/>
                <a:cs typeface="Roboto Condensed" pitchFamily="34" charset="-120"/>
              </a:rPr>
              <a:t>Is it original, or does it belong to somebody</a:t>
            </a:r>
            <a:endParaRPr lang="en-US" sz="1150" dirty="0"/>
          </a:p>
        </p:txBody>
      </p:sp>
      <p:pic>
        <p:nvPicPr>
          <p:cNvPr id="12"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661475" y="4271963"/>
            <a:ext cx="10868745" cy="886023"/>
          </a:xfrm>
          <a:prstGeom prst="rect">
            <a:avLst/>
          </a:prstGeom>
        </p:spPr>
      </p:pic>
      <p:sp>
        <p:nvSpPr>
          <p:cNvPr id="13" name="Text 7"/>
          <p:cNvSpPr/>
          <p:nvPr/>
        </p:nvSpPr>
        <p:spPr>
          <a:xfrm>
            <a:off x="1386448" y="4438650"/>
            <a:ext cx="9977089" cy="230684"/>
          </a:xfrm>
          <a:prstGeom prst="rect">
            <a:avLst/>
          </a:prstGeom>
          <a:noFill/>
          <a:ln/>
        </p:spPr>
        <p:txBody>
          <a:bodyPr wrap="none" lIns="0" tIns="0" rIns="0" bIns="0" rtlCol="0" anchor="t"/>
          <a:lstStyle/>
          <a:p>
            <a:pPr algn="l" indent="0" marL="0">
              <a:lnSpc>
                <a:spcPct val="104000"/>
              </a:lnSpc>
              <a:buNone/>
            </a:pPr>
            <a:r>
              <a:rPr lang="en-US" sz="1450" b="1" dirty="0">
                <a:solidFill>
                  <a:srgbClr val="1C1C1C"/>
                </a:solidFill>
                <a:latin typeface="Orbitron Bold" pitchFamily="34" charset="0"/>
                <a:ea typeface="Orbitron Bold" pitchFamily="34" charset="-122"/>
                <a:cs typeface="Orbitron Bold" pitchFamily="34" charset="-120"/>
              </a:rPr>
              <a:t>Potential Bias</a:t>
            </a:r>
            <a:endParaRPr lang="en-US" sz="1450" dirty="0"/>
          </a:p>
        </p:txBody>
      </p:sp>
      <p:sp>
        <p:nvSpPr>
          <p:cNvPr id="14" name="Text 8"/>
          <p:cNvSpPr/>
          <p:nvPr/>
        </p:nvSpPr>
        <p:spPr>
          <a:xfrm>
            <a:off x="1386448" y="4738489"/>
            <a:ext cx="9977089" cy="210344"/>
          </a:xfrm>
          <a:prstGeom prst="rect">
            <a:avLst/>
          </a:prstGeom>
          <a:noFill/>
          <a:ln/>
        </p:spPr>
        <p:txBody>
          <a:bodyPr wrap="none" lIns="0" tIns="0" rIns="0" bIns="0" rtlCol="0" anchor="t"/>
          <a:lstStyle/>
          <a:p>
            <a:pPr algn="l" indent="0" marL="0">
              <a:lnSpc>
                <a:spcPct val="119000"/>
              </a:lnSpc>
              <a:buNone/>
            </a:pPr>
            <a:r>
              <a:rPr lang="en-US" sz="1150" dirty="0">
                <a:solidFill>
                  <a:srgbClr val="1C1C1C"/>
                </a:solidFill>
                <a:latin typeface="Roboto Condensed" pitchFamily="34" charset="0"/>
                <a:ea typeface="Roboto Condensed" pitchFamily="34" charset="-122"/>
                <a:cs typeface="Roboto Condensed" pitchFamily="34" charset="-120"/>
              </a:rPr>
              <a:t>Whose perspective is built in, who is missing</a:t>
            </a:r>
            <a:endParaRPr lang="en-US" sz="1150" dirty="0"/>
          </a:p>
        </p:txBody>
      </p:sp>
      <p:pic>
        <p:nvPicPr>
          <p:cNvPr id="15" name="Image 4" descr="preencoded.png">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661475" y="5273278"/>
            <a:ext cx="10868745" cy="886023"/>
          </a:xfrm>
          <a:prstGeom prst="rect">
            <a:avLst/>
          </a:prstGeom>
        </p:spPr>
      </p:pic>
      <p:sp>
        <p:nvSpPr>
          <p:cNvPr id="16" name="Text 9"/>
          <p:cNvSpPr/>
          <p:nvPr/>
        </p:nvSpPr>
        <p:spPr>
          <a:xfrm>
            <a:off x="1386448" y="5439966"/>
            <a:ext cx="9977089" cy="230684"/>
          </a:xfrm>
          <a:prstGeom prst="rect">
            <a:avLst/>
          </a:prstGeom>
          <a:noFill/>
          <a:ln/>
        </p:spPr>
        <p:txBody>
          <a:bodyPr wrap="none" lIns="0" tIns="0" rIns="0" bIns="0" rtlCol="0" anchor="t"/>
          <a:lstStyle/>
          <a:p>
            <a:pPr algn="l" indent="0" marL="0">
              <a:lnSpc>
                <a:spcPct val="104000"/>
              </a:lnSpc>
              <a:buNone/>
            </a:pPr>
            <a:r>
              <a:rPr lang="en-US" sz="1450" b="1" dirty="0">
                <a:solidFill>
                  <a:srgbClr val="1C1C1C"/>
                </a:solidFill>
                <a:latin typeface="Orbitron Bold" pitchFamily="34" charset="0"/>
                <a:ea typeface="Orbitron Bold" pitchFamily="34" charset="-122"/>
                <a:cs typeface="Orbitron Bold" pitchFamily="34" charset="-120"/>
              </a:rPr>
              <a:t>Hallucinations</a:t>
            </a:r>
            <a:endParaRPr lang="en-US" sz="1450" dirty="0"/>
          </a:p>
        </p:txBody>
      </p:sp>
      <p:sp>
        <p:nvSpPr>
          <p:cNvPr id="17" name="Text 10"/>
          <p:cNvSpPr/>
          <p:nvPr/>
        </p:nvSpPr>
        <p:spPr>
          <a:xfrm>
            <a:off x="1386448" y="5739805"/>
            <a:ext cx="9977089" cy="210344"/>
          </a:xfrm>
          <a:prstGeom prst="rect">
            <a:avLst/>
          </a:prstGeom>
          <a:noFill/>
          <a:ln/>
        </p:spPr>
        <p:txBody>
          <a:bodyPr wrap="none" lIns="0" tIns="0" rIns="0" bIns="0" rtlCol="0" anchor="t"/>
          <a:lstStyle/>
          <a:p>
            <a:pPr algn="l" indent="0" marL="0">
              <a:lnSpc>
                <a:spcPct val="119000"/>
              </a:lnSpc>
              <a:buNone/>
            </a:pPr>
            <a:r>
              <a:rPr lang="en-US" sz="1150" dirty="0">
                <a:solidFill>
                  <a:srgbClr val="1C1C1C"/>
                </a:solidFill>
                <a:latin typeface="Roboto Condensed" pitchFamily="34" charset="0"/>
                <a:ea typeface="Roboto Condensed" pitchFamily="34" charset="-122"/>
                <a:cs typeface="Roboto Condensed" pitchFamily="34" charset="-120"/>
              </a:rPr>
              <a:t>Does it describe something that does not exist</a:t>
            </a:r>
            <a:endParaRPr lang="en-US" sz="1150" dirty="0"/>
          </a:p>
        </p:txBody>
      </p:sp>
      <p:sp>
        <p:nvSpPr>
          <p:cNvPr id="18" name="Text 11"/>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4571886" cy="6858000"/>
          </a:xfrm>
          <a:prstGeom prst="rect">
            <a:avLst/>
          </a:prstGeom>
        </p:spPr>
      </p:pic>
      <p:sp>
        <p:nvSpPr>
          <p:cNvPr id="3" name="Text 0"/>
          <p:cNvSpPr/>
          <p:nvPr/>
        </p:nvSpPr>
        <p:spPr>
          <a:xfrm>
            <a:off x="5233360" y="1269504"/>
            <a:ext cx="6296860" cy="1181298"/>
          </a:xfrm>
          <a:prstGeom prst="rect">
            <a:avLst/>
          </a:prstGeom>
          <a:noFill/>
          <a:ln/>
        </p:spPr>
        <p:txBody>
          <a:bodyPr wrap="square" lIns="0" tIns="0" rIns="0" bIns="0" rtlCol="0" anchor="t">
            <a:normAutofit/>
          </a:bodyPr>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The line you will keep getting wrong</a:t>
            </a:r>
            <a:endParaRPr lang="en-US" sz="3700" dirty="0"/>
          </a:p>
        </p:txBody>
      </p:sp>
      <p:sp>
        <p:nvSpPr>
          <p:cNvPr id="4" name="Shape 1"/>
          <p:cNvSpPr/>
          <p:nvPr/>
        </p:nvSpPr>
        <p:spPr>
          <a:xfrm>
            <a:off x="5233360" y="2734270"/>
            <a:ext cx="6296860" cy="2216348"/>
          </a:xfrm>
          <a:prstGeom prst="roundRect">
            <a:avLst>
              <a:gd name="adj" fmla="val 3582"/>
            </a:avLst>
          </a:prstGeom>
          <a:solidFill>
            <a:srgbClr val="D1E5FA"/>
          </a:solidFill>
          <a:ln w="19050">
            <a:solidFill>
              <a:srgbClr val="B7CBE0"/>
            </a:solidFill>
            <a:prstDash val="solid"/>
          </a:ln>
        </p:spPr>
      </p:sp>
      <p:sp>
        <p:nvSpPr>
          <p:cNvPr id="5" name="Shape 2"/>
          <p:cNvSpPr/>
          <p:nvPr/>
        </p:nvSpPr>
        <p:spPr>
          <a:xfrm>
            <a:off x="5252410" y="2753320"/>
            <a:ext cx="6258761" cy="1089124"/>
          </a:xfrm>
          <a:custGeom>
            <a:avLst/>
            <a:gdLst/>
            <a:ahLst/>
            <a:cxnLst/>
            <a:rect l="l" t="t" r="r" b="b"/>
            <a:pathLst>
              <a:path w="6258761" h="1089124">
                <a:moveTo>
                  <a:pt x="66156" y="0"/>
                </a:moveTo>
                <a:lnTo>
                  <a:pt x="6192604" y="0"/>
                </a:lnTo>
                <a:arcTo hR="66158" wR="66156" stAng="16200000" swAng="5400000"/>
                <a:lnTo>
                  <a:pt x="6258761" y="1089124"/>
                </a:lnTo>
                <a:lnTo>
                  <a:pt x="0" y="1089124"/>
                </a:lnTo>
                <a:lnTo>
                  <a:pt x="0" y="66158"/>
                </a:lnTo>
                <a:arcTo hR="66158" wR="66156" stAng="10800000" swAng="5400000"/>
                <a:close/>
              </a:path>
            </a:pathLst>
          </a:custGeom>
          <a:solidFill>
            <a:srgbClr val="D1E5FA"/>
          </a:solidFill>
          <a:ln/>
        </p:spPr>
      </p:sp>
      <p:sp>
        <p:nvSpPr>
          <p:cNvPr id="6" name="Text 3"/>
          <p:cNvSpPr/>
          <p:nvPr/>
        </p:nvSpPr>
        <p:spPr>
          <a:xfrm>
            <a:off x="5441417" y="2942332"/>
            <a:ext cx="5880747"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Validity</a:t>
            </a:r>
            <a:endParaRPr lang="en-US" sz="1850" dirty="0"/>
          </a:p>
        </p:txBody>
      </p:sp>
      <p:sp>
        <p:nvSpPr>
          <p:cNvPr id="7" name="Text 4"/>
          <p:cNvSpPr/>
          <p:nvPr/>
        </p:nvSpPr>
        <p:spPr>
          <a:xfrm>
            <a:off x="5441417" y="3351014"/>
            <a:ext cx="5880747" cy="302419"/>
          </a:xfrm>
          <a:prstGeom prst="rect">
            <a:avLst/>
          </a:prstGeom>
          <a:noFill/>
          <a:ln/>
        </p:spPr>
        <p:txBody>
          <a:bodyPr wrap="none" lIns="0" tIns="0" rIns="0" bIns="0" rtlCol="0" anchor="t"/>
          <a:lstStyle/>
          <a:p>
            <a:pPr algn="l" indent="0" marL="0">
              <a:lnSpc>
                <a:spcPct val="133000"/>
              </a:lnSpc>
              <a:buNone/>
            </a:pPr>
            <a:r>
              <a:rPr lang="en-US" sz="1450" dirty="0">
                <a:solidFill>
                  <a:srgbClr val="1C1C1C"/>
                </a:solidFill>
                <a:latin typeface="Roboto Condensed" pitchFamily="34" charset="0"/>
                <a:ea typeface="Roboto Condensed" pitchFamily="34" charset="-122"/>
                <a:cs typeface="Roboto Condensed" pitchFamily="34" charset="-120"/>
              </a:rPr>
              <a:t>A wrong claim about a real thing. Caught by testing the thing.</a:t>
            </a:r>
            <a:endParaRPr lang="en-US" sz="1450" dirty="0"/>
          </a:p>
        </p:txBody>
      </p:sp>
      <p:sp>
        <p:nvSpPr>
          <p:cNvPr id="8" name="Shape 5"/>
          <p:cNvSpPr/>
          <p:nvPr/>
        </p:nvSpPr>
        <p:spPr>
          <a:xfrm>
            <a:off x="5252410" y="3842445"/>
            <a:ext cx="6258761" cy="1089124"/>
          </a:xfrm>
          <a:custGeom>
            <a:avLst/>
            <a:gdLst/>
            <a:ahLst/>
            <a:cxnLst/>
            <a:rect l="l" t="t" r="r" b="b"/>
            <a:pathLst>
              <a:path w="6258761" h="1089124">
                <a:moveTo>
                  <a:pt x="0" y="0"/>
                </a:moveTo>
                <a:lnTo>
                  <a:pt x="6258761" y="0"/>
                </a:lnTo>
                <a:lnTo>
                  <a:pt x="6258761" y="1022966"/>
                </a:lnTo>
                <a:arcTo hR="66158" wR="66156" stAng="0" swAng="5400000"/>
                <a:lnTo>
                  <a:pt x="66156" y="1089124"/>
                </a:lnTo>
                <a:arcTo hR="66158" wR="66156" stAng="5400000" swAng="5400000"/>
                <a:lnTo>
                  <a:pt x="0" y="0"/>
                </a:lnTo>
                <a:close/>
              </a:path>
            </a:pathLst>
          </a:custGeom>
          <a:solidFill>
            <a:srgbClr val="D1E5FA"/>
          </a:solidFill>
          <a:ln/>
        </p:spPr>
      </p:sp>
      <p:sp>
        <p:nvSpPr>
          <p:cNvPr id="9" name="Shape 6"/>
          <p:cNvSpPr/>
          <p:nvPr/>
        </p:nvSpPr>
        <p:spPr>
          <a:xfrm>
            <a:off x="5252410" y="3842445"/>
            <a:ext cx="6258761" cy="25400"/>
          </a:xfrm>
          <a:prstGeom prst="roundRect">
            <a:avLst>
              <a:gd name="adj" fmla="val 49999"/>
            </a:avLst>
          </a:prstGeom>
          <a:solidFill>
            <a:srgbClr val="B7CBE0"/>
          </a:solidFill>
          <a:ln/>
        </p:spPr>
      </p:sp>
      <p:sp>
        <p:nvSpPr>
          <p:cNvPr id="10" name="Text 7"/>
          <p:cNvSpPr/>
          <p:nvPr/>
        </p:nvSpPr>
        <p:spPr>
          <a:xfrm>
            <a:off x="5441417" y="4031456"/>
            <a:ext cx="5880747"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Hallucination</a:t>
            </a:r>
            <a:endParaRPr lang="en-US" sz="1850" dirty="0"/>
          </a:p>
        </p:txBody>
      </p:sp>
      <p:sp>
        <p:nvSpPr>
          <p:cNvPr id="11" name="Text 8"/>
          <p:cNvSpPr/>
          <p:nvPr/>
        </p:nvSpPr>
        <p:spPr>
          <a:xfrm>
            <a:off x="5441417" y="4440138"/>
            <a:ext cx="5880747" cy="302419"/>
          </a:xfrm>
          <a:prstGeom prst="rect">
            <a:avLst/>
          </a:prstGeom>
          <a:noFill/>
          <a:ln/>
        </p:spPr>
        <p:txBody>
          <a:bodyPr wrap="none" lIns="0" tIns="0" rIns="0" bIns="0" rtlCol="0" anchor="t"/>
          <a:lstStyle/>
          <a:p>
            <a:pPr algn="l" indent="0" marL="0">
              <a:lnSpc>
                <a:spcPct val="133000"/>
              </a:lnSpc>
              <a:buNone/>
            </a:pPr>
            <a:r>
              <a:rPr lang="en-US" sz="1450" dirty="0">
                <a:solidFill>
                  <a:srgbClr val="1C1C1C"/>
                </a:solidFill>
                <a:latin typeface="Roboto Condensed" pitchFamily="34" charset="0"/>
                <a:ea typeface="Roboto Condensed" pitchFamily="34" charset="-122"/>
                <a:cs typeface="Roboto Condensed" pitchFamily="34" charset="-120"/>
              </a:rPr>
              <a:t>Invents the thing. Caught by looking and finding nothing.</a:t>
            </a:r>
            <a:endParaRPr lang="en-US" sz="1450" dirty="0"/>
          </a:p>
        </p:txBody>
      </p:sp>
      <p:sp>
        <p:nvSpPr>
          <p:cNvPr id="12" name="Text 9"/>
          <p:cNvSpPr/>
          <p:nvPr/>
        </p:nvSpPr>
        <p:spPr>
          <a:xfrm>
            <a:off x="5233360" y="5163245"/>
            <a:ext cx="6906444" cy="302419"/>
          </a:xfrm>
          <a:prstGeom prst="rect">
            <a:avLst/>
          </a:prstGeom>
          <a:noFill/>
          <a:ln/>
        </p:spPr>
        <p:txBody>
          <a:bodyPr wrap="none" lIns="0" tIns="0" rIns="0" bIns="0" rtlCol="0" anchor="t"/>
          <a:lstStyle/>
          <a:p>
            <a:pPr algn="l" indent="0" marL="0">
              <a:lnSpc>
                <a:spcPct val="133000"/>
              </a:lnSpc>
              <a:buNone/>
            </a:pPr>
            <a:r>
              <a:rPr lang="en-US" sz="1450" dirty="0">
                <a:solidFill>
                  <a:srgbClr val="1C1C1C"/>
                </a:solidFill>
                <a:latin typeface="Roboto Condensed" pitchFamily="34" charset="0"/>
                <a:ea typeface="Roboto Condensed" pitchFamily="34" charset="-122"/>
                <a:cs typeface="Roboto Condensed" pitchFamily="34" charset="-120"/>
              </a:rPr>
              <a:t>Say it that way every single time.</a:t>
            </a:r>
            <a:endParaRPr lang="en-US" sz="1450" dirty="0"/>
          </a:p>
        </p:txBody>
      </p:sp>
      <p:sp>
        <p:nvSpPr>
          <p:cNvPr id="13" name="Text 10"/>
          <p:cNvSpPr/>
          <p:nvPr/>
        </p:nvSpPr>
        <p:spPr>
          <a:xfrm>
            <a:off x="4704141"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661475" y="1189236"/>
            <a:ext cx="10868745" cy="1181298"/>
          </a:xfrm>
          <a:prstGeom prst="rect">
            <a:avLst/>
          </a:prstGeom>
          <a:noFill/>
          <a:ln/>
        </p:spPr>
        <p:txBody>
          <a:bodyPr wrap="square" lIns="0" tIns="0" rIns="0" bIns="0" rtlCol="0" anchor="t">
            <a:normAutofit/>
          </a:bodyPr>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A Validity candidate, and what would settle it</a:t>
            </a:r>
            <a:endParaRPr lang="en-US" sz="3700" dirty="0"/>
          </a:p>
        </p:txBody>
      </p:sp>
      <p:sp>
        <p:nvSpPr>
          <p:cNvPr id="3" name="Shape 1"/>
          <p:cNvSpPr/>
          <p:nvPr/>
        </p:nvSpPr>
        <p:spPr>
          <a:xfrm>
            <a:off x="661475" y="2748558"/>
            <a:ext cx="10868745" cy="2797373"/>
          </a:xfrm>
          <a:prstGeom prst="roundRect">
            <a:avLst>
              <a:gd name="adj" fmla="val 2838"/>
            </a:avLst>
          </a:prstGeom>
          <a:solidFill>
            <a:srgbClr val="F2F2F2"/>
          </a:solidFill>
          <a:ln/>
        </p:spPr>
      </p:sp>
      <p:sp>
        <p:nvSpPr>
          <p:cNvPr id="4" name="Text 2"/>
          <p:cNvSpPr/>
          <p:nvPr/>
        </p:nvSpPr>
        <p:spPr>
          <a:xfrm>
            <a:off x="888283" y="2937570"/>
            <a:ext cx="10415129" cy="2419350"/>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THE CLAIM, QUOTED</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"Set the return slot to the next school day, first period."</a:t>
            </a:r>
            <a:endParaRPr lang="en-US" sz="1450" dirty="0"/>
          </a:p>
          <a:p>
            <a:pPr algn="l" indent="0" marL="0">
              <a:lnSpc>
                <a:spcPct val="133000"/>
              </a:lnSpc>
              <a:buNone/>
            </a:pP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PARAMETER  Validity. It is a claim about a real thing, the return policy.</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HOW YOU KNOW  Open the posted procedure in Room 214 and read what it says</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about return times. Name the document and quote what it actually says.</a:t>
            </a:r>
            <a:endParaRPr lang="en-US" sz="1450" dirty="0"/>
          </a:p>
          <a:p>
            <a:pPr algn="l" indent="0" marL="0">
              <a:lnSpc>
                <a:spcPct val="133000"/>
              </a:lnSpc>
              <a:buNone/>
            </a:pP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NOT EVIDENCE  "That does not sound right to me."</a:t>
            </a:r>
            <a:endParaRPr lang="en-US" sz="1450" dirty="0"/>
          </a:p>
        </p:txBody>
      </p:sp>
      <p:sp>
        <p:nvSpPr>
          <p:cNvPr id="5" name="Text 3"/>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661475" y="809526"/>
            <a:ext cx="10868745" cy="544513"/>
          </a:xfrm>
          <a:prstGeom prst="rect">
            <a:avLst/>
          </a:prstGeom>
          <a:noFill/>
          <a:ln/>
        </p:spPr>
        <p:txBody>
          <a:bodyPr wrap="none" lIns="0" tIns="0" rIns="0" bIns="0" rtlCol="0" anchor="t"/>
          <a:lstStyle/>
          <a:p>
            <a:pPr algn="l" indent="0" marL="0">
              <a:lnSpc>
                <a:spcPct val="104000"/>
              </a:lnSpc>
              <a:buNone/>
            </a:pPr>
            <a:r>
              <a:rPr lang="en-US" sz="3400" b="1" dirty="0">
                <a:solidFill>
                  <a:srgbClr val="111111"/>
                </a:solidFill>
                <a:latin typeface="Orbitron Bold" pitchFamily="34" charset="0"/>
                <a:ea typeface="Orbitron Bold" pitchFamily="34" charset="-122"/>
                <a:cs typeface="Orbitron Bold" pitchFamily="34" charset="-120"/>
              </a:rPr>
              <a:t>Every citation real, and the answer is wrong</a:t>
            </a:r>
            <a:endParaRPr lang="en-US" sz="3400" dirty="0"/>
          </a:p>
        </p:txBody>
      </p:sp>
      <p:sp>
        <p:nvSpPr>
          <p:cNvPr id="3" name="Shape 1"/>
          <p:cNvSpPr/>
          <p:nvPr/>
        </p:nvSpPr>
        <p:spPr>
          <a:xfrm>
            <a:off x="661475" y="1675309"/>
            <a:ext cx="10868745" cy="4250333"/>
          </a:xfrm>
          <a:prstGeom prst="roundRect">
            <a:avLst>
              <a:gd name="adj" fmla="val 1722"/>
            </a:avLst>
          </a:prstGeom>
          <a:solidFill>
            <a:srgbClr val="F2F2F2"/>
          </a:solidFill>
          <a:ln/>
        </p:spPr>
      </p:sp>
      <p:sp>
        <p:nvSpPr>
          <p:cNvPr id="4" name="Text 2"/>
          <p:cNvSpPr/>
          <p:nvPr/>
        </p:nvSpPr>
        <p:spPr>
          <a:xfrm>
            <a:off x="870524" y="1849537"/>
            <a:ext cx="10450648" cy="3901877"/>
          </a:xfrm>
          <a:prstGeom prst="rect">
            <a:avLst/>
          </a:prstGeom>
          <a:noFill/>
          <a:ln/>
        </p:spPr>
        <p:txBody>
          <a:bodyPr wrap="square" lIns="0" tIns="0" rIns="0" bIns="0" rtlCol="0" anchor="t">
            <a:normAutofit/>
          </a:bodyPr>
          <a:lstStyle/>
          <a:p>
            <a:pPr algn="l" indent="0" marL="0">
              <a:lnSpc>
                <a:spcPct val="133000"/>
              </a:lnSpc>
              <a:buNone/>
            </a:pPr>
            <a:r>
              <a:rPr lang="en-US" sz="1350" dirty="0">
                <a:solidFill>
                  <a:srgbClr val="24292E"/>
                </a:solidFill>
                <a:latin typeface="Consolas" pitchFamily="34" charset="0"/>
                <a:ea typeface="Consolas" pitchFamily="34" charset="-122"/>
                <a:cs typeface="Consolas" pitchFamily="34" charset="-120"/>
              </a:rPr>
              <a:t>THE PROMPT ASKED FOR</a:t>
            </a:r>
            <a:endParaRPr lang="en-US" sz="1350" dirty="0"/>
          </a:p>
          <a:p>
            <a:pPr algn="l" indent="0" marL="0">
              <a:lnSpc>
                <a:spcPct val="133000"/>
              </a:lnSpc>
              <a:buNone/>
            </a:pPr>
            <a:r>
              <a:rPr lang="en-US" sz="1350" dirty="0">
                <a:solidFill>
                  <a:srgbClr val="24292E"/>
                </a:solidFill>
                <a:latin typeface="Consolas" pitchFamily="34" charset="0"/>
                <a:ea typeface="Consolas" pitchFamily="34" charset="-122"/>
                <a:cs typeface="Consolas" pitchFamily="34" charset="-120"/>
              </a:rPr>
              <a:t>A research brief on retrieval practice in secondary schools.</a:t>
            </a:r>
            <a:endParaRPr lang="en-US" sz="1350" dirty="0"/>
          </a:p>
          <a:p>
            <a:pPr algn="l" indent="0" marL="0">
              <a:lnSpc>
                <a:spcPct val="133000"/>
              </a:lnSpc>
              <a:buNone/>
            </a:pPr>
            <a:endParaRPr lang="en-US" sz="1350" dirty="0"/>
          </a:p>
          <a:p>
            <a:pPr algn="l" indent="0" marL="0">
              <a:lnSpc>
                <a:spcPct val="133000"/>
              </a:lnSpc>
              <a:buNone/>
            </a:pPr>
            <a:r>
              <a:rPr lang="en-US" sz="1350" dirty="0">
                <a:solidFill>
                  <a:srgbClr val="24292E"/>
                </a:solidFill>
                <a:latin typeface="Consolas" pitchFamily="34" charset="0"/>
                <a:ea typeface="Consolas" pitchFamily="34" charset="-122"/>
                <a:cs typeface="Consolas" pitchFamily="34" charset="-120"/>
              </a:rPr>
              <a:t>THE REPLY</a:t>
            </a:r>
            <a:endParaRPr lang="en-US" sz="1350" dirty="0"/>
          </a:p>
          <a:p>
            <a:pPr algn="l" indent="0" marL="0">
              <a:lnSpc>
                <a:spcPct val="133000"/>
              </a:lnSpc>
              <a:buNone/>
            </a:pPr>
            <a:r>
              <a:rPr lang="en-US" sz="1350" dirty="0">
                <a:solidFill>
                  <a:srgbClr val="24292E"/>
                </a:solidFill>
                <a:latin typeface="Consolas" pitchFamily="34" charset="0"/>
                <a:ea typeface="Consolas" pitchFamily="34" charset="-122"/>
                <a:cs typeface="Consolas" pitchFamily="34" charset="-120"/>
              </a:rPr>
              <a:t>As a research assistant, here is how I would handle the Friday equipment</a:t>
            </a:r>
            <a:endParaRPr lang="en-US" sz="1350" dirty="0"/>
          </a:p>
          <a:p>
            <a:pPr algn="l" indent="0" marL="0">
              <a:lnSpc>
                <a:spcPct val="133000"/>
              </a:lnSpc>
              <a:buNone/>
            </a:pPr>
            <a:r>
              <a:rPr lang="en-US" sz="1350" dirty="0">
                <a:solidFill>
                  <a:srgbClr val="24292E"/>
                </a:solidFill>
                <a:latin typeface="Consolas" pitchFamily="34" charset="0"/>
                <a:ea typeface="Consolas" pitchFamily="34" charset="-122"/>
                <a:cs typeface="Consolas" pitchFamily="34" charset="-120"/>
              </a:rPr>
              <a:t>checkout.</a:t>
            </a:r>
            <a:endParaRPr lang="en-US" sz="1350" dirty="0"/>
          </a:p>
          <a:p>
            <a:pPr algn="l" indent="0" marL="0">
              <a:lnSpc>
                <a:spcPct val="133000"/>
              </a:lnSpc>
              <a:buNone/>
            </a:pPr>
            <a:endParaRPr lang="en-US" sz="1350" dirty="0"/>
          </a:p>
          <a:p>
            <a:pPr algn="l" indent="0" marL="0">
              <a:lnSpc>
                <a:spcPct val="133000"/>
              </a:lnSpc>
              <a:buNone/>
            </a:pPr>
            <a:r>
              <a:rPr lang="en-US" sz="1350" dirty="0">
                <a:solidFill>
                  <a:srgbClr val="24292E"/>
                </a:solidFill>
                <a:latin typeface="Consolas" pitchFamily="34" charset="0"/>
                <a:ea typeface="Consolas" pitchFamily="34" charset="-122"/>
                <a:cs typeface="Consolas" pitchFamily="34" charset="-120"/>
              </a:rPr>
              <a:t>Set the return slot to the next school day, first period. Open the checkout</a:t>
            </a:r>
            <a:endParaRPr lang="en-US" sz="1350" dirty="0"/>
          </a:p>
          <a:p>
            <a:pPr algn="l" indent="0" marL="0">
              <a:lnSpc>
                <a:spcPct val="133000"/>
              </a:lnSpc>
              <a:buNone/>
            </a:pPr>
            <a:r>
              <a:rPr lang="en-US" sz="1350" dirty="0">
                <a:solidFill>
                  <a:srgbClr val="24292E"/>
                </a:solidFill>
                <a:latin typeface="Consolas" pitchFamily="34" charset="0"/>
                <a:ea typeface="Consolas" pitchFamily="34" charset="-122"/>
                <a:cs typeface="Consolas" pitchFamily="34" charset="-120"/>
              </a:rPr>
              <a:t>sheet before anyone lines up. Photograph any damage before the item leaves</a:t>
            </a:r>
            <a:endParaRPr lang="en-US" sz="1350" dirty="0"/>
          </a:p>
          <a:p>
            <a:pPr algn="l" indent="0" marL="0">
              <a:lnSpc>
                <a:spcPct val="133000"/>
              </a:lnSpc>
              <a:buNone/>
            </a:pPr>
            <a:r>
              <a:rPr lang="en-US" sz="1350" dirty="0">
                <a:solidFill>
                  <a:srgbClr val="24292E"/>
                </a:solidFill>
                <a:latin typeface="Consolas" pitchFamily="34" charset="0"/>
                <a:ea typeface="Consolas" pitchFamily="34" charset="-122"/>
                <a:cs typeface="Consolas" pitchFamily="34" charset="-120"/>
              </a:rPr>
              <a:t>the room.</a:t>
            </a:r>
            <a:endParaRPr lang="en-US" sz="1350" dirty="0"/>
          </a:p>
          <a:p>
            <a:pPr algn="l" indent="0" marL="0">
              <a:lnSpc>
                <a:spcPct val="133000"/>
              </a:lnSpc>
              <a:buNone/>
            </a:pPr>
            <a:endParaRPr lang="en-US" sz="1350" dirty="0"/>
          </a:p>
          <a:p>
            <a:pPr algn="l" indent="0" marL="0">
              <a:lnSpc>
                <a:spcPct val="133000"/>
              </a:lnSpc>
              <a:buNone/>
            </a:pPr>
            <a:r>
              <a:rPr lang="en-US" sz="1350" dirty="0">
                <a:solidFill>
                  <a:srgbClr val="24292E"/>
                </a:solidFill>
                <a:latin typeface="Consolas" pitchFamily="34" charset="0"/>
                <a:ea typeface="Consolas" pitchFamily="34" charset="-122"/>
                <a:cs typeface="Consolas" pitchFamily="34" charset="-120"/>
              </a:rPr>
              <a:t>Sources:</a:t>
            </a:r>
            <a:endParaRPr lang="en-US" sz="1350" dirty="0"/>
          </a:p>
          <a:p>
            <a:pPr algn="l" indent="0" marL="0">
              <a:lnSpc>
                <a:spcPct val="133000"/>
              </a:lnSpc>
              <a:buNone/>
            </a:pPr>
            <a:r>
              <a:rPr lang="en-US" sz="1350" dirty="0">
                <a:solidFill>
                  <a:srgbClr val="24292E"/>
                </a:solidFill>
                <a:latin typeface="Consolas" pitchFamily="34" charset="0"/>
                <a:ea typeface="Consolas" pitchFamily="34" charset="-122"/>
                <a:cs typeface="Consolas" pitchFamily="34" charset="-120"/>
              </a:rPr>
              <a:t>[1] Student handbook, section 4.2, equipment checkout and return</a:t>
            </a:r>
            <a:endParaRPr lang="en-US" sz="1350" dirty="0"/>
          </a:p>
          <a:p>
            <a:pPr algn="l" indent="0" marL="0">
              <a:lnSpc>
                <a:spcPct val="133000"/>
              </a:lnSpc>
              <a:buNone/>
            </a:pPr>
            <a:r>
              <a:rPr lang="en-US" sz="1350" dirty="0">
                <a:solidFill>
                  <a:srgbClr val="24292E"/>
                </a:solidFill>
                <a:latin typeface="Consolas" pitchFamily="34" charset="0"/>
                <a:ea typeface="Consolas" pitchFamily="34" charset="-122"/>
                <a:cs typeface="Consolas" pitchFamily="34" charset="-120"/>
              </a:rPr>
              <a:t>[2] Room 214 posted closing procedure</a:t>
            </a:r>
            <a:endParaRPr lang="en-US" sz="1350" dirty="0"/>
          </a:p>
        </p:txBody>
      </p:sp>
      <p:sp>
        <p:nvSpPr>
          <p:cNvPr id="5" name="Text 3"/>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661475" y="521295"/>
            <a:ext cx="10868745" cy="1144389"/>
          </a:xfrm>
          <a:prstGeom prst="rect">
            <a:avLst/>
          </a:prstGeom>
          <a:noFill/>
          <a:ln/>
        </p:spPr>
        <p:txBody>
          <a:bodyPr wrap="square" lIns="0" tIns="0" rIns="0" bIns="0" rtlCol="0" anchor="t">
            <a:normAutofit/>
          </a:bodyPr>
          <a:lstStyle/>
          <a:p>
            <a:pPr algn="l" indent="0" marL="0">
              <a:lnSpc>
                <a:spcPct val="104000"/>
              </a:lnSpc>
              <a:buNone/>
            </a:pPr>
            <a:r>
              <a:rPr lang="en-US" sz="3600" b="1" dirty="0">
                <a:solidFill>
                  <a:srgbClr val="111111"/>
                </a:solidFill>
                <a:latin typeface="Orbitron Bold" pitchFamily="34" charset="0"/>
                <a:ea typeface="Orbitron Bold" pitchFamily="34" charset="-122"/>
                <a:cs typeface="Orbitron Bold" pitchFamily="34" charset="-120"/>
              </a:rPr>
              <a:t>Relevance is the one about the relationship</a:t>
            </a:r>
            <a:endParaRPr lang="en-US" sz="3600" dirty="0"/>
          </a:p>
        </p:txBody>
      </p:sp>
      <p:pic>
        <p:nvPicPr>
          <p:cNvPr id="3"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730133" y="2026047"/>
            <a:ext cx="274631" cy="274638"/>
          </a:xfrm>
          <a:prstGeom prst="rect">
            <a:avLst/>
          </a:prstGeom>
        </p:spPr>
      </p:pic>
      <p:sp>
        <p:nvSpPr>
          <p:cNvPr id="4" name="Text 1"/>
          <p:cNvSpPr/>
          <p:nvPr/>
        </p:nvSpPr>
        <p:spPr>
          <a:xfrm>
            <a:off x="1256475" y="2020391"/>
            <a:ext cx="10273745" cy="286048"/>
          </a:xfrm>
          <a:prstGeom prst="rect">
            <a:avLst/>
          </a:prstGeom>
          <a:noFill/>
          <a:ln/>
        </p:spPr>
        <p:txBody>
          <a:bodyPr wrap="none" lIns="0" tIns="0" rIns="0" bIns="0" rtlCol="0" anchor="t"/>
          <a:lstStyle/>
          <a:p>
            <a:pPr algn="l" indent="0" marL="0">
              <a:lnSpc>
                <a:spcPct val="104000"/>
              </a:lnSpc>
              <a:buNone/>
            </a:pPr>
            <a:r>
              <a:rPr lang="en-US" sz="1800" b="1" dirty="0">
                <a:solidFill>
                  <a:srgbClr val="1C1C1C"/>
                </a:solidFill>
                <a:latin typeface="Orbitron Bold" pitchFamily="34" charset="0"/>
                <a:ea typeface="Orbitron Bold" pitchFamily="34" charset="-122"/>
                <a:cs typeface="Orbitron Bold" pitchFamily="34" charset="-120"/>
              </a:rPr>
              <a:t>You asked about retrieval practice, you got equipment checkout</a:t>
            </a:r>
            <a:endParaRPr lang="en-US" sz="1800" dirty="0"/>
          </a:p>
        </p:txBody>
      </p:sp>
      <p:pic>
        <p:nvPicPr>
          <p:cNvPr id="5"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30133" y="2935684"/>
            <a:ext cx="274631" cy="274638"/>
          </a:xfrm>
          <a:prstGeom prst="rect">
            <a:avLst/>
          </a:prstGeom>
        </p:spPr>
      </p:pic>
      <p:sp>
        <p:nvSpPr>
          <p:cNvPr id="6" name="Text 2"/>
          <p:cNvSpPr/>
          <p:nvPr/>
        </p:nvSpPr>
        <p:spPr>
          <a:xfrm>
            <a:off x="1256475" y="2930029"/>
            <a:ext cx="10273745" cy="286048"/>
          </a:xfrm>
          <a:prstGeom prst="rect">
            <a:avLst/>
          </a:prstGeom>
          <a:noFill/>
          <a:ln/>
        </p:spPr>
        <p:txBody>
          <a:bodyPr wrap="none" lIns="0" tIns="0" rIns="0" bIns="0" rtlCol="0" anchor="t"/>
          <a:lstStyle/>
          <a:p>
            <a:pPr algn="l" indent="0" marL="0">
              <a:lnSpc>
                <a:spcPct val="104000"/>
              </a:lnSpc>
              <a:buNone/>
            </a:pPr>
            <a:r>
              <a:rPr lang="en-US" sz="1800" b="1" dirty="0">
                <a:solidFill>
                  <a:srgbClr val="1C1C1C"/>
                </a:solidFill>
                <a:latin typeface="Orbitron Bold" pitchFamily="34" charset="0"/>
                <a:ea typeface="Orbitron Bold" pitchFamily="34" charset="-122"/>
                <a:cs typeface="Orbitron Bold" pitchFamily="34" charset="-120"/>
              </a:rPr>
              <a:t>The supplied sources were about checkout and it drifted</a:t>
            </a:r>
            <a:endParaRPr lang="en-US" sz="1800" dirty="0"/>
          </a:p>
        </p:txBody>
      </p:sp>
      <p:pic>
        <p:nvPicPr>
          <p:cNvPr id="7"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730133" y="3845322"/>
            <a:ext cx="274631" cy="274638"/>
          </a:xfrm>
          <a:prstGeom prst="rect">
            <a:avLst/>
          </a:prstGeom>
        </p:spPr>
      </p:pic>
      <p:sp>
        <p:nvSpPr>
          <p:cNvPr id="8" name="Text 3"/>
          <p:cNvSpPr/>
          <p:nvPr/>
        </p:nvSpPr>
        <p:spPr>
          <a:xfrm>
            <a:off x="1256475" y="3839666"/>
            <a:ext cx="10273745" cy="286048"/>
          </a:xfrm>
          <a:prstGeom prst="rect">
            <a:avLst/>
          </a:prstGeom>
          <a:noFill/>
          <a:ln/>
        </p:spPr>
        <p:txBody>
          <a:bodyPr wrap="none" lIns="0" tIns="0" rIns="0" bIns="0" rtlCol="0" anchor="t"/>
          <a:lstStyle/>
          <a:p>
            <a:pPr algn="l" indent="0" marL="0">
              <a:lnSpc>
                <a:spcPct val="104000"/>
              </a:lnSpc>
              <a:buNone/>
            </a:pPr>
            <a:r>
              <a:rPr lang="en-US" sz="1800" b="1" dirty="0">
                <a:solidFill>
                  <a:srgbClr val="1C1C1C"/>
                </a:solidFill>
                <a:latin typeface="Orbitron Bold" pitchFamily="34" charset="0"/>
                <a:ea typeface="Orbitron Bold" pitchFamily="34" charset="-122"/>
                <a:cs typeface="Orbitron Bold" pitchFamily="34" charset="-120"/>
              </a:rPr>
              <a:t>What caught it was rereading the request</a:t>
            </a:r>
            <a:endParaRPr lang="en-US" sz="1800" dirty="0"/>
          </a:p>
        </p:txBody>
      </p:sp>
      <p:pic>
        <p:nvPicPr>
          <p:cNvPr id="9"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730133" y="4754959"/>
            <a:ext cx="274631" cy="274638"/>
          </a:xfrm>
          <a:prstGeom prst="rect">
            <a:avLst/>
          </a:prstGeom>
        </p:spPr>
      </p:pic>
      <p:sp>
        <p:nvSpPr>
          <p:cNvPr id="10" name="Text 4"/>
          <p:cNvSpPr/>
          <p:nvPr/>
        </p:nvSpPr>
        <p:spPr>
          <a:xfrm>
            <a:off x="1256475" y="4749304"/>
            <a:ext cx="10273745" cy="286048"/>
          </a:xfrm>
          <a:prstGeom prst="rect">
            <a:avLst/>
          </a:prstGeom>
          <a:noFill/>
          <a:ln/>
        </p:spPr>
        <p:txBody>
          <a:bodyPr wrap="none" lIns="0" tIns="0" rIns="0" bIns="0" rtlCol="0" anchor="t"/>
          <a:lstStyle/>
          <a:p>
            <a:pPr algn="l" indent="0" marL="0">
              <a:lnSpc>
                <a:spcPct val="104000"/>
              </a:lnSpc>
              <a:buNone/>
            </a:pPr>
            <a:r>
              <a:rPr lang="en-US" sz="1800" b="1" dirty="0">
                <a:solidFill>
                  <a:srgbClr val="1C1C1C"/>
                </a:solidFill>
                <a:latin typeface="Orbitron Bold" pitchFamily="34" charset="0"/>
                <a:ea typeface="Orbitron Bold" pitchFamily="34" charset="-122"/>
                <a:cs typeface="Orbitron Bold" pitchFamily="34" charset="-120"/>
              </a:rPr>
              <a:t>No command, no catalog, no search</a:t>
            </a:r>
            <a:endParaRPr lang="en-US" sz="1800" dirty="0"/>
          </a:p>
        </p:txBody>
      </p:sp>
      <p:pic>
        <p:nvPicPr>
          <p:cNvPr id="11" name="Image 4" descr="preencoded.png">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730133" y="5664597"/>
            <a:ext cx="274631" cy="274638"/>
          </a:xfrm>
          <a:prstGeom prst="rect">
            <a:avLst/>
          </a:prstGeom>
        </p:spPr>
      </p:pic>
      <p:sp>
        <p:nvSpPr>
          <p:cNvPr id="12" name="Text 5"/>
          <p:cNvSpPr/>
          <p:nvPr/>
        </p:nvSpPr>
        <p:spPr>
          <a:xfrm>
            <a:off x="1256475" y="5658941"/>
            <a:ext cx="10273745" cy="286048"/>
          </a:xfrm>
          <a:prstGeom prst="rect">
            <a:avLst/>
          </a:prstGeom>
          <a:noFill/>
          <a:ln/>
        </p:spPr>
        <p:txBody>
          <a:bodyPr wrap="none" lIns="0" tIns="0" rIns="0" bIns="0" rtlCol="0" anchor="t"/>
          <a:lstStyle/>
          <a:p>
            <a:pPr algn="l" indent="0" marL="0">
              <a:lnSpc>
                <a:spcPct val="104000"/>
              </a:lnSpc>
              <a:buNone/>
            </a:pPr>
            <a:r>
              <a:rPr lang="en-US" sz="1800" b="1" dirty="0">
                <a:solidFill>
                  <a:srgbClr val="1C1C1C"/>
                </a:solidFill>
                <a:latin typeface="Orbitron Bold" pitchFamily="34" charset="0"/>
                <a:ea typeface="Orbitron Bold" pitchFamily="34" charset="-122"/>
                <a:cs typeface="Orbitron Bold" pitchFamily="34" charset="-120"/>
              </a:rPr>
              <a:t>Grounding fixed the fabrication and caused this</a:t>
            </a:r>
            <a:endParaRPr lang="en-US" sz="1800" dirty="0"/>
          </a:p>
        </p:txBody>
      </p:sp>
      <p:sp>
        <p:nvSpPr>
          <p:cNvPr id="13" name="Text 6"/>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661475" y="1635720"/>
            <a:ext cx="10868745" cy="590649"/>
          </a:xfrm>
          <a:prstGeom prst="rect">
            <a:avLst/>
          </a:prstGeom>
          <a:noFill/>
          <a:ln/>
        </p:spPr>
        <p:txBody>
          <a:bodyPr wrap="none" lIns="0" tIns="0" rIns="0" bIns="0" rtlCol="0" anchor="t"/>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Author, year, title, venue, volume, pages</a:t>
            </a:r>
            <a:endParaRPr lang="en-US" sz="3700" dirty="0"/>
          </a:p>
        </p:txBody>
      </p:sp>
      <p:sp>
        <p:nvSpPr>
          <p:cNvPr id="3" name="Shape 1"/>
          <p:cNvSpPr/>
          <p:nvPr/>
        </p:nvSpPr>
        <p:spPr>
          <a:xfrm>
            <a:off x="661475" y="2604393"/>
            <a:ext cx="10868745" cy="2494955"/>
          </a:xfrm>
          <a:prstGeom prst="roundRect">
            <a:avLst>
              <a:gd name="adj" fmla="val 3182"/>
            </a:avLst>
          </a:prstGeom>
          <a:solidFill>
            <a:srgbClr val="F2F2F2"/>
          </a:solidFill>
          <a:ln/>
        </p:spPr>
      </p:sp>
      <p:sp>
        <p:nvSpPr>
          <p:cNvPr id="4" name="Text 2"/>
          <p:cNvSpPr/>
          <p:nvPr/>
        </p:nvSpPr>
        <p:spPr>
          <a:xfrm>
            <a:off x="888283" y="2793405"/>
            <a:ext cx="10415129" cy="2116931"/>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Sources:</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[1] Petrov, A. (2015). Measuring Attention in Scheduled Work Blocks.</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    Quarterly Notes on School Technology, 8, 21-35.</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[2] Lindqvist, M. (2013). Structured Output and Downstream Parsing Failures.</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    Midland Review of Applied Learning, 9, 34-48.</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[3] Ramirez, D. (2011). Retrieval Practice and Short Revision Windows.</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    Proceedings of the Workshop on Classroom Systems, 10, 47-61.</a:t>
            </a:r>
            <a:endParaRPr lang="en-US" sz="1450" dirty="0"/>
          </a:p>
        </p:txBody>
      </p:sp>
      <p:sp>
        <p:nvSpPr>
          <p:cNvPr id="5" name="Text 3"/>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661475" y="1474093"/>
            <a:ext cx="10868745" cy="590649"/>
          </a:xfrm>
          <a:prstGeom prst="rect">
            <a:avLst/>
          </a:prstGeom>
          <a:noFill/>
          <a:ln/>
        </p:spPr>
        <p:txBody>
          <a:bodyPr wrap="none" lIns="0" tIns="0" rIns="0" bIns="0" rtlCol="0" anchor="t"/>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All three are fabricated</a:t>
            </a:r>
            <a:endParaRPr lang="en-US" sz="3700" dirty="0"/>
          </a:p>
        </p:txBody>
      </p:sp>
      <p:pic>
        <p:nvPicPr>
          <p:cNvPr id="3"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661475" y="2442766"/>
            <a:ext cx="3496877" cy="1314648"/>
          </a:xfrm>
          <a:prstGeom prst="rect">
            <a:avLst/>
          </a:prstGeom>
        </p:spPr>
      </p:pic>
      <p:sp>
        <p:nvSpPr>
          <p:cNvPr id="4" name="Text 1"/>
          <p:cNvSpPr/>
          <p:nvPr/>
        </p:nvSpPr>
        <p:spPr>
          <a:xfrm>
            <a:off x="977479" y="2657177"/>
            <a:ext cx="2966467" cy="590550"/>
          </a:xfrm>
          <a:prstGeom prst="rect">
            <a:avLst/>
          </a:prstGeom>
          <a:noFill/>
          <a:ln/>
        </p:spPr>
        <p:txBody>
          <a:bodyPr wrap="square" lIns="0" tIns="0" rIns="0" bIns="0" rtlCol="0" anchor="t">
            <a:normAutofit/>
          </a:bodyPr>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The stub built all three from templates</a:t>
            </a:r>
            <a:endParaRPr lang="en-US" sz="1850" dirty="0"/>
          </a:p>
        </p:txBody>
      </p:sp>
      <p:pic>
        <p:nvPicPr>
          <p:cNvPr id="5"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347359" y="2442766"/>
            <a:ext cx="3496877" cy="1314648"/>
          </a:xfrm>
          <a:prstGeom prst="rect">
            <a:avLst/>
          </a:prstGeom>
        </p:spPr>
      </p:pic>
      <p:sp>
        <p:nvSpPr>
          <p:cNvPr id="6" name="Text 2"/>
          <p:cNvSpPr/>
          <p:nvPr/>
        </p:nvSpPr>
        <p:spPr>
          <a:xfrm>
            <a:off x="4663363" y="2657177"/>
            <a:ext cx="2966467" cy="885825"/>
          </a:xfrm>
          <a:prstGeom prst="rect">
            <a:avLst/>
          </a:prstGeom>
          <a:noFill/>
          <a:ln/>
        </p:spPr>
        <p:txBody>
          <a:bodyPr wrap="square" lIns="0" tIns="0" rIns="0" bIns="0" rtlCol="0" anchor="t">
            <a:normAutofit/>
          </a:bodyPr>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No author, no journal, no volume and no page range is real</a:t>
            </a:r>
            <a:endParaRPr lang="en-US" sz="1850" dirty="0"/>
          </a:p>
        </p:txBody>
      </p:sp>
      <p:pic>
        <p:nvPicPr>
          <p:cNvPr id="7"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8033244" y="2442766"/>
            <a:ext cx="3496877" cy="1314648"/>
          </a:xfrm>
          <a:prstGeom prst="rect">
            <a:avLst/>
          </a:prstGeom>
        </p:spPr>
      </p:pic>
      <p:sp>
        <p:nvSpPr>
          <p:cNvPr id="8" name="Text 3"/>
          <p:cNvSpPr/>
          <p:nvPr/>
        </p:nvSpPr>
        <p:spPr>
          <a:xfrm>
            <a:off x="8349247" y="2657177"/>
            <a:ext cx="2966467" cy="885825"/>
          </a:xfrm>
          <a:prstGeom prst="rect">
            <a:avLst/>
          </a:prstGeom>
          <a:noFill/>
          <a:ln/>
        </p:spPr>
        <p:txBody>
          <a:bodyPr wrap="square" lIns="0" tIns="0" rIns="0" bIns="0" rtlCol="0" anchor="t">
            <a:normAutofit/>
          </a:bodyPr>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You cannot tell from the text, and that is expected</a:t>
            </a:r>
            <a:endParaRPr lang="en-US" sz="1850" dirty="0"/>
          </a:p>
        </p:txBody>
      </p:sp>
      <p:pic>
        <p:nvPicPr>
          <p:cNvPr id="9"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661475" y="3946426"/>
            <a:ext cx="3496877" cy="1314648"/>
          </a:xfrm>
          <a:prstGeom prst="rect">
            <a:avLst/>
          </a:prstGeom>
        </p:spPr>
      </p:pic>
      <p:sp>
        <p:nvSpPr>
          <p:cNvPr id="10" name="Text 4"/>
          <p:cNvSpPr/>
          <p:nvPr/>
        </p:nvSpPr>
        <p:spPr>
          <a:xfrm>
            <a:off x="977479" y="4160838"/>
            <a:ext cx="2966467" cy="885825"/>
          </a:xfrm>
          <a:prstGeom prst="rect">
            <a:avLst/>
          </a:prstGeom>
          <a:noFill/>
          <a:ln/>
        </p:spPr>
        <p:txBody>
          <a:bodyPr wrap="square" lIns="0" tIns="0" rIns="0" bIns="0" rtlCol="0" anchor="t">
            <a:normAutofit/>
          </a:bodyPr>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The information needed is in a catalog, not the citation</a:t>
            </a:r>
            <a:endParaRPr lang="en-US" sz="1850" dirty="0"/>
          </a:p>
        </p:txBody>
      </p:sp>
      <p:pic>
        <p:nvPicPr>
          <p:cNvPr id="11" name="Image 4" descr="preencoded.png">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4347359" y="3946426"/>
            <a:ext cx="3496877" cy="1314648"/>
          </a:xfrm>
          <a:prstGeom prst="rect">
            <a:avLst/>
          </a:prstGeom>
        </p:spPr>
      </p:pic>
      <p:sp>
        <p:nvSpPr>
          <p:cNvPr id="12" name="Text 5"/>
          <p:cNvSpPr/>
          <p:nvPr/>
        </p:nvSpPr>
        <p:spPr>
          <a:xfrm>
            <a:off x="4663363" y="4160838"/>
            <a:ext cx="2966467" cy="885825"/>
          </a:xfrm>
          <a:prstGeom prst="rect">
            <a:avLst/>
          </a:prstGeom>
          <a:noFill/>
          <a:ln/>
        </p:spPr>
        <p:txBody>
          <a:bodyPr wrap="square" lIns="0" tIns="0" rIns="0" bIns="0" rtlCol="0" anchor="t">
            <a:normAutofit/>
          </a:bodyPr>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Source three's title is your question with words rearranged</a:t>
            </a:r>
            <a:endParaRPr lang="en-US" sz="1850" dirty="0"/>
          </a:p>
        </p:txBody>
      </p:sp>
      <p:sp>
        <p:nvSpPr>
          <p:cNvPr id="13" name="Text 6"/>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619809" y="0"/>
            <a:ext cx="4571886" cy="6858000"/>
          </a:xfrm>
          <a:prstGeom prst="rect">
            <a:avLst/>
          </a:prstGeom>
        </p:spPr>
      </p:pic>
      <p:sp>
        <p:nvSpPr>
          <p:cNvPr id="3" name="Text 0"/>
          <p:cNvSpPr/>
          <p:nvPr/>
        </p:nvSpPr>
        <p:spPr>
          <a:xfrm>
            <a:off x="661475" y="543322"/>
            <a:ext cx="6296860" cy="1162844"/>
          </a:xfrm>
          <a:prstGeom prst="rect">
            <a:avLst/>
          </a:prstGeom>
          <a:noFill/>
          <a:ln/>
        </p:spPr>
        <p:txBody>
          <a:bodyPr wrap="square" lIns="0" tIns="0" rIns="0" bIns="0" rtlCol="0" anchor="t">
            <a:normAutofit/>
          </a:bodyPr>
          <a:lstStyle/>
          <a:p>
            <a:pPr algn="l" indent="0" marL="0">
              <a:lnSpc>
                <a:spcPct val="104000"/>
              </a:lnSpc>
              <a:buNone/>
            </a:pPr>
            <a:r>
              <a:rPr lang="en-US" sz="3650" b="1" dirty="0">
                <a:solidFill>
                  <a:srgbClr val="111111"/>
                </a:solidFill>
                <a:latin typeface="Orbitron Bold" pitchFamily="34" charset="0"/>
                <a:ea typeface="Orbitron Bold" pitchFamily="34" charset="-122"/>
                <a:cs typeface="Orbitron Bold" pitchFamily="34" charset="-120"/>
              </a:rPr>
              <a:t>The wrong way to write a Bias finding</a:t>
            </a:r>
            <a:endParaRPr lang="en-US" sz="3650" dirty="0"/>
          </a:p>
        </p:txBody>
      </p:sp>
      <p:sp>
        <p:nvSpPr>
          <p:cNvPr id="4" name="Text 1"/>
          <p:cNvSpPr/>
          <p:nvPr/>
        </p:nvSpPr>
        <p:spPr>
          <a:xfrm>
            <a:off x="661475" y="2164060"/>
            <a:ext cx="2921522" cy="290711"/>
          </a:xfrm>
          <a:prstGeom prst="rect">
            <a:avLst/>
          </a:prstGeom>
          <a:noFill/>
          <a:ln/>
        </p:spPr>
        <p:txBody>
          <a:bodyPr wrap="none" lIns="0" tIns="0" rIns="0" bIns="0" rtlCol="0" anchor="t"/>
          <a:lstStyle/>
          <a:p>
            <a:pPr algn="l" indent="0" marL="0">
              <a:lnSpc>
                <a:spcPct val="104000"/>
              </a:lnSpc>
              <a:buNone/>
            </a:pPr>
            <a:r>
              <a:rPr lang="en-US" sz="1800" b="1" dirty="0">
                <a:solidFill>
                  <a:srgbClr val="111111"/>
                </a:solidFill>
                <a:latin typeface="Orbitron Bold" pitchFamily="34" charset="0"/>
                <a:ea typeface="Orbitron Bold" pitchFamily="34" charset="-122"/>
                <a:cs typeface="Orbitron Bold" pitchFamily="34" charset="-120"/>
              </a:rPr>
              <a:t>The claim</a:t>
            </a:r>
            <a:endParaRPr lang="en-US" sz="1800" dirty="0"/>
          </a:p>
        </p:txBody>
      </p:sp>
      <p:sp>
        <p:nvSpPr>
          <p:cNvPr id="5" name="Text 2"/>
          <p:cNvSpPr/>
          <p:nvPr/>
        </p:nvSpPr>
        <p:spPr>
          <a:xfrm>
            <a:off x="661475" y="2637929"/>
            <a:ext cx="2921522" cy="590550"/>
          </a:xfrm>
          <a:prstGeom prst="rect">
            <a:avLst/>
          </a:prstGeom>
          <a:noFill/>
          <a:ln/>
        </p:spPr>
        <p:txBody>
          <a:bodyPr wrap="square" lIns="0" tIns="0" rIns="0" bIns="0" rtlCol="0" anchor="t">
            <a:normAutofit/>
          </a:bodyPr>
          <a:lstStyle/>
          <a:p>
            <a:pPr algn="l" indent="0" marL="0">
              <a:lnSpc>
                <a:spcPct val="132000"/>
              </a:lnSpc>
              <a:buNone/>
            </a:pPr>
            <a:r>
              <a:rPr lang="en-US" sz="1450" dirty="0">
                <a:solidFill>
                  <a:srgbClr val="1C1C1C"/>
                </a:solidFill>
                <a:latin typeface="Roboto Condensed" pitchFamily="34" charset="0"/>
                <a:ea typeface="Roboto Condensed" pitchFamily="34" charset="-122"/>
                <a:cs typeface="Roboto Condensed" pitchFamily="34" charset="-120"/>
              </a:rPr>
              <a:t>Write the borrower's grade level, not their schedule</a:t>
            </a:r>
            <a:endParaRPr lang="en-US" sz="1450" dirty="0"/>
          </a:p>
        </p:txBody>
      </p:sp>
      <p:sp>
        <p:nvSpPr>
          <p:cNvPr id="6" name="Text 3"/>
          <p:cNvSpPr/>
          <p:nvPr/>
        </p:nvSpPr>
        <p:spPr>
          <a:xfrm>
            <a:off x="661475" y="3411637"/>
            <a:ext cx="2921522" cy="581422"/>
          </a:xfrm>
          <a:prstGeom prst="rect">
            <a:avLst/>
          </a:prstGeom>
          <a:noFill/>
          <a:ln/>
        </p:spPr>
        <p:txBody>
          <a:bodyPr wrap="square" lIns="0" tIns="0" rIns="0" bIns="0" rtlCol="0" anchor="t">
            <a:normAutofit/>
          </a:bodyPr>
          <a:lstStyle/>
          <a:p>
            <a:pPr algn="l" indent="0" marL="0">
              <a:lnSpc>
                <a:spcPct val="104000"/>
              </a:lnSpc>
              <a:buNone/>
            </a:pPr>
            <a:r>
              <a:rPr lang="en-US" sz="1800" b="1" dirty="0">
                <a:solidFill>
                  <a:srgbClr val="111111"/>
                </a:solidFill>
                <a:latin typeface="Orbitron Bold" pitchFamily="34" charset="0"/>
                <a:ea typeface="Orbitron Bold" pitchFamily="34" charset="-122"/>
                <a:cs typeface="Orbitron Bold" pitchFamily="34" charset="-120"/>
              </a:rPr>
              <a:t>The finding half the class writes</a:t>
            </a:r>
            <a:endParaRPr lang="en-US" sz="1800" dirty="0"/>
          </a:p>
        </p:txBody>
      </p:sp>
      <p:sp>
        <p:nvSpPr>
          <p:cNvPr id="7" name="Text 4"/>
          <p:cNvSpPr/>
          <p:nvPr/>
        </p:nvSpPr>
        <p:spPr>
          <a:xfrm>
            <a:off x="661475" y="4176216"/>
            <a:ext cx="3531107" cy="295275"/>
          </a:xfrm>
          <a:prstGeom prst="rect">
            <a:avLst/>
          </a:prstGeom>
          <a:noFill/>
          <a:ln/>
        </p:spPr>
        <p:txBody>
          <a:bodyPr wrap="none" lIns="0" tIns="0" rIns="0" bIns="0" rtlCol="0" anchor="t"/>
          <a:lstStyle/>
          <a:p>
            <a:pPr algn="l" indent="0" marL="0">
              <a:lnSpc>
                <a:spcPct val="132000"/>
              </a:lnSpc>
              <a:buNone/>
            </a:pPr>
            <a:r>
              <a:rPr lang="en-US" sz="1450" dirty="0">
                <a:solidFill>
                  <a:srgbClr val="1C1C1C"/>
                </a:solidFill>
                <a:latin typeface="Roboto Condensed" pitchFamily="34" charset="0"/>
                <a:ea typeface="Roboto Condensed" pitchFamily="34" charset="-122"/>
                <a:cs typeface="Roboto Condensed" pitchFamily="34" charset="-120"/>
              </a:rPr>
              <a:t>Not every school uses grade levels</a:t>
            </a:r>
            <a:endParaRPr lang="en-US" sz="1450" dirty="0"/>
          </a:p>
        </p:txBody>
      </p:sp>
      <p:sp>
        <p:nvSpPr>
          <p:cNvPr id="8" name="Shape 5"/>
          <p:cNvSpPr/>
          <p:nvPr/>
        </p:nvSpPr>
        <p:spPr>
          <a:xfrm>
            <a:off x="661475" y="4677470"/>
            <a:ext cx="2921522" cy="1308298"/>
          </a:xfrm>
          <a:prstGeom prst="roundRect">
            <a:avLst>
              <a:gd name="adj" fmla="val 5973"/>
            </a:avLst>
          </a:prstGeom>
          <a:solidFill>
            <a:srgbClr val="FCF2B5"/>
          </a:solidFill>
          <a:ln/>
        </p:spPr>
      </p:sp>
      <p:pic>
        <p:nvPicPr>
          <p:cNvPr id="9" name="Image 1" descr="preencoded.png">    </p:cNvPr>
          <p:cNvPicPr>
            <a:picLocks noChangeAspect="1"/>
          </p:cNvPicPr>
          <p:nvPr/>
        </p:nvPicPr>
        <p:blipFill>
          <a:blip r:embed="rId2"/>
          <a:stretch>
            <a:fillRect/>
          </a:stretch>
        </p:blipFill>
        <p:spPr>
          <a:xfrm>
            <a:off x="847505" y="4953794"/>
            <a:ext cx="232563" cy="186035"/>
          </a:xfrm>
          <a:prstGeom prst="rect">
            <a:avLst/>
          </a:prstGeom>
        </p:spPr>
      </p:pic>
      <p:sp>
        <p:nvSpPr>
          <p:cNvPr id="10" name="Text 6"/>
          <p:cNvSpPr/>
          <p:nvPr/>
        </p:nvSpPr>
        <p:spPr>
          <a:xfrm>
            <a:off x="1266099" y="4888706"/>
            <a:ext cx="2130868" cy="885825"/>
          </a:xfrm>
          <a:prstGeom prst="rect">
            <a:avLst/>
          </a:prstGeom>
          <a:noFill/>
          <a:ln/>
        </p:spPr>
        <p:txBody>
          <a:bodyPr wrap="square" lIns="0" tIns="0" rIns="0" bIns="0" rtlCol="0" anchor="t">
            <a:normAutofit/>
          </a:bodyPr>
          <a:lstStyle/>
          <a:p>
            <a:pPr algn="l" indent="0" marL="0">
              <a:lnSpc>
                <a:spcPct val="132000"/>
              </a:lnSpc>
              <a:buNone/>
            </a:pPr>
            <a:r>
              <a:rPr lang="en-US" sz="1450" dirty="0">
                <a:solidFill>
                  <a:srgbClr val="000000"/>
                </a:solidFill>
                <a:latin typeface="Roboto Condensed" pitchFamily="34" charset="0"/>
                <a:ea typeface="Roboto Condensed" pitchFamily="34" charset="-122"/>
                <a:cs typeface="Roboto Condensed" pitchFamily="34" charset="-120"/>
              </a:rPr>
              <a:t>That is a claim about accuracy, which is Validity</a:t>
            </a:r>
            <a:endParaRPr lang="en-US" sz="1450" dirty="0"/>
          </a:p>
        </p:txBody>
      </p:sp>
      <p:sp>
        <p:nvSpPr>
          <p:cNvPr id="11" name="Text 7"/>
          <p:cNvSpPr/>
          <p:nvPr/>
        </p:nvSpPr>
        <p:spPr>
          <a:xfrm>
            <a:off x="4043162" y="2164060"/>
            <a:ext cx="2921522" cy="581422"/>
          </a:xfrm>
          <a:prstGeom prst="rect">
            <a:avLst/>
          </a:prstGeom>
          <a:noFill/>
          <a:ln/>
        </p:spPr>
        <p:txBody>
          <a:bodyPr wrap="square" lIns="0" tIns="0" rIns="0" bIns="0" rtlCol="0" anchor="t">
            <a:normAutofit/>
          </a:bodyPr>
          <a:lstStyle/>
          <a:p>
            <a:pPr algn="l" indent="0" marL="0">
              <a:lnSpc>
                <a:spcPct val="104000"/>
              </a:lnSpc>
              <a:buNone/>
            </a:pPr>
            <a:r>
              <a:rPr lang="en-US" sz="1800" b="1" dirty="0">
                <a:solidFill>
                  <a:srgbClr val="111111"/>
                </a:solidFill>
                <a:latin typeface="Orbitron Bold" pitchFamily="34" charset="0"/>
                <a:ea typeface="Orbitron Bold" pitchFamily="34" charset="-122"/>
                <a:cs typeface="Orbitron Bold" pitchFamily="34" charset="-120"/>
              </a:rPr>
              <a:t>Bias asks who is absent</a:t>
            </a:r>
            <a:endParaRPr lang="en-US" sz="1800" dirty="0"/>
          </a:p>
        </p:txBody>
      </p:sp>
      <p:sp>
        <p:nvSpPr>
          <p:cNvPr id="12" name="Text 8"/>
          <p:cNvSpPr/>
          <p:nvPr/>
        </p:nvSpPr>
        <p:spPr>
          <a:xfrm>
            <a:off x="4043162" y="2928640"/>
            <a:ext cx="2921522" cy="1345902"/>
          </a:xfrm>
          <a:prstGeom prst="rect">
            <a:avLst/>
          </a:prstGeom>
          <a:noFill/>
          <a:ln/>
        </p:spPr>
        <p:txBody>
          <a:bodyPr wrap="square" lIns="0" tIns="0" rIns="0" bIns="0" rtlCol="0" anchor="t">
            <a:normAutofit/>
          </a:bodyPr>
          <a:lstStyle/>
          <a:p>
            <a:pPr algn="l" indent="0" marL="0">
              <a:lnSpc>
                <a:spcPct val="132000"/>
              </a:lnSpc>
              <a:spcAft>
                <a:spcPts val="1250"/>
              </a:spcAft>
              <a:buNone/>
            </a:pPr>
            <a:r>
              <a:rPr lang="en-US" sz="1450" dirty="0">
                <a:solidFill>
                  <a:srgbClr val="1C1C1C"/>
                </a:solidFill>
                <a:latin typeface="Roboto Condensed" pitchFamily="34" charset="0"/>
                <a:ea typeface="Roboto Condensed" pitchFamily="34" charset="-122"/>
                <a:cs typeface="Roboto Condensed" pitchFamily="34" charset="-120"/>
              </a:rPr>
              <a:t>A teacher, a parent volunteer, an alum</a:t>
            </a:r>
            <a:endParaRPr lang="en-US" sz="1450" dirty="0"/>
          </a:p>
          <a:p>
            <a:pPr algn="l" indent="0" marL="0">
              <a:lnSpc>
                <a:spcPct val="132000"/>
              </a:lnSpc>
              <a:buNone/>
            </a:pPr>
            <a:r>
              <a:rPr lang="en-US" sz="1450" dirty="0">
                <a:solidFill>
                  <a:srgbClr val="1C1C1C"/>
                </a:solidFill>
                <a:latin typeface="Roboto Condensed" pitchFamily="34" charset="0"/>
                <a:ea typeface="Roboto Condensed" pitchFamily="34" charset="-122"/>
                <a:cs typeface="Roboto Condensed" pitchFamily="34" charset="-120"/>
              </a:rPr>
              <a:t>The sentence is not false. A sheet built from it excludes them.</a:t>
            </a:r>
            <a:endParaRPr lang="en-US" sz="1450" dirty="0"/>
          </a:p>
        </p:txBody>
      </p:sp>
      <p:sp>
        <p:nvSpPr>
          <p:cNvPr id="13" name="Text 9"/>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661475" y="1615380"/>
            <a:ext cx="10868745" cy="590649"/>
          </a:xfrm>
          <a:prstGeom prst="rect">
            <a:avLst/>
          </a:prstGeom>
          <a:noFill/>
          <a:ln/>
        </p:spPr>
        <p:txBody>
          <a:bodyPr wrap="none" lIns="0" tIns="0" rIns="0" bIns="0" rtlCol="0" anchor="t"/>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Every finding has four parts</a:t>
            </a:r>
            <a:endParaRPr lang="en-US" sz="3700" dirty="0"/>
          </a:p>
        </p:txBody>
      </p:sp>
      <p:sp>
        <p:nvSpPr>
          <p:cNvPr id="3" name="Text 1"/>
          <p:cNvSpPr/>
          <p:nvPr/>
        </p:nvSpPr>
        <p:spPr>
          <a:xfrm>
            <a:off x="661475" y="2584053"/>
            <a:ext cx="378014" cy="236240"/>
          </a:xfrm>
          <a:prstGeom prst="rect">
            <a:avLst/>
          </a:prstGeom>
          <a:noFill/>
          <a:ln/>
        </p:spPr>
        <p:txBody>
          <a:bodyPr wrap="none" lIns="0" tIns="0" rIns="0" bIns="0" rtlCol="0" anchor="ctr"/>
          <a:lstStyle/>
          <a:p>
            <a:pPr algn="l" indent="0" marL="0">
              <a:lnSpc>
                <a:spcPct val="100000"/>
              </a:lnSpc>
              <a:buNone/>
            </a:pPr>
            <a:r>
              <a:rPr lang="en-US" sz="1450" dirty="0">
                <a:solidFill>
                  <a:srgbClr val="1C1C1C"/>
                </a:solidFill>
                <a:latin typeface="Orbitron" pitchFamily="34" charset="0"/>
                <a:ea typeface="Orbitron" pitchFamily="34" charset="-122"/>
                <a:cs typeface="Orbitron" pitchFamily="34" charset="-120"/>
              </a:rPr>
              <a:t>01</a:t>
            </a:r>
            <a:endParaRPr lang="en-US" sz="1450" dirty="0"/>
          </a:p>
        </p:txBody>
      </p:sp>
      <p:sp>
        <p:nvSpPr>
          <p:cNvPr id="4" name="Shape 2"/>
          <p:cNvSpPr/>
          <p:nvPr/>
        </p:nvSpPr>
        <p:spPr>
          <a:xfrm>
            <a:off x="661475" y="2879923"/>
            <a:ext cx="3496877" cy="25400"/>
          </a:xfrm>
          <a:prstGeom prst="rect">
            <a:avLst/>
          </a:prstGeom>
          <a:solidFill>
            <a:srgbClr val="57A1EB"/>
          </a:solidFill>
          <a:ln/>
        </p:spPr>
      </p:sp>
      <p:sp>
        <p:nvSpPr>
          <p:cNvPr id="5" name="Text 3"/>
          <p:cNvSpPr/>
          <p:nvPr/>
        </p:nvSpPr>
        <p:spPr>
          <a:xfrm>
            <a:off x="661475" y="3025180"/>
            <a:ext cx="3496877" cy="590550"/>
          </a:xfrm>
          <a:prstGeom prst="rect">
            <a:avLst/>
          </a:prstGeom>
          <a:noFill/>
          <a:ln/>
        </p:spPr>
        <p:txBody>
          <a:bodyPr wrap="square" lIns="0" tIns="0" rIns="0" bIns="0" rtlCol="0" anchor="t">
            <a:normAutofit/>
          </a:bodyPr>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The exact claim, quoted word for word</a:t>
            </a:r>
            <a:endParaRPr lang="en-US" sz="1850" dirty="0"/>
          </a:p>
        </p:txBody>
      </p:sp>
      <p:sp>
        <p:nvSpPr>
          <p:cNvPr id="6" name="Text 4"/>
          <p:cNvSpPr/>
          <p:nvPr/>
        </p:nvSpPr>
        <p:spPr>
          <a:xfrm>
            <a:off x="4347359" y="2584053"/>
            <a:ext cx="378014" cy="236240"/>
          </a:xfrm>
          <a:prstGeom prst="rect">
            <a:avLst/>
          </a:prstGeom>
          <a:noFill/>
          <a:ln/>
        </p:spPr>
        <p:txBody>
          <a:bodyPr wrap="none" lIns="0" tIns="0" rIns="0" bIns="0" rtlCol="0" anchor="ctr"/>
          <a:lstStyle/>
          <a:p>
            <a:pPr algn="l" indent="0" marL="0">
              <a:lnSpc>
                <a:spcPct val="100000"/>
              </a:lnSpc>
              <a:buNone/>
            </a:pPr>
            <a:r>
              <a:rPr lang="en-US" sz="1450" dirty="0">
                <a:solidFill>
                  <a:srgbClr val="1C1C1C"/>
                </a:solidFill>
                <a:latin typeface="Orbitron" pitchFamily="34" charset="0"/>
                <a:ea typeface="Orbitron" pitchFamily="34" charset="-122"/>
                <a:cs typeface="Orbitron" pitchFamily="34" charset="-120"/>
              </a:rPr>
              <a:t>02</a:t>
            </a:r>
            <a:endParaRPr lang="en-US" sz="1450" dirty="0"/>
          </a:p>
        </p:txBody>
      </p:sp>
      <p:sp>
        <p:nvSpPr>
          <p:cNvPr id="7" name="Shape 5"/>
          <p:cNvSpPr/>
          <p:nvPr/>
        </p:nvSpPr>
        <p:spPr>
          <a:xfrm>
            <a:off x="4347359" y="2879923"/>
            <a:ext cx="3496877" cy="25400"/>
          </a:xfrm>
          <a:prstGeom prst="rect">
            <a:avLst/>
          </a:prstGeom>
          <a:solidFill>
            <a:srgbClr val="57A1EB"/>
          </a:solidFill>
          <a:ln/>
        </p:spPr>
      </p:sp>
      <p:sp>
        <p:nvSpPr>
          <p:cNvPr id="8" name="Text 6"/>
          <p:cNvSpPr/>
          <p:nvPr/>
        </p:nvSpPr>
        <p:spPr>
          <a:xfrm>
            <a:off x="4347359" y="3025180"/>
            <a:ext cx="3496877" cy="590550"/>
          </a:xfrm>
          <a:prstGeom prst="rect">
            <a:avLst/>
          </a:prstGeom>
          <a:noFill/>
          <a:ln/>
        </p:spPr>
        <p:txBody>
          <a:bodyPr wrap="square" lIns="0" tIns="0" rIns="0" bIns="0" rtlCol="0" anchor="t">
            <a:normAutofit/>
          </a:bodyPr>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Which parameter it fails, one label</a:t>
            </a:r>
            <a:endParaRPr lang="en-US" sz="1850" dirty="0"/>
          </a:p>
        </p:txBody>
      </p:sp>
      <p:sp>
        <p:nvSpPr>
          <p:cNvPr id="9" name="Text 7"/>
          <p:cNvSpPr/>
          <p:nvPr/>
        </p:nvSpPr>
        <p:spPr>
          <a:xfrm>
            <a:off x="8033244" y="2584053"/>
            <a:ext cx="378014" cy="236240"/>
          </a:xfrm>
          <a:prstGeom prst="rect">
            <a:avLst/>
          </a:prstGeom>
          <a:noFill/>
          <a:ln/>
        </p:spPr>
        <p:txBody>
          <a:bodyPr wrap="none" lIns="0" tIns="0" rIns="0" bIns="0" rtlCol="0" anchor="ctr"/>
          <a:lstStyle/>
          <a:p>
            <a:pPr algn="l" indent="0" marL="0">
              <a:lnSpc>
                <a:spcPct val="100000"/>
              </a:lnSpc>
              <a:buNone/>
            </a:pPr>
            <a:r>
              <a:rPr lang="en-US" sz="1450" dirty="0">
                <a:solidFill>
                  <a:srgbClr val="1C1C1C"/>
                </a:solidFill>
                <a:latin typeface="Orbitron" pitchFamily="34" charset="0"/>
                <a:ea typeface="Orbitron" pitchFamily="34" charset="-122"/>
                <a:cs typeface="Orbitron" pitchFamily="34" charset="-120"/>
              </a:rPr>
              <a:t>03</a:t>
            </a:r>
            <a:endParaRPr lang="en-US" sz="1450" dirty="0"/>
          </a:p>
        </p:txBody>
      </p:sp>
      <p:sp>
        <p:nvSpPr>
          <p:cNvPr id="10" name="Shape 8"/>
          <p:cNvSpPr/>
          <p:nvPr/>
        </p:nvSpPr>
        <p:spPr>
          <a:xfrm>
            <a:off x="8033244" y="2879923"/>
            <a:ext cx="3496877" cy="25400"/>
          </a:xfrm>
          <a:prstGeom prst="rect">
            <a:avLst/>
          </a:prstGeom>
          <a:solidFill>
            <a:srgbClr val="57A1EB"/>
          </a:solidFill>
          <a:ln/>
        </p:spPr>
      </p:sp>
      <p:sp>
        <p:nvSpPr>
          <p:cNvPr id="11" name="Text 9"/>
          <p:cNvSpPr/>
          <p:nvPr/>
        </p:nvSpPr>
        <p:spPr>
          <a:xfrm>
            <a:off x="8033244" y="3025180"/>
            <a:ext cx="3496877" cy="590550"/>
          </a:xfrm>
          <a:prstGeom prst="rect">
            <a:avLst/>
          </a:prstGeom>
          <a:noFill/>
          <a:ln/>
        </p:spPr>
        <p:txBody>
          <a:bodyPr wrap="square" lIns="0" tIns="0" rIns="0" bIns="0" rtlCol="0" anchor="t">
            <a:normAutofit/>
          </a:bodyPr>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Why it fails, in your own words</a:t>
            </a:r>
            <a:endParaRPr lang="en-US" sz="1850" dirty="0"/>
          </a:p>
        </p:txBody>
      </p:sp>
      <p:sp>
        <p:nvSpPr>
          <p:cNvPr id="12" name="Text 10"/>
          <p:cNvSpPr/>
          <p:nvPr/>
        </p:nvSpPr>
        <p:spPr>
          <a:xfrm>
            <a:off x="661475" y="3946426"/>
            <a:ext cx="378014" cy="236240"/>
          </a:xfrm>
          <a:prstGeom prst="rect">
            <a:avLst/>
          </a:prstGeom>
          <a:noFill/>
          <a:ln/>
        </p:spPr>
        <p:txBody>
          <a:bodyPr wrap="none" lIns="0" tIns="0" rIns="0" bIns="0" rtlCol="0" anchor="ctr"/>
          <a:lstStyle/>
          <a:p>
            <a:pPr algn="l" indent="0" marL="0">
              <a:lnSpc>
                <a:spcPct val="100000"/>
              </a:lnSpc>
              <a:buNone/>
            </a:pPr>
            <a:r>
              <a:rPr lang="en-US" sz="1450" dirty="0">
                <a:solidFill>
                  <a:srgbClr val="1C1C1C"/>
                </a:solidFill>
                <a:latin typeface="Orbitron" pitchFamily="34" charset="0"/>
                <a:ea typeface="Orbitron" pitchFamily="34" charset="-122"/>
                <a:cs typeface="Orbitron" pitchFamily="34" charset="-120"/>
              </a:rPr>
              <a:t>04</a:t>
            </a:r>
            <a:endParaRPr lang="en-US" sz="1450" dirty="0"/>
          </a:p>
        </p:txBody>
      </p:sp>
      <p:sp>
        <p:nvSpPr>
          <p:cNvPr id="13" name="Shape 11"/>
          <p:cNvSpPr/>
          <p:nvPr/>
        </p:nvSpPr>
        <p:spPr>
          <a:xfrm>
            <a:off x="661475" y="4242296"/>
            <a:ext cx="5339820" cy="25400"/>
          </a:xfrm>
          <a:prstGeom prst="rect">
            <a:avLst/>
          </a:prstGeom>
          <a:solidFill>
            <a:srgbClr val="57A1EB"/>
          </a:solidFill>
          <a:ln/>
        </p:spPr>
      </p:sp>
      <p:sp>
        <p:nvSpPr>
          <p:cNvPr id="14" name="Text 12"/>
          <p:cNvSpPr/>
          <p:nvPr/>
        </p:nvSpPr>
        <p:spPr>
          <a:xfrm>
            <a:off x="661475" y="4387552"/>
            <a:ext cx="5339820" cy="590550"/>
          </a:xfrm>
          <a:prstGeom prst="rect">
            <a:avLst/>
          </a:prstGeom>
          <a:noFill/>
          <a:ln/>
        </p:spPr>
        <p:txBody>
          <a:bodyPr wrap="square" lIns="0" tIns="0" rIns="0" bIns="0" rtlCol="0" anchor="t">
            <a:normAutofit/>
          </a:bodyPr>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How you know: a command, a named source, a recorded search</a:t>
            </a:r>
            <a:endParaRPr lang="en-US" sz="1850" dirty="0"/>
          </a:p>
        </p:txBody>
      </p:sp>
      <p:sp>
        <p:nvSpPr>
          <p:cNvPr id="15" name="Text 13"/>
          <p:cNvSpPr/>
          <p:nvPr/>
        </p:nvSpPr>
        <p:spPr>
          <a:xfrm>
            <a:off x="6190301" y="3946426"/>
            <a:ext cx="378014" cy="236240"/>
          </a:xfrm>
          <a:prstGeom prst="rect">
            <a:avLst/>
          </a:prstGeom>
          <a:noFill/>
          <a:ln/>
        </p:spPr>
        <p:txBody>
          <a:bodyPr wrap="none" lIns="0" tIns="0" rIns="0" bIns="0" rtlCol="0" anchor="ctr"/>
          <a:lstStyle/>
          <a:p>
            <a:pPr algn="l" indent="0" marL="0">
              <a:lnSpc>
                <a:spcPct val="100000"/>
              </a:lnSpc>
              <a:buNone/>
            </a:pPr>
            <a:r>
              <a:rPr lang="en-US" sz="1450" dirty="0">
                <a:solidFill>
                  <a:srgbClr val="1C1C1C"/>
                </a:solidFill>
                <a:latin typeface="Orbitron" pitchFamily="34" charset="0"/>
                <a:ea typeface="Orbitron" pitchFamily="34" charset="-122"/>
                <a:cs typeface="Orbitron" pitchFamily="34" charset="-120"/>
              </a:rPr>
              <a:t>05</a:t>
            </a:r>
            <a:endParaRPr lang="en-US" sz="1450" dirty="0"/>
          </a:p>
        </p:txBody>
      </p:sp>
      <p:sp>
        <p:nvSpPr>
          <p:cNvPr id="16" name="Shape 14"/>
          <p:cNvSpPr/>
          <p:nvPr/>
        </p:nvSpPr>
        <p:spPr>
          <a:xfrm>
            <a:off x="6190301" y="4242296"/>
            <a:ext cx="5339820" cy="25400"/>
          </a:xfrm>
          <a:prstGeom prst="rect">
            <a:avLst/>
          </a:prstGeom>
          <a:solidFill>
            <a:srgbClr val="57A1EB"/>
          </a:solidFill>
          <a:ln/>
        </p:spPr>
      </p:sp>
      <p:sp>
        <p:nvSpPr>
          <p:cNvPr id="17" name="Text 15"/>
          <p:cNvSpPr/>
          <p:nvPr/>
        </p:nvSpPr>
        <p:spPr>
          <a:xfrm>
            <a:off x="6190301" y="4387552"/>
            <a:ext cx="5339820" cy="590550"/>
          </a:xfrm>
          <a:prstGeom prst="rect">
            <a:avLst/>
          </a:prstGeom>
          <a:noFill/>
          <a:ln/>
        </p:spPr>
        <p:txBody>
          <a:bodyPr wrap="square" lIns="0" tIns="0" rIns="0" bIns="0" rtlCol="0" anchor="t">
            <a:normAutofit/>
          </a:bodyPr>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A parameter with nothing to report is still a finding</a:t>
            </a:r>
            <a:endParaRPr lang="en-US" sz="1850" dirty="0"/>
          </a:p>
        </p:txBody>
      </p:sp>
      <p:sp>
        <p:nvSpPr>
          <p:cNvPr id="18" name="Text 16"/>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619809" y="0"/>
            <a:ext cx="4571886" cy="6858000"/>
          </a:xfrm>
          <a:prstGeom prst="rect">
            <a:avLst/>
          </a:prstGeom>
        </p:spPr>
      </p:pic>
      <p:sp>
        <p:nvSpPr>
          <p:cNvPr id="3" name="Text 0"/>
          <p:cNvSpPr/>
          <p:nvPr/>
        </p:nvSpPr>
        <p:spPr>
          <a:xfrm>
            <a:off x="661475" y="716359"/>
            <a:ext cx="6296860" cy="507603"/>
          </a:xfrm>
          <a:prstGeom prst="rect">
            <a:avLst/>
          </a:prstGeom>
          <a:noFill/>
          <a:ln/>
        </p:spPr>
        <p:txBody>
          <a:bodyPr wrap="none" lIns="0" tIns="0" rIns="0" bIns="0" rtlCol="0" anchor="t"/>
          <a:lstStyle/>
          <a:p>
            <a:pPr algn="l" indent="0" marL="0">
              <a:lnSpc>
                <a:spcPct val="104000"/>
              </a:lnSpc>
              <a:buNone/>
            </a:pPr>
            <a:r>
              <a:rPr lang="en-US" sz="3150" b="1" dirty="0">
                <a:solidFill>
                  <a:srgbClr val="111111"/>
                </a:solidFill>
                <a:latin typeface="Orbitron Bold" pitchFamily="34" charset="0"/>
                <a:ea typeface="Orbitron Bold" pitchFamily="34" charset="-122"/>
                <a:cs typeface="Orbitron Bold" pitchFamily="34" charset="-120"/>
              </a:rPr>
              <a:t>What you are about to build</a:t>
            </a:r>
            <a:endParaRPr lang="en-US" sz="3150" dirty="0"/>
          </a:p>
        </p:txBody>
      </p:sp>
      <p:sp>
        <p:nvSpPr>
          <p:cNvPr id="4" name="Shape 1"/>
          <p:cNvSpPr/>
          <p:nvPr/>
        </p:nvSpPr>
        <p:spPr>
          <a:xfrm>
            <a:off x="661475" y="1433314"/>
            <a:ext cx="6296860" cy="942082"/>
          </a:xfrm>
          <a:prstGeom prst="roundRect">
            <a:avLst>
              <a:gd name="adj" fmla="val 7242"/>
            </a:avLst>
          </a:prstGeom>
          <a:solidFill>
            <a:srgbClr val="D1E5FA"/>
          </a:solidFill>
          <a:ln w="19050">
            <a:solidFill>
              <a:srgbClr val="B7CBE0"/>
            </a:solidFill>
            <a:prstDash val="solid"/>
          </a:ln>
        </p:spPr>
      </p:sp>
      <p:sp>
        <p:nvSpPr>
          <p:cNvPr id="5" name="Text 2"/>
          <p:cNvSpPr/>
          <p:nvPr/>
        </p:nvSpPr>
        <p:spPr>
          <a:xfrm>
            <a:off x="842941" y="1614785"/>
            <a:ext cx="5933927" cy="253802"/>
          </a:xfrm>
          <a:prstGeom prst="rect">
            <a:avLst/>
          </a:prstGeom>
          <a:noFill/>
          <a:ln/>
        </p:spPr>
        <p:txBody>
          <a:bodyPr wrap="none" lIns="0" tIns="0" rIns="0" bIns="0" rtlCol="0" anchor="t"/>
          <a:lstStyle/>
          <a:p>
            <a:pPr algn="l" indent="0" marL="0">
              <a:lnSpc>
                <a:spcPct val="104000"/>
              </a:lnSpc>
              <a:buNone/>
            </a:pPr>
            <a:r>
              <a:rPr lang="en-US" sz="1550" b="1" dirty="0">
                <a:solidFill>
                  <a:srgbClr val="1C1C1C"/>
                </a:solidFill>
                <a:latin typeface="Orbitron Bold" pitchFamily="34" charset="0"/>
                <a:ea typeface="Orbitron Bold" pitchFamily="34" charset="-122"/>
                <a:cs typeface="Orbitron Bold" pitchFamily="34" charset="-120"/>
              </a:rPr>
              <a:t>Prompt Autopsy</a:t>
            </a:r>
            <a:endParaRPr lang="en-US" sz="1550" dirty="0"/>
          </a:p>
        </p:txBody>
      </p:sp>
      <p:sp>
        <p:nvSpPr>
          <p:cNvPr id="6" name="Text 3"/>
          <p:cNvSpPr/>
          <p:nvPr/>
        </p:nvSpPr>
        <p:spPr>
          <a:xfrm>
            <a:off x="842941" y="1952327"/>
            <a:ext cx="5933927" cy="241598"/>
          </a:xfrm>
          <a:prstGeom prst="rect">
            <a:avLst/>
          </a:prstGeom>
          <a:noFill/>
          <a:ln/>
        </p:spPr>
        <p:txBody>
          <a:bodyPr wrap="none" lIns="0" tIns="0" rIns="0" bIns="0" rtlCol="0" anchor="t"/>
          <a:lstStyle/>
          <a:p>
            <a:pPr algn="l" indent="0" marL="0">
              <a:lnSpc>
                <a:spcPct val="124000"/>
              </a:lnSpc>
              <a:buNone/>
            </a:pPr>
            <a:r>
              <a:rPr lang="en-US" sz="1250" dirty="0">
                <a:solidFill>
                  <a:srgbClr val="1C1C1C"/>
                </a:solidFill>
                <a:latin typeface="Roboto Condensed" pitchFamily="34" charset="0"/>
                <a:ea typeface="Roboto Condensed" pitchFamily="34" charset="-122"/>
                <a:cs typeface="Roboto Condensed" pitchFamily="34" charset="-120"/>
              </a:rPr>
              <a:t>Write-up due at the end of Build 1</a:t>
            </a:r>
            <a:endParaRPr lang="en-US" sz="1250" dirty="0"/>
          </a:p>
        </p:txBody>
      </p:sp>
      <p:sp>
        <p:nvSpPr>
          <p:cNvPr id="7" name="Shape 4"/>
          <p:cNvSpPr/>
          <p:nvPr/>
        </p:nvSpPr>
        <p:spPr>
          <a:xfrm>
            <a:off x="661475" y="2514898"/>
            <a:ext cx="6296860" cy="942082"/>
          </a:xfrm>
          <a:prstGeom prst="roundRect">
            <a:avLst>
              <a:gd name="adj" fmla="val 7242"/>
            </a:avLst>
          </a:prstGeom>
          <a:solidFill>
            <a:srgbClr val="D1E5FA"/>
          </a:solidFill>
          <a:ln w="19050">
            <a:solidFill>
              <a:srgbClr val="B7CBE0"/>
            </a:solidFill>
            <a:prstDash val="solid"/>
          </a:ln>
        </p:spPr>
      </p:sp>
      <p:sp>
        <p:nvSpPr>
          <p:cNvPr id="8" name="Text 5"/>
          <p:cNvSpPr/>
          <p:nvPr/>
        </p:nvSpPr>
        <p:spPr>
          <a:xfrm>
            <a:off x="842941" y="2696369"/>
            <a:ext cx="5933927" cy="253802"/>
          </a:xfrm>
          <a:prstGeom prst="rect">
            <a:avLst/>
          </a:prstGeom>
          <a:noFill/>
          <a:ln/>
        </p:spPr>
        <p:txBody>
          <a:bodyPr wrap="none" lIns="0" tIns="0" rIns="0" bIns="0" rtlCol="0" anchor="t"/>
          <a:lstStyle/>
          <a:p>
            <a:pPr algn="l" indent="0" marL="0">
              <a:lnSpc>
                <a:spcPct val="104000"/>
              </a:lnSpc>
              <a:buNone/>
            </a:pPr>
            <a:r>
              <a:rPr lang="en-US" sz="1550" b="1" dirty="0">
                <a:solidFill>
                  <a:srgbClr val="1C1C1C"/>
                </a:solidFill>
                <a:latin typeface="Orbitron Bold" pitchFamily="34" charset="0"/>
                <a:ea typeface="Orbitron Bold" pitchFamily="34" charset="-122"/>
                <a:cs typeface="Orbitron Bold" pitchFamily="34" charset="-120"/>
              </a:rPr>
              <a:t>Partner Trade</a:t>
            </a:r>
            <a:endParaRPr lang="en-US" sz="1550" dirty="0"/>
          </a:p>
        </p:txBody>
      </p:sp>
      <p:sp>
        <p:nvSpPr>
          <p:cNvPr id="9" name="Text 6"/>
          <p:cNvSpPr/>
          <p:nvPr/>
        </p:nvSpPr>
        <p:spPr>
          <a:xfrm>
            <a:off x="842941" y="3033911"/>
            <a:ext cx="5933927" cy="241598"/>
          </a:xfrm>
          <a:prstGeom prst="rect">
            <a:avLst/>
          </a:prstGeom>
          <a:noFill/>
          <a:ln/>
        </p:spPr>
        <p:txBody>
          <a:bodyPr wrap="none" lIns="0" tIns="0" rIns="0" bIns="0" rtlCol="0" anchor="t"/>
          <a:lstStyle/>
          <a:p>
            <a:pPr algn="l" indent="0" marL="0">
              <a:lnSpc>
                <a:spcPct val="124000"/>
              </a:lnSpc>
              <a:buNone/>
            </a:pPr>
            <a:r>
              <a:rPr lang="en-US" sz="1250" dirty="0">
                <a:solidFill>
                  <a:srgbClr val="1C1C1C"/>
                </a:solidFill>
                <a:latin typeface="Roboto Condensed" pitchFamily="34" charset="0"/>
                <a:ea typeface="Roboto Condensed" pitchFamily="34" charset="-122"/>
                <a:cs typeface="Roboto Condensed" pitchFamily="34" charset="-120"/>
              </a:rPr>
              <a:t>Trade with a partner and write two comments each</a:t>
            </a:r>
            <a:endParaRPr lang="en-US" sz="1250" dirty="0"/>
          </a:p>
        </p:txBody>
      </p:sp>
      <p:sp>
        <p:nvSpPr>
          <p:cNvPr id="10" name="Shape 7"/>
          <p:cNvSpPr/>
          <p:nvPr/>
        </p:nvSpPr>
        <p:spPr>
          <a:xfrm>
            <a:off x="661475" y="3596481"/>
            <a:ext cx="6296860" cy="942082"/>
          </a:xfrm>
          <a:prstGeom prst="roundRect">
            <a:avLst>
              <a:gd name="adj" fmla="val 7242"/>
            </a:avLst>
          </a:prstGeom>
          <a:solidFill>
            <a:srgbClr val="D1E5FA"/>
          </a:solidFill>
          <a:ln w="19050">
            <a:solidFill>
              <a:srgbClr val="B7CBE0"/>
            </a:solidFill>
            <a:prstDash val="solid"/>
          </a:ln>
        </p:spPr>
      </p:sp>
      <p:sp>
        <p:nvSpPr>
          <p:cNvPr id="11" name="Text 8"/>
          <p:cNvSpPr/>
          <p:nvPr/>
        </p:nvSpPr>
        <p:spPr>
          <a:xfrm>
            <a:off x="842941" y="3777952"/>
            <a:ext cx="5933927" cy="253802"/>
          </a:xfrm>
          <a:prstGeom prst="rect">
            <a:avLst/>
          </a:prstGeom>
          <a:noFill/>
          <a:ln/>
        </p:spPr>
        <p:txBody>
          <a:bodyPr wrap="none" lIns="0" tIns="0" rIns="0" bIns="0" rtlCol="0" anchor="t"/>
          <a:lstStyle/>
          <a:p>
            <a:pPr algn="l" indent="0" marL="0">
              <a:lnSpc>
                <a:spcPct val="104000"/>
              </a:lnSpc>
              <a:buNone/>
            </a:pPr>
            <a:r>
              <a:rPr lang="en-US" sz="1550" b="1" dirty="0">
                <a:solidFill>
                  <a:srgbClr val="1C1C1C"/>
                </a:solidFill>
                <a:latin typeface="Orbitron Bold" pitchFamily="34" charset="0"/>
                <a:ea typeface="Orbitron Bold" pitchFamily="34" charset="-122"/>
                <a:cs typeface="Orbitron Bold" pitchFamily="34" charset="-120"/>
              </a:rPr>
              <a:t>Week 4 Reference Runs</a:t>
            </a:r>
            <a:endParaRPr lang="en-US" sz="1550" dirty="0"/>
          </a:p>
        </p:txBody>
      </p:sp>
      <p:sp>
        <p:nvSpPr>
          <p:cNvPr id="12" name="Text 9"/>
          <p:cNvSpPr/>
          <p:nvPr/>
        </p:nvSpPr>
        <p:spPr>
          <a:xfrm>
            <a:off x="842941" y="4115495"/>
            <a:ext cx="5933927" cy="241598"/>
          </a:xfrm>
          <a:prstGeom prst="rect">
            <a:avLst/>
          </a:prstGeom>
          <a:noFill/>
          <a:ln/>
        </p:spPr>
        <p:txBody>
          <a:bodyPr wrap="none" lIns="0" tIns="0" rIns="0" bIns="0" rtlCol="0" anchor="t"/>
          <a:lstStyle/>
          <a:p>
            <a:pPr algn="l" indent="0" marL="0">
              <a:lnSpc>
                <a:spcPct val="124000"/>
              </a:lnSpc>
              <a:buNone/>
            </a:pPr>
            <a:r>
              <a:rPr lang="en-US" sz="1250" dirty="0">
                <a:solidFill>
                  <a:srgbClr val="1C1C1C"/>
                </a:solidFill>
                <a:latin typeface="Roboto Condensed" pitchFamily="34" charset="0"/>
                <a:ea typeface="Roboto Condensed" pitchFamily="34" charset="-122"/>
                <a:cs typeface="Roboto Condensed" pitchFamily="34" charset="-120"/>
              </a:rPr>
              <a:t>Score on all five parameters</a:t>
            </a:r>
            <a:endParaRPr lang="en-US" sz="1250" dirty="0"/>
          </a:p>
        </p:txBody>
      </p:sp>
      <p:sp>
        <p:nvSpPr>
          <p:cNvPr id="13" name="Shape 10"/>
          <p:cNvSpPr/>
          <p:nvPr/>
        </p:nvSpPr>
        <p:spPr>
          <a:xfrm>
            <a:off x="661475" y="4678065"/>
            <a:ext cx="6296860" cy="942082"/>
          </a:xfrm>
          <a:prstGeom prst="roundRect">
            <a:avLst>
              <a:gd name="adj" fmla="val 7242"/>
            </a:avLst>
          </a:prstGeom>
          <a:solidFill>
            <a:srgbClr val="D1E5FA"/>
          </a:solidFill>
          <a:ln w="19050">
            <a:solidFill>
              <a:srgbClr val="B7CBE0"/>
            </a:solidFill>
            <a:prstDash val="solid"/>
          </a:ln>
        </p:spPr>
      </p:sp>
      <p:sp>
        <p:nvSpPr>
          <p:cNvPr id="14" name="Text 11"/>
          <p:cNvSpPr/>
          <p:nvPr/>
        </p:nvSpPr>
        <p:spPr>
          <a:xfrm>
            <a:off x="842941" y="4859536"/>
            <a:ext cx="5933927" cy="253802"/>
          </a:xfrm>
          <a:prstGeom prst="rect">
            <a:avLst/>
          </a:prstGeom>
          <a:noFill/>
          <a:ln/>
        </p:spPr>
        <p:txBody>
          <a:bodyPr wrap="none" lIns="0" tIns="0" rIns="0" bIns="0" rtlCol="0" anchor="t"/>
          <a:lstStyle/>
          <a:p>
            <a:pPr algn="l" indent="0" marL="0">
              <a:lnSpc>
                <a:spcPct val="104000"/>
              </a:lnSpc>
              <a:buNone/>
            </a:pPr>
            <a:r>
              <a:rPr lang="en-US" sz="1550" b="1" dirty="0">
                <a:solidFill>
                  <a:srgbClr val="1C1C1C"/>
                </a:solidFill>
                <a:latin typeface="Orbitron Bold" pitchFamily="34" charset="0"/>
                <a:ea typeface="Orbitron Bold" pitchFamily="34" charset="-122"/>
                <a:cs typeface="Orbitron Bold" pitchFamily="34" charset="-120"/>
              </a:rPr>
              <a:t>Six Findings</a:t>
            </a:r>
            <a:endParaRPr lang="en-US" sz="1550" dirty="0"/>
          </a:p>
        </p:txBody>
      </p:sp>
      <p:sp>
        <p:nvSpPr>
          <p:cNvPr id="15" name="Text 12"/>
          <p:cNvSpPr/>
          <p:nvPr/>
        </p:nvSpPr>
        <p:spPr>
          <a:xfrm>
            <a:off x="842941" y="5197078"/>
            <a:ext cx="5933927" cy="241598"/>
          </a:xfrm>
          <a:prstGeom prst="rect">
            <a:avLst/>
          </a:prstGeom>
          <a:noFill/>
          <a:ln/>
        </p:spPr>
        <p:txBody>
          <a:bodyPr wrap="none" lIns="0" tIns="0" rIns="0" bIns="0" rtlCol="0" anchor="t"/>
          <a:lstStyle/>
          <a:p>
            <a:pPr algn="l" indent="0" marL="0">
              <a:lnSpc>
                <a:spcPct val="124000"/>
              </a:lnSpc>
              <a:buNone/>
            </a:pPr>
            <a:r>
              <a:rPr lang="en-US" sz="1250" dirty="0">
                <a:solidFill>
                  <a:srgbClr val="1C1C1C"/>
                </a:solidFill>
                <a:latin typeface="Roboto Condensed" pitchFamily="34" charset="0"/>
                <a:ea typeface="Roboto Condensed" pitchFamily="34" charset="-122"/>
                <a:cs typeface="Roboto Condensed" pitchFamily="34" charset="-120"/>
              </a:rPr>
              <a:t>Claim, parameter, why, and how you know</a:t>
            </a:r>
            <a:endParaRPr lang="en-US" sz="1250" dirty="0"/>
          </a:p>
        </p:txBody>
      </p:sp>
      <p:sp>
        <p:nvSpPr>
          <p:cNvPr id="16" name="Text 13"/>
          <p:cNvSpPr/>
          <p:nvPr/>
        </p:nvSpPr>
        <p:spPr>
          <a:xfrm>
            <a:off x="661475" y="5777111"/>
            <a:ext cx="6906444" cy="241598"/>
          </a:xfrm>
          <a:prstGeom prst="rect">
            <a:avLst/>
          </a:prstGeom>
          <a:noFill/>
          <a:ln/>
        </p:spPr>
        <p:txBody>
          <a:bodyPr wrap="none" lIns="0" tIns="0" rIns="0" bIns="0" rtlCol="0" anchor="t"/>
          <a:lstStyle/>
          <a:p>
            <a:pPr algn="l" indent="0" marL="0">
              <a:lnSpc>
                <a:spcPct val="124000"/>
              </a:lnSpc>
              <a:buNone/>
            </a:pPr>
            <a:r>
              <a:rPr lang="en-US" sz="1250" dirty="0">
                <a:solidFill>
                  <a:srgbClr val="1C1C1C"/>
                </a:solidFill>
                <a:latin typeface="Roboto Condensed" pitchFamily="34" charset="0"/>
                <a:ea typeface="Roboto Condensed" pitchFamily="34" charset="-122"/>
                <a:cs typeface="Roboto Condensed" pitchFamily="34" charset="-120"/>
              </a:rPr>
              <a:t>At least one parameter recorded as having nothing to report.</a:t>
            </a:r>
            <a:endParaRPr lang="en-US" sz="1250" dirty="0"/>
          </a:p>
        </p:txBody>
      </p:sp>
      <p:sp>
        <p:nvSpPr>
          <p:cNvPr id="17" name="Text 14"/>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
  <cp:revision>1</cp:revision>
  <dcterms:created xsi:type="dcterms:W3CDTF">2026-09-16T04:07:27Z</dcterms:created>
  <dcterms:modified xsi:type="dcterms:W3CDTF">2026-09-16T04:07:27Z</dcterms:modified>
</cp:coreProperties>
</file>