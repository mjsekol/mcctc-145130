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true" autoCompressPictures="0" embedTrueTypeFonts="true">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Lst>
  <p:notesMasterIdLst>
    <p:notesMasterId r:id="rId13"/>
  </p:notesMasterIdLst>
  <p:sldSz cx="12191695" cy="6858000"/>
  <p:notesSz cx="6858000" cy="12191695"/>
  <p:embeddedFontLst>
    <p:embeddedFont>
      <p:font typeface="Orbitron Bold"/>
      <p:regular r:id="rId201314"/>
    </p:embeddedFont>
    <p:embeddedFont>
      <p:font typeface="Roboto Condensed Bold"/>
      <p:regular r:id="rId201315"/>
    </p:embeddedFont>
    <p:embeddedFont>
      <p:font typeface="Roboto Condensed"/>
      <p:regular r:id="rId201316"/>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notesMaster" Target="notesMasters/notesMaster1.xml"/><Relationship Id="rId14" Type="http://schemas.openxmlformats.org/officeDocument/2006/relationships/presProps" Target="presProps.xml"/><Relationship Id="rId15" Type="http://schemas.openxmlformats.org/officeDocument/2006/relationships/viewProps" Target="viewProps.xml"/><Relationship Id="rId16" Type="http://schemas.openxmlformats.org/officeDocument/2006/relationships/theme" Target="theme/theme1.xml"/><Relationship Id="rId17" Type="http://schemas.openxmlformats.org/officeDocument/2006/relationships/tableStyles" Target="tableStyles.xml"/><Relationship Id="rId201314" Target="fonts/201314.fntdata" Type="http://schemas.openxmlformats.org/officeDocument/2006/relationships/font"/><Relationship Id="rId201315" Target="fonts/201315.fntdata" Type="http://schemas.openxmlformats.org/officeDocument/2006/relationships/font"/><Relationship Id="rId201316" Target="fonts/201316.fntdata" Type="http://schemas.openxmlformats.org/officeDocument/2006/relationships/font"/><Relationship Id="rId201317" Target="fonts/201317.fntdata" Type="http://schemas.openxmlformats.org/officeDocument/2006/relationships/font"/><Relationship Id="rId201318" Target="fonts/201318.fntdata" Type="http://schemas.openxmlformats.org/officeDocument/2006/relationships/font"/><Relationship Id="rId201319" Target="fonts/201319.fntdata" Type="http://schemas.openxmlformats.org/officeDocument/2006/relationships/font"/><Relationship Id="rId201320" Target="fonts/201320.fntdata" Type="http://schemas.openxmlformats.org/officeDocument/2006/relationships/font"/></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Today looks like a vocabulary day and it is not. The exam names nine technologies so we will name them. But the thing worth carrying out of here is that every one of them arrives the same way: somebody buys it and then somebody else has to connect it to a system nobody designed with it in mind.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Language models are one branch of machine learning, which is any system whose behaviour was fitted to data rather than written. Artificial intelligence is the umbrella and it is also a marketing term. When somebody says a product has AI in it, your follow up is always the same: what does it do that a rule could not.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are all within a hundred feet of you. Sensors reporting somewhere, phones doing school work, and a 3D printer whose queued files are now the actual product. That last one is worth a pause: version control and intellectual property questions that used to apply to drawings now apply to something you can hold.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Virtualization is why cloud services exist, and the integration problem is that anything which assumed a fixed machine has to be rebuilt. Mixed reality is the one people demo and rarely ship, and the reason is the second bullet. A headset showing the wrong torque spec is worse than a piece of paper showing the right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method and it is worth more than the list. Anyone can describe a technology. A person who can answer these four about it can talk about it in an interview. And notice question one accepts nothing but faster as an answer, because that is frequently the true one.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slide employers care about. Every row on the left is something people try to hand a model, and every one of them needs an exact, identical, defensible answer. A model produces likely text, and a likely number is not a correct number. Knowing where not to use it is most of what makes you useful.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 row, and look at what is different. No rule states what a theme is. The input is language. And a person is going to read the output and can catch a mistake. Those three conditions together are the test. Take away any one of them and you are back on the previous slide.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Every word is defensible and the sentence carries no information. You could have written it in any year of the last forty. It is also exactly what a model produces when you ask it about emerging technology, and that is not a coincidence: the most likely continuation of a vague question is a vague answer.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Write this one down because it is the most transferable thing in the module. A claim is a statement that could turn out to be false. If nothing could show your sentence wrong, it is not a claim, and it is taking up space where a claim should be. Friday I am going to hand you a page full of these.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Build one is a walk with a clipboard and it is not a scavenger hunt. For every technology you find, you write one sentence: this had to be connected to blank, which was built before it existed. Build two turns that into the four questions from slide five for the one you found most interesting. An empty category is a finding, so write it down rather than inventing something.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master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FAFAFA"/>
          </a:solidFill>
          <a:ln/>
        </p:spPr>
      </p:sp>
      <p:sp>
        <p:nvSpPr>
          <p:cNvPr id="3" name="Shape 1"/>
          <p:cNvSpPr/>
          <p:nvPr/>
        </p:nvSpPr>
        <p:spPr>
          <a:xfrm>
            <a:off x="0" y="0"/>
            <a:ext cx="12191695" cy="6858000"/>
          </a:xfrm>
          <a:prstGeom prst="rect">
            <a:avLst/>
          </a:prstGeom>
          <a:solidFill>
            <a:srgbClr val="FFFFFF"/>
          </a:solidFill>
          <a:ln/>
        </p:spPr>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eg"/><Relationship Id="rId2" Type="http://schemas.openxmlformats.org/officeDocument/2006/relationships/slideLayout" Target="../slideLayouts/slideLayout2.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svg"/><Relationship Id="rId3" Type="http://schemas.openxmlformats.org/officeDocument/2006/relationships/image" Target="../media/image-3-1.png"/><Relationship Id="rId4" Type="http://schemas.openxmlformats.org/officeDocument/2006/relationships/image" Target="../media/image-3-2.svg"/><Relationship Id="rId5" Type="http://schemas.openxmlformats.org/officeDocument/2006/relationships/image" Target="../media/image-3-1.png"/><Relationship Id="rId6" Type="http://schemas.openxmlformats.org/officeDocument/2006/relationships/image" Target="../media/image-3-2.svg"/><Relationship Id="rId7" Type="http://schemas.openxmlformats.org/officeDocument/2006/relationships/image" Target="../media/image-3-1.png"/><Relationship Id="rId8" Type="http://schemas.openxmlformats.org/officeDocument/2006/relationships/image" Target="../media/image-3-2.svg"/><Relationship Id="rId9" Type="http://schemas.openxmlformats.org/officeDocument/2006/relationships/slideLayout" Target="../slideLayouts/slideLayout2.xml"/><Relationship Id="rId10"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eg"/><Relationship Id="rId2" Type="http://schemas.openxmlformats.org/officeDocument/2006/relationships/slideLayout" Target="../slideLayouts/slideLayout2.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eg"/><Relationship Id="rId2" Type="http://schemas.openxmlformats.org/officeDocument/2006/relationships/slideLayout" Target="../slideLayouts/slideLayout2.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eg"/><Relationship Id="rId2" Type="http://schemas.openxmlformats.org/officeDocument/2006/relationships/slideLayout" Target="../slideLayouts/slideLayou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eg"/><Relationship Id="rId2" Type="http://schemas.openxmlformats.org/officeDocument/2006/relationships/slideLayout" Target="../slideLayouts/slideLayout2.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svg"/><Relationship Id="rId3" Type="http://schemas.openxmlformats.org/officeDocument/2006/relationships/image" Target="../media/image-10-1.png"/><Relationship Id="rId4" Type="http://schemas.openxmlformats.org/officeDocument/2006/relationships/image" Target="../media/image-10-2.svg"/><Relationship Id="rId5" Type="http://schemas.openxmlformats.org/officeDocument/2006/relationships/image" Target="../media/image-10-1.png"/><Relationship Id="rId6" Type="http://schemas.openxmlformats.org/officeDocument/2006/relationships/image" Target="../media/image-10-2.svg"/><Relationship Id="rId7" Type="http://schemas.openxmlformats.org/officeDocument/2006/relationships/image" Target="../media/image-10-1.png"/><Relationship Id="rId8" Type="http://schemas.openxmlformats.org/officeDocument/2006/relationships/image" Target="../media/image-10-2.svg"/><Relationship Id="rId9" Type="http://schemas.openxmlformats.org/officeDocument/2006/relationships/slideLayout" Target="../slideLayouts/slideLayout2.xml"/><Relationship Id="rId10"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e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77693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Emerging Technology Map</a:t>
            </a:r>
            <a:endParaRPr lang="en-US" sz="37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Nine technologies, one question</a:t>
            </a:r>
            <a:endParaRPr lang="en-US" sz="3700" dirty="0"/>
          </a:p>
        </p:txBody>
      </p:sp>
      <p:sp>
        <p:nvSpPr>
          <p:cNvPr id="4" name="Text 1"/>
          <p:cNvSpPr/>
          <p:nvPr/>
        </p:nvSpPr>
        <p:spPr>
          <a:xfrm>
            <a:off x="661475"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vendor sells your school something</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Somebody has to make it work</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With systems built before it existed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That somebody is the job</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p:nvPr/>
        </p:nvSpPr>
        <p:spPr>
          <a:xfrm>
            <a:off x="661475" y="164881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four models and machines</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61475" y="2617490"/>
            <a:ext cx="5339820" cy="1139924"/>
          </a:xfrm>
          <a:prstGeom prst="rect">
            <a:avLst/>
          </a:prstGeom>
        </p:spPr>
      </p:pic>
      <p:sp>
        <p:nvSpPr>
          <p:cNvPr id="4" name="Text 1"/>
          <p:cNvSpPr/>
          <p:nvPr/>
        </p:nvSpPr>
        <p:spPr>
          <a:xfrm>
            <a:off x="977479" y="2831902"/>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Large language models</a:t>
            </a:r>
            <a:endParaRPr lang="en-US" sz="1850" dirty="0"/>
          </a:p>
        </p:txBody>
      </p:sp>
      <p:sp>
        <p:nvSpPr>
          <p:cNvPr id="5" name="Text 2"/>
          <p:cNvSpPr/>
          <p:nvPr/>
        </p:nvSpPr>
        <p:spPr>
          <a:xfrm>
            <a:off x="977479" y="3240584"/>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Text one token at a time</a:t>
            </a:r>
            <a:endParaRPr lang="en-US" sz="1450" dirty="0"/>
          </a:p>
        </p:txBody>
      </p:sp>
      <p:pic>
        <p:nvPicPr>
          <p:cNvPr id="6"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190301" y="2617490"/>
            <a:ext cx="5339919" cy="1139924"/>
          </a:xfrm>
          <a:prstGeom prst="rect">
            <a:avLst/>
          </a:prstGeom>
        </p:spPr>
      </p:pic>
      <p:sp>
        <p:nvSpPr>
          <p:cNvPr id="7" name="Text 3"/>
          <p:cNvSpPr/>
          <p:nvPr/>
        </p:nvSpPr>
        <p:spPr>
          <a:xfrm>
            <a:off x="6506305" y="2831902"/>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Machine learning</a:t>
            </a:r>
            <a:endParaRPr lang="en-US" sz="1850" dirty="0"/>
          </a:p>
        </p:txBody>
      </p:sp>
      <p:sp>
        <p:nvSpPr>
          <p:cNvPr id="8" name="Text 4"/>
          <p:cNvSpPr/>
          <p:nvPr/>
        </p:nvSpPr>
        <p:spPr>
          <a:xfrm>
            <a:off x="6506305" y="3240584"/>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Behaviour fitted to data</a:t>
            </a:r>
            <a:endParaRPr lang="en-US" sz="1450" dirty="0"/>
          </a:p>
        </p:txBody>
      </p:sp>
      <p:pic>
        <p:nvPicPr>
          <p:cNvPr id="9"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661475" y="3946426"/>
            <a:ext cx="5339820" cy="1139924"/>
          </a:xfrm>
          <a:prstGeom prst="rect">
            <a:avLst/>
          </a:prstGeom>
        </p:spPr>
      </p:pic>
      <p:sp>
        <p:nvSpPr>
          <p:cNvPr id="10" name="Text 5"/>
          <p:cNvSpPr/>
          <p:nvPr/>
        </p:nvSpPr>
        <p:spPr>
          <a:xfrm>
            <a:off x="977479" y="4160838"/>
            <a:ext cx="48094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Artificial intelligence</a:t>
            </a:r>
            <a:endParaRPr lang="en-US" sz="1850" dirty="0"/>
          </a:p>
        </p:txBody>
      </p:sp>
      <p:sp>
        <p:nvSpPr>
          <p:cNvPr id="11" name="Text 6"/>
          <p:cNvSpPr/>
          <p:nvPr/>
        </p:nvSpPr>
        <p:spPr>
          <a:xfrm>
            <a:off x="977479" y="4569520"/>
            <a:ext cx="48094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The umbrella term</a:t>
            </a:r>
            <a:endParaRPr lang="en-US" sz="1450" dirty="0"/>
          </a:p>
        </p:txBody>
      </p:sp>
      <p:pic>
        <p:nvPicPr>
          <p:cNvPr id="12"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190301" y="3946426"/>
            <a:ext cx="5339919" cy="1139924"/>
          </a:xfrm>
          <a:prstGeom prst="rect">
            <a:avLst/>
          </a:prstGeom>
        </p:spPr>
      </p:pic>
      <p:sp>
        <p:nvSpPr>
          <p:cNvPr id="13" name="Text 7"/>
          <p:cNvSpPr/>
          <p:nvPr/>
        </p:nvSpPr>
        <p:spPr>
          <a:xfrm>
            <a:off x="6506305" y="4160838"/>
            <a:ext cx="4809509"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Watch that third one carefully</a:t>
            </a:r>
            <a:endParaRPr lang="en-US" sz="1850" dirty="0"/>
          </a:p>
        </p:txBody>
      </p:sp>
      <p:sp>
        <p:nvSpPr>
          <p:cNvPr id="14" name="Text 8"/>
          <p:cNvSpPr/>
          <p:nvPr/>
        </p:nvSpPr>
        <p:spPr>
          <a:xfrm>
            <a:off x="6506305" y="4569520"/>
            <a:ext cx="4809509"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AI contains the others</a:t>
            </a:r>
            <a:endParaRPr lang="en-US" sz="1450" dirty="0"/>
          </a:p>
        </p:txBody>
      </p:sp>
      <p:sp>
        <p:nvSpPr>
          <p:cNvPr id="15" name="Text 9"/>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7619809" y="0"/>
            <a:ext cx="4571886" cy="6858000"/>
          </a:xfrm>
          <a:prstGeom prst="rect">
            <a:avLst/>
          </a:prstGeom>
        </p:spPr>
      </p:pic>
      <p:sp>
        <p:nvSpPr>
          <p:cNvPr id="3" name="Text 0"/>
          <p:cNvSpPr/>
          <p:nvPr/>
        </p:nvSpPr>
        <p:spPr>
          <a:xfrm>
            <a:off x="661475" y="2226568"/>
            <a:ext cx="6296860"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four in the building</a:t>
            </a:r>
            <a:endParaRPr lang="en-US" sz="3700" dirty="0"/>
          </a:p>
        </p:txBody>
      </p:sp>
      <p:sp>
        <p:nvSpPr>
          <p:cNvPr id="4" name="Text 1"/>
          <p:cNvSpPr/>
          <p:nvPr/>
        </p:nvSpPr>
        <p:spPr>
          <a:xfrm>
            <a:off x="661475" y="3100685"/>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Internet of Things, objects that report</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SMART devices, the consumer version</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BYOD, a policy in a technology costume</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Additive manufacturing, the file is the part</a:t>
            </a:r>
            <a:endParaRPr lang="en-US" sz="1450" dirty="0"/>
          </a:p>
        </p:txBody>
      </p:sp>
      <p:sp>
        <p:nvSpPr>
          <p:cNvPr id="5" name="Text 2"/>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p:nvPr/>
        </p:nvSpPr>
        <p:spPr>
          <a:xfrm>
            <a:off x="661475" y="761901"/>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two that hold everything up</a:t>
            </a:r>
            <a:endParaRPr lang="en-US" sz="3700" dirty="0"/>
          </a:p>
        </p:txBody>
      </p:sp>
      <p:pic>
        <p:nvPicPr>
          <p:cNvPr id="3" name="Image 0" descr="preencoded.png">    </p:cNvPr>
          <p:cNvPicPr>
            <a:picLocks noChangeAspect="1"/>
          </p:cNvPicPr>
          <p:nvPr/>
        </p:nvPicPr>
        <p:blipFill>
          <a:blip r:embed="rId1"/>
          <a:stretch>
            <a:fillRect/>
          </a:stretch>
        </p:blipFill>
        <p:spPr>
          <a:xfrm>
            <a:off x="661475" y="1848644"/>
            <a:ext cx="6903269" cy="3911898"/>
          </a:xfrm>
          <a:prstGeom prst="rect">
            <a:avLst/>
          </a:prstGeom>
        </p:spPr>
      </p:pic>
      <p:sp>
        <p:nvSpPr>
          <p:cNvPr id="4" name="Text 1"/>
          <p:cNvSpPr/>
          <p:nvPr/>
        </p:nvSpPr>
        <p:spPr>
          <a:xfrm>
            <a:off x="8032251" y="2630388"/>
            <a:ext cx="3504219"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Services virtualization</a:t>
            </a:r>
            <a:endParaRPr lang="en-US" sz="1850" dirty="0"/>
          </a:p>
        </p:txBody>
      </p:sp>
      <p:sp>
        <p:nvSpPr>
          <p:cNvPr id="5" name="Text 2"/>
          <p:cNvSpPr/>
          <p:nvPr/>
        </p:nvSpPr>
        <p:spPr>
          <a:xfrm>
            <a:off x="8032251" y="3114675"/>
            <a:ext cx="350421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Shared hardware. No fixed machine, no fixed address.</a:t>
            </a:r>
            <a:endParaRPr lang="en-US" sz="1450" dirty="0"/>
          </a:p>
        </p:txBody>
      </p:sp>
      <p:sp>
        <p:nvSpPr>
          <p:cNvPr id="6" name="Text 3"/>
          <p:cNvSpPr/>
          <p:nvPr/>
        </p:nvSpPr>
        <p:spPr>
          <a:xfrm>
            <a:off x="8032251" y="3908524"/>
            <a:ext cx="3504219" cy="295275"/>
          </a:xfrm>
          <a:prstGeom prst="rect">
            <a:avLst/>
          </a:prstGeom>
          <a:noFill/>
          <a:ln/>
        </p:spPr>
        <p:txBody>
          <a:bodyPr wrap="none" lIns="0" tIns="0" rIns="0" bIns="0" rtlCol="0" anchor="t"/>
          <a:lstStyle/>
          <a:p>
            <a:pPr algn="l" indent="0" marL="0">
              <a:lnSpc>
                <a:spcPct val="104000"/>
              </a:lnSpc>
              <a:buNone/>
            </a:pPr>
            <a:r>
              <a:rPr lang="en-US" sz="1850" b="1" dirty="0">
                <a:solidFill>
                  <a:srgbClr val="111111"/>
                </a:solidFill>
                <a:latin typeface="Orbitron Bold" pitchFamily="34" charset="0"/>
                <a:ea typeface="Orbitron Bold" pitchFamily="34" charset="-122"/>
                <a:cs typeface="Orbitron Bold" pitchFamily="34" charset="-120"/>
              </a:rPr>
              <a:t>Mixed reality</a:t>
            </a:r>
            <a:endParaRPr lang="en-US" sz="1850" dirty="0"/>
          </a:p>
        </p:txBody>
      </p:sp>
      <p:sp>
        <p:nvSpPr>
          <p:cNvPr id="7" name="Text 4"/>
          <p:cNvSpPr/>
          <p:nvPr/>
        </p:nvSpPr>
        <p:spPr>
          <a:xfrm>
            <a:off x="8032251" y="4392811"/>
            <a:ext cx="3504219" cy="604838"/>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Content in your space. Needs a live feed from real systems.</a:t>
            </a:r>
            <a:endParaRPr lang="en-US" sz="1450" dirty="0"/>
          </a:p>
        </p:txBody>
      </p:sp>
      <p:sp>
        <p:nvSpPr>
          <p:cNvPr id="8"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217613"/>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Four questions that beat a definition</a:t>
            </a:r>
            <a:endParaRPr lang="en-US" sz="3700" dirty="0"/>
          </a:p>
        </p:txBody>
      </p:sp>
      <p:sp>
        <p:nvSpPr>
          <p:cNvPr id="4" name="Shape 1"/>
          <p:cNvSpPr/>
          <p:nvPr/>
        </p:nvSpPr>
        <p:spPr>
          <a:xfrm>
            <a:off x="5233360" y="2682379"/>
            <a:ext cx="425241" cy="425252"/>
          </a:xfrm>
          <a:prstGeom prst="roundRect">
            <a:avLst>
              <a:gd name="adj" fmla="val 18669"/>
            </a:avLst>
          </a:prstGeom>
          <a:solidFill>
            <a:srgbClr val="D1E5FA"/>
          </a:solidFill>
          <a:ln w="19050">
            <a:solidFill>
              <a:srgbClr val="B7CBE0"/>
            </a:solidFill>
            <a:prstDash val="solid"/>
          </a:ln>
        </p:spPr>
      </p:sp>
      <p:sp>
        <p:nvSpPr>
          <p:cNvPr id="5" name="Text 2"/>
          <p:cNvSpPr/>
          <p:nvPr/>
        </p:nvSpPr>
        <p:spPr>
          <a:xfrm>
            <a:off x="5304251" y="271780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1</a:t>
            </a:r>
            <a:endParaRPr lang="en-US" sz="2200" dirty="0"/>
          </a:p>
        </p:txBody>
      </p:sp>
      <p:sp>
        <p:nvSpPr>
          <p:cNvPr id="6" name="Text 3"/>
          <p:cNvSpPr/>
          <p:nvPr/>
        </p:nvSpPr>
        <p:spPr>
          <a:xfrm>
            <a:off x="5847608" y="274726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does it do the old thing could not</a:t>
            </a:r>
            <a:endParaRPr lang="en-US" sz="1850" dirty="0"/>
          </a:p>
        </p:txBody>
      </p:sp>
      <p:sp>
        <p:nvSpPr>
          <p:cNvPr id="7" name="Shape 4"/>
          <p:cNvSpPr/>
          <p:nvPr/>
        </p:nvSpPr>
        <p:spPr>
          <a:xfrm>
            <a:off x="5233360" y="3485654"/>
            <a:ext cx="425241" cy="425252"/>
          </a:xfrm>
          <a:prstGeom prst="roundRect">
            <a:avLst>
              <a:gd name="adj" fmla="val 18669"/>
            </a:avLst>
          </a:prstGeom>
          <a:solidFill>
            <a:srgbClr val="D1E5FA"/>
          </a:solidFill>
          <a:ln w="19050">
            <a:solidFill>
              <a:srgbClr val="B7CBE0"/>
            </a:solidFill>
            <a:prstDash val="solid"/>
          </a:ln>
        </p:spPr>
      </p:sp>
      <p:sp>
        <p:nvSpPr>
          <p:cNvPr id="8" name="Text 5"/>
          <p:cNvSpPr/>
          <p:nvPr/>
        </p:nvSpPr>
        <p:spPr>
          <a:xfrm>
            <a:off x="5304251" y="352107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2</a:t>
            </a:r>
            <a:endParaRPr lang="en-US" sz="2200" dirty="0"/>
          </a:p>
        </p:txBody>
      </p:sp>
      <p:sp>
        <p:nvSpPr>
          <p:cNvPr id="9" name="Text 6"/>
          <p:cNvSpPr/>
          <p:nvPr/>
        </p:nvSpPr>
        <p:spPr>
          <a:xfrm>
            <a:off x="5847608" y="355054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does it have to connect to</a:t>
            </a:r>
            <a:endParaRPr lang="en-US" sz="1850" dirty="0"/>
          </a:p>
        </p:txBody>
      </p:sp>
      <p:sp>
        <p:nvSpPr>
          <p:cNvPr id="10" name="Shape 7"/>
          <p:cNvSpPr/>
          <p:nvPr/>
        </p:nvSpPr>
        <p:spPr>
          <a:xfrm>
            <a:off x="5233360" y="4288929"/>
            <a:ext cx="425241" cy="425252"/>
          </a:xfrm>
          <a:prstGeom prst="roundRect">
            <a:avLst>
              <a:gd name="adj" fmla="val 18669"/>
            </a:avLst>
          </a:prstGeom>
          <a:solidFill>
            <a:srgbClr val="D1E5FA"/>
          </a:solidFill>
          <a:ln w="19050">
            <a:solidFill>
              <a:srgbClr val="B7CBE0"/>
            </a:solidFill>
            <a:prstDash val="solid"/>
          </a:ln>
        </p:spPr>
      </p:sp>
      <p:sp>
        <p:nvSpPr>
          <p:cNvPr id="11" name="Text 8"/>
          <p:cNvSpPr/>
          <p:nvPr/>
        </p:nvSpPr>
        <p:spPr>
          <a:xfrm>
            <a:off x="5304251" y="4324350"/>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3</a:t>
            </a:r>
            <a:endParaRPr lang="en-US" sz="2200" dirty="0"/>
          </a:p>
        </p:txBody>
      </p:sp>
      <p:sp>
        <p:nvSpPr>
          <p:cNvPr id="12" name="Text 9"/>
          <p:cNvSpPr/>
          <p:nvPr/>
        </p:nvSpPr>
        <p:spPr>
          <a:xfrm>
            <a:off x="5847608" y="4353818"/>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Who carries the cost when it is wrong</a:t>
            </a:r>
            <a:endParaRPr lang="en-US" sz="1850" dirty="0"/>
          </a:p>
        </p:txBody>
      </p:sp>
      <p:sp>
        <p:nvSpPr>
          <p:cNvPr id="13" name="Shape 10"/>
          <p:cNvSpPr/>
          <p:nvPr/>
        </p:nvSpPr>
        <p:spPr>
          <a:xfrm>
            <a:off x="5233360" y="5092204"/>
            <a:ext cx="425241" cy="425252"/>
          </a:xfrm>
          <a:prstGeom prst="roundRect">
            <a:avLst>
              <a:gd name="adj" fmla="val 18669"/>
            </a:avLst>
          </a:prstGeom>
          <a:solidFill>
            <a:srgbClr val="D1E5FA"/>
          </a:solidFill>
          <a:ln w="19050">
            <a:solidFill>
              <a:srgbClr val="B7CBE0"/>
            </a:solidFill>
            <a:prstDash val="solid"/>
          </a:ln>
        </p:spPr>
      </p:sp>
      <p:sp>
        <p:nvSpPr>
          <p:cNvPr id="14" name="Text 11"/>
          <p:cNvSpPr/>
          <p:nvPr/>
        </p:nvSpPr>
        <p:spPr>
          <a:xfrm>
            <a:off x="5304251" y="5127625"/>
            <a:ext cx="283461" cy="354409"/>
          </a:xfrm>
          <a:prstGeom prst="rect">
            <a:avLst/>
          </a:prstGeom>
          <a:noFill/>
          <a:ln/>
        </p:spPr>
        <p:txBody>
          <a:bodyPr wrap="none" lIns="0" tIns="0" rIns="0" bIns="0" rtlCol="0" anchor="ctr"/>
          <a:lstStyle/>
          <a:p>
            <a:pPr algn="ctr" indent="0" marL="0">
              <a:lnSpc>
                <a:spcPct val="100000"/>
              </a:lnSpc>
              <a:buNone/>
            </a:pPr>
            <a:r>
              <a:rPr lang="en-US" sz="2200" b="1" dirty="0">
                <a:solidFill>
                  <a:srgbClr val="1C1C1C"/>
                </a:solidFill>
                <a:latin typeface="Orbitron Bold" pitchFamily="34" charset="0"/>
                <a:ea typeface="Orbitron Bold" pitchFamily="34" charset="-122"/>
                <a:cs typeface="Orbitron Bold" pitchFamily="34" charset="-120"/>
              </a:rPr>
              <a:t>4</a:t>
            </a:r>
            <a:endParaRPr lang="en-US" sz="2200" dirty="0"/>
          </a:p>
        </p:txBody>
      </p:sp>
      <p:sp>
        <p:nvSpPr>
          <p:cNvPr id="15" name="Text 12"/>
          <p:cNvSpPr/>
          <p:nvPr/>
        </p:nvSpPr>
        <p:spPr>
          <a:xfrm>
            <a:off x="5847608" y="5157093"/>
            <a:ext cx="5682612"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What does it look like when it fails</a:t>
            </a:r>
            <a:endParaRPr lang="en-US" sz="1850" dirty="0"/>
          </a:p>
        </p:txBody>
      </p:sp>
      <p:sp>
        <p:nvSpPr>
          <p:cNvPr id="16" name="Text 13"/>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p:nvPr/>
        </p:nvSpPr>
        <p:spPr>
          <a:xfrm>
            <a:off x="661475" y="1794073"/>
            <a:ext cx="10868745"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a language model is the wrong tool</a:t>
            </a:r>
            <a:endParaRPr lang="en-US" sz="3700" dirty="0"/>
          </a:p>
        </p:txBody>
      </p:sp>
      <p:sp>
        <p:nvSpPr>
          <p:cNvPr id="3" name="Shape 1"/>
          <p:cNvSpPr/>
          <p:nvPr/>
        </p:nvSpPr>
        <p:spPr>
          <a:xfrm>
            <a:off x="661475" y="3353395"/>
            <a:ext cx="10868745" cy="1587698"/>
          </a:xfrm>
          <a:prstGeom prst="roundRect">
            <a:avLst>
              <a:gd name="adj" fmla="val 5000"/>
            </a:avLst>
          </a:prstGeom>
          <a:solidFill>
            <a:srgbClr val="F2F2F2"/>
          </a:solidFill>
          <a:ln/>
        </p:spPr>
      </p:sp>
      <p:sp>
        <p:nvSpPr>
          <p:cNvPr id="4" name="Text 2"/>
          <p:cNvSpPr/>
          <p:nvPr/>
        </p:nvSpPr>
        <p:spPr>
          <a:xfrm>
            <a:off x="888283" y="3542407"/>
            <a:ext cx="10415129" cy="1209675"/>
          </a:xfrm>
          <a:prstGeom prst="rect">
            <a:avLst/>
          </a:prstGeom>
          <a:noFill/>
          <a:ln/>
        </p:spPr>
        <p:txBody>
          <a:bodyPr wrap="square" lIns="0" tIns="0" rIns="0" bIns="0" rtlCol="0" anchor="t">
            <a:normAutofit/>
          </a:bodyPr>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add up a column of numbers      -&gt; arithmetic in your code</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decide who may open a door      -&gt; a rule and an access list</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find every ticket saying wifi   -&gt; a search</a:t>
            </a:r>
            <a:endParaRPr lang="en-US" sz="1450" dirty="0"/>
          </a:p>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compute a student's grade       -&gt; the gradebook formula</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p:nvPr/>
        </p:nvSpPr>
        <p:spPr>
          <a:xfrm>
            <a:off x="661475" y="2542977"/>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Where it earns its place</a:t>
            </a:r>
            <a:endParaRPr lang="en-US" sz="3700" dirty="0"/>
          </a:p>
        </p:txBody>
      </p:sp>
      <p:sp>
        <p:nvSpPr>
          <p:cNvPr id="3" name="Shape 1"/>
          <p:cNvSpPr/>
          <p:nvPr/>
        </p:nvSpPr>
        <p:spPr>
          <a:xfrm>
            <a:off x="661475" y="3511649"/>
            <a:ext cx="10868745" cy="680442"/>
          </a:xfrm>
          <a:prstGeom prst="roundRect">
            <a:avLst>
              <a:gd name="adj" fmla="val 11667"/>
            </a:avLst>
          </a:prstGeom>
          <a:solidFill>
            <a:srgbClr val="F2F2F2"/>
          </a:solidFill>
          <a:ln/>
        </p:spPr>
      </p:sp>
      <p:sp>
        <p:nvSpPr>
          <p:cNvPr id="4" name="Text 2"/>
          <p:cNvSpPr/>
          <p:nvPr/>
        </p:nvSpPr>
        <p:spPr>
          <a:xfrm>
            <a:off x="888283" y="3700661"/>
            <a:ext cx="11024713" cy="302419"/>
          </a:xfrm>
          <a:prstGeom prst="rect">
            <a:avLst/>
          </a:prstGeom>
          <a:noFill/>
          <a:ln/>
        </p:spPr>
        <p:txBody>
          <a:bodyPr wrap="none" lIns="0" tIns="0" rIns="0" bIns="0" rtlCol="0" anchor="t"/>
          <a:lstStyle/>
          <a:p>
            <a:pPr algn="l" indent="0" marL="0">
              <a:lnSpc>
                <a:spcPct val="133000"/>
              </a:lnSpc>
              <a:buNone/>
            </a:pPr>
            <a:r>
              <a:rPr lang="en-US" sz="1450" dirty="0">
                <a:solidFill>
                  <a:srgbClr val="24292E"/>
                </a:solidFill>
                <a:latin typeface="Consolas" pitchFamily="34" charset="0"/>
                <a:ea typeface="Consolas" pitchFamily="34" charset="-122"/>
                <a:cs typeface="Consolas" pitchFamily="34" charset="-120"/>
              </a:rPr>
              <a:t>summarise 200 open tickets into themes   -&gt; a language model</a:t>
            </a:r>
            <a:endParaRPr lang="en-US" sz="1450" dirty="0"/>
          </a:p>
        </p:txBody>
      </p:sp>
      <p:sp>
        <p:nvSpPr>
          <p:cNvPr id="5" name="Text 3"/>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645345"/>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The sentence that says nothing</a:t>
            </a:r>
            <a:endParaRPr lang="en-US" sz="3700" dirty="0"/>
          </a:p>
        </p:txBody>
      </p:sp>
      <p:sp>
        <p:nvSpPr>
          <p:cNvPr id="4" name="Text 1"/>
          <p:cNvSpPr/>
          <p:nvPr/>
        </p:nvSpPr>
        <p:spPr>
          <a:xfrm>
            <a:off x="5516821" y="3322737"/>
            <a:ext cx="6622984" cy="302419"/>
          </a:xfrm>
          <a:prstGeom prst="rect">
            <a:avLst/>
          </a:prstGeom>
          <a:noFill/>
          <a:ln/>
        </p:spPr>
        <p:txBody>
          <a:bodyPr wrap="none" lIns="0" tIns="0" rIns="0" bIns="0" rtlCol="0" anchor="t"/>
          <a:lstStyle/>
          <a:p>
            <a:pPr algn="l" indent="0" marL="0">
              <a:lnSpc>
                <a:spcPct val="133000"/>
              </a:lnSpc>
              <a:buNone/>
            </a:pPr>
            <a:r>
              <a:rPr lang="en-US" sz="1450" dirty="0">
                <a:solidFill>
                  <a:srgbClr val="1C1C1C"/>
                </a:solidFill>
                <a:latin typeface="Roboto Condensed" pitchFamily="34" charset="0"/>
                <a:ea typeface="Roboto Condensed" pitchFamily="34" charset="-122"/>
                <a:cs typeface="Roboto Condensed" pitchFamily="34" charset="-120"/>
              </a:rPr>
              <a:t>Emerging technologies are transforming every industry</a:t>
            </a:r>
            <a:endParaRPr lang="en-US" sz="1450" dirty="0"/>
          </a:p>
        </p:txBody>
      </p:sp>
      <p:sp>
        <p:nvSpPr>
          <p:cNvPr id="5" name="Shape 2"/>
          <p:cNvSpPr/>
          <p:nvPr/>
        </p:nvSpPr>
        <p:spPr>
          <a:xfrm>
            <a:off x="5233360" y="3110111"/>
            <a:ext cx="25399" cy="727670"/>
          </a:xfrm>
          <a:prstGeom prst="roundRect">
            <a:avLst>
              <a:gd name="adj" fmla="val 50001"/>
            </a:avLst>
          </a:prstGeom>
          <a:solidFill>
            <a:srgbClr val="57A1EB"/>
          </a:solidFill>
          <a:ln/>
        </p:spPr>
      </p:sp>
      <p:sp>
        <p:nvSpPr>
          <p:cNvPr id="6" name="Text 3"/>
          <p:cNvSpPr/>
          <p:nvPr/>
        </p:nvSpPr>
        <p:spPr>
          <a:xfrm>
            <a:off x="5233360" y="4050407"/>
            <a:ext cx="6296860" cy="1039416"/>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technology named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 industry named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Nothing that could be false</a:t>
            </a:r>
            <a:endParaRPr lang="en-US" sz="1450" dirty="0"/>
          </a:p>
        </p:txBody>
      </p:sp>
      <p:sp>
        <p:nvSpPr>
          <p:cNvPr id="7" name="Text 4"/>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p:nvPr/>
        </p:nvSpPr>
        <p:spPr>
          <a:xfrm>
            <a:off x="661475" y="2112466"/>
            <a:ext cx="10868745" cy="590649"/>
          </a:xfrm>
          <a:prstGeom prst="rect">
            <a:avLst/>
          </a:prstGeom>
          <a:noFill/>
          <a:ln/>
        </p:spPr>
        <p:txBody>
          <a:bodyPr wrap="none" lIns="0" tIns="0" rIns="0" bIns="0" rtlCol="0" anchor="t"/>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So ask what would change it</a:t>
            </a:r>
            <a:endParaRPr lang="en-US" sz="3700" dirty="0"/>
          </a:p>
        </p:txBody>
      </p:sp>
      <p:pic>
        <p:nvPicPr>
          <p:cNvPr id="3" name="Image 0" descr="preencoded.png">    </p:cNvPr>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732315" y="3086993"/>
            <a:ext cx="283461" cy="283468"/>
          </a:xfrm>
          <a:prstGeom prst="rect">
            <a:avLst/>
          </a:prstGeom>
        </p:spPr>
      </p:pic>
      <p:sp>
        <p:nvSpPr>
          <p:cNvPr id="4" name="Text 1"/>
          <p:cNvSpPr/>
          <p:nvPr/>
        </p:nvSpPr>
        <p:spPr>
          <a:xfrm>
            <a:off x="1275723" y="3081139"/>
            <a:ext cx="4701958" cy="590550"/>
          </a:xfrm>
          <a:prstGeom prst="rect">
            <a:avLst/>
          </a:prstGeom>
          <a:noFill/>
          <a:ln/>
        </p:spPr>
        <p:txBody>
          <a:bodyPr wrap="square" lIns="0" tIns="0" rIns="0" bIns="0" rtlCol="0" anchor="t">
            <a:normAutofit/>
          </a:bodyPr>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 sentence that cannot be wrong is decoration</a:t>
            </a:r>
            <a:endParaRPr lang="en-US" sz="1850" dirty="0"/>
          </a:p>
        </p:txBody>
      </p:sp>
      <p:pic>
        <p:nvPicPr>
          <p:cNvPr id="5" name="Image 1" descr="preencoded.png">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284755" y="3086993"/>
            <a:ext cx="283461" cy="283468"/>
          </a:xfrm>
          <a:prstGeom prst="rect">
            <a:avLst/>
          </a:prstGeom>
        </p:spPr>
      </p:pic>
      <p:sp>
        <p:nvSpPr>
          <p:cNvPr id="6" name="Text 2"/>
          <p:cNvSpPr/>
          <p:nvPr/>
        </p:nvSpPr>
        <p:spPr>
          <a:xfrm>
            <a:off x="6828163" y="3081139"/>
            <a:ext cx="470205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Ask what evidence would change it</a:t>
            </a:r>
            <a:endParaRPr lang="en-US" sz="1850" dirty="0"/>
          </a:p>
        </p:txBody>
      </p:sp>
      <p:pic>
        <p:nvPicPr>
          <p:cNvPr id="7" name="Image 2" descr="preencoded.png">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32315" y="4055566"/>
            <a:ext cx="283461" cy="283468"/>
          </a:xfrm>
          <a:prstGeom prst="rect">
            <a:avLst/>
          </a:prstGeom>
        </p:spPr>
      </p:pic>
      <p:sp>
        <p:nvSpPr>
          <p:cNvPr id="8" name="Text 3"/>
          <p:cNvSpPr/>
          <p:nvPr/>
        </p:nvSpPr>
        <p:spPr>
          <a:xfrm>
            <a:off x="1275723" y="4049713"/>
            <a:ext cx="4701958"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If there is none, cut it</a:t>
            </a:r>
            <a:endParaRPr lang="en-US" sz="1850" dirty="0"/>
          </a:p>
        </p:txBody>
      </p:sp>
      <p:pic>
        <p:nvPicPr>
          <p:cNvPr id="9" name="Image 3" descr="preencoded.png">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6284755" y="4055566"/>
            <a:ext cx="283461" cy="283468"/>
          </a:xfrm>
          <a:prstGeom prst="rect">
            <a:avLst/>
          </a:prstGeom>
        </p:spPr>
      </p:pic>
      <p:sp>
        <p:nvSpPr>
          <p:cNvPr id="10" name="Text 4"/>
          <p:cNvSpPr/>
          <p:nvPr/>
        </p:nvSpPr>
        <p:spPr>
          <a:xfrm>
            <a:off x="6828163" y="4049713"/>
            <a:ext cx="4702057" cy="295275"/>
          </a:xfrm>
          <a:prstGeom prst="rect">
            <a:avLst/>
          </a:prstGeom>
          <a:noFill/>
          <a:ln/>
        </p:spPr>
        <p:txBody>
          <a:bodyPr wrap="none" lIns="0" tIns="0" rIns="0" bIns="0" rtlCol="0" anchor="t"/>
          <a:lstStyle/>
          <a:p>
            <a:pPr algn="l" indent="0" marL="0">
              <a:lnSpc>
                <a:spcPct val="104000"/>
              </a:lnSpc>
              <a:buNone/>
            </a:pPr>
            <a:r>
              <a:rPr lang="en-US" sz="1850" b="1" dirty="0">
                <a:solidFill>
                  <a:srgbClr val="1C1C1C"/>
                </a:solidFill>
                <a:latin typeface="Orbitron Bold" pitchFamily="34" charset="0"/>
                <a:ea typeface="Orbitron Bold" pitchFamily="34" charset="-122"/>
                <a:cs typeface="Orbitron Bold" pitchFamily="34" charset="-120"/>
              </a:rPr>
              <a:t>You will meet this again Friday</a:t>
            </a:r>
            <a:endParaRPr lang="en-US" sz="1850" dirty="0"/>
          </a:p>
        </p:txBody>
      </p:sp>
      <p:sp>
        <p:nvSpPr>
          <p:cNvPr id="11" name="Text 5"/>
          <p:cNvSpPr/>
          <p:nvPr/>
        </p:nvSpPr>
        <p:spPr>
          <a:xfrm>
            <a:off x="132255"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0" y="0"/>
            <a:ext cx="4571886" cy="6858000"/>
          </a:xfrm>
          <a:prstGeom prst="rect">
            <a:avLst/>
          </a:prstGeom>
        </p:spPr>
      </p:pic>
      <p:sp>
        <p:nvSpPr>
          <p:cNvPr id="3" name="Text 0"/>
          <p:cNvSpPr/>
          <p:nvPr/>
        </p:nvSpPr>
        <p:spPr>
          <a:xfrm>
            <a:off x="5233360" y="1931194"/>
            <a:ext cx="6296860" cy="1181298"/>
          </a:xfrm>
          <a:prstGeom prst="rect">
            <a:avLst/>
          </a:prstGeom>
          <a:noFill/>
          <a:ln/>
        </p:spPr>
        <p:txBody>
          <a:bodyPr wrap="square" lIns="0" tIns="0" rIns="0" bIns="0" rtlCol="0" anchor="t">
            <a:normAutofit/>
          </a:bodyPr>
          <a:lstStyle/>
          <a:p>
            <a:pPr algn="l" indent="0" marL="0">
              <a:lnSpc>
                <a:spcPct val="104000"/>
              </a:lnSpc>
              <a:buNone/>
            </a:pPr>
            <a:r>
              <a:rPr lang="en-US" sz="3700" b="1" dirty="0">
                <a:solidFill>
                  <a:srgbClr val="111111"/>
                </a:solidFill>
                <a:latin typeface="Orbitron Bold" pitchFamily="34" charset="0"/>
                <a:ea typeface="Orbitron Bold" pitchFamily="34" charset="-122"/>
                <a:cs typeface="Orbitron Bold" pitchFamily="34" charset="-120"/>
              </a:rPr>
              <a:t>What you are about to build</a:t>
            </a:r>
            <a:endParaRPr lang="en-US" sz="3700" dirty="0"/>
          </a:p>
        </p:txBody>
      </p:sp>
      <p:sp>
        <p:nvSpPr>
          <p:cNvPr id="4" name="Text 1"/>
          <p:cNvSpPr/>
          <p:nvPr/>
        </p:nvSpPr>
        <p:spPr>
          <a:xfrm>
            <a:off x="5233360" y="3395960"/>
            <a:ext cx="6296860" cy="1407914"/>
          </a:xfrm>
          <a:prstGeom prst="rect">
            <a:avLst/>
          </a:prstGeom>
          <a:noFill/>
          <a:ln/>
        </p:spPr>
        <p:txBody>
          <a:bodyPr wrap="square" lIns="0" tIns="0" rIns="0" bIns="0" rtlCol="0" anchor="t">
            <a:normAutofit/>
          </a:bodyPr>
          <a:lstStyle/>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Walk the building, find four</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One IoT, one printer, one BYOD, one virtualized</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For each, name what it connects to</a:t>
            </a:r>
            <a:endParaRPr lang="en-US" sz="1450" dirty="0"/>
          </a:p>
          <a:p>
            <a:pPr algn="l" marL="294640" indent="-294640">
              <a:lnSpc>
                <a:spcPct val="133000"/>
              </a:lnSpc>
              <a:buSzPct val="100000"/>
              <a:buChar char="•"/>
            </a:pPr>
            <a:r>
              <a:rPr lang="en-US" sz="1450" dirty="0">
                <a:solidFill>
                  <a:srgbClr val="1C1C1C"/>
                </a:solidFill>
                <a:latin typeface="Roboto Condensed" pitchFamily="34" charset="0"/>
                <a:ea typeface="Roboto Condensed" pitchFamily="34" charset="-122"/>
                <a:cs typeface="Roboto Condensed" pitchFamily="34" charset="-120"/>
              </a:rPr>
              <a:t>A category with nothing in it counts</a:t>
            </a:r>
            <a:endParaRPr lang="en-US" sz="1450" dirty="0"/>
          </a:p>
        </p:txBody>
      </p:sp>
      <p:sp>
        <p:nvSpPr>
          <p:cNvPr id="5" name="Text 2"/>
          <p:cNvSpPr/>
          <p:nvPr/>
        </p:nvSpPr>
        <p:spPr>
          <a:xfrm>
            <a:off x="4704141" y="6457255"/>
            <a:ext cx="3640642" cy="158750"/>
          </a:xfrm>
          <a:prstGeom prst="rect">
            <a:avLst/>
          </a:prstGeom>
          <a:noFill/>
          <a:ln/>
        </p:spPr>
        <p:txBody>
          <a:bodyPr wrap="none" lIns="99235" tIns="0" rIns="59541" bIns="0" rtlCol="0" anchor="t"/>
          <a:lstStyle/>
          <a:p>
            <a:pPr algn="l" indent="0" marL="0">
              <a:lnSpc>
                <a:spcPct val="100000"/>
              </a:lnSpc>
              <a:buNone/>
            </a:pPr>
            <a:r>
              <a:rPr lang="en-US" sz="1000" dirty="0">
                <a:solidFill>
                  <a:srgbClr val="1C1C1C"/>
                </a:solidFill>
                <a:latin typeface="Roboto Condensed" pitchFamily="34" charset="0"/>
                <a:ea typeface="Roboto Condensed" pitchFamily="34" charset="-122"/>
                <a:cs typeface="Roboto Condensed" pitchFamily="34" charset="-120"/>
              </a:rPr>
              <a:t>MCCTC | AI Automation &amp; Software Development</a:t>
            </a:r>
            <a:endParaRPr lang="en-US" sz="10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11</Slides>
  <Notes>11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11</vt:i4>
      </vt:variant>
    </vt:vector>
  </HeadingPairs>
  <TitlesOfParts>
    <vt:vector size="14"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lastModifiedBy/>
  <cp:revision>1</cp:revision>
  <dcterms:created xsi:type="dcterms:W3CDTF">2026-09-16T04:00:53Z</dcterms:created>
  <dcterms:modified xsi:type="dcterms:W3CDTF">2026-09-16T04:00:53Z</dcterms:modified>
</cp:coreProperties>
</file>