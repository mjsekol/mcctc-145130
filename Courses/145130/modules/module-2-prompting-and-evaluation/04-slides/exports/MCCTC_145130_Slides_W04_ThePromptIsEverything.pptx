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been typing into chat boxes for years, and that taught you one habit, which is to keep rephrasing until something looks right. The habit works well enough that you have never had to know what is happening underneath. This week you get asked to explain why one version worked, so before anything else you need to know what the machine on the other end can see. Watch what comes back from six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first paragraph again. It named a checkout sheet, a serial number, a return slot and a repair shelf. Now tell me which of those is true about Room 214. Nobody in here knows, and that is the point. Nothing in the prompt mentioned a sheet or a shelf. Those are things checkout procedures usually have, which is a completely different claim from things your checkout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follow from that, and they explain most of what you will see for the next three weeks. It knows nothing about you. It has no search step unless somebody built one. It fills gaps with whatever is most common across everything it was trained on. And producing a true sentence and producing a false one are the same operation. Here is the sentence to carry all module. It is not lying to you, because lying requires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sentences, zero content. Read them and try to write down one thing you would do differently because of them. You cannot. Ask yourself why that paragraph is there at all. It is there because nothing in the prompt said what finished looks like, so the model kept producing plausible continuation until it ran out of plausible continuation. Padding is a symptom of a missing finish line, and you fix it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question, with two facts added that the model could not have. Watch the numbers on the second line. The prompt went from six words to twenty-eight, and the reply went from a hundred and ten words down to fifty-nine. Before I show you the text, predict which parts of the original reply survived and which parts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I want from you on the exit ticket. Context did not add knowledge. It narrowed the target. Everything left in that reply connects to the sheet, the case and the room you mentioned, and the generic filler is gone. Against our stub the narrowing is all you see. Against the lab's local model it will usually go further and hand your own door and cabinet back to you, and that difference is on the confirmation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version of this system that could know that time. It has no timetable, no network call, and no way of noticing that it has nothing to work from. So watch what it does instead of stopping. Ninety-three confident words, about a real wing of a real building, containing no information about any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is absent. There is no error. There is no sentence saying I have no way to know that. There is no question asking you which bus. On a real local model this usually goes one step worse than our stub and produces a specific time, because a specific time is the shape of an answer to a question like that. That version is the one that catches careful people. Confident, specific, about a real place, and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earlier. There is no file. Every call starts with a context that holds only what you sent this time. Look at what you did not get. You did not get an error saying there is no previous conversation. You got a hundred and ten words about a file that was never sent, and it is the same reply the six-word prompt produced, because both prompts carried the same amount of information about your file, which is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almost everyone makes this mistake in their first week. A chat interface quietly resends the earlier messages for you, so the word earlier does work there. That builds a belief that the model remembers. The moment you call it from your own program the interface is gone, the resending is gone, and the belief is still sitting there. Say the last line with me, because you will meet it eleven more times this module. The dangerous outputs are the ones that look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entry check and then the toolkit README worked all the way through. Acceptance is that test_toolkit dot py prints Ran twenty-nine tests and OK, you have one recorded run in your own runs folder, and you have caused at least two different failure modes on purpose and can tell me the exit code each one gave. Build two is the lab, steps one through five, and the requirement that matters is committing the prompt files before you run them. One hard rule, and it is not negotiable. Your prompt gets recorded verbatim into a file you commit, so no name, no ID, no grade and no schedule goes into a prompt. Invented people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1.png"/><Relationship Id="rId8" Type="http://schemas.openxmlformats.org/officeDocument/2006/relationships/image" Target="../media/image-7-2.svg"/><Relationship Id="rId9" Type="http://schemas.openxmlformats.org/officeDocument/2006/relationships/image" Target="../media/image-7-1.png"/><Relationship Id="rId10" Type="http://schemas.openxmlformats.org/officeDocument/2006/relationships/image" Target="../media/image-7-2.sv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1.png"/><Relationship Id="rId8" Type="http://schemas.openxmlformats.org/officeDocument/2006/relationships/image" Target="../media/image-7-2.svg"/><Relationship Id="rId9" Type="http://schemas.openxmlformats.org/officeDocument/2006/relationships/image" Target="../media/image-7-1.png"/><Relationship Id="rId10" Type="http://schemas.openxmlformats.org/officeDocument/2006/relationships/image" Target="../media/image-7-2.sv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Prompt Is the Whole Input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61380"/>
            <a:ext cx="6296860" cy="1716584"/>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You asked about your school and it answered about a school</a:t>
            </a:r>
            <a:endParaRPr lang="en-US" sz="36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543969"/>
            <a:ext cx="6296860" cy="702965"/>
          </a:xfrm>
          <a:prstGeom prst="rect">
            <a:avLst/>
          </a:prstGeom>
        </p:spPr>
      </p:pic>
      <p:sp>
        <p:nvSpPr>
          <p:cNvPr id="5" name="Text 1"/>
          <p:cNvSpPr/>
          <p:nvPr/>
        </p:nvSpPr>
        <p:spPr>
          <a:xfrm>
            <a:off x="5543411" y="2752427"/>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Six words in about equipment checkout</a:t>
            </a:r>
            <a:endParaRPr lang="en-US" sz="18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424238"/>
            <a:ext cx="6296860" cy="702965"/>
          </a:xfrm>
          <a:prstGeom prst="rect">
            <a:avLst/>
          </a:prstGeom>
        </p:spPr>
      </p:pic>
      <p:sp>
        <p:nvSpPr>
          <p:cNvPr id="7" name="Text 2"/>
          <p:cNvSpPr/>
          <p:nvPr/>
        </p:nvSpPr>
        <p:spPr>
          <a:xfrm>
            <a:off x="5543411" y="3632696"/>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 hundred and ten words back</a:t>
            </a:r>
            <a:endParaRPr lang="en-US" sz="18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304506"/>
            <a:ext cx="6296860" cy="989013"/>
          </a:xfrm>
          <a:prstGeom prst="rect">
            <a:avLst/>
          </a:prstGeom>
        </p:spPr>
      </p:pic>
      <p:sp>
        <p:nvSpPr>
          <p:cNvPr id="9" name="Text 3"/>
          <p:cNvSpPr/>
          <p:nvPr/>
        </p:nvSpPr>
        <p:spPr>
          <a:xfrm>
            <a:off x="5543411" y="4512965"/>
            <a:ext cx="5778355"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It names a sheet, a serial number, a repair shelf</a:t>
            </a:r>
            <a:endParaRPr lang="en-US" sz="18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470823"/>
            <a:ext cx="6296860" cy="702965"/>
          </a:xfrm>
          <a:prstGeom prst="rect">
            <a:avLst/>
          </a:prstGeom>
        </p:spPr>
      </p:pic>
      <p:sp>
        <p:nvSpPr>
          <p:cNvPr id="11" name="Text 4"/>
          <p:cNvSpPr/>
          <p:nvPr/>
        </p:nvSpPr>
        <p:spPr>
          <a:xfrm>
            <a:off x="5543411" y="5679281"/>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You never mentioned any of those</a:t>
            </a:r>
            <a:endParaRPr lang="en-US" sz="180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words in, a hundred and ten out</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"How do you do equipment checkout?" --label demo1 --show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[demo1] 6 prompt words to http://127.0.0.1:11434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110 reply words in 0.02s, recorded in runs\demo1.json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Open the checkout sheet before anyone lines up. Match the serial number on the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case to the number on the sheet. Write the borrower's grade level, not their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schedule. Photograph any damage before the item leaves the room.</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machine can actually see</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sees one thing: the text you sent</a:t>
            </a:r>
            <a:endParaRPr lang="en-US" sz="1850" dirty="0"/>
          </a:p>
        </p:txBody>
      </p:sp>
      <p:sp>
        <p:nvSpPr>
          <p:cNvPr id="5" name="Shape 3"/>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has never seen Room 214 or your club</a:t>
            </a:r>
            <a:endParaRPr lang="en-US" sz="1850" dirty="0"/>
          </a:p>
        </p:txBody>
      </p:sp>
      <p:sp>
        <p:nvSpPr>
          <p:cNvPr id="7" name="Shape 5"/>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does not look anything up</a:t>
            </a:r>
            <a:endParaRPr lang="en-US" sz="1850" dirty="0"/>
          </a:p>
        </p:txBody>
      </p:sp>
      <p:sp>
        <p:nvSpPr>
          <p:cNvPr id="9" name="Shape 7"/>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fills gaps with what is typical</a:t>
            </a:r>
            <a:endParaRPr lang="en-US" sz="1850" dirty="0"/>
          </a:p>
        </p:txBody>
      </p:sp>
      <p:sp>
        <p:nvSpPr>
          <p:cNvPr id="11" name="Shape 9"/>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in the process checks whether the output is true</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part of the reply that says nothing</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It is worth noting that outcomes vary by situation. Many educators agree that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consistency matters more than any single rule. Ultimately, the right approach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depends on your specific needs and goals. Studies have shown that small changes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can produce meaningful improvements.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put the facts it cannot know into the box</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"The Media Club checkout sheet is taped inside the door of Room 214, and the cameras live in the cabinet under the window. How do you run checkout?" --label demo2 --show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[demo2] 28 prompt words to http://127.0.0.1:11434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59 reply words in 0.02s, recorded in runs\demo2.json</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740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Context narrowed the target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42766"/>
            <a:ext cx="3496877" cy="1314648"/>
          </a:xfrm>
          <a:prstGeom prst="rect">
            <a:avLst/>
          </a:prstGeom>
        </p:spPr>
      </p:pic>
      <p:sp>
        <p:nvSpPr>
          <p:cNvPr id="4" name="Text 1"/>
          <p:cNvSpPr/>
          <p:nvPr/>
        </p:nvSpPr>
        <p:spPr>
          <a:xfrm>
            <a:off x="977479"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hundred and ten words became fifty-nine</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442766"/>
            <a:ext cx="3496877" cy="1314648"/>
          </a:xfrm>
          <a:prstGeom prst="rect">
            <a:avLst/>
          </a:prstGeom>
        </p:spPr>
      </p:pic>
      <p:sp>
        <p:nvSpPr>
          <p:cNvPr id="6" name="Text 2"/>
          <p:cNvSpPr/>
          <p:nvPr/>
        </p:nvSpPr>
        <p:spPr>
          <a:xfrm>
            <a:off x="4663363"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material about return slots and repair shelves is gone</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442766"/>
            <a:ext cx="3496877" cy="1314648"/>
          </a:xfrm>
          <a:prstGeom prst="rect">
            <a:avLst/>
          </a:prstGeom>
        </p:spPr>
      </p:pic>
      <p:sp>
        <p:nvSpPr>
          <p:cNvPr id="8" name="Text 3"/>
          <p:cNvSpPr/>
          <p:nvPr/>
        </p:nvSpPr>
        <p:spPr>
          <a:xfrm>
            <a:off x="8349247"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Context did not add knowledge to the model</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314648"/>
          </a:xfrm>
          <a:prstGeom prst="rect">
            <a:avLst/>
          </a:prstGeom>
        </p:spPr>
      </p:pic>
      <p:sp>
        <p:nvSpPr>
          <p:cNvPr id="10" name="Text 4"/>
          <p:cNvSpPr/>
          <p:nvPr/>
        </p:nvSpPr>
        <p:spPr>
          <a:xfrm>
            <a:off x="977479"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moved the reply towards what you supplied</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314648"/>
          </a:xfrm>
          <a:prstGeom prst="rect">
            <a:avLst/>
          </a:prstGeom>
        </p:spPr>
      </p:pic>
      <p:sp>
        <p:nvSpPr>
          <p:cNvPr id="12" name="Text 5"/>
          <p:cNvSpPr/>
          <p:nvPr/>
        </p:nvSpPr>
        <p:spPr>
          <a:xfrm>
            <a:off x="4663363"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real model will also quote your room back at you</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 it something it could not possibly have</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"What time does the late bus leave from the Advanced Technology Wing on Thursday?" --label demo3 --show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[demo3] 14 prompt words to http://127.0.0.1:11434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93 reply words in 0.02s, recorded in runs\demo3.json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Start by writing down what finished looks like. Write down what you decided and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why. Name the one thing that would make this fail.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8124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 what did not happen</a:t>
            </a:r>
            <a:endParaRPr lang="en-US" sz="3700" dirty="0"/>
          </a:p>
        </p:txBody>
      </p:sp>
      <p:sp>
        <p:nvSpPr>
          <p:cNvPr id="4" name="Shape 1"/>
          <p:cNvSpPr/>
          <p:nvPr/>
        </p:nvSpPr>
        <p:spPr>
          <a:xfrm>
            <a:off x="5233360" y="2246015"/>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45407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error, no refusal, no question back to you</a:t>
            </a:r>
            <a:endParaRPr lang="en-US" sz="1850" dirty="0"/>
          </a:p>
        </p:txBody>
      </p:sp>
      <p:sp>
        <p:nvSpPr>
          <p:cNvPr id="6" name="Shape 3"/>
          <p:cNvSpPr/>
          <p:nvPr/>
        </p:nvSpPr>
        <p:spPr>
          <a:xfrm>
            <a:off x="5233360" y="3146425"/>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35448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Ninety-three confident words about a bus</a:t>
            </a:r>
            <a:endParaRPr lang="en-US" sz="1850" dirty="0"/>
          </a:p>
        </p:txBody>
      </p:sp>
      <p:sp>
        <p:nvSpPr>
          <p:cNvPr id="8" name="Shape 5"/>
          <p:cNvSpPr/>
          <p:nvPr/>
        </p:nvSpPr>
        <p:spPr>
          <a:xfrm>
            <a:off x="5233360" y="4046835"/>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25489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Zero information about any bus</a:t>
            </a:r>
            <a:endParaRPr lang="en-US" sz="1850" dirty="0"/>
          </a:p>
        </p:txBody>
      </p:sp>
      <p:sp>
        <p:nvSpPr>
          <p:cNvPr id="10" name="Shape 7"/>
          <p:cNvSpPr/>
          <p:nvPr/>
        </p:nvSpPr>
        <p:spPr>
          <a:xfrm>
            <a:off x="5233360" y="4947245"/>
            <a:ext cx="6296860" cy="1006673"/>
          </a:xfrm>
          <a:prstGeom prst="roundRect">
            <a:avLst>
              <a:gd name="adj" fmla="val 7886"/>
            </a:avLst>
          </a:prstGeom>
          <a:solidFill>
            <a:srgbClr val="D1E5FA"/>
          </a:solidFill>
          <a:ln w="19050">
            <a:solidFill>
              <a:srgbClr val="B7CBE0"/>
            </a:solidFill>
            <a:prstDash val="solid"/>
          </a:ln>
        </p:spPr>
      </p:sp>
      <p:sp>
        <p:nvSpPr>
          <p:cNvPr id="11" name="Text 8"/>
          <p:cNvSpPr/>
          <p:nvPr/>
        </p:nvSpPr>
        <p:spPr>
          <a:xfrm>
            <a:off x="5441417" y="5155307"/>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real model often invents a specific time instead</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the thing it does not print</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 "Use the checkout file I showed you earlier." --label wrong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[wrong] 8 prompt words to http://127.0.0.1:11434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110 reply words in 0.03s, recorded in runs\wrong.json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Open the checkout sheet before anyone lines up. Match the serial number on the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case to the number on the sheet. Write the borrower's grade level, not their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schedule.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4740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failure has no error message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42766"/>
            <a:ext cx="3496877" cy="1314648"/>
          </a:xfrm>
          <a:prstGeom prst="rect">
            <a:avLst/>
          </a:prstGeom>
        </p:spPr>
      </p:pic>
      <p:sp>
        <p:nvSpPr>
          <p:cNvPr id="4" name="Text 1"/>
          <p:cNvSpPr/>
          <p:nvPr/>
        </p:nvSpPr>
        <p:spPr>
          <a:xfrm>
            <a:off x="977479"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prompts carried the same amount about your file: none</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442766"/>
            <a:ext cx="3496877" cy="1314648"/>
          </a:xfrm>
          <a:prstGeom prst="rect">
            <a:avLst/>
          </a:prstGeom>
        </p:spPr>
      </p:pic>
      <p:sp>
        <p:nvSpPr>
          <p:cNvPr id="6" name="Text 2"/>
          <p:cNvSpPr/>
          <p:nvPr/>
        </p:nvSpPr>
        <p:spPr>
          <a:xfrm>
            <a:off x="4663363"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Chat interfaces resend your history, so earlier works there</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442766"/>
            <a:ext cx="3496877" cy="1314648"/>
          </a:xfrm>
          <a:prstGeom prst="rect">
            <a:avLst/>
          </a:prstGeom>
        </p:spPr>
      </p:pic>
      <p:sp>
        <p:nvSpPr>
          <p:cNvPr id="8" name="Text 3"/>
          <p:cNvSpPr/>
          <p:nvPr/>
        </p:nvSpPr>
        <p:spPr>
          <a:xfrm>
            <a:off x="8349247"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Call the model from a program and the resending is gone</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314648"/>
          </a:xfrm>
          <a:prstGeom prst="rect">
            <a:avLst/>
          </a:prstGeom>
        </p:spPr>
      </p:pic>
      <p:sp>
        <p:nvSpPr>
          <p:cNvPr id="10" name="Text 4"/>
          <p:cNvSpPr/>
          <p:nvPr/>
        </p:nvSpPr>
        <p:spPr>
          <a:xfrm>
            <a:off x="977479"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belief that it remembers stays behind</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314648"/>
          </a:xfrm>
          <a:prstGeom prst="rect">
            <a:avLst/>
          </a:prstGeom>
        </p:spPr>
      </p:pic>
      <p:sp>
        <p:nvSpPr>
          <p:cNvPr id="12" name="Text 5"/>
          <p:cNvSpPr/>
          <p:nvPr/>
        </p:nvSpPr>
        <p:spPr>
          <a:xfrm>
            <a:off x="4663363"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dangerous outputs are the ones that look finished</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Entry check first, fifteen minutes, not graded</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the toolkit: start the stub, run one prompt</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Cause two failures on purpose and read the exit codes</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Lab M02-01 steps one through five</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Five prompt files committed before any run</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2026-09-16T04:03:42Z</dcterms:created>
  <dcterms:modified xsi:type="dcterms:W3CDTF">2026-09-16T04:03:42Z</dcterms:modified>
</cp:coreProperties>
</file>