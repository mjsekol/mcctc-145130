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in here is quietly assuming that next year's model will not do this, and that assumption is doing a lot of work in how you plan to use these tools. If fabrication were a bug, the correct response would be to wait for a better model. It is not a bug. It is the normal operation of the system applied to a kind of text where the shape and the truth come apart. That means the response is procedural. Checking has to go into the workflow, because the workflow is the only place a check can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that for a moment. It is a pattern. Something in the shape of a name, a four digit number in brackets, words in title case, a comma, a number, a page range. Producing text in that shape is the same operation as producing any other text. Now ask yourself what part of the process would notice that the thing described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nothing anywhere in the process that could check whether the paper exists. Read the third line again. There is no step that could fail, because there is no step. Now the two consequences you can actually use. The model produces the typical continuation, so where there is a lot of real material the typical continuation is often real, and where there is little, the shape survives and the content is invented. Narrow, local and recent questions are the dangerous ones. Your school, this year, this exact policy. And confidence is a style. A model produces studies consistently show and I am not certain but with equal 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from the prompt file and not from the command line, because the stub seeds its invented sources from the exact prompt text, and one different character produces different fabrications. The prompt was one line. Write a research brief on retrieval practice in secondary schools, cite three sources. You asked for three and you got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one they would have believed before you tell them. It is almost always source three, and the reason is mechanical rather than mysterious. The model produced a title shaped like the question it was handed, so the best-fitting citation is the one to suspect first. That is a genuinely useful heuristic and it is still not evidence. Real papers also have titles that match your question, which is why they come up when you search. Go and look,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fabricated sources. The sources block now contains exactly what you supplied and nothing else. This is the single most important behavioural demonstration in the module, and here is the sentence that has to go with it. The constraint did not make the model honest. It changed what was nearby. There is no honesty mechanism in there to switch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is the big one, and retrieval systems in production are this idea at scale. The refusal route matters because without it a grounded model with thin sources still has to produce something. Asking for less is the one nobody does. Cite three sources is a request for three citation-shaped strings, so if you need one real source, ask for one, or ask for none and find them yourself. And ask for quotes, because a quote from a supplied source can be checked against the source and a summary cannot, which is where misattribution hides. All four shift probabilities. A shifted probability is not a guarantee. You still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grounding instruction is there and the refusal route is there. Read the last line first and then read the four sentences above it. Do it in that order, because it is the opposite of the order a reader uses, and the order is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honesty is in the place nobody reads and the invention is in the place everybody does. Say that out loud. And there is a version that is worse still. Ground the prompt on real sources, leave out the refusal route, and you get an answer about the wrong subject attached to two genuine citations. That is the worst combination available to you. Invented relevance wearing real provenance, and it will pass a review that only checks whether the sources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not an argument that you should stop using these tools, and you are not going to. It is an argument about where the checking lives. Here is the rule that follows from all of it, and it is the one sentence to leave with. Anything you would be embarrassed to be wrong about gets checked against something outside the model, and the check gets written down. Not remembered. Written down, with the catalog and the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containment rules before you touch a keyboard. Nothing produced in this lab leaves the classroom, nothing goes into any other assignment, and every fabricated citation is labelled as fabricated in your own file. That is not decoration, that is the condition under which we are allowed to do this at all. Build one is producing three fabricated citations under controlled conditions with the prompt files committed before the runs. Build two is verifying all three with the four-step check from yesterday, fully recorded. A verdict of fabricated with no recorded search scores zero, and the lab says so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1.png"/><Relationship Id="rId8" Type="http://schemas.openxmlformats.org/officeDocument/2006/relationships/image" Target="../media/image-8-2.svg"/><Relationship Id="rId9" Type="http://schemas.openxmlformats.org/officeDocument/2006/relationships/image" Target="../media/image-8-1.png"/><Relationship Id="rId10" Type="http://schemas.openxmlformats.org/officeDocument/2006/relationships/image" Target="../media/image-8-2.sv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2.png"/><Relationship Id="rId9" Type="http://schemas.openxmlformats.org/officeDocument/2006/relationships/image" Target="../media/image-10-3.svg"/><Relationship Id="rId10" Type="http://schemas.openxmlformats.org/officeDocument/2006/relationships/image" Target="../media/image-10-2.png"/><Relationship Id="rId11" Type="http://schemas.openxmlformats.org/officeDocument/2006/relationships/image" Target="../media/image-10-3.svg"/><Relationship Id="rId12" Type="http://schemas.openxmlformats.org/officeDocument/2006/relationships/slideLayout" Target="../slideLayouts/slideLayout2.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Models Fabricate, and What Reduces It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6874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are waiting for the version that stops doing this</a:t>
            </a:r>
            <a:endParaRPr lang="en-US" sz="3700" dirty="0"/>
          </a:p>
        </p:txBody>
      </p:sp>
      <p:sp>
        <p:nvSpPr>
          <p:cNvPr id="3" name="Shape 1"/>
          <p:cNvSpPr/>
          <p:nvPr/>
        </p:nvSpPr>
        <p:spPr>
          <a:xfrm>
            <a:off x="661475" y="2328069"/>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3929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Yesterday you learned how to check a citation</a:t>
            </a:r>
            <a:endParaRPr lang="en-US" sz="1850" dirty="0"/>
          </a:p>
        </p:txBody>
      </p:sp>
      <p:sp>
        <p:nvSpPr>
          <p:cNvPr id="5" name="Shape 3"/>
          <p:cNvSpPr/>
          <p:nvPr/>
        </p:nvSpPr>
        <p:spPr>
          <a:xfrm>
            <a:off x="661475" y="3131344"/>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319623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Today you learn why there is anything to check</a:t>
            </a:r>
            <a:endParaRPr lang="en-US" sz="1850" dirty="0"/>
          </a:p>
        </p:txBody>
      </p:sp>
      <p:sp>
        <p:nvSpPr>
          <p:cNvPr id="7" name="Shape 5"/>
          <p:cNvSpPr/>
          <p:nvPr/>
        </p:nvSpPr>
        <p:spPr>
          <a:xfrm>
            <a:off x="661475" y="3934619"/>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99950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If fabrication were a defect, you would wait for a fix</a:t>
            </a:r>
            <a:endParaRPr lang="en-US" sz="1850" dirty="0"/>
          </a:p>
        </p:txBody>
      </p:sp>
      <p:sp>
        <p:nvSpPr>
          <p:cNvPr id="9" name="Shape 7"/>
          <p:cNvSpPr/>
          <p:nvPr/>
        </p:nvSpPr>
        <p:spPr>
          <a:xfrm>
            <a:off x="661475" y="4737894"/>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80278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is the ordinary operation of the system</a:t>
            </a:r>
            <a:endParaRPr lang="en-US" sz="1850" dirty="0"/>
          </a:p>
        </p:txBody>
      </p:sp>
      <p:sp>
        <p:nvSpPr>
          <p:cNvPr id="11" name="Shape 9"/>
          <p:cNvSpPr/>
          <p:nvPr/>
        </p:nvSpPr>
        <p:spPr>
          <a:xfrm>
            <a:off x="661475" y="5541169"/>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6060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is the hardest thing in the module to accept</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5429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citation has a shape</a:t>
            </a:r>
            <a:endParaRPr lang="en-US" sz="3700" dirty="0"/>
          </a:p>
        </p:txBody>
      </p:sp>
      <p:sp>
        <p:nvSpPr>
          <p:cNvPr id="3" name="Shape 1"/>
          <p:cNvSpPr/>
          <p:nvPr/>
        </p:nvSpPr>
        <p:spPr>
          <a:xfrm>
            <a:off x="661475" y="3511649"/>
            <a:ext cx="10868745" cy="680442"/>
          </a:xfrm>
          <a:prstGeom prst="roundRect">
            <a:avLst>
              <a:gd name="adj" fmla="val 11667"/>
            </a:avLst>
          </a:prstGeom>
          <a:solidFill>
            <a:srgbClr val="F2F2F2"/>
          </a:solidFill>
          <a:ln/>
        </p:spPr>
      </p:sp>
      <p:sp>
        <p:nvSpPr>
          <p:cNvPr id="4" name="Text 2"/>
          <p:cNvSpPr/>
          <p:nvPr/>
        </p:nvSpPr>
        <p:spPr>
          <a:xfrm>
            <a:off x="888283" y="3700661"/>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Author, Initial. (Year). Title Case Title. Venue Name, volume, pages.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7409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There is no step that could fail</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442766"/>
            <a:ext cx="3496877" cy="1314648"/>
          </a:xfrm>
          <a:prstGeom prst="rect">
            <a:avLst/>
          </a:prstGeom>
        </p:spPr>
      </p:pic>
      <p:sp>
        <p:nvSpPr>
          <p:cNvPr id="4" name="Text 1"/>
          <p:cNvSpPr/>
          <p:nvPr/>
        </p:nvSpPr>
        <p:spPr>
          <a:xfrm>
            <a:off x="977479"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Producing that shape is the same operation as any other text</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442766"/>
            <a:ext cx="3496877" cy="1314648"/>
          </a:xfrm>
          <a:prstGeom prst="rect">
            <a:avLst/>
          </a:prstGeom>
        </p:spPr>
      </p:pic>
      <p:sp>
        <p:nvSpPr>
          <p:cNvPr id="6" name="Text 2"/>
          <p:cNvSpPr/>
          <p:nvPr/>
        </p:nvSpPr>
        <p:spPr>
          <a:xfrm>
            <a:off x="4663363"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citation subsystem, no lookup, no database of papers</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442766"/>
            <a:ext cx="3496877" cy="1314648"/>
          </a:xfrm>
          <a:prstGeom prst="rect">
            <a:avLst/>
          </a:prstGeom>
        </p:spPr>
      </p:pic>
      <p:sp>
        <p:nvSpPr>
          <p:cNvPr id="8" name="Text 3"/>
          <p:cNvSpPr/>
          <p:nvPr/>
        </p:nvSpPr>
        <p:spPr>
          <a:xfrm>
            <a:off x="8349247"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There is no step that could fail, because there is no step</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46426"/>
            <a:ext cx="3496877" cy="1314648"/>
          </a:xfrm>
          <a:prstGeom prst="rect">
            <a:avLst/>
          </a:prstGeom>
        </p:spPr>
      </p:pic>
      <p:sp>
        <p:nvSpPr>
          <p:cNvPr id="10" name="Text 4"/>
          <p:cNvSpPr/>
          <p:nvPr/>
        </p:nvSpPr>
        <p:spPr>
          <a:xfrm>
            <a:off x="977479" y="4160838"/>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Fabrication is worst where the real thing is rare</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946426"/>
            <a:ext cx="3496877" cy="1314648"/>
          </a:xfrm>
          <a:prstGeom prst="rect">
            <a:avLst/>
          </a:prstGeom>
        </p:spPr>
      </p:pic>
      <p:sp>
        <p:nvSpPr>
          <p:cNvPr id="12" name="Text 5"/>
          <p:cNvSpPr/>
          <p:nvPr/>
        </p:nvSpPr>
        <p:spPr>
          <a:xfrm>
            <a:off x="4663363" y="4160838"/>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Confidence tells you nothing. Both styles are always available</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03802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sources, exactly as many as you asked for</a:t>
            </a:r>
            <a:endParaRPr lang="en-US" sz="3700" dirty="0"/>
          </a:p>
        </p:txBody>
      </p:sp>
      <p:sp>
        <p:nvSpPr>
          <p:cNvPr id="3" name="Shape 1"/>
          <p:cNvSpPr/>
          <p:nvPr/>
        </p:nvSpPr>
        <p:spPr>
          <a:xfrm>
            <a:off x="661475" y="2597348"/>
            <a:ext cx="10868745" cy="3099792"/>
          </a:xfrm>
          <a:prstGeom prst="roundRect">
            <a:avLst>
              <a:gd name="adj" fmla="val 2561"/>
            </a:avLst>
          </a:prstGeom>
          <a:solidFill>
            <a:srgbClr val="F2F2F2"/>
          </a:solidFill>
          <a:ln/>
        </p:spPr>
      </p:sp>
      <p:sp>
        <p:nvSpPr>
          <p:cNvPr id="4" name="Text 2"/>
          <p:cNvSpPr/>
          <p:nvPr/>
        </p:nvSpPr>
        <p:spPr>
          <a:xfrm>
            <a:off x="888283" y="2786360"/>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--prompt-file demo-prompts/ungrounded.txt --label ungrounded --show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Sources: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Petrov, A. (2015). Measuring Attention in Scheduled Work Blocks.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Quarterly Notes on School Technology, 8, 21-35.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[2] Lindqvist, M. (2013). Structured Output and Downstream Parsing Failures.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Midland Review of Applied Learning, 9, 34-48.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 Ramirez, D. (2011). Retrieval Practice and Short Revision Windows.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Proceedings of the Workshop on Classroom Systems, 10, 47-61.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02721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one of those is fabricated</a:t>
            </a:r>
            <a:endParaRPr lang="en-US" sz="3700" dirty="0"/>
          </a:p>
        </p:txBody>
      </p:sp>
      <p:sp>
        <p:nvSpPr>
          <p:cNvPr id="4" name="Shape 1"/>
          <p:cNvSpPr/>
          <p:nvPr/>
        </p:nvSpPr>
        <p:spPr>
          <a:xfrm>
            <a:off x="5233360" y="2491978"/>
            <a:ext cx="3053877" cy="2020193"/>
          </a:xfrm>
          <a:prstGeom prst="roundRect">
            <a:avLst>
              <a:gd name="adj" fmla="val 3930"/>
            </a:avLst>
          </a:prstGeom>
          <a:solidFill>
            <a:srgbClr val="D1E5FA"/>
          </a:solidFill>
          <a:ln w="19050">
            <a:solidFill>
              <a:srgbClr val="B7CBE0"/>
            </a:solidFill>
            <a:prstDash val="solid"/>
          </a:ln>
        </p:spPr>
      </p:sp>
      <p:sp>
        <p:nvSpPr>
          <p:cNvPr id="5" name="Text 2"/>
          <p:cNvSpPr/>
          <p:nvPr/>
        </p:nvSpPr>
        <p:spPr>
          <a:xfrm>
            <a:off x="5441417" y="2700040"/>
            <a:ext cx="2637764"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stub built all three from a template</a:t>
            </a:r>
            <a:endParaRPr lang="en-US" sz="1850" dirty="0"/>
          </a:p>
        </p:txBody>
      </p:sp>
      <p:sp>
        <p:nvSpPr>
          <p:cNvPr id="6" name="Text 3"/>
          <p:cNvSpPr/>
          <p:nvPr/>
        </p:nvSpPr>
        <p:spPr>
          <a:xfrm>
            <a:off x="5441417" y="3699272"/>
            <a:ext cx="2637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Correctly formatted, plausible years, real-looking page ranges</a:t>
            </a:r>
            <a:endParaRPr lang="en-US" sz="1450" dirty="0"/>
          </a:p>
        </p:txBody>
      </p:sp>
      <p:sp>
        <p:nvSpPr>
          <p:cNvPr id="7" name="Shape 4"/>
          <p:cNvSpPr/>
          <p:nvPr/>
        </p:nvSpPr>
        <p:spPr>
          <a:xfrm>
            <a:off x="8476244" y="2491978"/>
            <a:ext cx="3053976" cy="2020193"/>
          </a:xfrm>
          <a:prstGeom prst="roundRect">
            <a:avLst>
              <a:gd name="adj" fmla="val 3930"/>
            </a:avLst>
          </a:prstGeom>
          <a:solidFill>
            <a:srgbClr val="D1E5FA"/>
          </a:solidFill>
          <a:ln w="19050">
            <a:solidFill>
              <a:srgbClr val="B7CBE0"/>
            </a:solidFill>
            <a:prstDash val="solid"/>
          </a:ln>
        </p:spPr>
      </p:sp>
      <p:sp>
        <p:nvSpPr>
          <p:cNvPr id="8" name="Text 5"/>
          <p:cNvSpPr/>
          <p:nvPr/>
        </p:nvSpPr>
        <p:spPr>
          <a:xfrm>
            <a:off x="8684301" y="2700040"/>
            <a:ext cx="2637863"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Source three is the one the room believes, every time</a:t>
            </a:r>
            <a:endParaRPr lang="en-US" sz="1850" dirty="0"/>
          </a:p>
        </p:txBody>
      </p:sp>
      <p:sp>
        <p:nvSpPr>
          <p:cNvPr id="9" name="Text 6"/>
          <p:cNvSpPr/>
          <p:nvPr/>
        </p:nvSpPr>
        <p:spPr>
          <a:xfrm>
            <a:off x="8684301" y="3699272"/>
            <a:ext cx="263786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Its title is your question with the words rearranged</a:t>
            </a:r>
            <a:endParaRPr lang="en-US" sz="1450" dirty="0"/>
          </a:p>
        </p:txBody>
      </p:sp>
      <p:sp>
        <p:nvSpPr>
          <p:cNvPr id="10" name="Shape 7"/>
          <p:cNvSpPr/>
          <p:nvPr/>
        </p:nvSpPr>
        <p:spPr>
          <a:xfrm>
            <a:off x="5233360" y="4701183"/>
            <a:ext cx="6296860" cy="1006673"/>
          </a:xfrm>
          <a:prstGeom prst="roundRect">
            <a:avLst>
              <a:gd name="adj" fmla="val 7886"/>
            </a:avLst>
          </a:prstGeom>
          <a:solidFill>
            <a:srgbClr val="D1E5FA"/>
          </a:solidFill>
          <a:ln w="19050">
            <a:solidFill>
              <a:srgbClr val="B7CBE0"/>
            </a:solidFill>
            <a:prstDash val="solid"/>
          </a:ln>
        </p:spPr>
      </p:sp>
      <p:sp>
        <p:nvSpPr>
          <p:cNvPr id="11" name="Text 8"/>
          <p:cNvSpPr/>
          <p:nvPr/>
        </p:nvSpPr>
        <p:spPr>
          <a:xfrm>
            <a:off x="5441417" y="4909245"/>
            <a:ext cx="588074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real local model does the same thing, more convincingly</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35608"/>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supply the sources and a route to refuse</a:t>
            </a:r>
            <a:endParaRPr lang="en-US" sz="3700" dirty="0"/>
          </a:p>
        </p:txBody>
      </p:sp>
      <p:sp>
        <p:nvSpPr>
          <p:cNvPr id="3" name="Shape 1"/>
          <p:cNvSpPr/>
          <p:nvPr/>
        </p:nvSpPr>
        <p:spPr>
          <a:xfrm>
            <a:off x="661475" y="2294930"/>
            <a:ext cx="10868745" cy="3704630"/>
          </a:xfrm>
          <a:prstGeom prst="roundRect">
            <a:avLst>
              <a:gd name="adj" fmla="val 2143"/>
            </a:avLst>
          </a:prstGeom>
          <a:solidFill>
            <a:srgbClr val="F2F2F2"/>
          </a:solidFill>
          <a:ln/>
        </p:spPr>
      </p:sp>
      <p:sp>
        <p:nvSpPr>
          <p:cNvPr id="4" name="Text 2"/>
          <p:cNvSpPr/>
          <p:nvPr/>
        </p:nvSpPr>
        <p:spPr>
          <a:xfrm>
            <a:off x="888283" y="2483941"/>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--prompt-file demo-prompts/grounded.txt --label grounded --show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Answer using only the sources below. If the answer is not in the sources, say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 do not know. Cite your sources.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SOURCE: Student handbook, section 4.2, equipment checkout and return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SOURCE: Room 214 posted closing procedure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Sources: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Student handbook, section 4.2, equipment checkout and return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[2] Room 214 posted closing procedure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21295"/>
            <a:ext cx="10868745"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Four things reduce it, and each helps less than people say</a:t>
            </a:r>
            <a:endParaRPr lang="en-US" sz="36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0133" y="2026047"/>
            <a:ext cx="274631" cy="274638"/>
          </a:xfrm>
          <a:prstGeom prst="rect">
            <a:avLst/>
          </a:prstGeom>
        </p:spPr>
      </p:pic>
      <p:sp>
        <p:nvSpPr>
          <p:cNvPr id="4" name="Text 1"/>
          <p:cNvSpPr/>
          <p:nvPr/>
        </p:nvSpPr>
        <p:spPr>
          <a:xfrm>
            <a:off x="1256475" y="2020391"/>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Grounding: put the real material into the prompt</a:t>
            </a:r>
            <a:endParaRPr lang="en-US" sz="180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0133" y="2935684"/>
            <a:ext cx="274631" cy="274638"/>
          </a:xfrm>
          <a:prstGeom prst="rect">
            <a:avLst/>
          </a:prstGeom>
        </p:spPr>
      </p:pic>
      <p:sp>
        <p:nvSpPr>
          <p:cNvPr id="6" name="Text 2"/>
          <p:cNvSpPr/>
          <p:nvPr/>
        </p:nvSpPr>
        <p:spPr>
          <a:xfrm>
            <a:off x="1256475" y="2930029"/>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Give it a route to refuse, in those words</a:t>
            </a:r>
            <a:endParaRPr lang="en-US" sz="180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0133" y="3845322"/>
            <a:ext cx="274631" cy="274638"/>
          </a:xfrm>
          <a:prstGeom prst="rect">
            <a:avLst/>
          </a:prstGeom>
        </p:spPr>
      </p:pic>
      <p:sp>
        <p:nvSpPr>
          <p:cNvPr id="8" name="Text 3"/>
          <p:cNvSpPr/>
          <p:nvPr/>
        </p:nvSpPr>
        <p:spPr>
          <a:xfrm>
            <a:off x="1256475" y="3839666"/>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Ask for less. Three citations is a request for three strings</a:t>
            </a:r>
            <a:endParaRPr lang="en-US" sz="180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0133" y="4754959"/>
            <a:ext cx="274631" cy="274638"/>
          </a:xfrm>
          <a:prstGeom prst="rect">
            <a:avLst/>
          </a:prstGeom>
        </p:spPr>
      </p:pic>
      <p:sp>
        <p:nvSpPr>
          <p:cNvPr id="10" name="Text 4"/>
          <p:cNvSpPr/>
          <p:nvPr/>
        </p:nvSpPr>
        <p:spPr>
          <a:xfrm>
            <a:off x="1256475" y="4749304"/>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Ask it to quote rather than summarise</a:t>
            </a:r>
            <a:endParaRPr lang="en-US" sz="180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0133" y="5664597"/>
            <a:ext cx="274631" cy="274638"/>
          </a:xfrm>
          <a:prstGeom prst="rect">
            <a:avLst/>
          </a:prstGeom>
        </p:spPr>
      </p:pic>
      <p:sp>
        <p:nvSpPr>
          <p:cNvPr id="12" name="Text 5"/>
          <p:cNvSpPr/>
          <p:nvPr/>
        </p:nvSpPr>
        <p:spPr>
          <a:xfrm>
            <a:off x="1256475" y="5658941"/>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None of these makes the model honest</a:t>
            </a:r>
            <a:endParaRPr lang="en-US" sz="180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88681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it is the most instructive failure here</a:t>
            </a:r>
            <a:endParaRPr lang="en-US" sz="3700" dirty="0"/>
          </a:p>
        </p:txBody>
      </p:sp>
      <p:sp>
        <p:nvSpPr>
          <p:cNvPr id="3" name="Shape 1"/>
          <p:cNvSpPr/>
          <p:nvPr/>
        </p:nvSpPr>
        <p:spPr>
          <a:xfrm>
            <a:off x="661475" y="2446139"/>
            <a:ext cx="10868745" cy="3402211"/>
          </a:xfrm>
          <a:prstGeom prst="roundRect">
            <a:avLst>
              <a:gd name="adj" fmla="val 2333"/>
            </a:avLst>
          </a:prstGeom>
          <a:solidFill>
            <a:srgbClr val="F2F2F2"/>
          </a:solidFill>
          <a:ln/>
        </p:spPr>
      </p:sp>
      <p:sp>
        <p:nvSpPr>
          <p:cNvPr id="4" name="Text 2"/>
          <p:cNvSpPr/>
          <p:nvPr/>
        </p:nvSpPr>
        <p:spPr>
          <a:xfrm>
            <a:off x="888283" y="2635151"/>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ask.py --prompt-file demo-prompts/thin_sources_refusal.txt --label thin --show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As a research assistant, here is how I would handle a short research brief.</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question has been studied in more than one field. Findings disagree once you</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look at how each study measured the outcome. Sample sizes in the smaller studies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are too small to settle anything. The most cited work in this area is older than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most of its readers.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Sources: none of the supplied sources address this. I do not know.</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04441"/>
            <a:ext cx="6928470" cy="3926185"/>
          </a:xfrm>
          <a:prstGeom prst="rect">
            <a:avLst/>
          </a:prstGeom>
        </p:spPr>
      </p:pic>
      <p:sp>
        <p:nvSpPr>
          <p:cNvPr id="3" name="Text 0"/>
          <p:cNvSpPr/>
          <p:nvPr/>
        </p:nvSpPr>
        <p:spPr>
          <a:xfrm>
            <a:off x="7985421" y="752078"/>
            <a:ext cx="3551049" cy="1495127"/>
          </a:xfrm>
          <a:prstGeom prst="rect">
            <a:avLst/>
          </a:prstGeom>
          <a:noFill/>
          <a:ln/>
        </p:spPr>
        <p:txBody>
          <a:bodyPr wrap="square" lIns="0" tIns="0" rIns="0" bIns="0" rtlCol="0" anchor="t">
            <a:normAutofit/>
          </a:bodyPr>
          <a:lstStyle/>
          <a:p>
            <a:pPr algn="l" indent="0" marL="0">
              <a:lnSpc>
                <a:spcPct val="104000"/>
              </a:lnSpc>
              <a:buNone/>
            </a:pPr>
            <a:r>
              <a:rPr lang="en-US" sz="3100" b="1" dirty="0">
                <a:solidFill>
                  <a:srgbClr val="111111"/>
                </a:solidFill>
                <a:latin typeface="Orbitron Bold" pitchFamily="34" charset="0"/>
                <a:ea typeface="Orbitron Bold" pitchFamily="34" charset="-122"/>
                <a:cs typeface="Orbitron Bold" pitchFamily="34" charset="-120"/>
              </a:rPr>
              <a:t>The refusal landed where nobody reads</a:t>
            </a:r>
            <a:endParaRPr lang="en-US" sz="31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66372" y="2379464"/>
            <a:ext cx="3570099" cy="536377"/>
          </a:xfrm>
          <a:prstGeom prst="rect">
            <a:avLst/>
          </a:prstGeom>
        </p:spPr>
      </p:pic>
      <p:sp>
        <p:nvSpPr>
          <p:cNvPr id="5" name="Text 1"/>
          <p:cNvSpPr/>
          <p:nvPr/>
        </p:nvSpPr>
        <p:spPr>
          <a:xfrm>
            <a:off x="8182961" y="2398514"/>
            <a:ext cx="3353510" cy="49827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The sources block says I do not know</a:t>
            </a:r>
            <a:endParaRPr lang="en-US" sz="15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66372" y="3146822"/>
            <a:ext cx="3570099" cy="785515"/>
          </a:xfrm>
          <a:prstGeom prst="rect">
            <a:avLst/>
          </a:prstGeom>
        </p:spPr>
      </p:pic>
      <p:sp>
        <p:nvSpPr>
          <p:cNvPr id="7" name="Text 2"/>
          <p:cNvSpPr/>
          <p:nvPr/>
        </p:nvSpPr>
        <p:spPr>
          <a:xfrm>
            <a:off x="8182961" y="3165872"/>
            <a:ext cx="3353510" cy="747415"/>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Four sentences above it make confident claims about a literature</a:t>
            </a:r>
            <a:endParaRPr lang="en-US" sz="15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66372" y="4163318"/>
            <a:ext cx="3570099" cy="287238"/>
          </a:xfrm>
          <a:prstGeom prst="rect">
            <a:avLst/>
          </a:prstGeom>
        </p:spPr>
      </p:pic>
      <p:sp>
        <p:nvSpPr>
          <p:cNvPr id="9" name="Text 3"/>
          <p:cNvSpPr/>
          <p:nvPr/>
        </p:nvSpPr>
        <p:spPr>
          <a:xfrm>
            <a:off x="8182961" y="4182368"/>
            <a:ext cx="3353510"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Nothing is behind those claims</a:t>
            </a:r>
            <a:endParaRPr lang="en-US" sz="15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6372" y="4681538"/>
            <a:ext cx="3570099" cy="536377"/>
          </a:xfrm>
          <a:prstGeom prst="rect">
            <a:avLst/>
          </a:prstGeom>
        </p:spPr>
      </p:pic>
      <p:sp>
        <p:nvSpPr>
          <p:cNvPr id="11" name="Text 4"/>
          <p:cNvSpPr/>
          <p:nvPr/>
        </p:nvSpPr>
        <p:spPr>
          <a:xfrm>
            <a:off x="8182961" y="4700588"/>
            <a:ext cx="3353510" cy="49827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A reader who skims takes the four sentences and stops</a:t>
            </a:r>
            <a:endParaRPr lang="en-US" sz="1550" dirty="0"/>
          </a:p>
        </p:txBody>
      </p:sp>
      <p:pic>
        <p:nvPicPr>
          <p:cNvPr id="12"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66372" y="5448895"/>
            <a:ext cx="3570099" cy="536377"/>
          </a:xfrm>
          <a:prstGeom prst="rect">
            <a:avLst/>
          </a:prstGeom>
        </p:spPr>
      </p:pic>
      <p:sp>
        <p:nvSpPr>
          <p:cNvPr id="13" name="Text 5"/>
          <p:cNvSpPr/>
          <p:nvPr/>
        </p:nvSpPr>
        <p:spPr>
          <a:xfrm>
            <a:off x="8182961" y="5467945"/>
            <a:ext cx="3353510" cy="498277"/>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A partial refusal is more dangerous than no refusal</a:t>
            </a:r>
            <a:endParaRPr lang="en-US" sz="1550" dirty="0"/>
          </a:p>
        </p:txBody>
      </p:sp>
      <p:sp>
        <p:nvSpPr>
          <p:cNvPr id="14"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7422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the checking goes</a:t>
            </a:r>
            <a:endParaRPr lang="en-US" sz="3700" dirty="0"/>
          </a:p>
        </p:txBody>
      </p:sp>
      <p:sp>
        <p:nvSpPr>
          <p:cNvPr id="4" name="Shape 1"/>
          <p:cNvSpPr/>
          <p:nvPr/>
        </p:nvSpPr>
        <p:spPr>
          <a:xfrm>
            <a:off x="5233360" y="2438995"/>
            <a:ext cx="6296860" cy="3321844"/>
          </a:xfrm>
          <a:prstGeom prst="roundRect">
            <a:avLst>
              <a:gd name="adj" fmla="val 2390"/>
            </a:avLst>
          </a:prstGeom>
          <a:solidFill>
            <a:srgbClr val="D1E5FA"/>
          </a:solidFill>
          <a:ln w="19050">
            <a:solidFill>
              <a:srgbClr val="B7CBE0"/>
            </a:solidFill>
            <a:prstDash val="solid"/>
          </a:ln>
        </p:spPr>
      </p:sp>
      <p:sp>
        <p:nvSpPr>
          <p:cNvPr id="5" name="Shape 2"/>
          <p:cNvSpPr/>
          <p:nvPr/>
        </p:nvSpPr>
        <p:spPr>
          <a:xfrm>
            <a:off x="5252410" y="2458045"/>
            <a:ext cx="6258761" cy="1457623"/>
          </a:xfrm>
          <a:custGeom>
            <a:avLst/>
            <a:gdLst/>
            <a:ahLst/>
            <a:cxnLst/>
            <a:rect l="l" t="t" r="r" b="b"/>
            <a:pathLst>
              <a:path w="6258761" h="1457623">
                <a:moveTo>
                  <a:pt x="66156" y="0"/>
                </a:moveTo>
                <a:lnTo>
                  <a:pt x="6192604" y="0"/>
                </a:lnTo>
                <a:arcTo hR="66158" wR="66156" stAng="16200000" swAng="5400000"/>
                <a:lnTo>
                  <a:pt x="6258761" y="1457623"/>
                </a:lnTo>
                <a:lnTo>
                  <a:pt x="0" y="1457623"/>
                </a:lnTo>
                <a:lnTo>
                  <a:pt x="0" y="66158"/>
                </a:lnTo>
                <a:arcTo hR="66158" wR="66156" stAng="10800000" swAng="5400000"/>
                <a:close/>
              </a:path>
            </a:pathLst>
          </a:custGeom>
          <a:solidFill>
            <a:srgbClr val="D1E5FA"/>
          </a:solidFill>
          <a:ln/>
        </p:spPr>
      </p:sp>
      <p:sp>
        <p:nvSpPr>
          <p:cNvPr id="6" name="Text 3"/>
          <p:cNvSpPr/>
          <p:nvPr/>
        </p:nvSpPr>
        <p:spPr>
          <a:xfrm>
            <a:off x="5441417" y="2647057"/>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Use it for</a:t>
            </a:r>
            <a:endParaRPr lang="en-US" sz="1850" dirty="0"/>
          </a:p>
        </p:txBody>
      </p:sp>
      <p:sp>
        <p:nvSpPr>
          <p:cNvPr id="7" name="Text 4"/>
          <p:cNvSpPr/>
          <p:nvPr/>
        </p:nvSpPr>
        <p:spPr>
          <a:xfrm>
            <a:off x="5441417" y="3055739"/>
            <a:ext cx="5880747"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Drafting, shapes, and rewriting what you wrote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Summarising text you supplied yourself</a:t>
            </a:r>
            <a:endParaRPr lang="en-US" sz="1450" dirty="0"/>
          </a:p>
        </p:txBody>
      </p:sp>
      <p:sp>
        <p:nvSpPr>
          <p:cNvPr id="8" name="Shape 5"/>
          <p:cNvSpPr/>
          <p:nvPr/>
        </p:nvSpPr>
        <p:spPr>
          <a:xfrm>
            <a:off x="5252410" y="3915668"/>
            <a:ext cx="6258761" cy="1826121"/>
          </a:xfrm>
          <a:custGeom>
            <a:avLst/>
            <a:gdLst/>
            <a:ahLst/>
            <a:cxnLst/>
            <a:rect l="l" t="t" r="r" b="b"/>
            <a:pathLst>
              <a:path w="6258761" h="1826121">
                <a:moveTo>
                  <a:pt x="0" y="0"/>
                </a:moveTo>
                <a:lnTo>
                  <a:pt x="6258761" y="0"/>
                </a:lnTo>
                <a:lnTo>
                  <a:pt x="6258761" y="1759963"/>
                </a:lnTo>
                <a:arcTo hR="66158" wR="66156" stAng="0" swAng="5400000"/>
                <a:lnTo>
                  <a:pt x="66156" y="1826121"/>
                </a:lnTo>
                <a:arcTo hR="66158" wR="66156" stAng="5400000" swAng="5400000"/>
                <a:lnTo>
                  <a:pt x="0" y="0"/>
                </a:lnTo>
                <a:close/>
              </a:path>
            </a:pathLst>
          </a:custGeom>
          <a:solidFill>
            <a:srgbClr val="D1E5FA"/>
          </a:solidFill>
          <a:ln/>
        </p:spPr>
      </p:sp>
      <p:sp>
        <p:nvSpPr>
          <p:cNvPr id="9" name="Shape 6"/>
          <p:cNvSpPr/>
          <p:nvPr/>
        </p:nvSpPr>
        <p:spPr>
          <a:xfrm>
            <a:off x="5252410" y="3915668"/>
            <a:ext cx="6258761" cy="25400"/>
          </a:xfrm>
          <a:prstGeom prst="roundRect">
            <a:avLst>
              <a:gd name="adj" fmla="val 49999"/>
            </a:avLst>
          </a:prstGeom>
          <a:solidFill>
            <a:srgbClr val="B7CBE0"/>
          </a:solidFill>
          <a:ln/>
        </p:spPr>
      </p:sp>
      <p:sp>
        <p:nvSpPr>
          <p:cNvPr id="10" name="Text 7"/>
          <p:cNvSpPr/>
          <p:nvPr/>
        </p:nvSpPr>
        <p:spPr>
          <a:xfrm>
            <a:off x="5441417" y="410468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 not use it for</a:t>
            </a:r>
            <a:endParaRPr lang="en-US" sz="1850" dirty="0"/>
          </a:p>
        </p:txBody>
      </p:sp>
      <p:sp>
        <p:nvSpPr>
          <p:cNvPr id="11" name="Text 8"/>
          <p:cNvSpPr/>
          <p:nvPr/>
        </p:nvSpPr>
        <p:spPr>
          <a:xfrm>
            <a:off x="5441417" y="4513362"/>
            <a:ext cx="5880747"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Facts you have not checked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Finding sources to support a claim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Deciding whether something is true</a:t>
            </a:r>
            <a:endParaRPr lang="en-US" sz="14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4677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32286"/>
            <a:ext cx="3496877" cy="25400"/>
          </a:xfrm>
          <a:prstGeom prst="rect">
            <a:avLst/>
          </a:prstGeom>
          <a:solidFill>
            <a:srgbClr val="57A1EB"/>
          </a:solidFill>
          <a:ln/>
        </p:spPr>
      </p:sp>
      <p:sp>
        <p:nvSpPr>
          <p:cNvPr id="5" name="Text 3"/>
          <p:cNvSpPr/>
          <p:nvPr/>
        </p:nvSpPr>
        <p:spPr>
          <a:xfrm>
            <a:off x="661475"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Hallucination Hunt Part 1, under the containment rules</a:t>
            </a:r>
            <a:endParaRPr lang="en-US" sz="1850" dirty="0"/>
          </a:p>
        </p:txBody>
      </p:sp>
      <p:sp>
        <p:nvSpPr>
          <p:cNvPr id="6" name="Text 4"/>
          <p:cNvSpPr/>
          <p:nvPr/>
        </p:nvSpPr>
        <p:spPr>
          <a:xfrm>
            <a:off x="4347359"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2732286"/>
            <a:ext cx="3496877" cy="25400"/>
          </a:xfrm>
          <a:prstGeom prst="rect">
            <a:avLst/>
          </a:prstGeom>
          <a:solidFill>
            <a:srgbClr val="57A1EB"/>
          </a:solidFill>
          <a:ln/>
        </p:spPr>
      </p:sp>
      <p:sp>
        <p:nvSpPr>
          <p:cNvPr id="8" name="Text 6"/>
          <p:cNvSpPr/>
          <p:nvPr/>
        </p:nvSpPr>
        <p:spPr>
          <a:xfrm>
            <a:off x="4347359"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fabricated citations, each with prompt file and run label</a:t>
            </a:r>
            <a:endParaRPr lang="en-US" sz="1850" dirty="0"/>
          </a:p>
        </p:txBody>
      </p:sp>
      <p:sp>
        <p:nvSpPr>
          <p:cNvPr id="9" name="Text 7"/>
          <p:cNvSpPr/>
          <p:nvPr/>
        </p:nvSpPr>
        <p:spPr>
          <a:xfrm>
            <a:off x="8033244"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2732286"/>
            <a:ext cx="3496877" cy="25400"/>
          </a:xfrm>
          <a:prstGeom prst="rect">
            <a:avLst/>
          </a:prstGeom>
          <a:solidFill>
            <a:srgbClr val="57A1EB"/>
          </a:solidFill>
          <a:ln/>
        </p:spPr>
      </p:sp>
      <p:sp>
        <p:nvSpPr>
          <p:cNvPr id="11" name="Text 9"/>
          <p:cNvSpPr/>
          <p:nvPr/>
        </p:nvSpPr>
        <p:spPr>
          <a:xfrm>
            <a:off x="8033244" y="287754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produced in this lab leaves the classroom</a:t>
            </a:r>
            <a:endParaRPr lang="en-US" sz="1850" dirty="0"/>
          </a:p>
        </p:txBody>
      </p:sp>
      <p:sp>
        <p:nvSpPr>
          <p:cNvPr id="12" name="Text 10"/>
          <p:cNvSpPr/>
          <p:nvPr/>
        </p:nvSpPr>
        <p:spPr>
          <a:xfrm>
            <a:off x="661475"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389934"/>
            <a:ext cx="5339820" cy="25400"/>
          </a:xfrm>
          <a:prstGeom prst="rect">
            <a:avLst/>
          </a:prstGeom>
          <a:solidFill>
            <a:srgbClr val="57A1EB"/>
          </a:solidFill>
          <a:ln/>
        </p:spPr>
      </p:sp>
      <p:sp>
        <p:nvSpPr>
          <p:cNvPr id="14" name="Text 12"/>
          <p:cNvSpPr/>
          <p:nvPr/>
        </p:nvSpPr>
        <p:spPr>
          <a:xfrm>
            <a:off x="661475"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fabrication labelled as a fabrication in your own file</a:t>
            </a:r>
            <a:endParaRPr lang="en-US" sz="1850" dirty="0"/>
          </a:p>
        </p:txBody>
      </p:sp>
      <p:sp>
        <p:nvSpPr>
          <p:cNvPr id="15" name="Text 13"/>
          <p:cNvSpPr/>
          <p:nvPr/>
        </p:nvSpPr>
        <p:spPr>
          <a:xfrm>
            <a:off x="6190301"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389934"/>
            <a:ext cx="5339820" cy="25400"/>
          </a:xfrm>
          <a:prstGeom prst="rect">
            <a:avLst/>
          </a:prstGeom>
          <a:solidFill>
            <a:srgbClr val="57A1EB"/>
          </a:solidFill>
          <a:ln/>
        </p:spPr>
      </p:sp>
      <p:sp>
        <p:nvSpPr>
          <p:cNvPr id="17" name="Text 15"/>
          <p:cNvSpPr/>
          <p:nvPr/>
        </p:nvSpPr>
        <p:spPr>
          <a:xfrm>
            <a:off x="6190301"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Part 2: the four-step check on each of the three</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2026-09-16T04:09:07Z</dcterms:created>
  <dcterms:modified xsi:type="dcterms:W3CDTF">2026-09-16T04:09:07Z</dcterms:modified>
</cp:coreProperties>
</file>