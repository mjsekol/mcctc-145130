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made that organisation up for this slide. Nobody in the room blinked, and that is the lesson. It has a plausible name, a plausible subject, and a precise number, and it reads exactly like every real citation you have ever seen. That shape is what a fabricated source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a fake statistic gets through, and none of them is that people are careless. It is specific, and specificity reads as research. It is dull, so nobody has an emotional reason to argue with it. And checking takes real work while believing takes none. Assume this is happening to you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down. The third one is the one people skip and it is where most real errors live. Somebody cites a real document that says something narrower than the claim they attached to it. Go and read the sentence you are citing,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row is the one to internalise. A model's output is a thing to check, never a thing to cite. If a model tells you something useful, your job is to go and find where it is actually written and cite that. If you cannot find it, you have learned something important about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can be checked by anybody. Which models. On what hardware. Measuring what, total latency or tokens per second. Ten times which number. This sentence came out of a real student draft and the student was not lying. They had watched something slow and written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Longer, and anybody with the folder can repeat it. Look at the last sentence in particular. Saying what you did not measure is part of the report. A reader who finds out later that a number came from a stand-in, when the report did not say so, stops trusting everything else in it, and they are right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claims have no terminal command. The method is these four steps in order. Step one is the filter: if you cannot finish the sentence this would be settled by blank, the claim is not about the world and no amount of searching will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students resist because it feels like admitting defeat. It is the opposite. An honest failed search tells a reader something real and repeatable. Studies show tells them nothing at all. Leaving out the failed search to keep a paragraph tidy is the actual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habit. Ask these three before you finish writing the claim, not after. If the third has no answer you have two honest choices: weaken the claim until it matches what you know, or go and get the evidence. There is no third choice and everyone knows is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is the autopsy and it runs into tomorrow. You did one of these as juniors on a Python cheat sheet where a terminal settled everything in eight seconds. This one is harder, it is about material you learned last week, and at least one thing on it is a real argument rather than a mistake. Finding that one and arguing it is worth more than finding three obvious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Extract Valid Information and Cite the Source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335782"/>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According to the Halloran Institute</a:t>
            </a:r>
            <a:endParaRPr lang="en-US" sz="2950" dirty="0"/>
          </a:p>
        </p:txBody>
      </p:sp>
      <p:sp>
        <p:nvSpPr>
          <p:cNvPr id="4" name="Text 1"/>
          <p:cNvSpPr/>
          <p:nvPr/>
        </p:nvSpPr>
        <p:spPr>
          <a:xfrm>
            <a:off x="1275723" y="262909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Eighty four percent of mid-sized firms</a:t>
            </a:r>
            <a:endParaRPr lang="en-US" sz="1850" dirty="0"/>
          </a:p>
        </p:txBody>
      </p:sp>
      <p:sp>
        <p:nvSpPr>
          <p:cNvPr id="5" name="Text 2"/>
          <p:cNvSpPr/>
          <p:nvPr/>
        </p:nvSpPr>
        <p:spPr>
          <a:xfrm>
            <a:off x="1275723" y="343237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Now run a model on their own hardware</a:t>
            </a:r>
            <a:endParaRPr lang="en-US" sz="1850" dirty="0"/>
          </a:p>
        </p:txBody>
      </p:sp>
      <p:sp>
        <p:nvSpPr>
          <p:cNvPr id="6" name="Text 3"/>
          <p:cNvSpPr/>
          <p:nvPr/>
        </p:nvSpPr>
        <p:spPr>
          <a:xfrm>
            <a:off x="1275723" y="42356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Plausible name, plausible number</a:t>
            </a:r>
            <a:endParaRPr lang="en-US" sz="1850" dirty="0"/>
          </a:p>
        </p:txBody>
      </p:sp>
      <p:sp>
        <p:nvSpPr>
          <p:cNvPr id="7" name="Text 4"/>
          <p:cNvSpPr/>
          <p:nvPr/>
        </p:nvSpPr>
        <p:spPr>
          <a:xfrm>
            <a:off x="1275723" y="503892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institute does not exist</a:t>
            </a:r>
            <a:endParaRPr lang="en-US" sz="18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8708"/>
            <a:ext cx="6913390" cy="3917652"/>
          </a:xfrm>
          <a:prstGeom prst="rect">
            <a:avLst/>
          </a:prstGeom>
        </p:spPr>
      </p:pic>
      <p:sp>
        <p:nvSpPr>
          <p:cNvPr id="3" name="Text 0"/>
          <p:cNvSpPr/>
          <p:nvPr/>
        </p:nvSpPr>
        <p:spPr>
          <a:xfrm>
            <a:off x="8013400" y="734318"/>
            <a:ext cx="3523070" cy="1329035"/>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111111"/>
                </a:solidFill>
                <a:latin typeface="Orbitron Bold" pitchFamily="34" charset="0"/>
                <a:ea typeface="Orbitron Bold" pitchFamily="34" charset="-122"/>
                <a:cs typeface="Orbitron Bold" pitchFamily="34" charset="-120"/>
              </a:rPr>
              <a:t>Precision is a style, not evidence</a:t>
            </a:r>
            <a:endParaRPr lang="en-US" sz="27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13400" y="2250182"/>
            <a:ext cx="3523070" cy="946348"/>
          </a:xfrm>
          <a:prstGeom prst="rect">
            <a:avLst/>
          </a:prstGeom>
        </p:spPr>
      </p:pic>
      <p:sp>
        <p:nvSpPr>
          <p:cNvPr id="5" name="Text 1"/>
          <p:cNvSpPr/>
          <p:nvPr/>
        </p:nvSpPr>
        <p:spPr>
          <a:xfrm>
            <a:off x="8285848" y="2446437"/>
            <a:ext cx="3054373"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 number reads as research</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3400" y="3362623"/>
            <a:ext cx="3523070" cy="946348"/>
          </a:xfrm>
          <a:prstGeom prst="rect">
            <a:avLst/>
          </a:prstGeom>
        </p:spPr>
      </p:pic>
      <p:sp>
        <p:nvSpPr>
          <p:cNvPr id="7" name="Text 2"/>
          <p:cNvSpPr/>
          <p:nvPr/>
        </p:nvSpPr>
        <p:spPr>
          <a:xfrm>
            <a:off x="8285848" y="3558877"/>
            <a:ext cx="3054373"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It is boring, so nobody checks</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3400" y="4475063"/>
            <a:ext cx="3523070" cy="669429"/>
          </a:xfrm>
          <a:prstGeom prst="rect">
            <a:avLst/>
          </a:prstGeom>
        </p:spPr>
      </p:pic>
      <p:sp>
        <p:nvSpPr>
          <p:cNvPr id="9" name="Text 3"/>
          <p:cNvSpPr/>
          <p:nvPr/>
        </p:nvSpPr>
        <p:spPr>
          <a:xfrm>
            <a:off x="8285848" y="4671318"/>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Checking costs effort</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3400" y="5310584"/>
            <a:ext cx="3523070" cy="669429"/>
          </a:xfrm>
          <a:prstGeom prst="rect">
            <a:avLst/>
          </a:prstGeom>
        </p:spPr>
      </p:pic>
      <p:sp>
        <p:nvSpPr>
          <p:cNvPr id="11" name="Text 4"/>
          <p:cNvSpPr/>
          <p:nvPr/>
        </p:nvSpPr>
        <p:spPr>
          <a:xfrm>
            <a:off x="8285848" y="5506839"/>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Accepting costs none</a:t>
            </a:r>
            <a:endParaRPr lang="en-US" sz="17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60977"/>
          </a:xfrm>
          <a:prstGeom prst="rect">
            <a:avLst/>
          </a:prstGeom>
        </p:spPr>
      </p:pic>
      <p:sp>
        <p:nvSpPr>
          <p:cNvPr id="3" name="Text 0"/>
          <p:cNvSpPr/>
          <p:nvPr/>
        </p:nvSpPr>
        <p:spPr>
          <a:xfrm>
            <a:off x="5233360" y="519807"/>
            <a:ext cx="6296860" cy="428228"/>
          </a:xfrm>
          <a:prstGeom prst="rect">
            <a:avLst/>
          </a:prstGeom>
          <a:noFill/>
          <a:ln/>
        </p:spPr>
        <p:txBody>
          <a:bodyPr wrap="none" lIns="0" tIns="0" rIns="0" bIns="0" rtlCol="0" anchor="t"/>
          <a:lstStyle/>
          <a:p>
            <a:pPr algn="l" indent="0" marL="0">
              <a:lnSpc>
                <a:spcPct val="104000"/>
              </a:lnSpc>
              <a:buNone/>
            </a:pPr>
            <a:r>
              <a:rPr lang="en-US" sz="2650" b="1" dirty="0">
                <a:solidFill>
                  <a:srgbClr val="111111"/>
                </a:solidFill>
                <a:latin typeface="Orbitron Bold" pitchFamily="34" charset="0"/>
                <a:ea typeface="Orbitron Bold" pitchFamily="34" charset="-122"/>
                <a:cs typeface="Orbitron Bold" pitchFamily="34" charset="-120"/>
              </a:rPr>
              <a:t>Traceable means three things</a:t>
            </a:r>
            <a:endParaRPr lang="en-US" sz="2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180802"/>
            <a:ext cx="6296860" cy="1143000"/>
          </a:xfrm>
          <a:prstGeom prst="rect">
            <a:avLst/>
          </a:prstGeom>
        </p:spPr>
      </p:pic>
      <p:sp>
        <p:nvSpPr>
          <p:cNvPr id="5" name="Text 1"/>
          <p:cNvSpPr/>
          <p:nvPr/>
        </p:nvSpPr>
        <p:spPr>
          <a:xfrm>
            <a:off x="8279052" y="1309291"/>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000000"/>
                </a:solidFill>
                <a:latin typeface="Orbitron Bold" pitchFamily="34" charset="0"/>
                <a:ea typeface="Orbitron Bold" pitchFamily="34" charset="-122"/>
                <a:cs typeface="Orbitron Bold" pitchFamily="34" charset="-120"/>
              </a:rPr>
              <a:t>1</a:t>
            </a:r>
            <a:endParaRPr lang="en-US" sz="1600" dirty="0"/>
          </a:p>
        </p:txBody>
      </p:sp>
      <p:sp>
        <p:nvSpPr>
          <p:cNvPr id="6" name="Text 2"/>
          <p:cNvSpPr/>
          <p:nvPr/>
        </p:nvSpPr>
        <p:spPr>
          <a:xfrm>
            <a:off x="5423657" y="1865908"/>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 claim is specific enough to be wrong</a:t>
            </a:r>
            <a:endParaRPr lang="en-US" sz="16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478980"/>
            <a:ext cx="6296860" cy="1143000"/>
          </a:xfrm>
          <a:prstGeom prst="rect">
            <a:avLst/>
          </a:prstGeom>
        </p:spPr>
      </p:pic>
      <p:sp>
        <p:nvSpPr>
          <p:cNvPr id="8" name="Text 3"/>
          <p:cNvSpPr/>
          <p:nvPr/>
        </p:nvSpPr>
        <p:spPr>
          <a:xfrm>
            <a:off x="8279052" y="2607469"/>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000000"/>
                </a:solidFill>
                <a:latin typeface="Orbitron Bold" pitchFamily="34" charset="0"/>
                <a:ea typeface="Orbitron Bold" pitchFamily="34" charset="-122"/>
                <a:cs typeface="Orbitron Bold" pitchFamily="34" charset="-120"/>
              </a:rPr>
              <a:t>2</a:t>
            </a:r>
            <a:endParaRPr lang="en-US" sz="1600" dirty="0"/>
          </a:p>
        </p:txBody>
      </p:sp>
      <p:sp>
        <p:nvSpPr>
          <p:cNvPr id="9" name="Text 4"/>
          <p:cNvSpPr/>
          <p:nvPr/>
        </p:nvSpPr>
        <p:spPr>
          <a:xfrm>
            <a:off x="5423657" y="3164086"/>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 support is named precisely enough to find</a:t>
            </a:r>
            <a:endParaRPr lang="en-US" sz="16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777159"/>
            <a:ext cx="6296860" cy="1143000"/>
          </a:xfrm>
          <a:prstGeom prst="rect">
            <a:avLst/>
          </a:prstGeom>
        </p:spPr>
      </p:pic>
      <p:sp>
        <p:nvSpPr>
          <p:cNvPr id="11" name="Text 5"/>
          <p:cNvSpPr/>
          <p:nvPr/>
        </p:nvSpPr>
        <p:spPr>
          <a:xfrm>
            <a:off x="8279052" y="3905647"/>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000000"/>
                </a:solidFill>
                <a:latin typeface="Orbitron Bold" pitchFamily="34" charset="0"/>
                <a:ea typeface="Orbitron Bold" pitchFamily="34" charset="-122"/>
                <a:cs typeface="Orbitron Bold" pitchFamily="34" charset="-120"/>
              </a:rPr>
              <a:t>3</a:t>
            </a:r>
            <a:endParaRPr lang="en-US" sz="1600" dirty="0"/>
          </a:p>
        </p:txBody>
      </p:sp>
      <p:sp>
        <p:nvSpPr>
          <p:cNvPr id="12" name="Text 6"/>
          <p:cNvSpPr/>
          <p:nvPr/>
        </p:nvSpPr>
        <p:spPr>
          <a:xfrm>
            <a:off x="5423657" y="4462264"/>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 support actually says that</a:t>
            </a:r>
            <a:endParaRPr lang="en-US" sz="16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075337"/>
            <a:ext cx="6296860" cy="1143000"/>
          </a:xfrm>
          <a:prstGeom prst="rect">
            <a:avLst/>
          </a:prstGeom>
        </p:spPr>
      </p:pic>
      <p:sp>
        <p:nvSpPr>
          <p:cNvPr id="14" name="Text 7"/>
          <p:cNvSpPr/>
          <p:nvPr/>
        </p:nvSpPr>
        <p:spPr>
          <a:xfrm>
            <a:off x="8279052" y="5203825"/>
            <a:ext cx="205477" cy="256877"/>
          </a:xfrm>
          <a:prstGeom prst="rect">
            <a:avLst/>
          </a:prstGeom>
          <a:noFill/>
          <a:ln/>
        </p:spPr>
        <p:txBody>
          <a:bodyPr wrap="none" lIns="0" tIns="0" rIns="0" bIns="0" rtlCol="0" anchor="ctr"/>
          <a:lstStyle/>
          <a:p>
            <a:pPr algn="ctr" indent="0" marL="0">
              <a:lnSpc>
                <a:spcPct val="100000"/>
              </a:lnSpc>
              <a:buNone/>
            </a:pPr>
            <a:r>
              <a:rPr lang="en-US" sz="1600" b="1" dirty="0">
                <a:solidFill>
                  <a:srgbClr val="000000"/>
                </a:solidFill>
                <a:latin typeface="Orbitron Bold" pitchFamily="34" charset="0"/>
                <a:ea typeface="Orbitron Bold" pitchFamily="34" charset="-122"/>
                <a:cs typeface="Orbitron Bold" pitchFamily="34" charset="-120"/>
              </a:rPr>
              <a:t>4</a:t>
            </a:r>
            <a:endParaRPr lang="en-US" sz="1600" dirty="0"/>
          </a:p>
        </p:txBody>
      </p:sp>
      <p:sp>
        <p:nvSpPr>
          <p:cNvPr id="15" name="Text 8"/>
          <p:cNvSpPr/>
          <p:nvPr/>
        </p:nvSpPr>
        <p:spPr>
          <a:xfrm>
            <a:off x="5423657" y="5760442"/>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All three, or it does not count</a:t>
            </a:r>
            <a:endParaRPr lang="en-US" sz="1650" dirty="0"/>
          </a:p>
        </p:txBody>
      </p:sp>
      <p:sp>
        <p:nvSpPr>
          <p:cNvPr id="16" name="Text 9"/>
          <p:cNvSpPr/>
          <p:nvPr/>
        </p:nvSpPr>
        <p:spPr>
          <a:xfrm>
            <a:off x="4704141" y="6460232"/>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22399"/>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four kinds of support, ranked</a:t>
            </a:r>
            <a:endParaRPr lang="en-US" sz="2950" dirty="0"/>
          </a:p>
        </p:txBody>
      </p:sp>
      <p:sp>
        <p:nvSpPr>
          <p:cNvPr id="3" name="Shape 1"/>
          <p:cNvSpPr/>
          <p:nvPr/>
        </p:nvSpPr>
        <p:spPr>
          <a:xfrm>
            <a:off x="661475" y="1472902"/>
            <a:ext cx="1358568" cy="1089124"/>
          </a:xfrm>
          <a:prstGeom prst="roundRect">
            <a:avLst>
              <a:gd name="adj" fmla="val 7289"/>
            </a:avLst>
          </a:prstGeom>
          <a:solidFill>
            <a:srgbClr val="D1E5FA"/>
          </a:solidFill>
          <a:ln w="19050">
            <a:solidFill>
              <a:srgbClr val="B7CBE0"/>
            </a:solidFill>
            <a:prstDash val="solid"/>
          </a:ln>
        </p:spPr>
      </p:sp>
      <p:sp>
        <p:nvSpPr>
          <p:cNvPr id="4" name="Text 2"/>
          <p:cNvSpPr/>
          <p:nvPr/>
        </p:nvSpPr>
        <p:spPr>
          <a:xfrm>
            <a:off x="1207859" y="1851323"/>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1</a:t>
            </a:r>
            <a:endParaRPr lang="en-US" sz="2050" dirty="0"/>
          </a:p>
        </p:txBody>
      </p:sp>
      <p:sp>
        <p:nvSpPr>
          <p:cNvPr id="5" name="Text 3"/>
          <p:cNvSpPr/>
          <p:nvPr/>
        </p:nvSpPr>
        <p:spPr>
          <a:xfrm>
            <a:off x="2209050" y="1661914"/>
            <a:ext cx="91321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model's answer</a:t>
            </a:r>
            <a:endParaRPr lang="en-US" sz="1850" dirty="0"/>
          </a:p>
        </p:txBody>
      </p:sp>
      <p:sp>
        <p:nvSpPr>
          <p:cNvPr id="6" name="Text 4"/>
          <p:cNvSpPr/>
          <p:nvPr/>
        </p:nvSpPr>
        <p:spPr>
          <a:xfrm>
            <a:off x="2209050" y="2070596"/>
            <a:ext cx="913216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support at all</a:t>
            </a:r>
            <a:endParaRPr lang="en-US" sz="1450" dirty="0"/>
          </a:p>
        </p:txBody>
      </p:sp>
      <p:sp>
        <p:nvSpPr>
          <p:cNvPr id="7" name="Shape 5"/>
          <p:cNvSpPr/>
          <p:nvPr/>
        </p:nvSpPr>
        <p:spPr>
          <a:xfrm>
            <a:off x="2114497" y="2549327"/>
            <a:ext cx="9321269" cy="12700"/>
          </a:xfrm>
          <a:prstGeom prst="roundRect">
            <a:avLst>
              <a:gd name="adj" fmla="val 49999"/>
            </a:avLst>
          </a:prstGeom>
          <a:solidFill>
            <a:srgbClr val="B7CBE0"/>
          </a:solidFill>
          <a:ln/>
        </p:spPr>
      </p:sp>
      <p:sp>
        <p:nvSpPr>
          <p:cNvPr id="8" name="Shape 6"/>
          <p:cNvSpPr/>
          <p:nvPr/>
        </p:nvSpPr>
        <p:spPr>
          <a:xfrm>
            <a:off x="661475" y="2656483"/>
            <a:ext cx="2717137" cy="1089124"/>
          </a:xfrm>
          <a:prstGeom prst="roundRect">
            <a:avLst>
              <a:gd name="adj" fmla="val 7289"/>
            </a:avLst>
          </a:prstGeom>
          <a:solidFill>
            <a:srgbClr val="D1E5FA"/>
          </a:solidFill>
          <a:ln w="19050">
            <a:solidFill>
              <a:srgbClr val="B7CBE0"/>
            </a:solidFill>
            <a:prstDash val="solid"/>
          </a:ln>
        </p:spPr>
      </p:sp>
      <p:sp>
        <p:nvSpPr>
          <p:cNvPr id="9" name="Text 7"/>
          <p:cNvSpPr/>
          <p:nvPr/>
        </p:nvSpPr>
        <p:spPr>
          <a:xfrm>
            <a:off x="1887093" y="3034903"/>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2</a:t>
            </a:r>
            <a:endParaRPr lang="en-US" sz="2050" dirty="0"/>
          </a:p>
        </p:txBody>
      </p:sp>
      <p:sp>
        <p:nvSpPr>
          <p:cNvPr id="10" name="Text 8"/>
          <p:cNvSpPr/>
          <p:nvPr/>
        </p:nvSpPr>
        <p:spPr>
          <a:xfrm>
            <a:off x="3567619" y="2845495"/>
            <a:ext cx="777359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secondary source</a:t>
            </a:r>
            <a:endParaRPr lang="en-US" sz="1850" dirty="0"/>
          </a:p>
        </p:txBody>
      </p:sp>
      <p:sp>
        <p:nvSpPr>
          <p:cNvPr id="11" name="Text 9"/>
          <p:cNvSpPr/>
          <p:nvPr/>
        </p:nvSpPr>
        <p:spPr>
          <a:xfrm>
            <a:off x="3567619" y="3254177"/>
            <a:ext cx="777359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Weaker</a:t>
            </a:r>
            <a:endParaRPr lang="en-US" sz="1450" dirty="0"/>
          </a:p>
        </p:txBody>
      </p:sp>
      <p:sp>
        <p:nvSpPr>
          <p:cNvPr id="12" name="Shape 10"/>
          <p:cNvSpPr/>
          <p:nvPr/>
        </p:nvSpPr>
        <p:spPr>
          <a:xfrm>
            <a:off x="3473065" y="3732907"/>
            <a:ext cx="7962701" cy="12700"/>
          </a:xfrm>
          <a:prstGeom prst="roundRect">
            <a:avLst>
              <a:gd name="adj" fmla="val 49999"/>
            </a:avLst>
          </a:prstGeom>
          <a:solidFill>
            <a:srgbClr val="B7CBE0"/>
          </a:solidFill>
          <a:ln/>
        </p:spPr>
      </p:sp>
      <p:sp>
        <p:nvSpPr>
          <p:cNvPr id="13" name="Shape 11"/>
          <p:cNvSpPr/>
          <p:nvPr/>
        </p:nvSpPr>
        <p:spPr>
          <a:xfrm>
            <a:off x="661475" y="3840063"/>
            <a:ext cx="4075705" cy="1089124"/>
          </a:xfrm>
          <a:prstGeom prst="roundRect">
            <a:avLst>
              <a:gd name="adj" fmla="val 7289"/>
            </a:avLst>
          </a:prstGeom>
          <a:solidFill>
            <a:srgbClr val="D1E5FA"/>
          </a:solidFill>
          <a:ln w="19050">
            <a:solidFill>
              <a:srgbClr val="B7CBE0"/>
            </a:solidFill>
            <a:prstDash val="solid"/>
          </a:ln>
        </p:spPr>
      </p:sp>
      <p:sp>
        <p:nvSpPr>
          <p:cNvPr id="14" name="Text 12"/>
          <p:cNvSpPr/>
          <p:nvPr/>
        </p:nvSpPr>
        <p:spPr>
          <a:xfrm>
            <a:off x="2566427" y="4218484"/>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3</a:t>
            </a:r>
            <a:endParaRPr lang="en-US" sz="2050" dirty="0"/>
          </a:p>
        </p:txBody>
      </p:sp>
      <p:sp>
        <p:nvSpPr>
          <p:cNvPr id="15" name="Text 13"/>
          <p:cNvSpPr/>
          <p:nvPr/>
        </p:nvSpPr>
        <p:spPr>
          <a:xfrm>
            <a:off x="4926187" y="4029075"/>
            <a:ext cx="641502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primary source</a:t>
            </a:r>
            <a:endParaRPr lang="en-US" sz="1850" dirty="0"/>
          </a:p>
        </p:txBody>
      </p:sp>
      <p:sp>
        <p:nvSpPr>
          <p:cNvPr id="16" name="Text 14"/>
          <p:cNvSpPr/>
          <p:nvPr/>
        </p:nvSpPr>
        <p:spPr>
          <a:xfrm>
            <a:off x="4926187" y="4437757"/>
            <a:ext cx="641502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Strong</a:t>
            </a:r>
            <a:endParaRPr lang="en-US" sz="1450" dirty="0"/>
          </a:p>
        </p:txBody>
      </p:sp>
      <p:sp>
        <p:nvSpPr>
          <p:cNvPr id="17" name="Shape 15"/>
          <p:cNvSpPr/>
          <p:nvPr/>
        </p:nvSpPr>
        <p:spPr>
          <a:xfrm>
            <a:off x="4831634" y="4916488"/>
            <a:ext cx="6604132" cy="12700"/>
          </a:xfrm>
          <a:prstGeom prst="roundRect">
            <a:avLst>
              <a:gd name="adj" fmla="val 49999"/>
            </a:avLst>
          </a:prstGeom>
          <a:solidFill>
            <a:srgbClr val="B7CBE0"/>
          </a:solidFill>
          <a:ln/>
        </p:spPr>
      </p:sp>
      <p:sp>
        <p:nvSpPr>
          <p:cNvPr id="18" name="Shape 16"/>
          <p:cNvSpPr/>
          <p:nvPr/>
        </p:nvSpPr>
        <p:spPr>
          <a:xfrm>
            <a:off x="661475" y="5023644"/>
            <a:ext cx="5434373" cy="1089124"/>
          </a:xfrm>
          <a:prstGeom prst="roundRect">
            <a:avLst>
              <a:gd name="adj" fmla="val 7289"/>
            </a:avLst>
          </a:prstGeom>
          <a:solidFill>
            <a:srgbClr val="D1E5FA"/>
          </a:solidFill>
          <a:ln w="19050">
            <a:solidFill>
              <a:srgbClr val="B7CBE0"/>
            </a:solidFill>
            <a:prstDash val="solid"/>
          </a:ln>
        </p:spPr>
      </p:sp>
      <p:sp>
        <p:nvSpPr>
          <p:cNvPr id="19" name="Text 17"/>
          <p:cNvSpPr/>
          <p:nvPr/>
        </p:nvSpPr>
        <p:spPr>
          <a:xfrm>
            <a:off x="3245761" y="5402064"/>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4</a:t>
            </a:r>
            <a:endParaRPr lang="en-US" sz="2050" dirty="0"/>
          </a:p>
        </p:txBody>
      </p:sp>
      <p:sp>
        <p:nvSpPr>
          <p:cNvPr id="20" name="Text 18"/>
          <p:cNvSpPr/>
          <p:nvPr/>
        </p:nvSpPr>
        <p:spPr>
          <a:xfrm>
            <a:off x="6284854" y="5212655"/>
            <a:ext cx="505635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run you did</a:t>
            </a:r>
            <a:endParaRPr lang="en-US" sz="1850" dirty="0"/>
          </a:p>
        </p:txBody>
      </p:sp>
      <p:sp>
        <p:nvSpPr>
          <p:cNvPr id="21" name="Text 19"/>
          <p:cNvSpPr/>
          <p:nvPr/>
        </p:nvSpPr>
        <p:spPr>
          <a:xfrm>
            <a:off x="6284854" y="5621338"/>
            <a:ext cx="505635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Strongest</a:t>
            </a:r>
            <a:endParaRPr lang="en-US" sz="1450" dirty="0"/>
          </a:p>
        </p:txBody>
      </p:sp>
      <p:sp>
        <p:nvSpPr>
          <p:cNvPr id="22" name="Text 2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6661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Untraceable</a:t>
            </a:r>
            <a:endParaRPr lang="en-US" sz="2950" dirty="0"/>
          </a:p>
        </p:txBody>
      </p:sp>
      <p:sp>
        <p:nvSpPr>
          <p:cNvPr id="3" name="Shape 1"/>
          <p:cNvSpPr/>
          <p:nvPr/>
        </p:nvSpPr>
        <p:spPr>
          <a:xfrm>
            <a:off x="661475" y="2817118"/>
            <a:ext cx="10868745" cy="982861"/>
          </a:xfrm>
          <a:prstGeom prst="roundRect">
            <a:avLst>
              <a:gd name="adj" fmla="val 8077"/>
            </a:avLst>
          </a:prstGeom>
          <a:solidFill>
            <a:srgbClr val="F2F2F2"/>
          </a:solidFill>
          <a:ln/>
        </p:spPr>
      </p:sp>
      <p:sp>
        <p:nvSpPr>
          <p:cNvPr id="4" name="Text 2"/>
          <p:cNvSpPr/>
          <p:nvPr/>
        </p:nvSpPr>
        <p:spPr>
          <a:xfrm>
            <a:off x="888283" y="3006130"/>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"Local AI models are much slower than cloud models,</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often by a factor of ten."</a:t>
            </a:r>
            <a:endParaRPr lang="en-US" sz="1450" dirty="0"/>
          </a:p>
        </p:txBody>
      </p:sp>
      <p:sp>
        <p:nvSpPr>
          <p:cNvPr id="5" name="Shape 3"/>
          <p:cNvSpPr/>
          <p:nvPr/>
        </p:nvSpPr>
        <p:spPr>
          <a:xfrm>
            <a:off x="661475" y="4012605"/>
            <a:ext cx="10868745" cy="755948"/>
          </a:xfrm>
          <a:prstGeom prst="roundRect">
            <a:avLst>
              <a:gd name="adj" fmla="val 10502"/>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280297"/>
            <a:ext cx="236234" cy="189012"/>
          </a:xfrm>
          <a:prstGeom prst="rect">
            <a:avLst/>
          </a:prstGeom>
        </p:spPr>
      </p:pic>
      <p:sp>
        <p:nvSpPr>
          <p:cNvPr id="7" name="Text 4"/>
          <p:cNvSpPr/>
          <p:nvPr/>
        </p:nvSpPr>
        <p:spPr>
          <a:xfrm>
            <a:off x="1275723" y="4248845"/>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No source named. No measurement cited. No way to verify.</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664196"/>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Traceable</a:t>
            </a:r>
            <a:endParaRPr lang="en-US" sz="2950" dirty="0"/>
          </a:p>
        </p:txBody>
      </p:sp>
      <p:sp>
        <p:nvSpPr>
          <p:cNvPr id="3" name="Shape 1"/>
          <p:cNvSpPr/>
          <p:nvPr/>
        </p:nvSpPr>
        <p:spPr>
          <a:xfrm>
            <a:off x="661475" y="2514699"/>
            <a:ext cx="10868745" cy="1587698"/>
          </a:xfrm>
          <a:prstGeom prst="roundRect">
            <a:avLst>
              <a:gd name="adj" fmla="val 5000"/>
            </a:avLst>
          </a:prstGeom>
          <a:solidFill>
            <a:srgbClr val="F2F2F2"/>
          </a:solidFill>
          <a:ln/>
        </p:spPr>
      </p:sp>
      <p:sp>
        <p:nvSpPr>
          <p:cNvPr id="4" name="Text 2"/>
          <p:cNvSpPr/>
          <p:nvPr/>
        </p:nvSpPr>
        <p:spPr>
          <a:xfrm>
            <a:off x="888283" y="2703711"/>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On the build machine, with a stand-in server set to 40 tokens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25 ms each, bench.py reported a median total latency of 1335.7 ms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and 39.3 tokens/sec for p1_short. Raw run: runs/bench-a.json.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No real model was available, so this measures the instrument.</a:t>
            </a:r>
            <a:endParaRPr lang="en-US" sz="1450" dirty="0"/>
          </a:p>
        </p:txBody>
      </p:sp>
      <p:sp>
        <p:nvSpPr>
          <p:cNvPr id="5" name="Shape 3"/>
          <p:cNvSpPr/>
          <p:nvPr/>
        </p:nvSpPr>
        <p:spPr>
          <a:xfrm>
            <a:off x="661475" y="4315023"/>
            <a:ext cx="10868745" cy="755948"/>
          </a:xfrm>
          <a:prstGeom prst="roundRect">
            <a:avLst>
              <a:gd name="adj" fmla="val 10502"/>
            </a:avLst>
          </a:prstGeom>
          <a:solidFill>
            <a:srgbClr val="B6FCB8"/>
          </a:solidFill>
          <a:ln/>
        </p:spPr>
      </p:sp>
      <p:pic>
        <p:nvPicPr>
          <p:cNvPr id="6" name="Image 0" descr="preencoded.png">    </p:cNvPr>
          <p:cNvPicPr>
            <a:picLocks noChangeAspect="1"/>
          </p:cNvPicPr>
          <p:nvPr/>
        </p:nvPicPr>
        <p:blipFill>
          <a:blip r:embed="rId1"/>
          <a:stretch>
            <a:fillRect/>
          </a:stretch>
        </p:blipFill>
        <p:spPr>
          <a:xfrm>
            <a:off x="850482" y="4582716"/>
            <a:ext cx="236234" cy="189012"/>
          </a:xfrm>
          <a:prstGeom prst="rect">
            <a:avLst/>
          </a:prstGeom>
        </p:spPr>
      </p:pic>
      <p:sp>
        <p:nvSpPr>
          <p:cNvPr id="7" name="Text 4"/>
          <p:cNvSpPr/>
          <p:nvPr/>
        </p:nvSpPr>
        <p:spPr>
          <a:xfrm>
            <a:off x="1275723" y="4551263"/>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Specific machine. Specific file. Specific caveat. Findable.</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792559"/>
            <a:ext cx="3504219" cy="141743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When there is no command to run</a:t>
            </a:r>
            <a:endParaRPr lang="en-US" sz="29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3092" y="2428478"/>
            <a:ext cx="283461" cy="283468"/>
          </a:xfrm>
          <a:prstGeom prst="rect">
            <a:avLst/>
          </a:prstGeom>
        </p:spPr>
      </p:pic>
      <p:sp>
        <p:nvSpPr>
          <p:cNvPr id="5" name="Text 1"/>
          <p:cNvSpPr/>
          <p:nvPr/>
        </p:nvSpPr>
        <p:spPr>
          <a:xfrm>
            <a:off x="8646499" y="2422624"/>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would settle it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03092" y="3397052"/>
            <a:ext cx="283461" cy="283468"/>
          </a:xfrm>
          <a:prstGeom prst="rect">
            <a:avLst/>
          </a:prstGeom>
        </p:spPr>
      </p:pic>
      <p:sp>
        <p:nvSpPr>
          <p:cNvPr id="7" name="Text 2"/>
          <p:cNvSpPr/>
          <p:nvPr/>
        </p:nvSpPr>
        <p:spPr>
          <a:xfrm>
            <a:off x="8646499" y="3391198"/>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the primary source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03092" y="4365625"/>
            <a:ext cx="283461" cy="283468"/>
          </a:xfrm>
          <a:prstGeom prst="rect">
            <a:avLst/>
          </a:prstGeom>
        </p:spPr>
      </p:pic>
      <p:sp>
        <p:nvSpPr>
          <p:cNvPr id="9" name="Text 3"/>
          <p:cNvSpPr/>
          <p:nvPr/>
        </p:nvSpPr>
        <p:spPr>
          <a:xfrm>
            <a:off x="8646499" y="4359771"/>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part that matters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3092" y="5334198"/>
            <a:ext cx="283461" cy="283468"/>
          </a:xfrm>
          <a:prstGeom prst="rect">
            <a:avLst/>
          </a:prstGeom>
        </p:spPr>
      </p:pic>
      <p:sp>
        <p:nvSpPr>
          <p:cNvPr id="11" name="Text 4"/>
          <p:cNvSpPr/>
          <p:nvPr/>
        </p:nvSpPr>
        <p:spPr>
          <a:xfrm>
            <a:off x="8646499" y="5328345"/>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down the search that failed</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83295"/>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failed search is a result</a:t>
            </a:r>
            <a:endParaRPr lang="en-US" sz="2950" dirty="0"/>
          </a:p>
        </p:txBody>
      </p:sp>
      <p:sp>
        <p:nvSpPr>
          <p:cNvPr id="4" name="Shape 1"/>
          <p:cNvSpPr/>
          <p:nvPr/>
        </p:nvSpPr>
        <p:spPr>
          <a:xfrm>
            <a:off x="5233360" y="2039243"/>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24730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 looked in X and Y</a:t>
            </a:r>
            <a:endParaRPr lang="en-US" sz="1850" dirty="0"/>
          </a:p>
        </p:txBody>
      </p:sp>
      <p:sp>
        <p:nvSpPr>
          <p:cNvPr id="6" name="Shape 3"/>
          <p:cNvSpPr/>
          <p:nvPr/>
        </p:nvSpPr>
        <p:spPr>
          <a:xfrm>
            <a:off x="5233360" y="293965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14771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 did not find the origin</a:t>
            </a:r>
            <a:endParaRPr lang="en-US" sz="1850" dirty="0"/>
          </a:p>
        </p:txBody>
      </p:sp>
      <p:sp>
        <p:nvSpPr>
          <p:cNvPr id="8" name="Shape 5"/>
          <p:cNvSpPr/>
          <p:nvPr/>
        </p:nvSpPr>
        <p:spPr>
          <a:xfrm>
            <a:off x="5233360" y="384006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04812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sentence belongs in your report</a:t>
            </a:r>
            <a:endParaRPr lang="en-US" sz="1850" dirty="0"/>
          </a:p>
        </p:txBody>
      </p:sp>
      <p:sp>
        <p:nvSpPr>
          <p:cNvPr id="10" name="Shape 7"/>
          <p:cNvSpPr/>
          <p:nvPr/>
        </p:nvSpPr>
        <p:spPr>
          <a:xfrm>
            <a:off x="5233360" y="474047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494853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is stronger than </a:t>
            </a:r>
            <a:pPr algn="l" indent="0" marL="0">
              <a:lnSpc>
                <a:spcPct val="104000"/>
              </a:lnSpc>
              <a:buNone/>
            </a:pPr>
            <a:r>
              <a:rPr lang="en-US" sz="1850" b="1" i="1" dirty="0">
                <a:solidFill>
                  <a:srgbClr val="1C1C1C"/>
                </a:solidFill>
                <a:latin typeface="Orbitron Bold" pitchFamily="34" charset="0"/>
                <a:ea typeface="Orbitron Bold" pitchFamily="34" charset="-122"/>
                <a:cs typeface="Orbitron Bold" pitchFamily="34" charset="-120"/>
              </a:rPr>
              <a:t>studies show</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886916"/>
            <a:ext cx="3504219" cy="141743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Three questions before the sentence ends</a:t>
            </a:r>
            <a:endParaRPr lang="en-US" sz="2950" dirty="0"/>
          </a:p>
        </p:txBody>
      </p:sp>
      <p:sp>
        <p:nvSpPr>
          <p:cNvPr id="4" name="Text 1"/>
          <p:cNvSpPr/>
          <p:nvPr/>
        </p:nvSpPr>
        <p:spPr>
          <a:xfrm>
            <a:off x="8032251" y="251698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8032251" y="2812852"/>
            <a:ext cx="3504219" cy="25400"/>
          </a:xfrm>
          <a:prstGeom prst="rect">
            <a:avLst/>
          </a:prstGeom>
          <a:solidFill>
            <a:srgbClr val="57A1EB"/>
          </a:solidFill>
          <a:ln/>
        </p:spPr>
      </p:sp>
      <p:sp>
        <p:nvSpPr>
          <p:cNvPr id="6" name="Text 3"/>
          <p:cNvSpPr/>
          <p:nvPr/>
        </p:nvSpPr>
        <p:spPr>
          <a:xfrm>
            <a:off x="8032251" y="2958108"/>
            <a:ext cx="35042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exactly am I asserting</a:t>
            </a:r>
            <a:endParaRPr lang="en-US" sz="1850" dirty="0"/>
          </a:p>
        </p:txBody>
      </p:sp>
      <p:sp>
        <p:nvSpPr>
          <p:cNvPr id="7" name="Text 4"/>
          <p:cNvSpPr/>
          <p:nvPr/>
        </p:nvSpPr>
        <p:spPr>
          <a:xfrm>
            <a:off x="8032251" y="3879354"/>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8032251" y="4175224"/>
            <a:ext cx="3504219" cy="25400"/>
          </a:xfrm>
          <a:prstGeom prst="rect">
            <a:avLst/>
          </a:prstGeom>
          <a:solidFill>
            <a:srgbClr val="57A1EB"/>
          </a:solidFill>
          <a:ln/>
        </p:spPr>
      </p:sp>
      <p:sp>
        <p:nvSpPr>
          <p:cNvPr id="9" name="Text 6"/>
          <p:cNvSpPr/>
          <p:nvPr/>
        </p:nvSpPr>
        <p:spPr>
          <a:xfrm>
            <a:off x="8032251" y="4320480"/>
            <a:ext cx="35042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would show it</a:t>
            </a:r>
            <a:endParaRPr lang="en-US" sz="1850" dirty="0"/>
          </a:p>
        </p:txBody>
      </p:sp>
      <p:sp>
        <p:nvSpPr>
          <p:cNvPr id="10" name="Text 7"/>
          <p:cNvSpPr/>
          <p:nvPr/>
        </p:nvSpPr>
        <p:spPr>
          <a:xfrm>
            <a:off x="8032251" y="494645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8032251" y="5242322"/>
            <a:ext cx="3504219" cy="25400"/>
          </a:xfrm>
          <a:prstGeom prst="rect">
            <a:avLst/>
          </a:prstGeom>
          <a:solidFill>
            <a:srgbClr val="57A1EB"/>
          </a:solidFill>
          <a:ln/>
        </p:spPr>
      </p:sp>
      <p:sp>
        <p:nvSpPr>
          <p:cNvPr id="12" name="Text 9"/>
          <p:cNvSpPr/>
          <p:nvPr/>
        </p:nvSpPr>
        <p:spPr>
          <a:xfrm>
            <a:off x="8032251" y="5387578"/>
            <a:ext cx="35042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Where is that thing</a:t>
            </a:r>
            <a:endParaRPr lang="en-US" sz="18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57895"/>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Shape 1"/>
          <p:cNvSpPr/>
          <p:nvPr/>
        </p:nvSpPr>
        <p:spPr>
          <a:xfrm>
            <a:off x="661475" y="2013843"/>
            <a:ext cx="6296860"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875881" y="222825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Infographic Autopsy starts now</a:t>
            </a:r>
            <a:endParaRPr lang="en-US" sz="1850" dirty="0"/>
          </a:p>
        </p:txBody>
      </p:sp>
      <p:sp>
        <p:nvSpPr>
          <p:cNvPr id="6" name="Shape 3"/>
          <p:cNvSpPr/>
          <p:nvPr/>
        </p:nvSpPr>
        <p:spPr>
          <a:xfrm>
            <a:off x="661475" y="2926953"/>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875881" y="314136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page about how a language model works</a:t>
            </a:r>
            <a:endParaRPr lang="en-US" sz="1850" dirty="0"/>
          </a:p>
        </p:txBody>
      </p:sp>
      <p:sp>
        <p:nvSpPr>
          <p:cNvPr id="8" name="Shape 5"/>
          <p:cNvSpPr/>
          <p:nvPr/>
        </p:nvSpPr>
        <p:spPr>
          <a:xfrm>
            <a:off x="661475" y="3840063"/>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05447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Constructed for this class, and it says so</a:t>
            </a:r>
            <a:endParaRPr lang="en-US" sz="1850" dirty="0"/>
          </a:p>
        </p:txBody>
      </p:sp>
      <p:sp>
        <p:nvSpPr>
          <p:cNvPr id="10" name="Shape 7"/>
          <p:cNvSpPr/>
          <p:nvPr/>
        </p:nvSpPr>
        <p:spPr>
          <a:xfrm>
            <a:off x="661475" y="4753173"/>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875881" y="4967585"/>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of its problems is genuinely arguable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2026-09-16T04:02:20Z</dcterms:created>
  <dcterms:modified xsi:type="dcterms:W3CDTF">2026-09-16T04:02:20Z</dcterms:modified>
</cp:coreProperties>
</file>