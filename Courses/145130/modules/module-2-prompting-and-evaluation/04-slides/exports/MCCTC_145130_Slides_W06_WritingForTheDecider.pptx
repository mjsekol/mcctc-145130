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spent three weeks producing findings. Today is about whether any of them reach a person who can do something. The yearbook adviser, the club advisor, an assistant principal. They are not technical, they are reading your document between two other things, and they will decide inside the first five lines whether to keep going. Do not take that personally and do not call it laziness. It is what a day looks like for anybody who makes decisions, and writing for them is a technical skill with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collapse these two constantly and it is the single biggest reason a good analysis lands with nobody. The record is chronological and as long as the work took, and it includes the dead ends, because a reviewer checking you needs the dead ends. The brief is conclusion first and it contains only what changes the decision. Turning the first into the second is not editing. It is rewriting, and you should expect it to take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is what makes the document survive being half read. Part one first means that if the reader stops after one line, they still got the thing they needed. Part three is two or three findings, not all eleven, and the test is which ones would change the decision if they were different. Part four has a number in it, because a recommendation with no cost reads as naive and gets discounted even when it is right. Part five tells the reader how firm this is, which is information they need and almost never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introduction and the methodology aloud and then stop, because that is where the reader stops. Ask the room what they have learned that they could act on. Nothing. The work behind this document may be excellent. None of it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of reader attention spent on a definition they did not need and a methodology nobody is grading. And when you finally reach the recommendation, it is unactionable. Check them before printing names no captions, no person, and no deadline. Somebody who wanted to do the right thing still could not, from that document. Those are two separate failures and you can commit either one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work. Same eleven findings behind it. The reader can act after the first sentence, and every sentence after it is support for the same decision. Count what is in that opening. An action, a named object, a number, and a time cost, all before the reader has to decide whether to keep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point at. First, the findings are quoted and each carries its evidence in one line, so a reader can check any of them in under a minute. Second, the cost is priced against the alternative, which is what makes fifteen minutes sound cheap. Third, and this is the one students resist, I could not confirm it. That sentence buys more trust than the two confident bullets above it, because it shows the confident ones were a choice rather than a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Somebody should check these and the yearbook adviser should check the twelve captions that name students before sign-off are different documents. Numbers stop a recommendation from reading as an abstraction. And say what you are not sure about, in its own sentence, because part five is what lets you be direct without overclaiming. If you have three recommendations you have three briefs, or you have one brief and everything else at the bottom under a heading that says so. For a one-page brief, the second option is nearly always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that first line as though you meant it and let it hang. Nothing in it can be wrong. If the captions go to print and one of them is false, the writer can point at that sentence and say they raised it. That is what it is for. Why is it tempting? Because a definite recommendation can be wrong, in front of people, in writing. Hedging removes that risk by removing the content. The professional move is the opposite of hedging, and it is part five. Say the thing definitely, then name the specific fact that would change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eleven findings, three completely different documents. For the adviser, cut anything about how models work. For the student who wrote the captions, cut the print deadline framing and lead with the thirty-seven that were right, because they have to keep working after they read it. For the principal, cut the parameter names, the method, and the other two findings, and lead with whether a student's name is at risk and what is being done about it. Changing the audience is not a matter of tone. It changes what goes in paragraph one and what comes out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brief, one page or less, due at the end of the block. Your reader is assigned by the lab and different people get different readers, which is the point of the second half. Build two is the audience swap for the first twenty-five minutes. Same evidence, different reader, and what I want to see is a visible difference in what comes first and what you cut. The remaining thirty minutes are module review against the exit criteria checklist, and you bring me one gap you found in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7.png"/><Relationship Id="rId10" Type="http://schemas.openxmlformats.org/officeDocument/2006/relationships/image" Target="../media/image-9-8.svg"/><Relationship Id="rId11" Type="http://schemas.openxmlformats.org/officeDocument/2006/relationships/slideLayout" Target="../slideLayouts/slideLayout2.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Writing for the Person Who Has to Act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6874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weeks of work and the reader stopped at line five</a:t>
            </a:r>
            <a:endParaRPr lang="en-US" sz="3700" dirty="0"/>
          </a:p>
        </p:txBody>
      </p:sp>
      <p:sp>
        <p:nvSpPr>
          <p:cNvPr id="3" name="Text 1"/>
          <p:cNvSpPr/>
          <p:nvPr/>
        </p:nvSpPr>
        <p:spPr>
          <a:xfrm>
            <a:off x="1275723" y="23929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person who acts on your work is not technical</a:t>
            </a:r>
            <a:endParaRPr lang="en-US" sz="1850" dirty="0"/>
          </a:p>
        </p:txBody>
      </p:sp>
      <p:sp>
        <p:nvSpPr>
          <p:cNvPr id="4" name="Text 2"/>
          <p:cNvSpPr/>
          <p:nvPr/>
        </p:nvSpPr>
        <p:spPr>
          <a:xfrm>
            <a:off x="1275723" y="319623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They are reading it between two other things</a:t>
            </a:r>
            <a:endParaRPr lang="en-US" sz="1850" dirty="0"/>
          </a:p>
        </p:txBody>
      </p:sp>
      <p:sp>
        <p:nvSpPr>
          <p:cNvPr id="5" name="Text 3"/>
          <p:cNvSpPr/>
          <p:nvPr/>
        </p:nvSpPr>
        <p:spPr>
          <a:xfrm>
            <a:off x="1275723" y="399950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They decide in five lines whether to keep reading</a:t>
            </a:r>
            <a:endParaRPr lang="en-US" sz="1850" dirty="0"/>
          </a:p>
        </p:txBody>
      </p:sp>
      <p:sp>
        <p:nvSpPr>
          <p:cNvPr id="6" name="Text 4"/>
          <p:cNvSpPr/>
          <p:nvPr/>
        </p:nvSpPr>
        <p:spPr>
          <a:xfrm>
            <a:off x="1275723" y="480278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That is not laziness. That is what their day looks like</a:t>
            </a:r>
            <a:endParaRPr lang="en-US" sz="1850" dirty="0"/>
          </a:p>
        </p:txBody>
      </p:sp>
      <p:sp>
        <p:nvSpPr>
          <p:cNvPr id="7" name="Text 5"/>
          <p:cNvSpPr/>
          <p:nvPr/>
        </p:nvSpPr>
        <p:spPr>
          <a:xfrm>
            <a:off x="1275723" y="56060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finding nobody reads is a finding you did not make</a:t>
            </a:r>
            <a:endParaRPr lang="en-US" sz="1850" dirty="0"/>
          </a:p>
        </p:txBody>
      </p:sp>
      <p:sp>
        <p:nvSpPr>
          <p:cNvPr id="8"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204112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documents, two jobs</a:t>
            </a:r>
            <a:endParaRPr lang="en-US" sz="3700" dirty="0"/>
          </a:p>
        </p:txBody>
      </p:sp>
      <p:sp>
        <p:nvSpPr>
          <p:cNvPr id="3" name="Shape 1"/>
          <p:cNvSpPr/>
          <p:nvPr/>
        </p:nvSpPr>
        <p:spPr>
          <a:xfrm>
            <a:off x="525350" y="2915245"/>
            <a:ext cx="5476043" cy="1778794"/>
          </a:xfrm>
          <a:prstGeom prst="roundRect">
            <a:avLst>
              <a:gd name="adj" fmla="val 7651"/>
            </a:avLst>
          </a:prstGeom>
          <a:solidFill>
            <a:srgbClr val="233452"/>
          </a:solidFill>
          <a:ln/>
        </p:spPr>
      </p:sp>
      <p:sp>
        <p:nvSpPr>
          <p:cNvPr id="4" name="Text 2"/>
          <p:cNvSpPr/>
          <p:nvPr/>
        </p:nvSpPr>
        <p:spPr>
          <a:xfrm>
            <a:off x="714357" y="3104257"/>
            <a:ext cx="5098029" cy="295275"/>
          </a:xfrm>
          <a:prstGeom prst="rect">
            <a:avLst/>
          </a:prstGeom>
          <a:noFill/>
          <a:ln/>
        </p:spPr>
        <p:txBody>
          <a:bodyPr wrap="none" lIns="0" tIns="0" rIns="0" bIns="0" rtlCol="0" anchor="t"/>
          <a:lstStyle/>
          <a:p>
            <a:pPr algn="l" indent="0" marL="0">
              <a:lnSpc>
                <a:spcPct val="104000"/>
              </a:lnSpc>
              <a:buNone/>
            </a:pPr>
            <a:r>
              <a:rPr lang="en-US" sz="1850" b="1" dirty="0">
                <a:solidFill>
                  <a:srgbClr val="FFFFFF"/>
                </a:solidFill>
                <a:latin typeface="Orbitron Bold" pitchFamily="34" charset="0"/>
                <a:ea typeface="Orbitron Bold" pitchFamily="34" charset="-122"/>
                <a:cs typeface="Orbitron Bold" pitchFamily="34" charset="-120"/>
              </a:rPr>
              <a:t>Your Record</a:t>
            </a:r>
            <a:endParaRPr lang="en-US" sz="1850" dirty="0"/>
          </a:p>
        </p:txBody>
      </p:sp>
      <p:sp>
        <p:nvSpPr>
          <p:cNvPr id="5" name="Text 3"/>
          <p:cNvSpPr/>
          <p:nvPr/>
        </p:nvSpPr>
        <p:spPr>
          <a:xfrm>
            <a:off x="714357" y="3588544"/>
            <a:ext cx="5098029" cy="67091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FFFFFF"/>
                </a:solidFill>
                <a:latin typeface="Roboto Condensed" pitchFamily="34" charset="0"/>
                <a:ea typeface="Roboto Condensed" pitchFamily="34" charset="-122"/>
                <a:cs typeface="Roboto Condensed" pitchFamily="34" charset="-120"/>
              </a:rPr>
              <a:t>Chronological, complete, including dead ends</a:t>
            </a:r>
            <a:endParaRPr lang="en-US" sz="1450" dirty="0"/>
          </a:p>
          <a:p>
            <a:pPr algn="l" marL="294640" indent="-294640">
              <a:lnSpc>
                <a:spcPct val="133000"/>
              </a:lnSpc>
              <a:buSzPct val="100000"/>
              <a:buChar char="•"/>
            </a:pPr>
            <a:r>
              <a:rPr lang="en-US" sz="1450" dirty="0">
                <a:solidFill>
                  <a:srgbClr val="FFFFFF"/>
                </a:solidFill>
                <a:latin typeface="Roboto Condensed" pitchFamily="34" charset="0"/>
                <a:ea typeface="Roboto Condensed" pitchFamily="34" charset="-122"/>
                <a:cs typeface="Roboto Condensed" pitchFamily="34" charset="-120"/>
              </a:rPr>
              <a:t>Written for you, later, and for a checker</a:t>
            </a:r>
            <a:endParaRPr lang="en-US" sz="1450" dirty="0"/>
          </a:p>
        </p:txBody>
      </p:sp>
      <p:sp>
        <p:nvSpPr>
          <p:cNvPr id="6" name="Text 4"/>
          <p:cNvSpPr/>
          <p:nvPr/>
        </p:nvSpPr>
        <p:spPr>
          <a:xfrm>
            <a:off x="6332776" y="3104257"/>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Your Brief</a:t>
            </a:r>
            <a:endParaRPr lang="en-US" sz="1850" dirty="0"/>
          </a:p>
        </p:txBody>
      </p:sp>
      <p:sp>
        <p:nvSpPr>
          <p:cNvPr id="7" name="Text 5"/>
          <p:cNvSpPr/>
          <p:nvPr/>
        </p:nvSpPr>
        <p:spPr>
          <a:xfrm>
            <a:off x="6332776" y="3588544"/>
            <a:ext cx="5203794"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Conclusion first, one page, what changes the decision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Written for a person who has to decide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record is not a draft of your brief</a:t>
            </a:r>
            <a:endParaRPr lang="en-US" sz="1450" dirty="0"/>
          </a:p>
        </p:txBody>
      </p:sp>
      <p:sp>
        <p:nvSpPr>
          <p:cNvPr id="8"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172369"/>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Five parts, and the order is not negotiable</a:t>
            </a:r>
            <a:endParaRPr lang="en-US" sz="3700" dirty="0"/>
          </a:p>
        </p:txBody>
      </p:sp>
      <p:sp>
        <p:nvSpPr>
          <p:cNvPr id="3" name="Text 1"/>
          <p:cNvSpPr/>
          <p:nvPr/>
        </p:nvSpPr>
        <p:spPr>
          <a:xfrm>
            <a:off x="661475" y="273169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3027561"/>
            <a:ext cx="3496877" cy="25400"/>
          </a:xfrm>
          <a:prstGeom prst="rect">
            <a:avLst/>
          </a:prstGeom>
          <a:solidFill>
            <a:srgbClr val="57A1EB"/>
          </a:solidFill>
          <a:ln/>
        </p:spPr>
      </p:sp>
      <p:sp>
        <p:nvSpPr>
          <p:cNvPr id="5" name="Text 3"/>
          <p:cNvSpPr/>
          <p:nvPr/>
        </p:nvSpPr>
        <p:spPr>
          <a:xfrm>
            <a:off x="661475" y="3172817"/>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recommendation, in one sentence, first</a:t>
            </a:r>
            <a:endParaRPr lang="en-US" sz="1850" dirty="0"/>
          </a:p>
        </p:txBody>
      </p:sp>
      <p:sp>
        <p:nvSpPr>
          <p:cNvPr id="6" name="Text 4"/>
          <p:cNvSpPr/>
          <p:nvPr/>
        </p:nvSpPr>
        <p:spPr>
          <a:xfrm>
            <a:off x="4347359" y="273169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4347359" y="3027561"/>
            <a:ext cx="3496877" cy="25400"/>
          </a:xfrm>
          <a:prstGeom prst="rect">
            <a:avLst/>
          </a:prstGeom>
          <a:solidFill>
            <a:srgbClr val="57A1EB"/>
          </a:solidFill>
          <a:ln/>
        </p:spPr>
      </p:sp>
      <p:sp>
        <p:nvSpPr>
          <p:cNvPr id="8" name="Text 6"/>
          <p:cNvSpPr/>
          <p:nvPr/>
        </p:nvSpPr>
        <p:spPr>
          <a:xfrm>
            <a:off x="4347359" y="3172817"/>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situation, in three sentences at most</a:t>
            </a:r>
            <a:endParaRPr lang="en-US" sz="1850" dirty="0"/>
          </a:p>
        </p:txBody>
      </p:sp>
      <p:sp>
        <p:nvSpPr>
          <p:cNvPr id="9" name="Text 7"/>
          <p:cNvSpPr/>
          <p:nvPr/>
        </p:nvSpPr>
        <p:spPr>
          <a:xfrm>
            <a:off x="8033244" y="273169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8033244" y="3027561"/>
            <a:ext cx="3496877" cy="25400"/>
          </a:xfrm>
          <a:prstGeom prst="rect">
            <a:avLst/>
          </a:prstGeom>
          <a:solidFill>
            <a:srgbClr val="57A1EB"/>
          </a:solidFill>
          <a:ln/>
        </p:spPr>
      </p:sp>
      <p:sp>
        <p:nvSpPr>
          <p:cNvPr id="11" name="Text 9"/>
          <p:cNvSpPr/>
          <p:nvPr/>
        </p:nvSpPr>
        <p:spPr>
          <a:xfrm>
            <a:off x="8033244" y="3172817"/>
            <a:ext cx="349687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two or three findings that drive the recommendation</a:t>
            </a:r>
            <a:endParaRPr lang="en-US" sz="1850" dirty="0"/>
          </a:p>
        </p:txBody>
      </p:sp>
      <p:sp>
        <p:nvSpPr>
          <p:cNvPr id="12" name="Text 10"/>
          <p:cNvSpPr/>
          <p:nvPr/>
        </p:nvSpPr>
        <p:spPr>
          <a:xfrm>
            <a:off x="661475" y="4389338"/>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61475" y="4685209"/>
            <a:ext cx="5339820" cy="25400"/>
          </a:xfrm>
          <a:prstGeom prst="rect">
            <a:avLst/>
          </a:prstGeom>
          <a:solidFill>
            <a:srgbClr val="57A1EB"/>
          </a:solidFill>
          <a:ln/>
        </p:spPr>
      </p:sp>
      <p:sp>
        <p:nvSpPr>
          <p:cNvPr id="14" name="Text 12"/>
          <p:cNvSpPr/>
          <p:nvPr/>
        </p:nvSpPr>
        <p:spPr>
          <a:xfrm>
            <a:off x="661475" y="4830465"/>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it costs, and what you are trading away</a:t>
            </a:r>
            <a:endParaRPr lang="en-US" sz="1850" dirty="0"/>
          </a:p>
        </p:txBody>
      </p:sp>
      <p:sp>
        <p:nvSpPr>
          <p:cNvPr id="15" name="Text 13"/>
          <p:cNvSpPr/>
          <p:nvPr/>
        </p:nvSpPr>
        <p:spPr>
          <a:xfrm>
            <a:off x="6190301" y="4389338"/>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16" name="Shape 14"/>
          <p:cNvSpPr/>
          <p:nvPr/>
        </p:nvSpPr>
        <p:spPr>
          <a:xfrm>
            <a:off x="6190301" y="4685209"/>
            <a:ext cx="5339820" cy="25400"/>
          </a:xfrm>
          <a:prstGeom prst="rect">
            <a:avLst/>
          </a:prstGeom>
          <a:solidFill>
            <a:srgbClr val="57A1EB"/>
          </a:solidFill>
          <a:ln/>
        </p:spPr>
      </p:sp>
      <p:sp>
        <p:nvSpPr>
          <p:cNvPr id="17" name="Text 15"/>
          <p:cNvSpPr/>
          <p:nvPr/>
        </p:nvSpPr>
        <p:spPr>
          <a:xfrm>
            <a:off x="6190301" y="4830465"/>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would change your recommendation</a:t>
            </a:r>
            <a:endParaRPr lang="en-US" sz="18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56220"/>
            <a:ext cx="10868745" cy="1033463"/>
          </a:xfrm>
          <a:prstGeom prst="rect">
            <a:avLst/>
          </a:prstGeom>
          <a:noFill/>
          <a:ln/>
        </p:spPr>
        <p:txBody>
          <a:bodyPr wrap="square" lIns="0" tIns="0" rIns="0" bIns="0" rtlCol="0" anchor="t">
            <a:normAutofit/>
          </a:bodyPr>
          <a:lstStyle/>
          <a:p>
            <a:pPr algn="l" indent="0" marL="0">
              <a:lnSpc>
                <a:spcPct val="104000"/>
              </a:lnSpc>
              <a:buNone/>
            </a:pPr>
            <a:r>
              <a:rPr lang="en-US" sz="3250" b="1" dirty="0">
                <a:solidFill>
                  <a:srgbClr val="111111"/>
                </a:solidFill>
                <a:latin typeface="Orbitron Bold" pitchFamily="34" charset="0"/>
                <a:ea typeface="Orbitron Bold" pitchFamily="34" charset="-122"/>
                <a:cs typeface="Orbitron Bold" pitchFamily="34" charset="-120"/>
              </a:rPr>
              <a:t>The wrong way, and it is what gets handed in first</a:t>
            </a:r>
            <a:endParaRPr lang="en-US" sz="3250" dirty="0"/>
          </a:p>
        </p:txBody>
      </p:sp>
      <p:sp>
        <p:nvSpPr>
          <p:cNvPr id="3" name="Shape 1"/>
          <p:cNvSpPr/>
          <p:nvPr/>
        </p:nvSpPr>
        <p:spPr>
          <a:xfrm>
            <a:off x="661475" y="1879104"/>
            <a:ext cx="10868745" cy="4299843"/>
          </a:xfrm>
          <a:prstGeom prst="roundRect">
            <a:avLst>
              <a:gd name="adj" fmla="val 1616"/>
            </a:avLst>
          </a:prstGeom>
          <a:solidFill>
            <a:srgbClr val="F2F2F2"/>
          </a:solidFill>
          <a:ln/>
        </p:spPr>
      </p:sp>
      <p:sp>
        <p:nvSpPr>
          <p:cNvPr id="4" name="Text 2"/>
          <p:cNvSpPr/>
          <p:nvPr/>
        </p:nvSpPr>
        <p:spPr>
          <a:xfrm>
            <a:off x="859907" y="2044402"/>
            <a:ext cx="10471880" cy="396924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2863A"/>
                </a:solidFill>
                <a:latin typeface="Consolas" pitchFamily="34" charset="0"/>
                <a:ea typeface="Consolas" pitchFamily="34" charset="-122"/>
                <a:cs typeface="Consolas" pitchFamily="34" charset="-120"/>
              </a:rPr>
              <a:t>CAPTION EVALUATION REPORT</a:t>
            </a:r>
            <a:endParaRPr lang="en-US" sz="1300" dirty="0"/>
          </a:p>
          <a:p>
            <a:pPr algn="l" indent="0" marL="0">
              <a:lnSpc>
                <a:spcPct val="133000"/>
              </a:lnSpc>
              <a:buNone/>
            </a:pPr>
            <a:endParaRPr lang="en-US" sz="1300" dirty="0"/>
          </a:p>
          <a:p>
            <a:pPr algn="l" indent="0" marL="0">
              <a:lnSpc>
                <a:spcPct val="133000"/>
              </a:lnSpc>
              <a:buNone/>
            </a:pPr>
            <a:r>
              <a:rPr lang="en-US" sz="1300" dirty="0">
                <a:solidFill>
                  <a:srgbClr val="22863A"/>
                </a:solidFill>
                <a:latin typeface="Consolas" pitchFamily="34" charset="0"/>
                <a:ea typeface="Consolas" pitchFamily="34" charset="-122"/>
                <a:cs typeface="Consolas" pitchFamily="34" charset="-120"/>
              </a:rPr>
              <a:t>Introduction. For this assignment I evaluated a set of forty AI-generated</a:t>
            </a:r>
            <a:endParaRPr lang="en-US" sz="1300" dirty="0"/>
          </a:p>
          <a:p>
            <a:pPr algn="l" indent="0" marL="0">
              <a:lnSpc>
                <a:spcPct val="133000"/>
              </a:lnSpc>
              <a:buNone/>
            </a:pPr>
            <a:r>
              <a:rPr lang="en-US" sz="1300" dirty="0">
                <a:solidFill>
                  <a:srgbClr val="22863A"/>
                </a:solidFill>
                <a:latin typeface="Consolas" pitchFamily="34" charset="0"/>
                <a:ea typeface="Consolas" pitchFamily="34" charset="-122"/>
                <a:cs typeface="Consolas" pitchFamily="34" charset="-120"/>
              </a:rPr>
              <a:t>captions using the five parameters of AI output evaluation, which are</a:t>
            </a:r>
            <a:endParaRPr lang="en-US" sz="1300" dirty="0"/>
          </a:p>
          <a:p>
            <a:pPr algn="l" indent="0" marL="0">
              <a:lnSpc>
                <a:spcPct val="133000"/>
              </a:lnSpc>
              <a:buNone/>
            </a:pPr>
            <a:r>
              <a:rPr lang="en-US" sz="1300" dirty="0">
                <a:solidFill>
                  <a:srgbClr val="22863A"/>
                </a:solidFill>
                <a:latin typeface="Consolas" pitchFamily="34" charset="0"/>
                <a:ea typeface="Consolas" pitchFamily="34" charset="-122"/>
                <a:cs typeface="Consolas" pitchFamily="34" charset="-120"/>
              </a:rPr>
              <a:t>validity, relevance, authenticity, potential bias, and hallucinations. This</a:t>
            </a:r>
            <a:endParaRPr lang="en-US" sz="1300" dirty="0"/>
          </a:p>
          <a:p>
            <a:pPr algn="l" indent="0" marL="0">
              <a:lnSpc>
                <a:spcPct val="133000"/>
              </a:lnSpc>
              <a:buNone/>
            </a:pPr>
            <a:r>
              <a:rPr lang="en-US" sz="1300" dirty="0">
                <a:solidFill>
                  <a:srgbClr val="22863A"/>
                </a:solidFill>
                <a:latin typeface="Consolas" pitchFamily="34" charset="0"/>
                <a:ea typeface="Consolas" pitchFamily="34" charset="-122"/>
                <a:cs typeface="Consolas" pitchFamily="34" charset="-120"/>
              </a:rPr>
              <a:t>report describes my methodology and findings.</a:t>
            </a:r>
            <a:endParaRPr lang="en-US" sz="1300" dirty="0"/>
          </a:p>
          <a:p>
            <a:pPr algn="l" indent="0" marL="0">
              <a:lnSpc>
                <a:spcPct val="133000"/>
              </a:lnSpc>
              <a:buNone/>
            </a:pPr>
            <a:endParaRPr lang="en-US" sz="1300" dirty="0"/>
          </a:p>
          <a:p>
            <a:pPr algn="l" indent="0" marL="0">
              <a:lnSpc>
                <a:spcPct val="133000"/>
              </a:lnSpc>
              <a:buNone/>
            </a:pPr>
            <a:r>
              <a:rPr lang="en-US" sz="1300" dirty="0">
                <a:solidFill>
                  <a:srgbClr val="22863A"/>
                </a:solidFill>
                <a:latin typeface="Consolas" pitchFamily="34" charset="0"/>
                <a:ea typeface="Consolas" pitchFamily="34" charset="-122"/>
                <a:cs typeface="Consolas" pitchFamily="34" charset="-120"/>
              </a:rPr>
              <a:t>Methodology. I first read all forty captions. I then compared each caption to</a:t>
            </a:r>
            <a:endParaRPr lang="en-US" sz="1300" dirty="0"/>
          </a:p>
          <a:p>
            <a:pPr algn="l" indent="0" marL="0">
              <a:lnSpc>
                <a:spcPct val="133000"/>
              </a:lnSpc>
              <a:buNone/>
            </a:pPr>
            <a:r>
              <a:rPr lang="en-US" sz="1300" dirty="0">
                <a:solidFill>
                  <a:srgbClr val="22863A"/>
                </a:solidFill>
                <a:latin typeface="Consolas" pitchFamily="34" charset="0"/>
                <a:ea typeface="Consolas" pitchFamily="34" charset="-122"/>
                <a:cs typeface="Consolas" pitchFamily="34" charset="-120"/>
              </a:rPr>
              <a:t>the results sheet. I recorded my findings in a table.</a:t>
            </a:r>
            <a:endParaRPr lang="en-US" sz="1300" dirty="0"/>
          </a:p>
          <a:p>
            <a:pPr algn="l" indent="0" marL="0">
              <a:lnSpc>
                <a:spcPct val="133000"/>
              </a:lnSpc>
              <a:buNone/>
            </a:pPr>
            <a:endParaRPr lang="en-US" sz="1300" dirty="0"/>
          </a:p>
          <a:p>
            <a:pPr algn="l" indent="0" marL="0">
              <a:lnSpc>
                <a:spcPct val="133000"/>
              </a:lnSpc>
              <a:buNone/>
            </a:pPr>
            <a:r>
              <a:rPr lang="en-US" sz="1300" dirty="0">
                <a:solidFill>
                  <a:srgbClr val="22863A"/>
                </a:solidFill>
                <a:latin typeface="Consolas" pitchFamily="34" charset="0"/>
                <a:ea typeface="Consolas" pitchFamily="34" charset="-122"/>
                <a:cs typeface="Consolas" pitchFamily="34" charset="-120"/>
              </a:rPr>
              <a:t>Findings. Finding 1: caption 4 says the game was on Friday. The results sheet</a:t>
            </a:r>
            <a:endParaRPr lang="en-US" sz="1300" dirty="0"/>
          </a:p>
          <a:p>
            <a:pPr algn="l" indent="0" marL="0">
              <a:lnSpc>
                <a:spcPct val="133000"/>
              </a:lnSpc>
              <a:buNone/>
            </a:pPr>
            <a:r>
              <a:rPr lang="en-US" sz="1300" dirty="0">
                <a:solidFill>
                  <a:srgbClr val="22863A"/>
                </a:solidFill>
                <a:latin typeface="Consolas" pitchFamily="34" charset="0"/>
                <a:ea typeface="Consolas" pitchFamily="34" charset="-122"/>
                <a:cs typeface="Consolas" pitchFamily="34" charset="-120"/>
              </a:rPr>
              <a:t>says Thursday. This is a Validity failure...</a:t>
            </a:r>
            <a:endParaRPr lang="en-US" sz="1300" dirty="0"/>
          </a:p>
          <a:p>
            <a:pPr algn="l" indent="0" marL="0">
              <a:lnSpc>
                <a:spcPct val="133000"/>
              </a:lnSpc>
              <a:buNone/>
            </a:pPr>
            <a:endParaRPr lang="en-US" sz="1300" dirty="0"/>
          </a:p>
          <a:p>
            <a:pPr algn="l" indent="0" marL="0">
              <a:lnSpc>
                <a:spcPct val="133000"/>
              </a:lnSpc>
              <a:buNone/>
            </a:pPr>
            <a:r>
              <a:rPr lang="en-US" sz="1300" dirty="0">
                <a:solidFill>
                  <a:srgbClr val="22863A"/>
                </a:solidFill>
                <a:latin typeface="Consolas" pitchFamily="34" charset="0"/>
                <a:ea typeface="Consolas" pitchFamily="34" charset="-122"/>
                <a:cs typeface="Consolas" pitchFamily="34" charset="-120"/>
              </a:rPr>
              <a:t>Conclusion. Overall, the captions were mostly accurate but there were some</a:t>
            </a:r>
            <a:endParaRPr lang="en-US" sz="1300" dirty="0"/>
          </a:p>
          <a:p>
            <a:pPr algn="l" indent="0" marL="0">
              <a:lnSpc>
                <a:spcPct val="133000"/>
              </a:lnSpc>
              <a:buNone/>
            </a:pPr>
            <a:r>
              <a:rPr lang="en-US" sz="1300" dirty="0">
                <a:solidFill>
                  <a:srgbClr val="22863A"/>
                </a:solidFill>
                <a:latin typeface="Consolas" pitchFamily="34" charset="0"/>
                <a:ea typeface="Consolas" pitchFamily="34" charset="-122"/>
                <a:cs typeface="Consolas" pitchFamily="34" charset="-120"/>
              </a:rPr>
              <a:t>issues. I would recommend checking them before printing.</a:t>
            </a:r>
            <a:endParaRPr lang="en-US" sz="130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the reader actually got</a:t>
            </a:r>
            <a:endParaRPr lang="en-US" sz="3700" dirty="0"/>
          </a:p>
        </p:txBody>
      </p:sp>
      <p:sp>
        <p:nvSpPr>
          <p:cNvPr id="4" name="Text 1"/>
          <p:cNvSpPr/>
          <p:nvPr/>
        </p:nvSpPr>
        <p:spPr>
          <a:xfrm>
            <a:off x="5233360"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recommendation is in the last eight words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They read a definition of five parameters they already know</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They read a methodology they cannot act on, and stopped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findings that matter sit at positions six, seven, nine</a:t>
            </a:r>
            <a:endParaRPr lang="en-US" sz="1450" dirty="0"/>
          </a:p>
          <a:p>
            <a:pPr algn="l" marL="294640" indent="-294640">
              <a:lnSpc>
                <a:spcPct val="133000"/>
              </a:lnSpc>
              <a:buSzPct val="100000"/>
              <a:buChar char="•"/>
            </a:pPr>
            <a:r>
              <a:rPr lang="en-US" sz="1450" i="1" dirty="0">
                <a:solidFill>
                  <a:srgbClr val="1C1C1C"/>
                </a:solidFill>
                <a:latin typeface="Roboto Condensed" pitchFamily="34" charset="0"/>
                <a:ea typeface="Roboto Condensed" pitchFamily="34" charset="-122"/>
                <a:cs typeface="Roboto Condensed" pitchFamily="34" charset="-120"/>
              </a:rPr>
              <a:t>Check them</a:t>
            </a:r>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 does not say which, by whom, or by when</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189236"/>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version that gets acted on, first three lines</a:t>
            </a:r>
            <a:endParaRPr lang="en-US" sz="3700" dirty="0"/>
          </a:p>
        </p:txBody>
      </p:sp>
      <p:sp>
        <p:nvSpPr>
          <p:cNvPr id="3" name="Shape 1"/>
          <p:cNvSpPr/>
          <p:nvPr/>
        </p:nvSpPr>
        <p:spPr>
          <a:xfrm>
            <a:off x="661475" y="2748558"/>
            <a:ext cx="10868745" cy="2797373"/>
          </a:xfrm>
          <a:prstGeom prst="roundRect">
            <a:avLst>
              <a:gd name="adj" fmla="val 2838"/>
            </a:avLst>
          </a:prstGeom>
          <a:solidFill>
            <a:srgbClr val="F2F2F2"/>
          </a:solidFill>
          <a:ln/>
        </p:spPr>
      </p:sp>
      <p:sp>
        <p:nvSpPr>
          <p:cNvPr id="4" name="Text 2"/>
          <p:cNvSpPr/>
          <p:nvPr/>
        </p:nvSpPr>
        <p:spPr>
          <a:xfrm>
            <a:off x="888283" y="2937570"/>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Do not send the sports captions to print until every caption that names 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student is checked against the results sheet. That is twelve of the forty and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about fifteen minutes.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Forty captions were generated from the roster and the results sheet. I checked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all forty against the sheet. Thirty-seven are correct.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Three are not, and one of them names a student.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8796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findings, the cost, and the falsifier</a:t>
            </a:r>
            <a:endParaRPr lang="en-US" sz="3700" dirty="0"/>
          </a:p>
        </p:txBody>
      </p:sp>
      <p:sp>
        <p:nvSpPr>
          <p:cNvPr id="3" name="Shape 1"/>
          <p:cNvSpPr/>
          <p:nvPr/>
        </p:nvSpPr>
        <p:spPr>
          <a:xfrm>
            <a:off x="661475" y="1848346"/>
            <a:ext cx="10868745" cy="4007048"/>
          </a:xfrm>
          <a:prstGeom prst="roundRect">
            <a:avLst>
              <a:gd name="adj" fmla="val 1981"/>
            </a:avLst>
          </a:prstGeom>
          <a:solidFill>
            <a:srgbClr val="F2F2F2"/>
          </a:solidFill>
          <a:ln/>
        </p:spPr>
      </p:sp>
      <p:sp>
        <p:nvSpPr>
          <p:cNvPr id="4" name="Text 2"/>
          <p:cNvSpPr/>
          <p:nvPr/>
        </p:nvSpPr>
        <p:spPr>
          <a:xfrm>
            <a:off x="888283" y="2037358"/>
            <a:ext cx="10415129" cy="362902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Caption 12 says a named sophomore scored the winning goal in the district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semifinal. The results sheet lists him as a manager that week. He did not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play. This is the one that cannot go to print.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Caption 31 says "the team's first district win," which the sheet does not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support either way. I could not confirm it.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What this costs: fifteen minutes and a delayed sign-off. The alternative is 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permanent printed claim about a named student that is not true.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What would change this: if the roster distinguishes managers from players and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 misread it, caption 12 may be correct.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32645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rules that do most of the work</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295128"/>
            <a:ext cx="3496877" cy="1314648"/>
          </a:xfrm>
          <a:prstGeom prst="rect">
            <a:avLst/>
          </a:prstGeom>
        </p:spPr>
      </p:pic>
      <p:sp>
        <p:nvSpPr>
          <p:cNvPr id="4" name="Text 1"/>
          <p:cNvSpPr/>
          <p:nvPr/>
        </p:nvSpPr>
        <p:spPr>
          <a:xfrm>
            <a:off x="977479" y="2509540"/>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Lead with the decision, not with the process</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295128"/>
            <a:ext cx="3496877" cy="1314648"/>
          </a:xfrm>
          <a:prstGeom prst="rect">
            <a:avLst/>
          </a:prstGeom>
        </p:spPr>
      </p:pic>
      <p:sp>
        <p:nvSpPr>
          <p:cNvPr id="6" name="Text 2"/>
          <p:cNvSpPr/>
          <p:nvPr/>
        </p:nvSpPr>
        <p:spPr>
          <a:xfrm>
            <a:off x="4663363" y="2509540"/>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Name the person, the action, and the time</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295128"/>
            <a:ext cx="3496877" cy="1314648"/>
          </a:xfrm>
          <a:prstGeom prst="rect">
            <a:avLst/>
          </a:prstGeom>
        </p:spPr>
      </p:pic>
      <p:sp>
        <p:nvSpPr>
          <p:cNvPr id="8" name="Text 3"/>
          <p:cNvSpPr/>
          <p:nvPr/>
        </p:nvSpPr>
        <p:spPr>
          <a:xfrm>
            <a:off x="8349247" y="2509540"/>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Quantify the cost. Fifteen minutes. Twelve captions</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798788"/>
            <a:ext cx="3496877" cy="1609923"/>
          </a:xfrm>
          <a:prstGeom prst="rect">
            <a:avLst/>
          </a:prstGeom>
        </p:spPr>
      </p:pic>
      <p:sp>
        <p:nvSpPr>
          <p:cNvPr id="10" name="Text 4"/>
          <p:cNvSpPr/>
          <p:nvPr/>
        </p:nvSpPr>
        <p:spPr>
          <a:xfrm>
            <a:off x="977479" y="4013200"/>
            <a:ext cx="2966467" cy="118110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recommendation. Three recommendations is three briefs</a:t>
            </a:r>
            <a:endParaRPr lang="en-US" sz="18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7359" y="3798788"/>
            <a:ext cx="3496877" cy="1609923"/>
          </a:xfrm>
          <a:prstGeom prst="rect">
            <a:avLst/>
          </a:prstGeom>
        </p:spPr>
      </p:pic>
      <p:sp>
        <p:nvSpPr>
          <p:cNvPr id="12" name="Text 5"/>
          <p:cNvSpPr/>
          <p:nvPr/>
        </p:nvSpPr>
        <p:spPr>
          <a:xfrm>
            <a:off x="4663363" y="4013200"/>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Cut the definitions. Your reader does not need them</a:t>
            </a:r>
            <a:endParaRPr lang="en-US" sz="18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77294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other wrong version, and it is subtler</a:t>
            </a:r>
            <a:endParaRPr lang="en-US" sz="3700" dirty="0"/>
          </a:p>
        </p:txBody>
      </p:sp>
      <p:sp>
        <p:nvSpPr>
          <p:cNvPr id="3" name="Text 1"/>
          <p:cNvSpPr/>
          <p:nvPr/>
        </p:nvSpPr>
        <p:spPr>
          <a:xfrm>
            <a:off x="944936" y="3029744"/>
            <a:ext cx="492033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There may be some issues, and it might be worth considering</a:t>
            </a:r>
            <a:endParaRPr lang="en-US" sz="1450" dirty="0"/>
          </a:p>
        </p:txBody>
      </p:sp>
      <p:sp>
        <p:nvSpPr>
          <p:cNvPr id="4" name="Shape 2"/>
          <p:cNvSpPr/>
          <p:nvPr/>
        </p:nvSpPr>
        <p:spPr>
          <a:xfrm>
            <a:off x="661475" y="2859683"/>
            <a:ext cx="25399" cy="944959"/>
          </a:xfrm>
          <a:prstGeom prst="roundRect">
            <a:avLst>
              <a:gd name="adj" fmla="val 50001"/>
            </a:avLst>
          </a:prstGeom>
          <a:solidFill>
            <a:srgbClr val="57A1EB"/>
          </a:solidFill>
          <a:ln/>
        </p:spPr>
      </p:sp>
      <p:sp>
        <p:nvSpPr>
          <p:cNvPr id="5" name="Text 3"/>
          <p:cNvSpPr/>
          <p:nvPr/>
        </p:nvSpPr>
        <p:spPr>
          <a:xfrm>
            <a:off x="661475" y="4017268"/>
            <a:ext cx="5203794" cy="774898"/>
          </a:xfrm>
          <a:prstGeom prst="rect">
            <a:avLst/>
          </a:prstGeom>
          <a:noFill/>
          <a:ln/>
        </p:spPr>
        <p:txBody>
          <a:bodyPr wrap="square" lIns="0" tIns="0" rIns="0" bIns="0" rtlCol="0" anchor="t"/>
          <a:lstStyle/>
          <a:p>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Nothing in that sentence can be wrong.</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That is why it was written, and why it is useless.</a:t>
            </a:r>
            <a:endParaRPr lang="en-US" sz="1450" dirty="0"/>
          </a:p>
        </p:txBody>
      </p:sp>
      <p:sp>
        <p:nvSpPr>
          <p:cNvPr id="6" name="Text 4"/>
          <p:cNvSpPr/>
          <p:nvPr/>
        </p:nvSpPr>
        <p:spPr>
          <a:xfrm>
            <a:off x="6332776" y="2836069"/>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The problem with hedging</a:t>
            </a:r>
            <a:endParaRPr lang="en-US" sz="1850" dirty="0"/>
          </a:p>
        </p:txBody>
      </p:sp>
      <p:sp>
        <p:nvSpPr>
          <p:cNvPr id="7" name="Text 5"/>
          <p:cNvSpPr/>
          <p:nvPr/>
        </p:nvSpPr>
        <p:spPr>
          <a:xfrm>
            <a:off x="6332776" y="3320355"/>
            <a:ext cx="5203794" cy="67091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Hedging removes the risk by removing the content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Say it definitely, and say what would change it</a:t>
            </a:r>
            <a:endParaRPr lang="en-US" sz="1450" dirty="0"/>
          </a:p>
        </p:txBody>
      </p:sp>
      <p:sp>
        <p:nvSpPr>
          <p:cNvPr id="8"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91085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Same evidence, three readers</a:t>
            </a:r>
            <a:endParaRPr lang="en-US" sz="3700" dirty="0"/>
          </a:p>
        </p:txBody>
      </p:sp>
      <p:sp>
        <p:nvSpPr>
          <p:cNvPr id="3" name="Shape 1"/>
          <p:cNvSpPr/>
          <p:nvPr/>
        </p:nvSpPr>
        <p:spPr>
          <a:xfrm>
            <a:off x="661475" y="2879527"/>
            <a:ext cx="3496877" cy="1429643"/>
          </a:xfrm>
          <a:prstGeom prst="roundRect">
            <a:avLst>
              <a:gd name="adj" fmla="val 5553"/>
            </a:avLst>
          </a:prstGeom>
          <a:solidFill>
            <a:srgbClr val="D1E5FA"/>
          </a:solidFill>
          <a:ln w="19050">
            <a:solidFill>
              <a:srgbClr val="B7CBE0"/>
            </a:solidFill>
            <a:prstDash val="solid"/>
          </a:ln>
        </p:spPr>
      </p:sp>
      <p:sp>
        <p:nvSpPr>
          <p:cNvPr id="4" name="Text 2"/>
          <p:cNvSpPr/>
          <p:nvPr/>
        </p:nvSpPr>
        <p:spPr>
          <a:xfrm>
            <a:off x="869531" y="308758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Adviser</a:t>
            </a:r>
            <a:endParaRPr lang="en-US" sz="1850" dirty="0"/>
          </a:p>
        </p:txBody>
      </p:sp>
      <p:sp>
        <p:nvSpPr>
          <p:cNvPr id="5" name="Text 3"/>
          <p:cNvSpPr/>
          <p:nvPr/>
        </p:nvSpPr>
        <p:spPr>
          <a:xfrm>
            <a:off x="869531" y="3496270"/>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Needs which captions, and by when</a:t>
            </a:r>
            <a:endParaRPr lang="en-US" sz="1450" dirty="0"/>
          </a:p>
        </p:txBody>
      </p:sp>
      <p:sp>
        <p:nvSpPr>
          <p:cNvPr id="6" name="Shape 4"/>
          <p:cNvSpPr/>
          <p:nvPr/>
        </p:nvSpPr>
        <p:spPr>
          <a:xfrm>
            <a:off x="4347359" y="2879527"/>
            <a:ext cx="3496877" cy="1429643"/>
          </a:xfrm>
          <a:prstGeom prst="roundRect">
            <a:avLst>
              <a:gd name="adj" fmla="val 5553"/>
            </a:avLst>
          </a:prstGeom>
          <a:solidFill>
            <a:srgbClr val="D1E5FA"/>
          </a:solidFill>
          <a:ln w="19050">
            <a:solidFill>
              <a:srgbClr val="B7CBE0"/>
            </a:solidFill>
            <a:prstDash val="solid"/>
          </a:ln>
        </p:spPr>
      </p:sp>
      <p:sp>
        <p:nvSpPr>
          <p:cNvPr id="7" name="Text 5"/>
          <p:cNvSpPr/>
          <p:nvPr/>
        </p:nvSpPr>
        <p:spPr>
          <a:xfrm>
            <a:off x="4555416" y="308758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Student</a:t>
            </a:r>
            <a:endParaRPr lang="en-US" sz="1850" dirty="0"/>
          </a:p>
        </p:txBody>
      </p:sp>
      <p:sp>
        <p:nvSpPr>
          <p:cNvPr id="8" name="Text 6"/>
          <p:cNvSpPr/>
          <p:nvPr/>
        </p:nvSpPr>
        <p:spPr>
          <a:xfrm>
            <a:off x="4555416" y="3496270"/>
            <a:ext cx="30807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Needs what to change, and that thirty-seven were fine</a:t>
            </a:r>
            <a:endParaRPr lang="en-US" sz="1450" dirty="0"/>
          </a:p>
        </p:txBody>
      </p:sp>
      <p:sp>
        <p:nvSpPr>
          <p:cNvPr id="9" name="Shape 7"/>
          <p:cNvSpPr/>
          <p:nvPr/>
        </p:nvSpPr>
        <p:spPr>
          <a:xfrm>
            <a:off x="8033244" y="2879527"/>
            <a:ext cx="3496877" cy="1429643"/>
          </a:xfrm>
          <a:prstGeom prst="roundRect">
            <a:avLst>
              <a:gd name="adj" fmla="val 5553"/>
            </a:avLst>
          </a:prstGeom>
          <a:solidFill>
            <a:srgbClr val="D1E5FA"/>
          </a:solidFill>
          <a:ln w="19050">
            <a:solidFill>
              <a:srgbClr val="B7CBE0"/>
            </a:solidFill>
            <a:prstDash val="solid"/>
          </a:ln>
        </p:spPr>
      </p:sp>
      <p:sp>
        <p:nvSpPr>
          <p:cNvPr id="10" name="Text 8"/>
          <p:cNvSpPr/>
          <p:nvPr/>
        </p:nvSpPr>
        <p:spPr>
          <a:xfrm>
            <a:off x="8241300" y="308758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Principal</a:t>
            </a:r>
            <a:endParaRPr lang="en-US" sz="1850" dirty="0"/>
          </a:p>
        </p:txBody>
      </p:sp>
      <p:sp>
        <p:nvSpPr>
          <p:cNvPr id="11" name="Text 9"/>
          <p:cNvSpPr/>
          <p:nvPr/>
        </p:nvSpPr>
        <p:spPr>
          <a:xfrm>
            <a:off x="8241300" y="3496270"/>
            <a:ext cx="30807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Needs whether a student's name is at risk</a:t>
            </a:r>
            <a:endParaRPr lang="en-US" sz="1450" dirty="0"/>
          </a:p>
        </p:txBody>
      </p:sp>
      <p:sp>
        <p:nvSpPr>
          <p:cNvPr id="12" name="Text 10"/>
          <p:cNvSpPr/>
          <p:nvPr/>
        </p:nvSpPr>
        <p:spPr>
          <a:xfrm>
            <a:off x="661475" y="4521795"/>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Cut the parameter names for the principal. Changing audience is not tone. It changes paragraph one.</a:t>
            </a:r>
            <a:endParaRPr lang="en-US" sz="14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Turn your revised teardown into a one-page brief</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lab assigns your reader, and readers differ across the room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First sentence names a person, an action, and a time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quantified cost, and one sentence on what would change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rewrite the same brief for a different reader</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2026-09-16T04:12:49Z</dcterms:created>
  <dcterms:modified xsi:type="dcterms:W3CDTF">2026-09-16T04:12:49Z</dcterms:modified>
</cp:coreProperties>
</file>