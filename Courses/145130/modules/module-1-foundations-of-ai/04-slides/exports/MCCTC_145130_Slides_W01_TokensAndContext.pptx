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Everybody in this room has had the experience of a chat assistant seeming to remember something about them. That experience is real and the explanation everybody carries for it is wrong. By the end of this period you will know exactly what is happening instead, and it is more useful than the thing you believed.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of the two words. A model needs a fixed, finite list of things it can see, and there are far too many words in the world once you include names, typos, code, and every language. Pieces smaller than words give a fixed list that can still spell out anything, including a word the model has never encountered.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eight thousand token limit is not eight thousand words. A paragraph of code uses more tokens than a paragraph of plain English the same length. And asking a model how many letters are in a word is asking it about something it does not directly see, which is why it gets those wrong far more often than you would expect from something that writes so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hear a number for how many characters are in a token and somebody will state it as though it were measured. It is a rough average for one kind of text in one tokenizer. When you need the real number, run your text through the tokenizer of the model you are actually running. Your Week 3 benchmark prints its assumption at the top of every report for exactly this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second word and the one people get wrong. The context window is how much the model can take into account at once, for this one request. Nothing survives to the next request on its own. Everything that feels like continuity is a program putting the earlier text back in and paying for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thousand and one characters. Three things to notice. Source says none, so the model was never asked. Elapsed is zero, so nothing was spent. And the message says the actual number, so nobody has to guess how far over they were. Every system with a model in it has a limit like this and the interesting question is what it does when you cross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Ours refuses. Most chat products truncate or summarise, silently. Truncating silently is the one to watch for, because the output looks completely normal. You asked about a ten page document, four pages were sent, and the answer is confident and complete about four pages. Nothing on the screen tells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requests, one after the other, same session. The second cannot be influenced by the first, and not because the model forgot. The service keeps no session, no history, and no copy of any prompt. Its own documentation says it in one line: each request is answered and forgotten.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whole explanation. The feeling of memory is your own earlier words being mailed back in with every new question. It also explains something you have noticed: long conversations start losing the beginning. That is not the assistant getting tired. That is the oldest text being dropped to make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build something that feels like a conversation, you will do it by putting earlier turns back into the prompt yourself. At that moment the decision about what gets kept is yours, and it is worth making deliberately instead of inheriting it from whatever tutorial you copied. Module 3 spends three weeks on what that decision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finding the limit by crossing it and reading the exact message. Build two is the design question, and it is the part I am grading: your program has a document larger than the window, and you write down which of the three options you would pick, and what you would tell the person either way. There is no right answer and there are several wrong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1.png"/><Relationship Id="rId4" Type="http://schemas.openxmlformats.org/officeDocument/2006/relationships/image" Target="../media/image-5-2.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5.png"/><Relationship Id="rId8" Type="http://schemas.openxmlformats.org/officeDocument/2006/relationships/image" Target="../media/image-5-6.sv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6.png"/><Relationship Id="rId7" Type="http://schemas.openxmlformats.org/officeDocument/2006/relationships/image" Target="../media/image-8-7.sv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Tokens and the Context Window</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22656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It remembers me</a:t>
            </a:r>
            <a:endParaRPr lang="en-US" sz="3700" dirty="0"/>
          </a:p>
        </p:txBody>
      </p:sp>
      <p:sp>
        <p:nvSpPr>
          <p:cNvPr id="4" name="Text 1"/>
          <p:cNvSpPr/>
          <p:nvPr/>
        </p:nvSpPr>
        <p:spPr>
          <a:xfrm>
            <a:off x="661475" y="3100685"/>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have felt this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assistant knows your name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picks up where you left off</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Nothing is stored anywhere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744563"/>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model does not read words</a:t>
            </a:r>
            <a:endParaRPr lang="en-US" sz="3700" dirty="0"/>
          </a:p>
        </p:txBody>
      </p:sp>
      <p:sp>
        <p:nvSpPr>
          <p:cNvPr id="4" name="Text 1"/>
          <p:cNvSpPr/>
          <p:nvPr/>
        </p:nvSpPr>
        <p:spPr>
          <a:xfrm>
            <a:off x="8032251" y="3705523"/>
            <a:ext cx="3504219"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reads tokens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common word is usually one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name or a typo is several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Pieces, not words, not characters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11462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things that follow immediately</a:t>
            </a:r>
            <a:endParaRPr lang="en-US" sz="3700" dirty="0"/>
          </a:p>
        </p:txBody>
      </p:sp>
      <p:sp>
        <p:nvSpPr>
          <p:cNvPr id="4" name="Shape 1"/>
          <p:cNvSpPr/>
          <p:nvPr/>
        </p:nvSpPr>
        <p:spPr>
          <a:xfrm>
            <a:off x="661475" y="2579390"/>
            <a:ext cx="3053877" cy="1724918"/>
          </a:xfrm>
          <a:prstGeom prst="roundRect">
            <a:avLst>
              <a:gd name="adj" fmla="val 4602"/>
            </a:avLst>
          </a:prstGeom>
          <a:solidFill>
            <a:srgbClr val="D1E5FA"/>
          </a:solidFill>
          <a:ln w="19050">
            <a:solidFill>
              <a:srgbClr val="B7CBE0"/>
            </a:solidFill>
            <a:prstDash val="solid"/>
          </a:ln>
        </p:spPr>
      </p:sp>
      <p:sp>
        <p:nvSpPr>
          <p:cNvPr id="5" name="Text 2"/>
          <p:cNvSpPr/>
          <p:nvPr/>
        </p:nvSpPr>
        <p:spPr>
          <a:xfrm>
            <a:off x="869531" y="2787452"/>
            <a:ext cx="2637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Limits are in tokens</a:t>
            </a:r>
            <a:endParaRPr lang="en-US" sz="1850" dirty="0"/>
          </a:p>
        </p:txBody>
      </p:sp>
      <p:sp>
        <p:nvSpPr>
          <p:cNvPr id="6" name="Text 3"/>
          <p:cNvSpPr/>
          <p:nvPr/>
        </p:nvSpPr>
        <p:spPr>
          <a:xfrm>
            <a:off x="869531" y="3196134"/>
            <a:ext cx="2637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Not characters</a:t>
            </a:r>
            <a:endParaRPr lang="en-US" sz="1450" dirty="0"/>
          </a:p>
        </p:txBody>
      </p:sp>
      <p:sp>
        <p:nvSpPr>
          <p:cNvPr id="7" name="Shape 4"/>
          <p:cNvSpPr/>
          <p:nvPr/>
        </p:nvSpPr>
        <p:spPr>
          <a:xfrm>
            <a:off x="3904359" y="2579390"/>
            <a:ext cx="3053976" cy="1724918"/>
          </a:xfrm>
          <a:prstGeom prst="roundRect">
            <a:avLst>
              <a:gd name="adj" fmla="val 4602"/>
            </a:avLst>
          </a:prstGeom>
          <a:solidFill>
            <a:srgbClr val="D1E5FA"/>
          </a:solidFill>
          <a:ln w="19050">
            <a:solidFill>
              <a:srgbClr val="B7CBE0"/>
            </a:solidFill>
            <a:prstDash val="solid"/>
          </a:ln>
        </p:spPr>
      </p:sp>
      <p:sp>
        <p:nvSpPr>
          <p:cNvPr id="8" name="Text 5"/>
          <p:cNvSpPr/>
          <p:nvPr/>
        </p:nvSpPr>
        <p:spPr>
          <a:xfrm>
            <a:off x="4112415" y="2787452"/>
            <a:ext cx="2637863"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Unusual text costs more</a:t>
            </a:r>
            <a:endParaRPr lang="en-US" sz="1850" dirty="0"/>
          </a:p>
        </p:txBody>
      </p:sp>
      <p:sp>
        <p:nvSpPr>
          <p:cNvPr id="9" name="Text 6"/>
          <p:cNvSpPr/>
          <p:nvPr/>
        </p:nvSpPr>
        <p:spPr>
          <a:xfrm>
            <a:off x="4112415" y="3491409"/>
            <a:ext cx="263786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Rare words split into many tokens</a:t>
            </a:r>
            <a:endParaRPr lang="en-US" sz="1450" dirty="0"/>
          </a:p>
        </p:txBody>
      </p:sp>
      <p:sp>
        <p:nvSpPr>
          <p:cNvPr id="10" name="Shape 7"/>
          <p:cNvSpPr/>
          <p:nvPr/>
        </p:nvSpPr>
        <p:spPr>
          <a:xfrm>
            <a:off x="661475" y="4493320"/>
            <a:ext cx="6296860" cy="1127224"/>
          </a:xfrm>
          <a:prstGeom prst="roundRect">
            <a:avLst>
              <a:gd name="adj" fmla="val 7043"/>
            </a:avLst>
          </a:prstGeom>
          <a:solidFill>
            <a:srgbClr val="D1E5FA"/>
          </a:solidFill>
          <a:ln w="19050">
            <a:solidFill>
              <a:srgbClr val="B7CBE0"/>
            </a:solidFill>
            <a:prstDash val="solid"/>
          </a:ln>
        </p:spPr>
      </p:sp>
      <p:sp>
        <p:nvSpPr>
          <p:cNvPr id="11" name="Text 8"/>
          <p:cNvSpPr/>
          <p:nvPr/>
        </p:nvSpPr>
        <p:spPr>
          <a:xfrm>
            <a:off x="869531" y="4701381"/>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Spelling questions are strange to it</a:t>
            </a:r>
            <a:endParaRPr lang="en-US" sz="1850" dirty="0"/>
          </a:p>
        </p:txBody>
      </p:sp>
      <p:sp>
        <p:nvSpPr>
          <p:cNvPr id="12" name="Text 9"/>
          <p:cNvSpPr/>
          <p:nvPr/>
        </p:nvSpPr>
        <p:spPr>
          <a:xfrm>
            <a:off x="869531" y="5110063"/>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Tokens are not letters</a:t>
            </a:r>
            <a:endParaRPr lang="en-US" sz="1450" dirty="0"/>
          </a:p>
        </p:txBody>
      </p:sp>
      <p:sp>
        <p:nvSpPr>
          <p:cNvPr id="13" name="Text 10"/>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91700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Do not repeat the conversion rate</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885678"/>
            <a:ext cx="5339820" cy="1019373"/>
          </a:xfrm>
          <a:prstGeom prst="rect">
            <a:avLst/>
          </a:prstGeom>
        </p:spPr>
      </p:pic>
      <p:sp>
        <p:nvSpPr>
          <p:cNvPr id="4" name="Text 1"/>
          <p:cNvSpPr/>
          <p:nvPr/>
        </p:nvSpPr>
        <p:spPr>
          <a:xfrm>
            <a:off x="977479" y="3100090"/>
            <a:ext cx="48094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People say four characters per token</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885678"/>
            <a:ext cx="5339919" cy="1019373"/>
          </a:xfrm>
          <a:prstGeom prst="rect">
            <a:avLst/>
          </a:prstGeom>
        </p:spPr>
      </p:pic>
      <p:sp>
        <p:nvSpPr>
          <p:cNvPr id="6" name="Text 2"/>
          <p:cNvSpPr/>
          <p:nvPr/>
        </p:nvSpPr>
        <p:spPr>
          <a:xfrm>
            <a:off x="6506305" y="3100090"/>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That is a rule of thumb</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094063"/>
            <a:ext cx="5339820" cy="724098"/>
          </a:xfrm>
          <a:prstGeom prst="rect">
            <a:avLst/>
          </a:prstGeom>
        </p:spPr>
      </p:pic>
      <p:sp>
        <p:nvSpPr>
          <p:cNvPr id="8" name="Text 3"/>
          <p:cNvSpPr/>
          <p:nvPr/>
        </p:nvSpPr>
        <p:spPr>
          <a:xfrm>
            <a:off x="977479" y="4308475"/>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varies by tokenizer and by text</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4094063"/>
            <a:ext cx="5339919" cy="724098"/>
          </a:xfrm>
          <a:prstGeom prst="rect">
            <a:avLst/>
          </a:prstGeom>
        </p:spPr>
      </p:pic>
      <p:sp>
        <p:nvSpPr>
          <p:cNvPr id="10" name="Text 4"/>
          <p:cNvSpPr/>
          <p:nvPr/>
        </p:nvSpPr>
        <p:spPr>
          <a:xfrm>
            <a:off x="6506305" y="4308475"/>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Ask the tokenizer you are using</a:t>
            </a:r>
            <a:endParaRPr lang="en-US" sz="1850" dirty="0"/>
          </a:p>
        </p:txBody>
      </p:sp>
      <p:sp>
        <p:nvSpPr>
          <p:cNvPr id="11"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2039838"/>
            <a:ext cx="3504219"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window is a size limit</a:t>
            </a:r>
            <a:endParaRPr lang="en-US" sz="3700" dirty="0"/>
          </a:p>
        </p:txBody>
      </p:sp>
      <p:sp>
        <p:nvSpPr>
          <p:cNvPr id="4" name="Text 1"/>
          <p:cNvSpPr/>
          <p:nvPr/>
        </p:nvSpPr>
        <p:spPr>
          <a:xfrm>
            <a:off x="8032251" y="3410148"/>
            <a:ext cx="3504219"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 memory, a maximum per request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instruction is in there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Whatever you pasted is in there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Whatever the program added is too</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character over</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HTTP 400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{"ok":false,"task":"summarize","result":null,"source":"none","elapsed_ms":0,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"error":{"kind":"prompt_too_long","message":"the prompt is 4001 characters.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The limit is 4000."}}</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65742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things a system can do at the limit</a:t>
            </a:r>
            <a:endParaRPr lang="en-US" sz="3700" dirty="0"/>
          </a:p>
        </p:txBody>
      </p:sp>
      <p:sp>
        <p:nvSpPr>
          <p:cNvPr id="4" name="Shape 1"/>
          <p:cNvSpPr/>
          <p:nvPr/>
        </p:nvSpPr>
        <p:spPr>
          <a:xfrm>
            <a:off x="661475" y="2122190"/>
            <a:ext cx="3053877" cy="1883271"/>
          </a:xfrm>
          <a:prstGeom prst="roundRect">
            <a:avLst>
              <a:gd name="adj" fmla="val 4215"/>
            </a:avLst>
          </a:prstGeom>
          <a:solidFill>
            <a:srgbClr val="D1E5FA"/>
          </a:solidFill>
          <a:ln w="19050">
            <a:solidFill>
              <a:srgbClr val="B7CBE0"/>
            </a:solidFill>
            <a:prstDash val="solid"/>
          </a:ln>
        </p:spPr>
      </p:sp>
      <p:sp>
        <p:nvSpPr>
          <p:cNvPr id="5" name="Shape 2"/>
          <p:cNvSpPr/>
          <p:nvPr/>
        </p:nvSpPr>
        <p:spPr>
          <a:xfrm>
            <a:off x="869531" y="2330252"/>
            <a:ext cx="567021" cy="567035"/>
          </a:xfrm>
          <a:prstGeom prst="ellipse">
            <a:avLst/>
          </a:prstGeom>
          <a:solidFill>
            <a:srgbClr val="57A1EB"/>
          </a:solidFill>
          <a:ln/>
        </p:spPr>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5499" y="2486124"/>
            <a:ext cx="255085" cy="255091"/>
          </a:xfrm>
          <a:prstGeom prst="rect">
            <a:avLst/>
          </a:prstGeom>
        </p:spPr>
      </p:pic>
      <p:sp>
        <p:nvSpPr>
          <p:cNvPr id="7" name="Text 3"/>
          <p:cNvSpPr/>
          <p:nvPr/>
        </p:nvSpPr>
        <p:spPr>
          <a:xfrm>
            <a:off x="869531" y="3086298"/>
            <a:ext cx="2637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Refuse</a:t>
            </a:r>
            <a:endParaRPr lang="en-US" sz="1850" dirty="0"/>
          </a:p>
        </p:txBody>
      </p:sp>
      <p:sp>
        <p:nvSpPr>
          <p:cNvPr id="8" name="Text 4"/>
          <p:cNvSpPr/>
          <p:nvPr/>
        </p:nvSpPr>
        <p:spPr>
          <a:xfrm>
            <a:off x="869531" y="3494980"/>
            <a:ext cx="2637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And say the number</a:t>
            </a:r>
            <a:endParaRPr lang="en-US" sz="1450" dirty="0"/>
          </a:p>
        </p:txBody>
      </p:sp>
      <p:sp>
        <p:nvSpPr>
          <p:cNvPr id="9" name="Shape 5"/>
          <p:cNvSpPr/>
          <p:nvPr/>
        </p:nvSpPr>
        <p:spPr>
          <a:xfrm>
            <a:off x="3904359" y="2122190"/>
            <a:ext cx="3053976" cy="1883271"/>
          </a:xfrm>
          <a:prstGeom prst="roundRect">
            <a:avLst>
              <a:gd name="adj" fmla="val 4215"/>
            </a:avLst>
          </a:prstGeom>
          <a:solidFill>
            <a:srgbClr val="D1E5FA"/>
          </a:solidFill>
          <a:ln w="19050">
            <a:solidFill>
              <a:srgbClr val="B7CBE0"/>
            </a:solidFill>
            <a:prstDash val="solid"/>
          </a:ln>
        </p:spPr>
      </p:sp>
      <p:sp>
        <p:nvSpPr>
          <p:cNvPr id="10" name="Shape 6"/>
          <p:cNvSpPr/>
          <p:nvPr/>
        </p:nvSpPr>
        <p:spPr>
          <a:xfrm>
            <a:off x="4112415" y="2330252"/>
            <a:ext cx="567021" cy="567035"/>
          </a:xfrm>
          <a:prstGeom prst="ellipse">
            <a:avLst/>
          </a:prstGeom>
          <a:solidFill>
            <a:srgbClr val="57A1EB"/>
          </a:solidFill>
          <a:ln/>
        </p:spPr>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68383" y="2486124"/>
            <a:ext cx="255085" cy="255091"/>
          </a:xfrm>
          <a:prstGeom prst="rect">
            <a:avLst/>
          </a:prstGeom>
        </p:spPr>
      </p:pic>
      <p:sp>
        <p:nvSpPr>
          <p:cNvPr id="12" name="Text 7"/>
          <p:cNvSpPr/>
          <p:nvPr/>
        </p:nvSpPr>
        <p:spPr>
          <a:xfrm>
            <a:off x="4112415" y="3086298"/>
            <a:ext cx="2637863"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Truncate</a:t>
            </a:r>
            <a:endParaRPr lang="en-US" sz="1850" dirty="0"/>
          </a:p>
        </p:txBody>
      </p:sp>
      <p:sp>
        <p:nvSpPr>
          <p:cNvPr id="13" name="Text 8"/>
          <p:cNvSpPr/>
          <p:nvPr/>
        </p:nvSpPr>
        <p:spPr>
          <a:xfrm>
            <a:off x="4112415" y="3494980"/>
            <a:ext cx="2637863"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And usually not say</a:t>
            </a:r>
            <a:endParaRPr lang="en-US" sz="1450" dirty="0"/>
          </a:p>
        </p:txBody>
      </p:sp>
      <p:sp>
        <p:nvSpPr>
          <p:cNvPr id="14" name="Shape 9"/>
          <p:cNvSpPr/>
          <p:nvPr/>
        </p:nvSpPr>
        <p:spPr>
          <a:xfrm>
            <a:off x="661475" y="4194473"/>
            <a:ext cx="6296860" cy="1883271"/>
          </a:xfrm>
          <a:prstGeom prst="roundRect">
            <a:avLst>
              <a:gd name="adj" fmla="val 4215"/>
            </a:avLst>
          </a:prstGeom>
          <a:solidFill>
            <a:srgbClr val="D1E5FA"/>
          </a:solidFill>
          <a:ln w="19050">
            <a:solidFill>
              <a:srgbClr val="B7CBE0"/>
            </a:solidFill>
            <a:prstDash val="solid"/>
          </a:ln>
        </p:spPr>
      </p:sp>
      <p:sp>
        <p:nvSpPr>
          <p:cNvPr id="15" name="Shape 10"/>
          <p:cNvSpPr/>
          <p:nvPr/>
        </p:nvSpPr>
        <p:spPr>
          <a:xfrm>
            <a:off x="869531" y="4402534"/>
            <a:ext cx="567021" cy="567035"/>
          </a:xfrm>
          <a:prstGeom prst="ellipse">
            <a:avLst/>
          </a:prstGeom>
          <a:solidFill>
            <a:srgbClr val="57A1EB"/>
          </a:solidFill>
          <a:ln/>
        </p:spPr>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25499" y="4558407"/>
            <a:ext cx="255085" cy="255091"/>
          </a:xfrm>
          <a:prstGeom prst="rect">
            <a:avLst/>
          </a:prstGeom>
        </p:spPr>
      </p:pic>
      <p:sp>
        <p:nvSpPr>
          <p:cNvPr id="17" name="Text 11"/>
          <p:cNvSpPr/>
          <p:nvPr/>
        </p:nvSpPr>
        <p:spPr>
          <a:xfrm>
            <a:off x="869531" y="5158581"/>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Summarise</a:t>
            </a:r>
            <a:endParaRPr lang="en-US" sz="1850" dirty="0"/>
          </a:p>
        </p:txBody>
      </p:sp>
      <p:sp>
        <p:nvSpPr>
          <p:cNvPr id="18" name="Text 12"/>
          <p:cNvSpPr/>
          <p:nvPr/>
        </p:nvSpPr>
        <p:spPr>
          <a:xfrm>
            <a:off x="869531" y="5567263"/>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And lose detail quietly</a:t>
            </a:r>
            <a:endParaRPr lang="en-US" sz="1450" dirty="0"/>
          </a:p>
        </p:txBody>
      </p:sp>
      <p:sp>
        <p:nvSpPr>
          <p:cNvPr id="19"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Proving there is no memory</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send({"task": "classify", "prompt": "Remember that my favourite label is account."})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send({"task": "classify", "prompt": "What is my favourite label?"})</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442145"/>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So why does it feel continuous</a:t>
            </a:r>
            <a:endParaRPr lang="en-US" sz="3700" dirty="0"/>
          </a:p>
        </p:txBody>
      </p:sp>
      <p:sp>
        <p:nvSpPr>
          <p:cNvPr id="4" name="Text 1"/>
          <p:cNvSpPr/>
          <p:nvPr/>
        </p:nvSpPr>
        <p:spPr>
          <a:xfrm>
            <a:off x="8032251" y="3403104"/>
            <a:ext cx="3504219" cy="2012752"/>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product re-sends your earlier turns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single time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And pays for them every time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Past the window, something gets dropped</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this is a privacy lesson too</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Later you will build the re-sending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decide what is kept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For how long, and for whom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Make that decision on purpose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Send a prompt that is one over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Read the refusal, all six fields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send one that is one under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Write what your program should do instead</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2026-09-16T03:59:21Z</dcterms:created>
  <dcterms:modified xsi:type="dcterms:W3CDTF">2026-09-16T03:59:21Z</dcterms:modified>
</cp:coreProperties>
</file>