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soft skill bolted onto the technical work. In this module the work is judgement, and judgement improves exactly one way. Somebody who thinks differently tells you where your reasoning does not hold, and you are able to hear it. There is a specific failure I want named before we start. When the work is a verdict, feedback turns into an argument about the verdict. Two people trade conclusions, neither moves, and nothing on either paper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move. If you disagree with a conclusion, the useful thing to say is not I disagree. It is which step you would not have taken, and why. Your third finding is specific. Your analysis is not. That difference is most of the technique, and once you see it you cannot write the vague version again without noticing.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the right hand column and notice what every one of them has in common. A location. Step four. Your Hallucination finding. Section three. Not one of them is about the person, and not one of them requires the receiver to guess what you meant. Notice the middle row especially, because praise is feedback too and good job gives somebody nothing to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takes ninety seconds and the structure is worth it. Part two is the one people get wrong. This finding has no how you know line is an observation, and both of you can see it on the page. You were careless is a conclusion about a person and it cannot be acted on. Part three ends on the thing they can do. What did you search for, or add the search string and this is full credit. And a question beats a statement here, because the work is reasoning, and a question makes them walk their own reasoning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shape of finding from last week's lab, and most of you wrote one very close to it. Read the last line. I looked and could not find it. Hold on to that line, because both of the reviews you are about to see are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out loud in a neutral voice and let the room sit with it for a second. Then ask one question. What, specifically, can the person who received that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failures in two sentences. Weak is a judgement and there is nothing underneath it that both of you can see. Searched better names no action, so there is nothing to do differently. And the Validity suggestion is a competing verdict with no reasoning attached, which turns the conversation into who is more confident. The fix for that last one is one word, and it is because. I think finding three is Bias rather than Validity, because your evidence is about who the procedure leaves out rather than about a claim being false. Now it can be argued on the evidence, and one of you will change your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twice. It names the finding, states the observation, and ends on an action. Then the second paragraph raises a genuine alternative and frames it as a question about the evidence rather than as a competing verdict. That is the whole difference. Same disagreement, and the receiver now has two specific things to go and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get feedback that is wrong, badly phrased, or both. The skill is getting the useful part out anyway. Transcribing buys you the four seconds where the defence usually happens. This is confusing is a judgement, and underneath it is an observation, which is that they could not follow something, so ask which part. And read the last two lines together. Declining feedback with a reason is a complete response. Declining it with a shrug is not. Whether it was fair may be worth discussing, and it is not worth discussing at the same time as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look like opposites and they have the same tell. Praise is comfortable and fast. A counter-verdict feels like expertise. Neither requires you to have read the work carefully, which is why both are so common at four minutes to the bell. If you genuinely found nothing, that is real information and it has a form. I read all eight findings against the four-part rule and every one has a checkable how you know. That is useful. Looks good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feedback is graded here, on the giving side and the receiving side, under Written and Documentation. Five rows at four points each. Specificity, observation over judgement, actionability, response quality, and one genuine disagreement. That last row exists on purpose. A review with no disagreement in it is either a perfect artifact or an unread one, and the second is far more common. Build two is revision, and your teardown has to show at least two changes traceable to specific feedback, marked in the file. Then a second, different reviewer reads the revised version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4.png"/><Relationship Id="rId9" Type="http://schemas.openxmlformats.org/officeDocument/2006/relationships/image" Target="../media/image-3-5.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image" Target="../media/image-8-1.png"/><Relationship Id="rId8" Type="http://schemas.openxmlformats.org/officeDocument/2006/relationships/image" Target="../media/image-8-2.svg"/><Relationship Id="rId9" Type="http://schemas.openxmlformats.org/officeDocument/2006/relationships/image" Target="../media/image-8-1.png"/><Relationship Id="rId10" Type="http://schemas.openxmlformats.org/officeDocument/2006/relationships/image" Target="../media/image-8-2.svg"/><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image" Target="../media/image-8-1.png"/><Relationship Id="rId8" Type="http://schemas.openxmlformats.org/officeDocument/2006/relationships/image" Target="../media/image-8-2.svg"/><Relationship Id="rId9" Type="http://schemas.openxmlformats.org/officeDocument/2006/relationships/image" Target="../media/image-8-1.png"/><Relationship Id="rId10" Type="http://schemas.openxmlformats.org/officeDocument/2006/relationships/image" Target="../media/image-8-2.svg"/><Relationship Id="rId11" Type="http://schemas.openxmlformats.org/officeDocument/2006/relationships/slideLayout" Target="../slideLayouts/slideLayout2.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Feedback on Reasoning, Not on Verdicts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6874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people trade verdicts for ten minutes and nothing improves</a:t>
            </a:r>
            <a:endParaRPr lang="en-US" sz="3700" dirty="0"/>
          </a:p>
        </p:txBody>
      </p:sp>
      <p:sp>
        <p:nvSpPr>
          <p:cNvPr id="3" name="Shape 1"/>
          <p:cNvSpPr/>
          <p:nvPr/>
        </p:nvSpPr>
        <p:spPr>
          <a:xfrm>
            <a:off x="661475" y="2328069"/>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23929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Everything you wrote this module gets read by somebody</a:t>
            </a:r>
            <a:endParaRPr lang="en-US" sz="1850" dirty="0"/>
          </a:p>
        </p:txBody>
      </p:sp>
      <p:sp>
        <p:nvSpPr>
          <p:cNvPr id="5" name="Shape 3"/>
          <p:cNvSpPr/>
          <p:nvPr/>
        </p:nvSpPr>
        <p:spPr>
          <a:xfrm>
            <a:off x="661475" y="3131344"/>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319623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When the work is a verdict, feedback becomes an argument</a:t>
            </a:r>
            <a:endParaRPr lang="en-US" sz="1850" dirty="0"/>
          </a:p>
        </p:txBody>
      </p:sp>
      <p:sp>
        <p:nvSpPr>
          <p:cNvPr id="7" name="Shape 5"/>
          <p:cNvSpPr/>
          <p:nvPr/>
        </p:nvSpPr>
        <p:spPr>
          <a:xfrm>
            <a:off x="661475" y="3934619"/>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399950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Two conclusions traded, neither one moves</a:t>
            </a:r>
            <a:endParaRPr lang="en-US" sz="1850" dirty="0"/>
          </a:p>
        </p:txBody>
      </p:sp>
      <p:sp>
        <p:nvSpPr>
          <p:cNvPr id="9" name="Shape 7"/>
          <p:cNvSpPr/>
          <p:nvPr/>
        </p:nvSpPr>
        <p:spPr>
          <a:xfrm>
            <a:off x="661475" y="4737894"/>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80278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Both of you leave with the paper you came in with</a:t>
            </a:r>
            <a:endParaRPr lang="en-US" sz="1850" dirty="0"/>
          </a:p>
        </p:txBody>
      </p:sp>
      <p:sp>
        <p:nvSpPr>
          <p:cNvPr id="11" name="Shape 9"/>
          <p:cNvSpPr/>
          <p:nvPr/>
        </p:nvSpPr>
        <p:spPr>
          <a:xfrm>
            <a:off x="661475" y="5541169"/>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1275723" y="56060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Judgement improves one way only</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47489"/>
            <a:ext cx="6296860" cy="1661220"/>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Give feedback on the reasoning and the evidence</a:t>
            </a:r>
            <a:endParaRPr lang="en-US" sz="34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457847"/>
            <a:ext cx="6296860" cy="669429"/>
          </a:xfrm>
          <a:prstGeom prst="rect">
            <a:avLst/>
          </a:prstGeom>
        </p:spPr>
      </p:pic>
      <p:sp>
        <p:nvSpPr>
          <p:cNvPr id="5" name="Text 1"/>
          <p:cNvSpPr/>
          <p:nvPr/>
        </p:nvSpPr>
        <p:spPr>
          <a:xfrm>
            <a:off x="933923" y="2654102"/>
            <a:ext cx="5828162"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Not on the conclusion</a:t>
            </a:r>
            <a:endParaRPr lang="en-US" sz="17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293368"/>
            <a:ext cx="6296860" cy="946348"/>
          </a:xfrm>
          <a:prstGeom prst="rect">
            <a:avLst/>
          </a:prstGeom>
        </p:spPr>
      </p:pic>
      <p:sp>
        <p:nvSpPr>
          <p:cNvPr id="7" name="Text 2"/>
          <p:cNvSpPr/>
          <p:nvPr/>
        </p:nvSpPr>
        <p:spPr>
          <a:xfrm>
            <a:off x="933923" y="3489623"/>
            <a:ext cx="5828162"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If you disagree, say which step you would not have taken</a:t>
            </a:r>
            <a:endParaRPr lang="en-US" sz="17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405809"/>
            <a:ext cx="6296860" cy="669429"/>
          </a:xfrm>
          <a:prstGeom prst="rect">
            <a:avLst/>
          </a:prstGeom>
        </p:spPr>
      </p:pic>
      <p:sp>
        <p:nvSpPr>
          <p:cNvPr id="9" name="Text 3"/>
          <p:cNvSpPr/>
          <p:nvPr/>
        </p:nvSpPr>
        <p:spPr>
          <a:xfrm>
            <a:off x="933923" y="4602063"/>
            <a:ext cx="5828162"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And why</a:t>
            </a:r>
            <a:endParaRPr lang="en-US" sz="17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241330"/>
            <a:ext cx="6296860" cy="946348"/>
          </a:xfrm>
          <a:prstGeom prst="rect">
            <a:avLst/>
          </a:prstGeom>
        </p:spPr>
      </p:pic>
      <p:sp>
        <p:nvSpPr>
          <p:cNvPr id="11" name="Text 4"/>
          <p:cNvSpPr/>
          <p:nvPr/>
        </p:nvSpPr>
        <p:spPr>
          <a:xfrm>
            <a:off x="933923" y="5437584"/>
            <a:ext cx="5828162"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Every useful comment names a specific place in the work</a:t>
            </a:r>
            <a:endParaRPr lang="en-US" sz="170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0308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Instead of, say</a:t>
            </a:r>
            <a:endParaRPr lang="en-US" sz="3700" dirty="0"/>
          </a:p>
        </p:txBody>
      </p:sp>
      <p:sp>
        <p:nvSpPr>
          <p:cNvPr id="3" name="Shape 1"/>
          <p:cNvSpPr/>
          <p:nvPr/>
        </p:nvSpPr>
        <p:spPr>
          <a:xfrm>
            <a:off x="661475" y="1999555"/>
            <a:ext cx="10868745" cy="3704630"/>
          </a:xfrm>
          <a:prstGeom prst="roundRect">
            <a:avLst>
              <a:gd name="adj" fmla="val 2143"/>
            </a:avLst>
          </a:prstGeom>
          <a:solidFill>
            <a:srgbClr val="F2F2F2"/>
          </a:solidFill>
          <a:ln/>
        </p:spPr>
      </p:sp>
      <p:sp>
        <p:nvSpPr>
          <p:cNvPr id="4" name="Text 2"/>
          <p:cNvSpPr/>
          <p:nvPr/>
        </p:nvSpPr>
        <p:spPr>
          <a:xfrm>
            <a:off x="888283" y="2188567"/>
            <a:ext cx="10415129" cy="3326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INSTEAD OF          SAY</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"This is wrong"     "Step 4 assumes the sample was random. The scenario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does not say it was."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"Good job"          "Your Hallucination finding records the exact search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string. That is the part I am going to copy."</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"You missed some"   "You have six Validity findings and nothing else. Try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 two questions a terminal cannot answer 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section 3."</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7184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three-part move</a:t>
            </a:r>
            <a:endParaRPr lang="en-US" sz="3700" dirty="0"/>
          </a:p>
        </p:txBody>
      </p:sp>
      <p:pic>
        <p:nvPicPr>
          <p:cNvPr id="4" name="Image 1" descr="preencoded.png">    </p:cNvPr>
          <p:cNvPicPr>
            <a:picLocks noChangeAspect="1"/>
          </p:cNvPicPr>
          <p:nvPr/>
        </p:nvPicPr>
        <p:blipFill>
          <a:blip r:embed="rId2"/>
          <a:stretch>
            <a:fillRect/>
          </a:stretch>
        </p:blipFill>
        <p:spPr>
          <a:xfrm>
            <a:off x="661475" y="1845965"/>
            <a:ext cx="945035" cy="1134070"/>
          </a:xfrm>
          <a:prstGeom prst="rect">
            <a:avLst/>
          </a:prstGeom>
        </p:spPr>
      </p:pic>
      <p:sp>
        <p:nvSpPr>
          <p:cNvPr id="5" name="Text 1"/>
          <p:cNvSpPr/>
          <p:nvPr/>
        </p:nvSpPr>
        <p:spPr>
          <a:xfrm>
            <a:off x="1795517" y="2034977"/>
            <a:ext cx="516281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Name the specific thing</a:t>
            </a:r>
            <a:endParaRPr lang="en-US" sz="1850" dirty="0"/>
          </a:p>
        </p:txBody>
      </p:sp>
      <p:sp>
        <p:nvSpPr>
          <p:cNvPr id="6" name="Text 2"/>
          <p:cNvSpPr/>
          <p:nvPr/>
        </p:nvSpPr>
        <p:spPr>
          <a:xfrm>
            <a:off x="1795517" y="2443659"/>
            <a:ext cx="5162818"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section, a finding, a sentence</a:t>
            </a:r>
            <a:endParaRPr lang="en-US" sz="1450" dirty="0"/>
          </a:p>
        </p:txBody>
      </p:sp>
      <p:pic>
        <p:nvPicPr>
          <p:cNvPr id="7" name="Image 2" descr="preencoded.png">    </p:cNvPr>
          <p:cNvPicPr>
            <a:picLocks noChangeAspect="1"/>
          </p:cNvPicPr>
          <p:nvPr/>
        </p:nvPicPr>
        <p:blipFill>
          <a:blip r:embed="rId3"/>
          <a:stretch>
            <a:fillRect/>
          </a:stretch>
        </p:blipFill>
        <p:spPr>
          <a:xfrm>
            <a:off x="661475" y="2980035"/>
            <a:ext cx="945035" cy="1134070"/>
          </a:xfrm>
          <a:prstGeom prst="rect">
            <a:avLst/>
          </a:prstGeom>
        </p:spPr>
      </p:pic>
      <p:sp>
        <p:nvSpPr>
          <p:cNvPr id="8" name="Text 3"/>
          <p:cNvSpPr/>
          <p:nvPr/>
        </p:nvSpPr>
        <p:spPr>
          <a:xfrm>
            <a:off x="1795517" y="3169047"/>
            <a:ext cx="516281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Say what you observed</a:t>
            </a:r>
            <a:endParaRPr lang="en-US" sz="1850" dirty="0"/>
          </a:p>
        </p:txBody>
      </p:sp>
      <p:sp>
        <p:nvSpPr>
          <p:cNvPr id="9" name="Text 4"/>
          <p:cNvSpPr/>
          <p:nvPr/>
        </p:nvSpPr>
        <p:spPr>
          <a:xfrm>
            <a:off x="1795517" y="3577729"/>
            <a:ext cx="5162818"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Not what it means about them</a:t>
            </a:r>
            <a:endParaRPr lang="en-US" sz="1450" dirty="0"/>
          </a:p>
        </p:txBody>
      </p:sp>
      <p:pic>
        <p:nvPicPr>
          <p:cNvPr id="10" name="Image 3" descr="preencoded.png">    </p:cNvPr>
          <p:cNvPicPr>
            <a:picLocks noChangeAspect="1"/>
          </p:cNvPicPr>
          <p:nvPr/>
        </p:nvPicPr>
        <p:blipFill>
          <a:blip r:embed="rId4"/>
          <a:stretch>
            <a:fillRect/>
          </a:stretch>
        </p:blipFill>
        <p:spPr>
          <a:xfrm>
            <a:off x="661475" y="4114105"/>
            <a:ext cx="945035" cy="1134070"/>
          </a:xfrm>
          <a:prstGeom prst="rect">
            <a:avLst/>
          </a:prstGeom>
        </p:spPr>
      </p:pic>
      <p:sp>
        <p:nvSpPr>
          <p:cNvPr id="11" name="Text 5"/>
          <p:cNvSpPr/>
          <p:nvPr/>
        </p:nvSpPr>
        <p:spPr>
          <a:xfrm>
            <a:off x="1795517" y="4303117"/>
            <a:ext cx="516281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End on a question or the next action</a:t>
            </a:r>
            <a:endParaRPr lang="en-US" sz="1850" dirty="0"/>
          </a:p>
        </p:txBody>
      </p:sp>
      <p:sp>
        <p:nvSpPr>
          <p:cNvPr id="12" name="Text 6"/>
          <p:cNvSpPr/>
          <p:nvPr/>
        </p:nvSpPr>
        <p:spPr>
          <a:xfrm>
            <a:off x="1795517" y="4711799"/>
            <a:ext cx="5162818"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When they find the gap themselves it stays found</a:t>
            </a:r>
            <a:endParaRPr lang="en-US" sz="1450" dirty="0"/>
          </a:p>
        </p:txBody>
      </p:sp>
      <p:sp>
        <p:nvSpPr>
          <p:cNvPr id="13" name="Text 7"/>
          <p:cNvSpPr/>
          <p:nvPr/>
        </p:nvSpPr>
        <p:spPr>
          <a:xfrm>
            <a:off x="661475" y="5460802"/>
            <a:ext cx="690644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strongest feedback in this module is a question.</a:t>
            </a:r>
            <a:endParaRPr lang="en-US" sz="1450" dirty="0"/>
          </a:p>
        </p:txBody>
      </p:sp>
      <p:sp>
        <p:nvSpPr>
          <p:cNvPr id="14"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work being reviewed</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FINDING 2, FROM A HALLUCINATION HUNT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"Lindqvist, M. (2013). Structured Output and Downstream Parsing Failures.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Midland Review of Applied Learning, 9, 34-48."</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Parameter: Hallucinations.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Why: this journal does not exist.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How I know: I looked and could not find it.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to review it</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UNHELPFUL REVIEW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"Your second finding is weak. You should have searched better. Also I think</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this might be Validity because the author could be real."</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47409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Count the problems in it</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442766"/>
            <a:ext cx="3496877" cy="1314648"/>
          </a:xfrm>
          <a:prstGeom prst="rect">
            <a:avLst/>
          </a:prstGeom>
        </p:spPr>
      </p:pic>
      <p:sp>
        <p:nvSpPr>
          <p:cNvPr id="4" name="Text 1"/>
          <p:cNvSpPr/>
          <p:nvPr/>
        </p:nvSpPr>
        <p:spPr>
          <a:xfrm>
            <a:off x="977479"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Weak is a judgement with no observation under it</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442766"/>
            <a:ext cx="3496877" cy="1314648"/>
          </a:xfrm>
          <a:prstGeom prst="rect">
            <a:avLst/>
          </a:prstGeom>
        </p:spPr>
      </p:pic>
      <p:sp>
        <p:nvSpPr>
          <p:cNvPr id="6" name="Text 2"/>
          <p:cNvSpPr/>
          <p:nvPr/>
        </p:nvSpPr>
        <p:spPr>
          <a:xfrm>
            <a:off x="4663363" y="2657177"/>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Searched better names no action</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442766"/>
            <a:ext cx="3496877" cy="1314648"/>
          </a:xfrm>
          <a:prstGeom prst="rect">
            <a:avLst/>
          </a:prstGeom>
        </p:spPr>
      </p:pic>
      <p:sp>
        <p:nvSpPr>
          <p:cNvPr id="8" name="Text 3"/>
          <p:cNvSpPr/>
          <p:nvPr/>
        </p:nvSpPr>
        <p:spPr>
          <a:xfrm>
            <a:off x="8349247"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Validity idea is a verdict with no reasoning attached</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946426"/>
            <a:ext cx="3496877" cy="1314648"/>
          </a:xfrm>
          <a:prstGeom prst="rect">
            <a:avLst/>
          </a:prstGeom>
        </p:spPr>
      </p:pic>
      <p:sp>
        <p:nvSpPr>
          <p:cNvPr id="10" name="Text 4"/>
          <p:cNvSpPr/>
          <p:nvPr/>
        </p:nvSpPr>
        <p:spPr>
          <a:xfrm>
            <a:off x="977479" y="4160838"/>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receiver can agree, argue, or feel bad</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3946426"/>
            <a:ext cx="3496877" cy="1314648"/>
          </a:xfrm>
          <a:prstGeom prst="rect">
            <a:avLst/>
          </a:prstGeom>
        </p:spPr>
      </p:pic>
      <p:sp>
        <p:nvSpPr>
          <p:cNvPr id="12" name="Text 5"/>
          <p:cNvSpPr/>
          <p:nvPr/>
        </p:nvSpPr>
        <p:spPr>
          <a:xfrm>
            <a:off x="4663363" y="4160838"/>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None of those three improves the work</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1820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same disagreement, made useful</a:t>
            </a:r>
            <a:endParaRPr lang="en-US" sz="3700" dirty="0"/>
          </a:p>
        </p:txBody>
      </p:sp>
      <p:sp>
        <p:nvSpPr>
          <p:cNvPr id="3" name="Shape 1"/>
          <p:cNvSpPr/>
          <p:nvPr/>
        </p:nvSpPr>
        <p:spPr>
          <a:xfrm>
            <a:off x="661475" y="2150765"/>
            <a:ext cx="10868745" cy="3402211"/>
          </a:xfrm>
          <a:prstGeom prst="roundRect">
            <a:avLst>
              <a:gd name="adj" fmla="val 2333"/>
            </a:avLst>
          </a:prstGeom>
          <a:solidFill>
            <a:srgbClr val="F2F2F2"/>
          </a:solidFill>
          <a:ln/>
        </p:spPr>
      </p:sp>
      <p:sp>
        <p:nvSpPr>
          <p:cNvPr id="4" name="Text 2"/>
          <p:cNvSpPr/>
          <p:nvPr/>
        </p:nvSpPr>
        <p:spPr>
          <a:xfrm>
            <a:off x="888283" y="2339777"/>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THE USEFUL REVIEW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"Finding 2: your 'how I know' says you looked and could not find it, and it</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does not say where. I cannot check it as written. What did you search,</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exactly, and in which catalog?</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Separately, I wondered about the author. If Lindqvist is a real person who</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writes in this area, that changes the finding, because a real author with an</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invented paper is a different thing from a fully invented citation. Did you</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check the author separately from the title?"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06402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Receiving it is the harder half</a:t>
            </a:r>
            <a:endParaRPr lang="en-US" sz="3700" dirty="0"/>
          </a:p>
        </p:txBody>
      </p:sp>
      <p:sp>
        <p:nvSpPr>
          <p:cNvPr id="3" name="Shape 1"/>
          <p:cNvSpPr/>
          <p:nvPr/>
        </p:nvSpPr>
        <p:spPr>
          <a:xfrm>
            <a:off x="661475" y="2032695"/>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20975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it down before you respond, anything at all</a:t>
            </a:r>
            <a:endParaRPr lang="en-US" sz="1850" dirty="0"/>
          </a:p>
        </p:txBody>
      </p:sp>
      <p:sp>
        <p:nvSpPr>
          <p:cNvPr id="5" name="Shape 3"/>
          <p:cNvSpPr/>
          <p:nvPr/>
        </p:nvSpPr>
        <p:spPr>
          <a:xfrm>
            <a:off x="661475" y="2835970"/>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290085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Separate the observation from the judgement underneath</a:t>
            </a:r>
            <a:endParaRPr lang="en-US" sz="1850" dirty="0"/>
          </a:p>
        </p:txBody>
      </p:sp>
      <p:sp>
        <p:nvSpPr>
          <p:cNvPr id="7" name="Shape 5"/>
          <p:cNvSpPr/>
          <p:nvPr/>
        </p:nvSpPr>
        <p:spPr>
          <a:xfrm>
            <a:off x="661475" y="3639245"/>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370413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Ask one clarifying question before you agree or disagree</a:t>
            </a:r>
            <a:endParaRPr lang="en-US" sz="1850" dirty="0"/>
          </a:p>
        </p:txBody>
      </p:sp>
      <p:sp>
        <p:nvSpPr>
          <p:cNvPr id="9" name="Shape 7"/>
          <p:cNvSpPr/>
          <p:nvPr/>
        </p:nvSpPr>
        <p:spPr>
          <a:xfrm>
            <a:off x="661475" y="4442520"/>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50740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Say what you will do, including nothing, with a reason</a:t>
            </a:r>
            <a:endParaRPr lang="en-US" sz="1850" dirty="0"/>
          </a:p>
        </p:txBody>
      </p:sp>
      <p:sp>
        <p:nvSpPr>
          <p:cNvPr id="11" name="Shape 9"/>
          <p:cNvSpPr/>
          <p:nvPr/>
        </p:nvSpPr>
        <p:spPr>
          <a:xfrm>
            <a:off x="661475" y="5245795"/>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1275723" y="53106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Never argue about whether the feedback was fair</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178719"/>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Praise-only is the other failure, and it looks like the opposite</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38041"/>
            <a:ext cx="3496877" cy="1314648"/>
          </a:xfrm>
          <a:prstGeom prst="rect">
            <a:avLst/>
          </a:prstGeom>
        </p:spPr>
      </p:pic>
      <p:sp>
        <p:nvSpPr>
          <p:cNvPr id="4" name="Text 1"/>
          <p:cNvSpPr/>
          <p:nvPr/>
        </p:nvSpPr>
        <p:spPr>
          <a:xfrm>
            <a:off x="977479" y="2952452"/>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 could not find anything leaves the person with nothing</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738041"/>
            <a:ext cx="3496877" cy="1314648"/>
          </a:xfrm>
          <a:prstGeom prst="rect">
            <a:avLst/>
          </a:prstGeom>
        </p:spPr>
      </p:pic>
      <p:sp>
        <p:nvSpPr>
          <p:cNvPr id="6" name="Text 2"/>
          <p:cNvSpPr/>
          <p:nvPr/>
        </p:nvSpPr>
        <p:spPr>
          <a:xfrm>
            <a:off x="4663363" y="2952452"/>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quietly tells them the work is finished when it is not</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738041"/>
            <a:ext cx="3496877" cy="1314648"/>
          </a:xfrm>
          <a:prstGeom prst="rect">
            <a:avLst/>
          </a:prstGeom>
        </p:spPr>
      </p:pic>
      <p:sp>
        <p:nvSpPr>
          <p:cNvPr id="8" name="Text 3"/>
          <p:cNvSpPr/>
          <p:nvPr/>
        </p:nvSpPr>
        <p:spPr>
          <a:xfrm>
            <a:off x="8349247" y="2952452"/>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If you genuinely found nothing, say what you checked</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241701"/>
            <a:ext cx="3496877" cy="1314648"/>
          </a:xfrm>
          <a:prstGeom prst="rect">
            <a:avLst/>
          </a:prstGeom>
        </p:spPr>
      </p:pic>
      <p:sp>
        <p:nvSpPr>
          <p:cNvPr id="10" name="Text 4"/>
          <p:cNvSpPr/>
          <p:nvPr/>
        </p:nvSpPr>
        <p:spPr>
          <a:xfrm>
            <a:off x="977479" y="4456113"/>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counter-verdict feels like expertise and skips the reading</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4241701"/>
            <a:ext cx="3496877" cy="1314648"/>
          </a:xfrm>
          <a:prstGeom prst="rect">
            <a:avLst/>
          </a:prstGeom>
        </p:spPr>
      </p:pic>
      <p:sp>
        <p:nvSpPr>
          <p:cNvPr id="12" name="Text 5"/>
          <p:cNvSpPr/>
          <p:nvPr/>
        </p:nvSpPr>
        <p:spPr>
          <a:xfrm>
            <a:off x="4663363" y="4456113"/>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Neither one requires you to have read carefully</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46774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732286"/>
            <a:ext cx="3496877" cy="25400"/>
          </a:xfrm>
          <a:prstGeom prst="rect">
            <a:avLst/>
          </a:prstGeom>
          <a:solidFill>
            <a:srgbClr val="57A1EB"/>
          </a:solidFill>
          <a:ln/>
        </p:spPr>
      </p:sp>
      <p:sp>
        <p:nvSpPr>
          <p:cNvPr id="5" name="Text 3"/>
          <p:cNvSpPr/>
          <p:nvPr/>
        </p:nvSpPr>
        <p:spPr>
          <a:xfrm>
            <a:off x="661475" y="2877542"/>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Trade Scenario Teardowns with a partner</a:t>
            </a:r>
            <a:endParaRPr lang="en-US" sz="1850" dirty="0"/>
          </a:p>
        </p:txBody>
      </p:sp>
      <p:sp>
        <p:nvSpPr>
          <p:cNvPr id="6" name="Text 4"/>
          <p:cNvSpPr/>
          <p:nvPr/>
        </p:nvSpPr>
        <p:spPr>
          <a:xfrm>
            <a:off x="4347359"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4347359" y="2732286"/>
            <a:ext cx="3496877" cy="25400"/>
          </a:xfrm>
          <a:prstGeom prst="rect">
            <a:avLst/>
          </a:prstGeom>
          <a:solidFill>
            <a:srgbClr val="57A1EB"/>
          </a:solidFill>
          <a:ln/>
        </p:spPr>
      </p:sp>
      <p:sp>
        <p:nvSpPr>
          <p:cNvPr id="8" name="Text 6"/>
          <p:cNvSpPr/>
          <p:nvPr/>
        </p:nvSpPr>
        <p:spPr>
          <a:xfrm>
            <a:off x="4347359"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Four comments, each naming a step or a sentence</a:t>
            </a:r>
            <a:endParaRPr lang="en-US" sz="1850" dirty="0"/>
          </a:p>
        </p:txBody>
      </p:sp>
      <p:sp>
        <p:nvSpPr>
          <p:cNvPr id="9" name="Text 7"/>
          <p:cNvSpPr/>
          <p:nvPr/>
        </p:nvSpPr>
        <p:spPr>
          <a:xfrm>
            <a:off x="8033244"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8033244" y="2732286"/>
            <a:ext cx="3496877" cy="25400"/>
          </a:xfrm>
          <a:prstGeom prst="rect">
            <a:avLst/>
          </a:prstGeom>
          <a:solidFill>
            <a:srgbClr val="57A1EB"/>
          </a:solidFill>
          <a:ln/>
        </p:spPr>
      </p:sp>
      <p:sp>
        <p:nvSpPr>
          <p:cNvPr id="11" name="Text 9"/>
          <p:cNvSpPr/>
          <p:nvPr/>
        </p:nvSpPr>
        <p:spPr>
          <a:xfrm>
            <a:off x="8033244"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At least one genuine disagreement, with a because in it</a:t>
            </a:r>
            <a:endParaRPr lang="en-US" sz="1850" dirty="0"/>
          </a:p>
        </p:txBody>
      </p:sp>
      <p:sp>
        <p:nvSpPr>
          <p:cNvPr id="12" name="Text 10"/>
          <p:cNvSpPr/>
          <p:nvPr/>
        </p:nvSpPr>
        <p:spPr>
          <a:xfrm>
            <a:off x="661475"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61475" y="4389934"/>
            <a:ext cx="5339820" cy="25400"/>
          </a:xfrm>
          <a:prstGeom prst="rect">
            <a:avLst/>
          </a:prstGeom>
          <a:solidFill>
            <a:srgbClr val="57A1EB"/>
          </a:solidFill>
          <a:ln/>
        </p:spPr>
      </p:sp>
      <p:sp>
        <p:nvSpPr>
          <p:cNvPr id="14" name="Text 12"/>
          <p:cNvSpPr/>
          <p:nvPr/>
        </p:nvSpPr>
        <p:spPr>
          <a:xfrm>
            <a:off x="661475" y="453519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Four responses, each locating the comment and saying what changes</a:t>
            </a:r>
            <a:endParaRPr lang="en-US" sz="1850" dirty="0"/>
          </a:p>
        </p:txBody>
      </p:sp>
      <p:sp>
        <p:nvSpPr>
          <p:cNvPr id="15" name="Text 13"/>
          <p:cNvSpPr/>
          <p:nvPr/>
        </p:nvSpPr>
        <p:spPr>
          <a:xfrm>
            <a:off x="6190301"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16" name="Shape 14"/>
          <p:cNvSpPr/>
          <p:nvPr/>
        </p:nvSpPr>
        <p:spPr>
          <a:xfrm>
            <a:off x="6190301" y="4389934"/>
            <a:ext cx="5339820" cy="25400"/>
          </a:xfrm>
          <a:prstGeom prst="rect">
            <a:avLst/>
          </a:prstGeom>
          <a:solidFill>
            <a:srgbClr val="57A1EB"/>
          </a:solidFill>
          <a:ln/>
        </p:spPr>
      </p:sp>
      <p:sp>
        <p:nvSpPr>
          <p:cNvPr id="17" name="Text 15"/>
          <p:cNvSpPr/>
          <p:nvPr/>
        </p:nvSpPr>
        <p:spPr>
          <a:xfrm>
            <a:off x="6190301" y="453519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revise, and a second reviewer reads it cold</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2026-09-16T04:11:53Z</dcterms:created>
  <dcterms:modified xsi:type="dcterms:W3CDTF">2026-09-16T04:11:53Z</dcterms:modified>
</cp:coreProperties>
</file>