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days. True, it is in the handbook, and it answers nothing, because the chunk no longer says five days of what. Now imagine the opposite mistake and you have both failure modes of today's lesson before we have written a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 a whole document and its vector is an average of everything in it. The access and safety document covers six unrelated things, so it is not strongly about any of them. A chunk that comes back for every question is the same as a chunk that comes back for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Somebody who understood this material already decided where the topics change, and they wrote it down as headings. Use that. Then cut anything still too long at a blank line, a sentence end, or a space, and repeat some characters at the seam so a cut sentence survives whole in one of the two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real output for your handbook with a nine hundred character maximum and a hundred and twenty character overlap. Look at the longest chunk. Six hundred and eight. Hold that number for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last line. I raised the maximum from nine hundred to five thousand and nothing moved, because no section of this handbook is nine hundred characters long. For this corpus the length limit is a safety net that never catches anything. The heading rule is the chunking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hear that number. It is not wrong exactly, it is unmeasured, and on this corpus it would do nothing at all. There is no standards body for chunk size. The command that settles it for your documents takes four seconds and you now know how to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section that short is the five days problem, so the chunker attaches it to the previous chunk rather than storing a stub. Defensible rule. And now the answer to how long can I keep a camera kit is filed under a heading about contents cards, and you would never find that out unless you read your own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in there are not obvious. The heading is repeated inside the text, because the embedding only ever sees the text, and a chunk whose heading is missing from it has thrown away its strongest clue. And the offsets point at the real file, which is how any hit gets traced back to a line somebody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text sliced every five hundred characters. Chunk two starts with u t full stop, which is the tail of the word out. The word is split across two pieces and the sentence is whole in neither. No heading, no offsets, no document id. It never crashes, which is why people ship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part one of the retrieval lab and it needs no embeddings endpoint at all. You write the chunker, then you read the chunks you produced, out loud in your head, and find one that cannot answer a question on its own. Then three settings and a paragraph about which lever actually moved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2.png"/><Relationship Id="rId7" Type="http://schemas.openxmlformats.org/officeDocument/2006/relationships/image" Target="../media/image-2-3.svg"/><Relationship Id="rId8" Type="http://schemas.openxmlformats.org/officeDocument/2006/relationships/image" Target="../media/image-2-2.png"/><Relationship Id="rId9" Type="http://schemas.openxmlformats.org/officeDocument/2006/relationships/image" Target="../media/image-2-3.sv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2.png"/><Relationship Id="rId7" Type="http://schemas.openxmlformats.org/officeDocument/2006/relationships/image" Target="../media/image-2-3.svg"/><Relationship Id="rId8" Type="http://schemas.openxmlformats.org/officeDocument/2006/relationships/image" Target="../media/image-2-2.png"/><Relationship Id="rId9" Type="http://schemas.openxmlformats.org/officeDocument/2006/relationships/image" Target="../media/image-2-3.sv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4.png"/><Relationship Id="rId7" Type="http://schemas.openxmlformats.org/officeDocument/2006/relationships/image" Target="../media/image-7-5.svg"/><Relationship Id="rId8" Type="http://schemas.openxmlformats.org/officeDocument/2006/relationships/image" Target="../media/image-7-4.png"/><Relationship Id="rId9" Type="http://schemas.openxmlformats.org/officeDocument/2006/relationships/image" Target="../media/image-7-5.sv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Chunking: Deciding What a Piece of a Document Is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21056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Five days</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4201" y="2094111"/>
            <a:ext cx="283461" cy="283468"/>
          </a:xfrm>
          <a:prstGeom prst="rect">
            <a:avLst/>
          </a:prstGeom>
        </p:spPr>
      </p:pic>
      <p:sp>
        <p:nvSpPr>
          <p:cNvPr id="5" name="Text 1"/>
          <p:cNvSpPr/>
          <p:nvPr/>
        </p:nvSpPr>
        <p:spPr>
          <a:xfrm>
            <a:off x="5847608" y="2084685"/>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That is a true sentence from your handbook</a:t>
            </a:r>
            <a:endParaRPr lang="en-US" sz="14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04201" y="3048595"/>
            <a:ext cx="283461" cy="283468"/>
          </a:xfrm>
          <a:prstGeom prst="rect">
            <a:avLst/>
          </a:prstGeom>
        </p:spPr>
      </p:pic>
      <p:sp>
        <p:nvSpPr>
          <p:cNvPr id="7" name="Text 2"/>
          <p:cNvSpPr/>
          <p:nvPr/>
        </p:nvSpPr>
        <p:spPr>
          <a:xfrm>
            <a:off x="5847608" y="3039170"/>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It is also useless</a:t>
            </a:r>
            <a:endParaRPr lang="en-US" sz="14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04201" y="4003080"/>
            <a:ext cx="283461" cy="283468"/>
          </a:xfrm>
          <a:prstGeom prst="rect">
            <a:avLst/>
          </a:prstGeom>
        </p:spPr>
      </p:pic>
      <p:sp>
        <p:nvSpPr>
          <p:cNvPr id="9" name="Text 3"/>
          <p:cNvSpPr/>
          <p:nvPr/>
        </p:nvSpPr>
        <p:spPr>
          <a:xfrm>
            <a:off x="5847608" y="3993654"/>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Five days of what</a:t>
            </a:r>
            <a:endParaRPr lang="en-US" sz="14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04201" y="4957564"/>
            <a:ext cx="283461" cy="283468"/>
          </a:xfrm>
          <a:prstGeom prst="rect">
            <a:avLst/>
          </a:prstGeom>
        </p:spPr>
      </p:pic>
      <p:sp>
        <p:nvSpPr>
          <p:cNvPr id="11" name="Text 4"/>
          <p:cNvSpPr/>
          <p:nvPr/>
        </p:nvSpPr>
        <p:spPr>
          <a:xfrm>
            <a:off x="5847608" y="4948138"/>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chunk that is too small stops being an answer</a:t>
            </a:r>
            <a:endParaRPr lang="en-US" sz="14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15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other way to get it wrong</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2315" y="2389386"/>
            <a:ext cx="283461" cy="283468"/>
          </a:xfrm>
          <a:prstGeom prst="rect">
            <a:avLst/>
          </a:prstGeom>
        </p:spPr>
      </p:pic>
      <p:sp>
        <p:nvSpPr>
          <p:cNvPr id="5" name="Text 1"/>
          <p:cNvSpPr/>
          <p:nvPr/>
        </p:nvSpPr>
        <p:spPr>
          <a:xfrm>
            <a:off x="1275723" y="2379960"/>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whole document is one vector</a:t>
            </a:r>
            <a:endParaRPr lang="en-US" sz="14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315" y="3343870"/>
            <a:ext cx="283461" cy="283468"/>
          </a:xfrm>
          <a:prstGeom prst="rect">
            <a:avLst/>
          </a:prstGeom>
        </p:spPr>
      </p:pic>
      <p:sp>
        <p:nvSpPr>
          <p:cNvPr id="7" name="Text 2"/>
          <p:cNvSpPr/>
          <p:nvPr/>
        </p:nvSpPr>
        <p:spPr>
          <a:xfrm>
            <a:off x="1275723" y="3334445"/>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That vector averages everything in the document</a:t>
            </a:r>
            <a:endParaRPr lang="en-US" sz="14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2315" y="4298355"/>
            <a:ext cx="283461" cy="283468"/>
          </a:xfrm>
          <a:prstGeom prst="rect">
            <a:avLst/>
          </a:prstGeom>
        </p:spPr>
      </p:pic>
      <p:sp>
        <p:nvSpPr>
          <p:cNvPr id="9" name="Text 3"/>
          <p:cNvSpPr/>
          <p:nvPr/>
        </p:nvSpPr>
        <p:spPr>
          <a:xfrm>
            <a:off x="1275723" y="4288929"/>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Hours, guests, glasses, training, damage, fire</a:t>
            </a:r>
            <a:endParaRPr lang="en-US" sz="14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2315" y="5252839"/>
            <a:ext cx="283461" cy="283468"/>
          </a:xfrm>
          <a:prstGeom prst="rect">
            <a:avLst/>
          </a:prstGeom>
        </p:spPr>
      </p:pic>
      <p:sp>
        <p:nvSpPr>
          <p:cNvPr id="11" name="Text 4"/>
          <p:cNvSpPr/>
          <p:nvPr/>
        </p:nvSpPr>
        <p:spPr>
          <a:xfrm>
            <a:off x="1275723" y="5243413"/>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It comes back for every question, which is none</a:t>
            </a:r>
            <a:endParaRPr lang="en-US" sz="14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991989"/>
            <a:ext cx="3513645" cy="1144389"/>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Split on headings first</a:t>
            </a:r>
            <a:endParaRPr lang="en-US" sz="3600" dirty="0"/>
          </a:p>
        </p:txBody>
      </p:sp>
      <p:sp>
        <p:nvSpPr>
          <p:cNvPr id="3" name="Shape 1"/>
          <p:cNvSpPr/>
          <p:nvPr/>
        </p:nvSpPr>
        <p:spPr>
          <a:xfrm>
            <a:off x="661475" y="2335907"/>
            <a:ext cx="411946" cy="411956"/>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730133" y="2370237"/>
            <a:ext cx="274631" cy="343297"/>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1</a:t>
            </a:r>
            <a:endParaRPr lang="en-US" sz="2150" dirty="0"/>
          </a:p>
        </p:txBody>
      </p:sp>
      <p:sp>
        <p:nvSpPr>
          <p:cNvPr id="5" name="Text 3"/>
          <p:cNvSpPr/>
          <p:nvPr/>
        </p:nvSpPr>
        <p:spPr>
          <a:xfrm>
            <a:off x="1250720" y="2395339"/>
            <a:ext cx="2924399" cy="576858"/>
          </a:xfrm>
          <a:prstGeom prst="rect">
            <a:avLst/>
          </a:prstGeom>
          <a:noFill/>
          <a:ln/>
        </p:spPr>
        <p:txBody>
          <a:bodyPr wrap="square" lIns="0" tIns="0" rIns="0" bIns="0" rtlCol="0" anchor="t">
            <a:normAutofit/>
          </a:bodyPr>
          <a:lstStyle/>
          <a:p>
            <a:pPr algn="l" indent="0" marL="0">
              <a:lnSpc>
                <a:spcPct val="131000"/>
              </a:lnSpc>
              <a:buNone/>
            </a:pPr>
            <a:r>
              <a:rPr lang="en-US" sz="1400" dirty="0">
                <a:solidFill>
                  <a:srgbClr val="1C1C1C"/>
                </a:solidFill>
                <a:latin typeface="Roboto Condensed" pitchFamily="34" charset="0"/>
                <a:ea typeface="Roboto Condensed" pitchFamily="34" charset="-122"/>
                <a:cs typeface="Roboto Condensed" pitchFamily="34" charset="-120"/>
              </a:rPr>
              <a:t>A heading is a boundary somebody already chose</a:t>
            </a:r>
            <a:endParaRPr lang="en-US" sz="1400" dirty="0"/>
          </a:p>
        </p:txBody>
      </p:sp>
      <p:sp>
        <p:nvSpPr>
          <p:cNvPr id="6" name="Shape 4"/>
          <p:cNvSpPr/>
          <p:nvPr/>
        </p:nvSpPr>
        <p:spPr>
          <a:xfrm>
            <a:off x="661475" y="3326904"/>
            <a:ext cx="411946" cy="411956"/>
          </a:xfrm>
          <a:prstGeom prst="roundRect">
            <a:avLst>
              <a:gd name="adj" fmla="val 18669"/>
            </a:avLst>
          </a:prstGeom>
          <a:solidFill>
            <a:srgbClr val="D1E5FA"/>
          </a:solidFill>
          <a:ln w="19050">
            <a:solidFill>
              <a:srgbClr val="B7CBE0"/>
            </a:solidFill>
            <a:prstDash val="solid"/>
          </a:ln>
        </p:spPr>
      </p:sp>
      <p:sp>
        <p:nvSpPr>
          <p:cNvPr id="7" name="Text 5"/>
          <p:cNvSpPr/>
          <p:nvPr/>
        </p:nvSpPr>
        <p:spPr>
          <a:xfrm>
            <a:off x="730133" y="3361234"/>
            <a:ext cx="274631" cy="343297"/>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2</a:t>
            </a:r>
            <a:endParaRPr lang="en-US" sz="2150" dirty="0"/>
          </a:p>
        </p:txBody>
      </p:sp>
      <p:sp>
        <p:nvSpPr>
          <p:cNvPr id="8" name="Text 6"/>
          <p:cNvSpPr/>
          <p:nvPr/>
        </p:nvSpPr>
        <p:spPr>
          <a:xfrm>
            <a:off x="1250720" y="3386336"/>
            <a:ext cx="2924399" cy="576858"/>
          </a:xfrm>
          <a:prstGeom prst="rect">
            <a:avLst/>
          </a:prstGeom>
          <a:noFill/>
          <a:ln/>
        </p:spPr>
        <p:txBody>
          <a:bodyPr wrap="square" lIns="0" tIns="0" rIns="0" bIns="0" rtlCol="0" anchor="t">
            <a:normAutofit/>
          </a:bodyPr>
          <a:lstStyle/>
          <a:p>
            <a:pPr algn="l" indent="0" marL="0">
              <a:lnSpc>
                <a:spcPct val="131000"/>
              </a:lnSpc>
              <a:buNone/>
            </a:pPr>
            <a:r>
              <a:rPr lang="en-US" sz="1400" dirty="0">
                <a:solidFill>
                  <a:srgbClr val="1C1C1C"/>
                </a:solidFill>
                <a:latin typeface="Roboto Condensed" pitchFamily="34" charset="0"/>
                <a:ea typeface="Roboto Condensed" pitchFamily="34" charset="-122"/>
                <a:cs typeface="Roboto Condensed" pitchFamily="34" charset="-120"/>
              </a:rPr>
              <a:t>They knew the content when they chose it</a:t>
            </a:r>
            <a:endParaRPr lang="en-US" sz="1400" dirty="0"/>
          </a:p>
        </p:txBody>
      </p:sp>
      <p:sp>
        <p:nvSpPr>
          <p:cNvPr id="9" name="Shape 7"/>
          <p:cNvSpPr/>
          <p:nvPr/>
        </p:nvSpPr>
        <p:spPr>
          <a:xfrm>
            <a:off x="661475" y="4317901"/>
            <a:ext cx="411946" cy="411956"/>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730133" y="4352230"/>
            <a:ext cx="274631" cy="343297"/>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3</a:t>
            </a:r>
            <a:endParaRPr lang="en-US" sz="2150" dirty="0"/>
          </a:p>
        </p:txBody>
      </p:sp>
      <p:sp>
        <p:nvSpPr>
          <p:cNvPr id="11" name="Text 9"/>
          <p:cNvSpPr/>
          <p:nvPr/>
        </p:nvSpPr>
        <p:spPr>
          <a:xfrm>
            <a:off x="1250720" y="4377333"/>
            <a:ext cx="2924399" cy="576858"/>
          </a:xfrm>
          <a:prstGeom prst="rect">
            <a:avLst/>
          </a:prstGeom>
          <a:noFill/>
          <a:ln/>
        </p:spPr>
        <p:txBody>
          <a:bodyPr wrap="square" lIns="0" tIns="0" rIns="0" bIns="0" rtlCol="0" anchor="t">
            <a:normAutofit/>
          </a:bodyPr>
          <a:lstStyle/>
          <a:p>
            <a:pPr algn="l" indent="0" marL="0">
              <a:lnSpc>
                <a:spcPct val="131000"/>
              </a:lnSpc>
              <a:buNone/>
            </a:pPr>
            <a:r>
              <a:rPr lang="en-US" sz="1400" dirty="0">
                <a:solidFill>
                  <a:srgbClr val="1C1C1C"/>
                </a:solidFill>
                <a:latin typeface="Roboto Condensed" pitchFamily="34" charset="0"/>
                <a:ea typeface="Roboto Condensed" pitchFamily="34" charset="-122"/>
                <a:cs typeface="Roboto Condensed" pitchFamily="34" charset="-120"/>
              </a:rPr>
              <a:t>Then split any section that is still too long</a:t>
            </a:r>
            <a:endParaRPr lang="en-US" sz="1400" dirty="0"/>
          </a:p>
        </p:txBody>
      </p:sp>
      <p:sp>
        <p:nvSpPr>
          <p:cNvPr id="12" name="Shape 10"/>
          <p:cNvSpPr/>
          <p:nvPr/>
        </p:nvSpPr>
        <p:spPr>
          <a:xfrm>
            <a:off x="661475" y="5308898"/>
            <a:ext cx="411946" cy="411956"/>
          </a:xfrm>
          <a:prstGeom prst="roundRect">
            <a:avLst>
              <a:gd name="adj" fmla="val 18669"/>
            </a:avLst>
          </a:prstGeom>
          <a:solidFill>
            <a:srgbClr val="D1E5FA"/>
          </a:solidFill>
          <a:ln w="19050">
            <a:solidFill>
              <a:srgbClr val="B7CBE0"/>
            </a:solidFill>
            <a:prstDash val="solid"/>
          </a:ln>
        </p:spPr>
      </p:sp>
      <p:sp>
        <p:nvSpPr>
          <p:cNvPr id="13" name="Text 11"/>
          <p:cNvSpPr/>
          <p:nvPr/>
        </p:nvSpPr>
        <p:spPr>
          <a:xfrm>
            <a:off x="730133" y="5343227"/>
            <a:ext cx="274631" cy="343297"/>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4</a:t>
            </a:r>
            <a:endParaRPr lang="en-US" sz="2150" dirty="0"/>
          </a:p>
        </p:txBody>
      </p:sp>
      <p:sp>
        <p:nvSpPr>
          <p:cNvPr id="14" name="Text 12"/>
          <p:cNvSpPr/>
          <p:nvPr/>
        </p:nvSpPr>
        <p:spPr>
          <a:xfrm>
            <a:off x="1250720" y="5368330"/>
            <a:ext cx="2924399" cy="288429"/>
          </a:xfrm>
          <a:prstGeom prst="rect">
            <a:avLst/>
          </a:prstGeom>
          <a:noFill/>
          <a:ln/>
        </p:spPr>
        <p:txBody>
          <a:bodyPr wrap="none" lIns="0" tIns="0" rIns="0" bIns="0" rtlCol="0" anchor="t"/>
          <a:lstStyle/>
          <a:p>
            <a:pPr algn="l" indent="0" marL="0">
              <a:lnSpc>
                <a:spcPct val="131000"/>
              </a:lnSpc>
              <a:buNone/>
            </a:pPr>
            <a:r>
              <a:rPr lang="en-US" sz="1400" dirty="0">
                <a:solidFill>
                  <a:srgbClr val="1C1C1C"/>
                </a:solidFill>
                <a:latin typeface="Roboto Condensed" pitchFamily="34" charset="0"/>
                <a:ea typeface="Roboto Condensed" pitchFamily="34" charset="-122"/>
                <a:cs typeface="Roboto Condensed" pitchFamily="34" charset="-120"/>
              </a:rPr>
              <a:t>Never in the middle of a word</a:t>
            </a:r>
            <a:endParaRPr lang="en-US" sz="1400" dirty="0"/>
          </a:p>
        </p:txBody>
      </p:sp>
      <p:pic>
        <p:nvPicPr>
          <p:cNvPr id="15" name="Image 0" descr="preencoded.png">    </p:cNvPr>
          <p:cNvPicPr>
            <a:picLocks noChangeAspect="1"/>
          </p:cNvPicPr>
          <p:nvPr/>
        </p:nvPicPr>
        <p:blipFill>
          <a:blip r:embed="rId1"/>
          <a:stretch>
            <a:fillRect/>
          </a:stretch>
        </p:blipFill>
        <p:spPr>
          <a:xfrm>
            <a:off x="4628141" y="1410097"/>
            <a:ext cx="6908330" cy="3914775"/>
          </a:xfrm>
          <a:prstGeom prst="rect">
            <a:avLst/>
          </a:prstGeom>
        </p:spPr>
      </p:pic>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20699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Fifty six chunks, eight documents</a:t>
            </a:r>
            <a:endParaRPr lang="en-US" sz="3700" dirty="0"/>
          </a:p>
        </p:txBody>
      </p:sp>
      <p:sp>
        <p:nvSpPr>
          <p:cNvPr id="3" name="Shape 1"/>
          <p:cNvSpPr/>
          <p:nvPr/>
        </p:nvSpPr>
        <p:spPr>
          <a:xfrm>
            <a:off x="661475" y="2175669"/>
            <a:ext cx="10868745" cy="1890117"/>
          </a:xfrm>
          <a:prstGeom prst="roundRect">
            <a:avLst>
              <a:gd name="adj" fmla="val 4200"/>
            </a:avLst>
          </a:prstGeom>
          <a:solidFill>
            <a:srgbClr val="F2F2F2"/>
          </a:solidFill>
          <a:ln/>
        </p:spPr>
      </p:sp>
      <p:sp>
        <p:nvSpPr>
          <p:cNvPr id="4" name="Text 2"/>
          <p:cNvSpPr/>
          <p:nvPr/>
        </p:nvSpPr>
        <p:spPr>
          <a:xfrm>
            <a:off x="888283" y="2364680"/>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documents   8</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chunks      56</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shortest    76 characters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longest     608 characters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average     267 characters</a:t>
            </a:r>
            <a:endParaRPr lang="en-US" sz="1450" dirty="0"/>
          </a:p>
        </p:txBody>
      </p:sp>
      <p:sp>
        <p:nvSpPr>
          <p:cNvPr id="5" name="Text 3"/>
          <p:cNvSpPr/>
          <p:nvPr/>
        </p:nvSpPr>
        <p:spPr>
          <a:xfrm>
            <a:off x="661475" y="4372868"/>
            <a:ext cx="3465426" cy="623788"/>
          </a:xfrm>
          <a:prstGeom prst="rect">
            <a:avLst/>
          </a:prstGeom>
          <a:noFill/>
          <a:ln/>
        </p:spPr>
        <p:txBody>
          <a:bodyPr wrap="none" lIns="0" tIns="0" rIns="0" bIns="0" rtlCol="0" anchor="t"/>
          <a:lstStyle/>
          <a:p>
            <a:pPr algn="ctr" indent="0" marL="0">
              <a:lnSpc>
                <a:spcPct val="83000"/>
              </a:lnSpc>
              <a:buNone/>
            </a:pPr>
            <a:r>
              <a:rPr lang="en-US" sz="4900" b="1" dirty="0">
                <a:solidFill>
                  <a:srgbClr val="1C1C1C"/>
                </a:solidFill>
                <a:latin typeface="Orbitron Bold" pitchFamily="34" charset="0"/>
                <a:ea typeface="Orbitron Bold" pitchFamily="34" charset="-122"/>
                <a:cs typeface="Orbitron Bold" pitchFamily="34" charset="-120"/>
              </a:rPr>
              <a:t>8</a:t>
            </a:r>
            <a:endParaRPr lang="en-US" sz="4900" dirty="0"/>
          </a:p>
        </p:txBody>
      </p:sp>
      <p:sp>
        <p:nvSpPr>
          <p:cNvPr id="6" name="Text 4"/>
          <p:cNvSpPr/>
          <p:nvPr/>
        </p:nvSpPr>
        <p:spPr>
          <a:xfrm>
            <a:off x="661475" y="5232797"/>
            <a:ext cx="3465426" cy="295275"/>
          </a:xfrm>
          <a:prstGeom prst="rect">
            <a:avLst/>
          </a:prstGeom>
          <a:noFill/>
          <a:ln/>
        </p:spPr>
        <p:txBody>
          <a:bodyPr wrap="none" lIns="0" tIns="0" rIns="0" bIns="0" rtlCol="0" anchor="t"/>
          <a:lstStyle/>
          <a:p>
            <a:pPr algn="ctr"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Documents</a:t>
            </a:r>
            <a:endParaRPr lang="en-US" sz="1850" dirty="0"/>
          </a:p>
        </p:txBody>
      </p:sp>
      <p:sp>
        <p:nvSpPr>
          <p:cNvPr id="7" name="Text 5"/>
          <p:cNvSpPr/>
          <p:nvPr/>
        </p:nvSpPr>
        <p:spPr>
          <a:xfrm>
            <a:off x="4363135" y="4372868"/>
            <a:ext cx="3465426" cy="623788"/>
          </a:xfrm>
          <a:prstGeom prst="rect">
            <a:avLst/>
          </a:prstGeom>
          <a:noFill/>
          <a:ln/>
        </p:spPr>
        <p:txBody>
          <a:bodyPr wrap="none" lIns="0" tIns="0" rIns="0" bIns="0" rtlCol="0" anchor="t"/>
          <a:lstStyle/>
          <a:p>
            <a:pPr algn="ctr" indent="0" marL="0">
              <a:lnSpc>
                <a:spcPct val="83000"/>
              </a:lnSpc>
              <a:buNone/>
            </a:pPr>
            <a:r>
              <a:rPr lang="en-US" sz="4900" b="1" dirty="0">
                <a:solidFill>
                  <a:srgbClr val="1C1C1C"/>
                </a:solidFill>
                <a:latin typeface="Orbitron Bold" pitchFamily="34" charset="0"/>
                <a:ea typeface="Orbitron Bold" pitchFamily="34" charset="-122"/>
                <a:cs typeface="Orbitron Bold" pitchFamily="34" charset="-120"/>
              </a:rPr>
              <a:t>56</a:t>
            </a:r>
            <a:endParaRPr lang="en-US" sz="4900" dirty="0"/>
          </a:p>
        </p:txBody>
      </p:sp>
      <p:sp>
        <p:nvSpPr>
          <p:cNvPr id="8" name="Text 6"/>
          <p:cNvSpPr/>
          <p:nvPr/>
        </p:nvSpPr>
        <p:spPr>
          <a:xfrm>
            <a:off x="4363135" y="5232797"/>
            <a:ext cx="3465426" cy="295275"/>
          </a:xfrm>
          <a:prstGeom prst="rect">
            <a:avLst/>
          </a:prstGeom>
          <a:noFill/>
          <a:ln/>
        </p:spPr>
        <p:txBody>
          <a:bodyPr wrap="none" lIns="0" tIns="0" rIns="0" bIns="0" rtlCol="0" anchor="t"/>
          <a:lstStyle/>
          <a:p>
            <a:pPr algn="ctr"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Chunks</a:t>
            </a:r>
            <a:endParaRPr lang="en-US" sz="1850" dirty="0"/>
          </a:p>
        </p:txBody>
      </p:sp>
      <p:sp>
        <p:nvSpPr>
          <p:cNvPr id="9" name="Text 7"/>
          <p:cNvSpPr/>
          <p:nvPr/>
        </p:nvSpPr>
        <p:spPr>
          <a:xfrm>
            <a:off x="8064794" y="4372868"/>
            <a:ext cx="3465426" cy="623788"/>
          </a:xfrm>
          <a:prstGeom prst="rect">
            <a:avLst/>
          </a:prstGeom>
          <a:noFill/>
          <a:ln/>
        </p:spPr>
        <p:txBody>
          <a:bodyPr wrap="none" lIns="0" tIns="0" rIns="0" bIns="0" rtlCol="0" anchor="t"/>
          <a:lstStyle/>
          <a:p>
            <a:pPr algn="ctr" indent="0" marL="0">
              <a:lnSpc>
                <a:spcPct val="83000"/>
              </a:lnSpc>
              <a:buNone/>
            </a:pPr>
            <a:r>
              <a:rPr lang="en-US" sz="4900" b="1" dirty="0">
                <a:solidFill>
                  <a:srgbClr val="1C1C1C"/>
                </a:solidFill>
                <a:latin typeface="Orbitron Bold" pitchFamily="34" charset="0"/>
                <a:ea typeface="Orbitron Bold" pitchFamily="34" charset="-122"/>
                <a:cs typeface="Orbitron Bold" pitchFamily="34" charset="-120"/>
              </a:rPr>
              <a:t>267</a:t>
            </a:r>
            <a:endParaRPr lang="en-US" sz="4900" dirty="0"/>
          </a:p>
        </p:txBody>
      </p:sp>
      <p:sp>
        <p:nvSpPr>
          <p:cNvPr id="10" name="Text 8"/>
          <p:cNvSpPr/>
          <p:nvPr/>
        </p:nvSpPr>
        <p:spPr>
          <a:xfrm>
            <a:off x="8064794" y="5232797"/>
            <a:ext cx="3465426" cy="295275"/>
          </a:xfrm>
          <a:prstGeom prst="rect">
            <a:avLst/>
          </a:prstGeom>
          <a:noFill/>
          <a:ln/>
        </p:spPr>
        <p:txBody>
          <a:bodyPr wrap="none" lIns="0" tIns="0" rIns="0" bIns="0" rtlCol="0" anchor="t"/>
          <a:lstStyle/>
          <a:p>
            <a:pPr algn="ctr"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Avg Characters</a:t>
            </a:r>
            <a:endParaRPr lang="en-US" sz="1850" dirty="0"/>
          </a:p>
        </p:txBody>
      </p:sp>
      <p:sp>
        <p:nvSpPr>
          <p:cNvPr id="11"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136676"/>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Now turn the lever</a:t>
            </a:r>
            <a:endParaRPr lang="en-US" sz="3700" dirty="0"/>
          </a:p>
        </p:txBody>
      </p:sp>
      <p:sp>
        <p:nvSpPr>
          <p:cNvPr id="4" name="Shape 1"/>
          <p:cNvSpPr/>
          <p:nvPr/>
        </p:nvSpPr>
        <p:spPr>
          <a:xfrm>
            <a:off x="661475" y="3010793"/>
            <a:ext cx="6296860" cy="1587698"/>
          </a:xfrm>
          <a:prstGeom prst="roundRect">
            <a:avLst>
              <a:gd name="adj" fmla="val 5000"/>
            </a:avLst>
          </a:prstGeom>
          <a:solidFill>
            <a:srgbClr val="F2F2F2"/>
          </a:solidFill>
          <a:ln/>
        </p:spPr>
      </p:sp>
      <p:sp>
        <p:nvSpPr>
          <p:cNvPr id="5" name="Text 2"/>
          <p:cNvSpPr/>
          <p:nvPr/>
        </p:nvSpPr>
        <p:spPr>
          <a:xfrm>
            <a:off x="888283" y="3199805"/>
            <a:ext cx="5843243"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--max-characters 900  --overlap 120     56 chunks</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--max-characters 250  --overlap 30      79 chunks</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--no-headings                           22 chunks</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--max-characters 5000 --overlap 0       56 chunks</a:t>
            </a:r>
            <a:endParaRPr lang="en-US" sz="1450" dirty="0"/>
          </a:p>
        </p:txBody>
      </p:sp>
      <p:sp>
        <p:nvSpPr>
          <p:cNvPr id="6"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08708"/>
            <a:ext cx="6913390" cy="3917652"/>
          </a:xfrm>
          <a:prstGeom prst="rect">
            <a:avLst/>
          </a:prstGeom>
        </p:spPr>
      </p:pic>
      <p:sp>
        <p:nvSpPr>
          <p:cNvPr id="3" name="Text 0"/>
          <p:cNvSpPr/>
          <p:nvPr/>
        </p:nvSpPr>
        <p:spPr>
          <a:xfrm>
            <a:off x="8013400" y="712391"/>
            <a:ext cx="3523070" cy="1661220"/>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111111"/>
                </a:solidFill>
                <a:latin typeface="Orbitron Bold" pitchFamily="34" charset="0"/>
                <a:ea typeface="Orbitron Bold" pitchFamily="34" charset="-122"/>
                <a:cs typeface="Orbitron Bold" pitchFamily="34" charset="-120"/>
              </a:rPr>
              <a:t>A parameter you did not measure</a:t>
            </a:r>
            <a:endParaRPr lang="en-US" sz="34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13400" y="2560439"/>
            <a:ext cx="3523070" cy="941784"/>
          </a:xfrm>
          <a:prstGeom prst="rect">
            <a:avLst/>
          </a:prstGeom>
        </p:spPr>
      </p:pic>
      <p:sp>
        <p:nvSpPr>
          <p:cNvPr id="5" name="Text 1"/>
          <p:cNvSpPr/>
          <p:nvPr/>
        </p:nvSpPr>
        <p:spPr>
          <a:xfrm>
            <a:off x="8285848" y="2756694"/>
            <a:ext cx="3054373" cy="549275"/>
          </a:xfrm>
          <a:prstGeom prst="rect">
            <a:avLst/>
          </a:prstGeom>
          <a:noFill/>
          <a:ln/>
        </p:spPr>
        <p:txBody>
          <a:bodyPr wrap="square" lIns="0" tIns="0" rIns="0" bIns="0" rtlCol="0" anchor="t">
            <a:normAutofit/>
          </a:bodyPr>
          <a:lstStyle/>
          <a:p>
            <a:pPr algn="l" indent="0" marL="0">
              <a:lnSpc>
                <a:spcPct val="129000"/>
              </a:lnSpc>
              <a:buNone/>
            </a:pPr>
            <a:r>
              <a:rPr lang="en-US" sz="1350" dirty="0">
                <a:solidFill>
                  <a:srgbClr val="1C1C1C"/>
                </a:solidFill>
                <a:latin typeface="Roboto Condensed" pitchFamily="34" charset="0"/>
                <a:ea typeface="Roboto Condensed" pitchFamily="34" charset="-122"/>
                <a:cs typeface="Roboto Condensed" pitchFamily="34" charset="-120"/>
              </a:rPr>
              <a:t>Somebody will say 512 tokens with 64 overlap</a:t>
            </a:r>
            <a:endParaRPr lang="en-US" sz="13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13400" y="3668316"/>
            <a:ext cx="3523070" cy="667147"/>
          </a:xfrm>
          <a:prstGeom prst="rect">
            <a:avLst/>
          </a:prstGeom>
        </p:spPr>
      </p:pic>
      <p:sp>
        <p:nvSpPr>
          <p:cNvPr id="7" name="Text 2"/>
          <p:cNvSpPr/>
          <p:nvPr/>
        </p:nvSpPr>
        <p:spPr>
          <a:xfrm>
            <a:off x="8285848" y="3864570"/>
            <a:ext cx="3054373" cy="274638"/>
          </a:xfrm>
          <a:prstGeom prst="rect">
            <a:avLst/>
          </a:prstGeom>
          <a:noFill/>
          <a:ln/>
        </p:spPr>
        <p:txBody>
          <a:bodyPr wrap="none" lIns="0" tIns="0" rIns="0" bIns="0" rtlCol="0" anchor="t"/>
          <a:lstStyle/>
          <a:p>
            <a:pPr algn="l" indent="0" marL="0">
              <a:lnSpc>
                <a:spcPct val="129000"/>
              </a:lnSpc>
              <a:buNone/>
            </a:pPr>
            <a:r>
              <a:rPr lang="en-US" sz="1350" dirty="0">
                <a:solidFill>
                  <a:srgbClr val="1C1C1C"/>
                </a:solidFill>
                <a:latin typeface="Roboto Condensed" pitchFamily="34" charset="0"/>
                <a:ea typeface="Roboto Condensed" pitchFamily="34" charset="-122"/>
                <a:cs typeface="Roboto Condensed" pitchFamily="34" charset="-120"/>
              </a:rPr>
              <a:t>They will call it the industry standard</a:t>
            </a:r>
            <a:endParaRPr lang="en-US" sz="13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13400" y="4501555"/>
            <a:ext cx="3523070" cy="667147"/>
          </a:xfrm>
          <a:prstGeom prst="rect">
            <a:avLst/>
          </a:prstGeom>
        </p:spPr>
      </p:pic>
      <p:sp>
        <p:nvSpPr>
          <p:cNvPr id="9" name="Text 3"/>
          <p:cNvSpPr/>
          <p:nvPr/>
        </p:nvSpPr>
        <p:spPr>
          <a:xfrm>
            <a:off x="8285848" y="4697809"/>
            <a:ext cx="3054373" cy="274638"/>
          </a:xfrm>
          <a:prstGeom prst="rect">
            <a:avLst/>
          </a:prstGeom>
          <a:noFill/>
          <a:ln/>
        </p:spPr>
        <p:txBody>
          <a:bodyPr wrap="none" lIns="0" tIns="0" rIns="0" bIns="0" rtlCol="0" anchor="t"/>
          <a:lstStyle/>
          <a:p>
            <a:pPr algn="l" indent="0" marL="0">
              <a:lnSpc>
                <a:spcPct val="129000"/>
              </a:lnSpc>
              <a:buNone/>
            </a:pPr>
            <a:r>
              <a:rPr lang="en-US" sz="1350" dirty="0">
                <a:solidFill>
                  <a:srgbClr val="1C1C1C"/>
                </a:solidFill>
                <a:latin typeface="Roboto Condensed" pitchFamily="34" charset="0"/>
                <a:ea typeface="Roboto Condensed" pitchFamily="34" charset="-122"/>
                <a:cs typeface="Roboto Condensed" pitchFamily="34" charset="-120"/>
              </a:rPr>
              <a:t>Ask what it does to your documents</a:t>
            </a:r>
            <a:endParaRPr lang="en-US" sz="13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13400" y="5334794"/>
            <a:ext cx="3523070" cy="667147"/>
          </a:xfrm>
          <a:prstGeom prst="rect">
            <a:avLst/>
          </a:prstGeom>
        </p:spPr>
      </p:pic>
      <p:sp>
        <p:nvSpPr>
          <p:cNvPr id="11" name="Text 4"/>
          <p:cNvSpPr/>
          <p:nvPr/>
        </p:nvSpPr>
        <p:spPr>
          <a:xfrm>
            <a:off x="8285848" y="5531048"/>
            <a:ext cx="3054373" cy="274638"/>
          </a:xfrm>
          <a:prstGeom prst="rect">
            <a:avLst/>
          </a:prstGeom>
          <a:noFill/>
          <a:ln/>
        </p:spPr>
        <p:txBody>
          <a:bodyPr wrap="none" lIns="0" tIns="0" rIns="0" bIns="0" rtlCol="0" anchor="t"/>
          <a:lstStyle/>
          <a:p>
            <a:pPr algn="l" indent="0" marL="0">
              <a:lnSpc>
                <a:spcPct val="129000"/>
              </a:lnSpc>
              <a:buNone/>
            </a:pPr>
            <a:r>
              <a:rPr lang="en-US" sz="1350" dirty="0">
                <a:solidFill>
                  <a:srgbClr val="1C1C1C"/>
                </a:solidFill>
                <a:latin typeface="Roboto Condensed" pitchFamily="34" charset="0"/>
                <a:ea typeface="Roboto Condensed" pitchFamily="34" charset="-122"/>
                <a:cs typeface="Roboto Condensed" pitchFamily="34" charset="-120"/>
              </a:rPr>
              <a:t>Finding out takes one command</a:t>
            </a:r>
            <a:endParaRPr lang="en-US" sz="13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629642"/>
            <a:ext cx="6296860" cy="553740"/>
          </a:xfrm>
          <a:prstGeom prst="rect">
            <a:avLst/>
          </a:prstGeom>
          <a:noFill/>
          <a:ln/>
        </p:spPr>
        <p:txBody>
          <a:bodyPr wrap="none" lIns="0" tIns="0" rIns="0" bIns="0" rtlCol="0" anchor="t"/>
          <a:lstStyle/>
          <a:p>
            <a:pPr algn="l" indent="0" marL="0">
              <a:lnSpc>
                <a:spcPct val="104000"/>
              </a:lnSpc>
              <a:buNone/>
            </a:pPr>
            <a:r>
              <a:rPr lang="en-US" sz="3450" b="1" dirty="0">
                <a:solidFill>
                  <a:srgbClr val="111111"/>
                </a:solidFill>
                <a:latin typeface="Orbitron Bold" pitchFamily="34" charset="0"/>
                <a:ea typeface="Orbitron Bold" pitchFamily="34" charset="-122"/>
                <a:cs typeface="Orbitron Bold" pitchFamily="34" charset="-120"/>
              </a:rPr>
              <a:t>Here is a rule with a cost</a:t>
            </a:r>
            <a:endParaRPr lang="en-US" sz="3450" dirty="0"/>
          </a:p>
        </p:txBody>
      </p:sp>
      <p:sp>
        <p:nvSpPr>
          <p:cNvPr id="4" name="Shape 1"/>
          <p:cNvSpPr/>
          <p:nvPr/>
        </p:nvSpPr>
        <p:spPr>
          <a:xfrm>
            <a:off x="5233360" y="1432520"/>
            <a:ext cx="6296860" cy="1043682"/>
          </a:xfrm>
          <a:prstGeom prst="roundRect">
            <a:avLst>
              <a:gd name="adj" fmla="val 7131"/>
            </a:avLst>
          </a:prstGeom>
          <a:solidFill>
            <a:srgbClr val="D1E5FA"/>
          </a:solidFill>
          <a:ln w="19050">
            <a:solidFill>
              <a:srgbClr val="B7CBE0"/>
            </a:solidFill>
            <a:prstDash val="solid"/>
          </a:ln>
        </p:spPr>
      </p:sp>
      <p:sp>
        <p:nvSpPr>
          <p:cNvPr id="5" name="Text 2"/>
          <p:cNvSpPr/>
          <p:nvPr/>
        </p:nvSpPr>
        <p:spPr>
          <a:xfrm>
            <a:off x="5429610" y="1628775"/>
            <a:ext cx="590436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Loan length</a:t>
            </a:r>
            <a:endParaRPr lang="en-US" sz="1700" dirty="0"/>
          </a:p>
        </p:txBody>
      </p:sp>
      <p:sp>
        <p:nvSpPr>
          <p:cNvPr id="6" name="Text 3"/>
          <p:cNvSpPr/>
          <p:nvPr/>
        </p:nvSpPr>
        <p:spPr>
          <a:xfrm>
            <a:off x="5429610" y="2005310"/>
            <a:ext cx="5904360" cy="274638"/>
          </a:xfrm>
          <a:prstGeom prst="rect">
            <a:avLst/>
          </a:prstGeom>
          <a:noFill/>
          <a:ln/>
        </p:spPr>
        <p:txBody>
          <a:bodyPr wrap="none" lIns="0" tIns="0" rIns="0" bIns="0" rtlCol="0" anchor="t"/>
          <a:lstStyle/>
          <a:p>
            <a:pPr algn="l" indent="0" marL="0">
              <a:lnSpc>
                <a:spcPct val="129000"/>
              </a:lnSpc>
              <a:buNone/>
            </a:pPr>
            <a:r>
              <a:rPr lang="en-US" sz="1350" dirty="0">
                <a:solidFill>
                  <a:srgbClr val="1C1C1C"/>
                </a:solidFill>
                <a:latin typeface="Roboto Condensed" pitchFamily="34" charset="0"/>
                <a:ea typeface="Roboto Condensed" pitchFamily="34" charset="-122"/>
                <a:cs typeface="Roboto Condensed" pitchFamily="34" charset="-120"/>
              </a:rPr>
              <a:t>A thirty two character section</a:t>
            </a:r>
            <a:endParaRPr lang="en-US" sz="1350" dirty="0"/>
          </a:p>
        </p:txBody>
      </p:sp>
      <p:sp>
        <p:nvSpPr>
          <p:cNvPr id="7" name="Shape 4"/>
          <p:cNvSpPr/>
          <p:nvPr/>
        </p:nvSpPr>
        <p:spPr>
          <a:xfrm>
            <a:off x="5233360" y="2642295"/>
            <a:ext cx="6296860" cy="1043682"/>
          </a:xfrm>
          <a:prstGeom prst="roundRect">
            <a:avLst>
              <a:gd name="adj" fmla="val 7131"/>
            </a:avLst>
          </a:prstGeom>
          <a:solidFill>
            <a:srgbClr val="D1E5FA"/>
          </a:solidFill>
          <a:ln w="19050">
            <a:solidFill>
              <a:srgbClr val="B7CBE0"/>
            </a:solidFill>
            <a:prstDash val="solid"/>
          </a:ln>
        </p:spPr>
      </p:sp>
      <p:sp>
        <p:nvSpPr>
          <p:cNvPr id="8" name="Text 5"/>
          <p:cNvSpPr/>
          <p:nvPr/>
        </p:nvSpPr>
        <p:spPr>
          <a:xfrm>
            <a:off x="5429610" y="2838549"/>
            <a:ext cx="590436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Too short</a:t>
            </a:r>
            <a:endParaRPr lang="en-US" sz="1700" dirty="0"/>
          </a:p>
        </p:txBody>
      </p:sp>
      <p:sp>
        <p:nvSpPr>
          <p:cNvPr id="9" name="Text 6"/>
          <p:cNvSpPr/>
          <p:nvPr/>
        </p:nvSpPr>
        <p:spPr>
          <a:xfrm>
            <a:off x="5429610" y="3215084"/>
            <a:ext cx="5904360" cy="274638"/>
          </a:xfrm>
          <a:prstGeom prst="rect">
            <a:avLst/>
          </a:prstGeom>
          <a:noFill/>
          <a:ln/>
        </p:spPr>
        <p:txBody>
          <a:bodyPr wrap="none" lIns="0" tIns="0" rIns="0" bIns="0" rtlCol="0" anchor="t"/>
          <a:lstStyle/>
          <a:p>
            <a:pPr algn="l" indent="0" marL="0">
              <a:lnSpc>
                <a:spcPct val="129000"/>
              </a:lnSpc>
              <a:buNone/>
            </a:pPr>
            <a:r>
              <a:rPr lang="en-US" sz="1350" dirty="0">
                <a:solidFill>
                  <a:srgbClr val="1C1C1C"/>
                </a:solidFill>
                <a:latin typeface="Roboto Condensed" pitchFamily="34" charset="0"/>
                <a:ea typeface="Roboto Condensed" pitchFamily="34" charset="-122"/>
                <a:cs typeface="Roboto Condensed" pitchFamily="34" charset="-120"/>
              </a:rPr>
              <a:t>Too short to stand alone</a:t>
            </a:r>
            <a:endParaRPr lang="en-US" sz="1350" dirty="0"/>
          </a:p>
        </p:txBody>
      </p:sp>
      <p:sp>
        <p:nvSpPr>
          <p:cNvPr id="10" name="Shape 7"/>
          <p:cNvSpPr/>
          <p:nvPr/>
        </p:nvSpPr>
        <p:spPr>
          <a:xfrm>
            <a:off x="5233360" y="3852069"/>
            <a:ext cx="6296860" cy="1043682"/>
          </a:xfrm>
          <a:prstGeom prst="roundRect">
            <a:avLst>
              <a:gd name="adj" fmla="val 7131"/>
            </a:avLst>
          </a:prstGeom>
          <a:solidFill>
            <a:srgbClr val="D1E5FA"/>
          </a:solidFill>
          <a:ln w="19050">
            <a:solidFill>
              <a:srgbClr val="B7CBE0"/>
            </a:solidFill>
            <a:prstDash val="solid"/>
          </a:ln>
        </p:spPr>
      </p:sp>
      <p:sp>
        <p:nvSpPr>
          <p:cNvPr id="11" name="Text 8"/>
          <p:cNvSpPr/>
          <p:nvPr/>
        </p:nvSpPr>
        <p:spPr>
          <a:xfrm>
            <a:off x="5429610" y="4048323"/>
            <a:ext cx="590436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Attaches</a:t>
            </a:r>
            <a:endParaRPr lang="en-US" sz="1700" dirty="0"/>
          </a:p>
        </p:txBody>
      </p:sp>
      <p:sp>
        <p:nvSpPr>
          <p:cNvPr id="12" name="Text 9"/>
          <p:cNvSpPr/>
          <p:nvPr/>
        </p:nvSpPr>
        <p:spPr>
          <a:xfrm>
            <a:off x="5429610" y="4424859"/>
            <a:ext cx="5904360" cy="274638"/>
          </a:xfrm>
          <a:prstGeom prst="rect">
            <a:avLst/>
          </a:prstGeom>
          <a:noFill/>
          <a:ln/>
        </p:spPr>
        <p:txBody>
          <a:bodyPr wrap="none" lIns="0" tIns="0" rIns="0" bIns="0" rtlCol="0" anchor="t"/>
          <a:lstStyle/>
          <a:p>
            <a:pPr algn="l" indent="0" marL="0">
              <a:lnSpc>
                <a:spcPct val="129000"/>
              </a:lnSpc>
              <a:buNone/>
            </a:pPr>
            <a:r>
              <a:rPr lang="en-US" sz="1350" dirty="0">
                <a:solidFill>
                  <a:srgbClr val="1C1C1C"/>
                </a:solidFill>
                <a:latin typeface="Roboto Condensed" pitchFamily="34" charset="0"/>
                <a:ea typeface="Roboto Condensed" pitchFamily="34" charset="-122"/>
                <a:cs typeface="Roboto Condensed" pitchFamily="34" charset="-120"/>
              </a:rPr>
              <a:t>So it attaches to the chunk before it</a:t>
            </a:r>
            <a:endParaRPr lang="en-US" sz="1350" dirty="0"/>
          </a:p>
        </p:txBody>
      </p:sp>
      <p:sp>
        <p:nvSpPr>
          <p:cNvPr id="13" name="Shape 10"/>
          <p:cNvSpPr/>
          <p:nvPr/>
        </p:nvSpPr>
        <p:spPr>
          <a:xfrm>
            <a:off x="5233360" y="5061843"/>
            <a:ext cx="6296860" cy="1043682"/>
          </a:xfrm>
          <a:prstGeom prst="roundRect">
            <a:avLst>
              <a:gd name="adj" fmla="val 7131"/>
            </a:avLst>
          </a:prstGeom>
          <a:solidFill>
            <a:srgbClr val="D1E5FA"/>
          </a:solidFill>
          <a:ln w="19050">
            <a:solidFill>
              <a:srgbClr val="B7CBE0"/>
            </a:solidFill>
            <a:prstDash val="solid"/>
          </a:ln>
        </p:spPr>
      </p:sp>
      <p:sp>
        <p:nvSpPr>
          <p:cNvPr id="14" name="Text 11"/>
          <p:cNvSpPr/>
          <p:nvPr/>
        </p:nvSpPr>
        <p:spPr>
          <a:xfrm>
            <a:off x="5429610" y="5258098"/>
            <a:ext cx="590436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Which is</a:t>
            </a:r>
            <a:endParaRPr lang="en-US" sz="1700" dirty="0"/>
          </a:p>
        </p:txBody>
      </p:sp>
      <p:sp>
        <p:nvSpPr>
          <p:cNvPr id="15" name="Text 12"/>
          <p:cNvSpPr/>
          <p:nvPr/>
        </p:nvSpPr>
        <p:spPr>
          <a:xfrm>
            <a:off x="5429610" y="5634633"/>
            <a:ext cx="5904360" cy="274638"/>
          </a:xfrm>
          <a:prstGeom prst="rect">
            <a:avLst/>
          </a:prstGeom>
          <a:noFill/>
          <a:ln/>
        </p:spPr>
        <p:txBody>
          <a:bodyPr wrap="none" lIns="0" tIns="0" rIns="0" bIns="0" rtlCol="0" anchor="t"/>
          <a:lstStyle/>
          <a:p>
            <a:pPr algn="l" indent="0" marL="0">
              <a:lnSpc>
                <a:spcPct val="129000"/>
              </a:lnSpc>
              <a:buNone/>
            </a:pPr>
            <a:r>
              <a:rPr lang="en-US" sz="1350" dirty="0">
                <a:solidFill>
                  <a:srgbClr val="1C1C1C"/>
                </a:solidFill>
                <a:latin typeface="Roboto Condensed" pitchFamily="34" charset="0"/>
                <a:ea typeface="Roboto Condensed" pitchFamily="34" charset="-122"/>
                <a:cs typeface="Roboto Condensed" pitchFamily="34" charset="-120"/>
              </a:rPr>
              <a:t>Which is about contents cards</a:t>
            </a:r>
            <a:endParaRPr lang="en-US" sz="135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224055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a chunk has to carry</a:t>
            </a:r>
            <a:endParaRPr lang="en-US" sz="3700" dirty="0"/>
          </a:p>
        </p:txBody>
      </p:sp>
      <p:sp>
        <p:nvSpPr>
          <p:cNvPr id="3" name="Shape 1"/>
          <p:cNvSpPr/>
          <p:nvPr/>
        </p:nvSpPr>
        <p:spPr>
          <a:xfrm>
            <a:off x="661475" y="3209230"/>
            <a:ext cx="10868745" cy="1285280"/>
          </a:xfrm>
          <a:prstGeom prst="roundRect">
            <a:avLst>
              <a:gd name="adj" fmla="val 6177"/>
            </a:avLst>
          </a:prstGeom>
          <a:solidFill>
            <a:srgbClr val="F2F2F2"/>
          </a:solidFill>
          <a:ln/>
        </p:spPr>
      </p:sp>
      <p:sp>
        <p:nvSpPr>
          <p:cNvPr id="4" name="Text 2"/>
          <p:cNvSpPr/>
          <p:nvPr/>
        </p:nvSpPr>
        <p:spPr>
          <a:xfrm>
            <a:off x="888283" y="339824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{"doc_id": "05-media-kits.md", "heading": "Memory cards",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"ordinal": 3, "char_start": 717, "char_end": 925,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"text": "05-media-kits.md . Memory cards\n\nThe card in the kit is a lab card. ..."}</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239176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four line version, and its output</a:t>
            </a:r>
            <a:endParaRPr lang="en-US" sz="3700" dirty="0"/>
          </a:p>
        </p:txBody>
      </p:sp>
      <p:sp>
        <p:nvSpPr>
          <p:cNvPr id="3" name="Shape 1"/>
          <p:cNvSpPr/>
          <p:nvPr/>
        </p:nvSpPr>
        <p:spPr>
          <a:xfrm>
            <a:off x="661475" y="3360440"/>
            <a:ext cx="10868745" cy="982861"/>
          </a:xfrm>
          <a:prstGeom prst="roundRect">
            <a:avLst>
              <a:gd name="adj" fmla="val 8077"/>
            </a:avLst>
          </a:prstGeom>
          <a:solidFill>
            <a:srgbClr val="F2F2F2"/>
          </a:solidFill>
          <a:ln/>
        </p:spPr>
      </p:sp>
      <p:sp>
        <p:nvSpPr>
          <p:cNvPr id="4" name="Text 2"/>
          <p:cNvSpPr/>
          <p:nvPr/>
        </p:nvSpPr>
        <p:spPr>
          <a:xfrm>
            <a:off x="888283" y="354945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0 '# Ridge Creek Makerspace: Loan Policy\n\nInvented sample docum'</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2 'ut.\n\n## Late items\n\nAn item is late when the current date is'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8122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661475" y="2045990"/>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5" name="Shape 2"/>
          <p:cNvSpPr/>
          <p:nvPr/>
        </p:nvSpPr>
        <p:spPr>
          <a:xfrm>
            <a:off x="661475" y="2341860"/>
            <a:ext cx="6296860" cy="25400"/>
          </a:xfrm>
          <a:prstGeom prst="rect">
            <a:avLst/>
          </a:prstGeom>
          <a:solidFill>
            <a:srgbClr val="57A1EB"/>
          </a:solidFill>
          <a:ln/>
        </p:spPr>
      </p:sp>
      <p:sp>
        <p:nvSpPr>
          <p:cNvPr id="6" name="Text 3"/>
          <p:cNvSpPr/>
          <p:nvPr/>
        </p:nvSpPr>
        <p:spPr>
          <a:xfrm>
            <a:off x="661475" y="2487116"/>
            <a:ext cx="629686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Part one of lab M04-05, no model needed today</a:t>
            </a:r>
            <a:endParaRPr lang="en-US" sz="1450" dirty="0"/>
          </a:p>
        </p:txBody>
      </p:sp>
      <p:sp>
        <p:nvSpPr>
          <p:cNvPr id="7" name="Text 4"/>
          <p:cNvSpPr/>
          <p:nvPr/>
        </p:nvSpPr>
        <p:spPr>
          <a:xfrm>
            <a:off x="661475" y="3120231"/>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5"/>
          <p:cNvSpPr/>
          <p:nvPr/>
        </p:nvSpPr>
        <p:spPr>
          <a:xfrm>
            <a:off x="661475" y="3416102"/>
            <a:ext cx="6296860" cy="25400"/>
          </a:xfrm>
          <a:prstGeom prst="rect">
            <a:avLst/>
          </a:prstGeom>
          <a:solidFill>
            <a:srgbClr val="57A1EB"/>
          </a:solidFill>
          <a:ln/>
        </p:spPr>
      </p:sp>
      <p:sp>
        <p:nvSpPr>
          <p:cNvPr id="9" name="Text 6"/>
          <p:cNvSpPr/>
          <p:nvPr/>
        </p:nvSpPr>
        <p:spPr>
          <a:xfrm>
            <a:off x="661475" y="3561358"/>
            <a:ext cx="629686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Write chunk_text, then read your own chunks</a:t>
            </a:r>
            <a:endParaRPr lang="en-US" sz="1450" dirty="0"/>
          </a:p>
        </p:txBody>
      </p:sp>
      <p:sp>
        <p:nvSpPr>
          <p:cNvPr id="10" name="Text 7"/>
          <p:cNvSpPr/>
          <p:nvPr/>
        </p:nvSpPr>
        <p:spPr>
          <a:xfrm>
            <a:off x="661475" y="419447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1" name="Shape 8"/>
          <p:cNvSpPr/>
          <p:nvPr/>
        </p:nvSpPr>
        <p:spPr>
          <a:xfrm>
            <a:off x="661475" y="4490343"/>
            <a:ext cx="6296860" cy="25400"/>
          </a:xfrm>
          <a:prstGeom prst="rect">
            <a:avLst/>
          </a:prstGeom>
          <a:solidFill>
            <a:srgbClr val="57A1EB"/>
          </a:solidFill>
          <a:ln/>
        </p:spPr>
      </p:sp>
      <p:sp>
        <p:nvSpPr>
          <p:cNvPr id="12" name="Text 9"/>
          <p:cNvSpPr/>
          <p:nvPr/>
        </p:nvSpPr>
        <p:spPr>
          <a:xfrm>
            <a:off x="661475" y="4635599"/>
            <a:ext cx="629686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Run three settings and find the lever that matters</a:t>
            </a:r>
            <a:endParaRPr lang="en-US" sz="1450" dirty="0"/>
          </a:p>
        </p:txBody>
      </p:sp>
      <p:sp>
        <p:nvSpPr>
          <p:cNvPr id="13" name="Text 10"/>
          <p:cNvSpPr/>
          <p:nvPr/>
        </p:nvSpPr>
        <p:spPr>
          <a:xfrm>
            <a:off x="661475" y="5268714"/>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4" name="Shape 11"/>
          <p:cNvSpPr/>
          <p:nvPr/>
        </p:nvSpPr>
        <p:spPr>
          <a:xfrm>
            <a:off x="661475" y="5564584"/>
            <a:ext cx="6296860" cy="25400"/>
          </a:xfrm>
          <a:prstGeom prst="rect">
            <a:avLst/>
          </a:prstGeom>
          <a:solidFill>
            <a:srgbClr val="57A1EB"/>
          </a:solidFill>
          <a:ln/>
        </p:spPr>
      </p:sp>
      <p:sp>
        <p:nvSpPr>
          <p:cNvPr id="15" name="Text 12"/>
          <p:cNvSpPr/>
          <p:nvPr/>
        </p:nvSpPr>
        <p:spPr>
          <a:xfrm>
            <a:off x="661475" y="5709841"/>
            <a:ext cx="629686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Then write down the boundary rule and why</a:t>
            </a:r>
            <a:endParaRPr lang="en-US" sz="145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2026-09-16T05:01:41Z</dcterms:created>
  <dcterms:modified xsi:type="dcterms:W3CDTF">2026-09-16T05:01:41Z</dcterms:modified>
</cp:coreProperties>
</file>