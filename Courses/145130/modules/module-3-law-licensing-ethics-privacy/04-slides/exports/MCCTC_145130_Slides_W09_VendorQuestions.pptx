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 is not knowing the answer. The skill is knowing the questions, and knowing when you have been handed something that is not an answer. That second half is most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in order, and they are section eight of your assessment. The last one is the one people skip and it is the one that decides. A marketing page, a privacy policy, and a contract are three different documents, and only one of them is enforceable.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runs from the bottom of that list upward. A test you ran beats a document somebody wrote about what the software does. And you can ask for the agreement. People do not, because asking feels presumptuous, and it is the normal thing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those sentences is true and leaves a hole. And a fifth: we are FERPA compliant. FERPA obligations sit on the school. A vendor can help the school meet them or make it impossible, and a badge on a page is not a contractual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address is built from an f-string, so the literal never appears in the source. The scanner found the template, could not resolve it, and labelled both lines remote, which is the opposite of the truth. It did find one thing worth having: exactly one network call in the whole tree, which tells you where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know, and it took reading the file. Then the behavioural test: run it with an explicit port and the program prints its own address. Note the port. A real Ollama listens on 11434 and so do several stubs in this course, and a run against the wrong server looks exactly like a working run. This module uses 11634 and every command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failures, and none of them are lies. Every one of those sentences is probably true. They are answers to questions nobody asked, and the reason they work is that they arrive in the tone of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trigger, an actor, and two deadlines. Specificity is the signal, and it is a property you can check for without knowing anything about the vendor. Count the specifics in any answer you are handed.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vendor answering honestly and creating work for you. De-identified is a claim to be measured, which you proved yesterday with five records. An answer that raises a question is not a failure. The version that closes everything cleanly is the one to look at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time anybody asks, two classes have gradebooks in it and students have accounts. The cost of the answer being no has gone from zero to a week of everybody's time. The whole value of asking early is that no is still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vendor questions for your own assessment's workflow, plus the code scan and the adapter-off test on your own project. Build two is section eight, with UNKNOWN written honestly wherever you do not have an answer, and every UNKNOWN carried down to section eleven.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Questions You Ask Before Anything Touches Student Data</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will be the person who is asked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teacher asks in a hallway on a Tuesday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Everybody in the room wants the answer to be yes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are the only one who has read an agreement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in five years. This year</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693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nine questions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5339820" cy="1019373"/>
          </a:xfrm>
          <a:prstGeom prst="rect">
            <a:avLst/>
          </a:prstGeom>
        </p:spPr>
      </p:pic>
      <p:sp>
        <p:nvSpPr>
          <p:cNvPr id="4" name="Text 1"/>
          <p:cNvSpPr/>
          <p:nvPr/>
        </p:nvSpPr>
        <p:spPr>
          <a:xfrm>
            <a:off x="977479" y="2952452"/>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Where does it run, and does input leave the building</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738041"/>
            <a:ext cx="5339919" cy="1019373"/>
          </a:xfrm>
          <a:prstGeom prst="rect">
            <a:avLst/>
          </a:prstGeom>
        </p:spPr>
      </p:pic>
      <p:sp>
        <p:nvSpPr>
          <p:cNvPr id="6" name="Text 2"/>
          <p:cNvSpPr/>
          <p:nvPr/>
        </p:nvSpPr>
        <p:spPr>
          <a:xfrm>
            <a:off x="6506305" y="2952452"/>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Is input retained, by whom, for how long</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019373"/>
          </a:xfrm>
          <a:prstGeom prst="rect">
            <a:avLst/>
          </a:prstGeom>
        </p:spPr>
      </p:pic>
      <p:sp>
        <p:nvSpPr>
          <p:cNvPr id="8" name="Text 3"/>
          <p:cNvSpPr/>
          <p:nvPr/>
        </p:nvSpPr>
        <p:spPr>
          <a:xfrm>
            <a:off x="977479" y="4160838"/>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Is input used to train or improve anything</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019373"/>
          </a:xfrm>
          <a:prstGeom prst="rect">
            <a:avLst/>
          </a:prstGeom>
        </p:spPr>
      </p:pic>
      <p:sp>
        <p:nvSpPr>
          <p:cNvPr id="10" name="Text 4"/>
          <p:cNvSpPr/>
          <p:nvPr/>
        </p:nvSpPr>
        <p:spPr>
          <a:xfrm>
            <a:off x="6506305" y="4160838"/>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does the contract say when the page disagrees</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39849"/>
            <a:ext cx="6296860" cy="1052116"/>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Where the answers actually live</a:t>
            </a:r>
            <a:endParaRPr lang="en-US" sz="3300" dirty="0"/>
          </a:p>
        </p:txBody>
      </p:sp>
      <p:sp>
        <p:nvSpPr>
          <p:cNvPr id="4" name="Shape 1"/>
          <p:cNvSpPr/>
          <p:nvPr/>
        </p:nvSpPr>
        <p:spPr>
          <a:xfrm>
            <a:off x="5233360" y="1816795"/>
            <a:ext cx="6296860" cy="982166"/>
          </a:xfrm>
          <a:prstGeom prst="roundRect">
            <a:avLst>
              <a:gd name="adj" fmla="val 7199"/>
            </a:avLst>
          </a:prstGeom>
          <a:solidFill>
            <a:srgbClr val="D1E5FA"/>
          </a:solidFill>
          <a:ln w="19050">
            <a:solidFill>
              <a:srgbClr val="B7CBE0"/>
            </a:solidFill>
            <a:prstDash val="solid"/>
          </a:ln>
        </p:spPr>
      </p:sp>
      <p:sp>
        <p:nvSpPr>
          <p:cNvPr id="5" name="Text 2"/>
          <p:cNvSpPr/>
          <p:nvPr/>
        </p:nvSpPr>
        <p:spPr>
          <a:xfrm>
            <a:off x="5420681" y="2004120"/>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Marketing page</a:t>
            </a:r>
            <a:endParaRPr lang="en-US" sz="1650" dirty="0"/>
          </a:p>
        </p:txBody>
      </p:sp>
      <p:sp>
        <p:nvSpPr>
          <p:cNvPr id="6" name="Text 3"/>
          <p:cNvSpPr/>
          <p:nvPr/>
        </p:nvSpPr>
        <p:spPr>
          <a:xfrm>
            <a:off x="5420681" y="2357041"/>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What they want you to believe</a:t>
            </a:r>
            <a:endParaRPr lang="en-US" sz="1300" dirty="0"/>
          </a:p>
        </p:txBody>
      </p:sp>
      <p:sp>
        <p:nvSpPr>
          <p:cNvPr id="7" name="Shape 4"/>
          <p:cNvSpPr/>
          <p:nvPr/>
        </p:nvSpPr>
        <p:spPr>
          <a:xfrm>
            <a:off x="5233360" y="2948880"/>
            <a:ext cx="6296860" cy="982166"/>
          </a:xfrm>
          <a:prstGeom prst="roundRect">
            <a:avLst>
              <a:gd name="adj" fmla="val 7199"/>
            </a:avLst>
          </a:prstGeom>
          <a:solidFill>
            <a:srgbClr val="D1E5FA"/>
          </a:solidFill>
          <a:ln w="19050">
            <a:solidFill>
              <a:srgbClr val="B7CBE0"/>
            </a:solidFill>
            <a:prstDash val="solid"/>
          </a:ln>
        </p:spPr>
      </p:sp>
      <p:sp>
        <p:nvSpPr>
          <p:cNvPr id="8" name="Text 5"/>
          <p:cNvSpPr/>
          <p:nvPr/>
        </p:nvSpPr>
        <p:spPr>
          <a:xfrm>
            <a:off x="5420681" y="3136205"/>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Privacy policy</a:t>
            </a:r>
            <a:endParaRPr lang="en-US" sz="1650" dirty="0"/>
          </a:p>
        </p:txBody>
      </p:sp>
      <p:sp>
        <p:nvSpPr>
          <p:cNvPr id="9" name="Text 6"/>
          <p:cNvSpPr/>
          <p:nvPr/>
        </p:nvSpPr>
        <p:spPr>
          <a:xfrm>
            <a:off x="5420681" y="3489127"/>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Consumer promises, maybe not yours</a:t>
            </a:r>
            <a:endParaRPr lang="en-US" sz="1300" dirty="0"/>
          </a:p>
        </p:txBody>
      </p:sp>
      <p:sp>
        <p:nvSpPr>
          <p:cNvPr id="10" name="Shape 7"/>
          <p:cNvSpPr/>
          <p:nvPr/>
        </p:nvSpPr>
        <p:spPr>
          <a:xfrm>
            <a:off x="5233360" y="4080966"/>
            <a:ext cx="6296860" cy="982166"/>
          </a:xfrm>
          <a:prstGeom prst="roundRect">
            <a:avLst>
              <a:gd name="adj" fmla="val 7199"/>
            </a:avLst>
          </a:prstGeom>
          <a:solidFill>
            <a:srgbClr val="D1E5FA"/>
          </a:solidFill>
          <a:ln w="19050">
            <a:solidFill>
              <a:srgbClr val="B7CBE0"/>
            </a:solidFill>
            <a:prstDash val="solid"/>
          </a:ln>
        </p:spPr>
      </p:sp>
      <p:sp>
        <p:nvSpPr>
          <p:cNvPr id="11" name="Text 8"/>
          <p:cNvSpPr/>
          <p:nvPr/>
        </p:nvSpPr>
        <p:spPr>
          <a:xfrm>
            <a:off x="5420681" y="4268291"/>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Contract or DPA</a:t>
            </a:r>
            <a:endParaRPr lang="en-US" sz="1650" dirty="0"/>
          </a:p>
        </p:txBody>
      </p:sp>
      <p:sp>
        <p:nvSpPr>
          <p:cNvPr id="12" name="Text 9"/>
          <p:cNvSpPr/>
          <p:nvPr/>
        </p:nvSpPr>
        <p:spPr>
          <a:xfrm>
            <a:off x="5420681" y="4621212"/>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What governs</a:t>
            </a:r>
            <a:endParaRPr lang="en-US" sz="1300" dirty="0"/>
          </a:p>
        </p:txBody>
      </p:sp>
      <p:sp>
        <p:nvSpPr>
          <p:cNvPr id="13" name="Shape 10"/>
          <p:cNvSpPr/>
          <p:nvPr/>
        </p:nvSpPr>
        <p:spPr>
          <a:xfrm>
            <a:off x="5233360" y="5213052"/>
            <a:ext cx="6296860" cy="982166"/>
          </a:xfrm>
          <a:prstGeom prst="roundRect">
            <a:avLst>
              <a:gd name="adj" fmla="val 7199"/>
            </a:avLst>
          </a:prstGeom>
          <a:solidFill>
            <a:srgbClr val="D1E5FA"/>
          </a:solidFill>
          <a:ln w="19050">
            <a:solidFill>
              <a:srgbClr val="B7CBE0"/>
            </a:solidFill>
            <a:prstDash val="solid"/>
          </a:ln>
        </p:spPr>
      </p:sp>
      <p:sp>
        <p:nvSpPr>
          <p:cNvPr id="14" name="Text 11"/>
          <p:cNvSpPr/>
          <p:nvPr/>
        </p:nvSpPr>
        <p:spPr>
          <a:xfrm>
            <a:off x="5420681" y="5400377"/>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Your own test</a:t>
            </a:r>
            <a:endParaRPr lang="en-US" sz="1650" dirty="0"/>
          </a:p>
        </p:txBody>
      </p:sp>
      <p:sp>
        <p:nvSpPr>
          <p:cNvPr id="15" name="Text 12"/>
          <p:cNvSpPr/>
          <p:nvPr/>
        </p:nvSpPr>
        <p:spPr>
          <a:xfrm>
            <a:off x="5420681" y="5753298"/>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What actually happens</a:t>
            </a:r>
            <a:endParaRPr lang="en-US" sz="13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24470"/>
            <a:ext cx="10868745" cy="1126133"/>
          </a:xfrm>
          <a:prstGeom prst="rect">
            <a:avLst/>
          </a:prstGeom>
          <a:noFill/>
          <a:ln/>
        </p:spPr>
        <p:txBody>
          <a:bodyPr wrap="square" lIns="0" tIns="0" rIns="0" bIns="0" rtlCol="0" anchor="t">
            <a:normAutofit/>
          </a:bodyPr>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Five carve-outs that survive a good answer</a:t>
            </a:r>
            <a:endParaRPr lang="en-US" sz="3500" dirty="0"/>
          </a:p>
        </p:txBody>
      </p:sp>
      <p:pic>
        <p:nvPicPr>
          <p:cNvPr id="3" name="Image 0" descr="preencoded.png">    </p:cNvPr>
          <p:cNvPicPr>
            <a:picLocks noChangeAspect="1"/>
          </p:cNvPicPr>
          <p:nvPr/>
        </p:nvPicPr>
        <p:blipFill>
          <a:blip r:embed="rId1"/>
          <a:stretch>
            <a:fillRect/>
          </a:stretch>
        </p:blipFill>
        <p:spPr>
          <a:xfrm>
            <a:off x="661475" y="2101354"/>
            <a:ext cx="6910810" cy="3916164"/>
          </a:xfrm>
          <a:prstGeom prst="rect">
            <a:avLst/>
          </a:prstGeom>
        </p:spPr>
      </p:pic>
      <p:sp>
        <p:nvSpPr>
          <p:cNvPr id="4" name="Text 1"/>
          <p:cNvSpPr/>
          <p:nvPr/>
        </p:nvSpPr>
        <p:spPr>
          <a:xfrm>
            <a:off x="8018163" y="2890639"/>
            <a:ext cx="3518308" cy="2431951"/>
          </a:xfrm>
          <a:prstGeom prst="rect">
            <a:avLst/>
          </a:prstGeom>
          <a:noFill/>
          <a:ln/>
        </p:spPr>
        <p:txBody>
          <a:bodyPr wrap="square" lIns="0" tIns="0" rIns="0" bIns="0" rtlCol="0" anchor="t">
            <a:normAutofit/>
          </a:bodyPr>
          <a:lstStyle/>
          <a:p>
            <a:pPr algn="l" marL="284480" indent="-284480">
              <a:lnSpc>
                <a:spcPct val="130000"/>
              </a:lnSpc>
              <a:buSzPct val="100000"/>
              <a:buChar char="•"/>
            </a:pPr>
            <a:r>
              <a:rPr lang="en-US" sz="1400" b="1" dirty="0">
                <a:solidFill>
                  <a:srgbClr val="1C1C1C"/>
                </a:solidFill>
                <a:latin typeface="Roboto Condensed Bold" pitchFamily="34" charset="0"/>
                <a:ea typeface="Roboto Condensed Bold" pitchFamily="34" charset="-122"/>
                <a:cs typeface="Roboto Condensed Bold" pitchFamily="34" charset="-120"/>
              </a:rPr>
              <a:t>"We do not sell your data":</a:t>
            </a:r>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 selling is narrow</a:t>
            </a:r>
            <a:endParaRPr lang="en-US" sz="1400" dirty="0"/>
          </a:p>
          <a:p>
            <a:pPr algn="l" marL="284480" indent="-284480">
              <a:lnSpc>
                <a:spcPct val="130000"/>
              </a:lnSpc>
              <a:buSzPct val="100000"/>
              <a:buChar char="•"/>
            </a:pPr>
            <a:r>
              <a:rPr lang="en-US" sz="1400" b="1" dirty="0">
                <a:solidFill>
                  <a:srgbClr val="1C1C1C"/>
                </a:solidFill>
                <a:latin typeface="Roboto Condensed Bold" pitchFamily="34" charset="0"/>
                <a:ea typeface="Roboto Condensed Bold" pitchFamily="34" charset="-122"/>
                <a:cs typeface="Roboto Condensed Bold" pitchFamily="34" charset="-120"/>
              </a:rPr>
              <a:t>"Not used for training":</a:t>
            </a:r>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 look for the next sentence</a:t>
            </a:r>
            <a:endParaRPr lang="en-US" sz="1400" dirty="0"/>
          </a:p>
          <a:p>
            <a:pPr algn="l" marL="284480" indent="-284480">
              <a:lnSpc>
                <a:spcPct val="130000"/>
              </a:lnSpc>
              <a:buSzPct val="100000"/>
              <a:buChar char="•"/>
            </a:pPr>
            <a:r>
              <a:rPr lang="en-US" sz="1400" b="1" dirty="0">
                <a:solidFill>
                  <a:srgbClr val="1C1C1C"/>
                </a:solidFill>
                <a:latin typeface="Roboto Condensed Bold" pitchFamily="34" charset="0"/>
                <a:ea typeface="Roboto Condensed Bold" pitchFamily="34" charset="-122"/>
                <a:cs typeface="Roboto Condensed Bold" pitchFamily="34" charset="-120"/>
              </a:rPr>
              <a:t>"You retain ownership":</a:t>
            </a:r>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 find the licence grant</a:t>
            </a:r>
            <a:endParaRPr lang="en-US" sz="1400" dirty="0"/>
          </a:p>
          <a:p>
            <a:pPr algn="l" marL="284480" indent="-284480">
              <a:lnSpc>
                <a:spcPct val="130000"/>
              </a:lnSpc>
              <a:buSzPct val="100000"/>
              <a:buChar char="•"/>
            </a:pPr>
            <a:r>
              <a:rPr lang="en-US" sz="1400" b="1" dirty="0">
                <a:solidFill>
                  <a:srgbClr val="1C1C1C"/>
                </a:solidFill>
                <a:latin typeface="Roboto Condensed Bold" pitchFamily="34" charset="0"/>
                <a:ea typeface="Roboto Condensed Bold" pitchFamily="34" charset="-122"/>
                <a:cs typeface="Roboto Condensed Bold" pitchFamily="34" charset="-120"/>
              </a:rPr>
              <a:t>"Encrypted":</a:t>
            </a:r>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 in transit, at rest, keys held by whom</a:t>
            </a:r>
            <a:endParaRPr lang="en-US" sz="140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79407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scan gets it wrong, and that is the lesson</a:t>
            </a:r>
            <a:endParaRPr lang="en-US" sz="3700" dirty="0"/>
          </a:p>
        </p:txBody>
      </p:sp>
      <p:sp>
        <p:nvSpPr>
          <p:cNvPr id="3" name="Shape 1"/>
          <p:cNvSpPr/>
          <p:nvPr/>
        </p:nvSpPr>
        <p:spPr>
          <a:xfrm>
            <a:off x="661475" y="3353395"/>
            <a:ext cx="10868745" cy="1587698"/>
          </a:xfrm>
          <a:prstGeom prst="roundRect">
            <a:avLst>
              <a:gd name="adj" fmla="val 5000"/>
            </a:avLst>
          </a:prstGeom>
          <a:solidFill>
            <a:srgbClr val="F2F2F2"/>
          </a:solidFill>
          <a:ln/>
        </p:spPr>
      </p:sp>
      <p:sp>
        <p:nvSpPr>
          <p:cNvPr id="4" name="Text 2"/>
          <p:cNvSpPr/>
          <p:nvPr/>
        </p:nvSpPr>
        <p:spPr>
          <a:xfrm>
            <a:off x="888283" y="3542407"/>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study-buddy\study_buddy.py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address: http://{MODEL_HOST}:{DEFAULT_PORT}/api/generate  (REMOTE)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address: http://{MODEL_HOST}:{port}/api/generate  (REMOTE)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network call: urlopen</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 the two lines the tool could not</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DEFAULT_PORT = 11634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MODEL_HOST = "127.0.0.1"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study_buddy.py notes/chemistry.txt --hints --port 11634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 model answered at http://127.0.0.1:11634/api/generate.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of six answers answered the question</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 take privacy extremely seriously"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 do not sell student data to third parties"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"Industry-leading secure cloud providers"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"Authorized personnel on a need-to-know basis"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02793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good answer looked like</a:t>
            </a:r>
            <a:endParaRPr lang="en-US" sz="3700" dirty="0"/>
          </a:p>
        </p:txBody>
      </p:sp>
      <p:sp>
        <p:nvSpPr>
          <p:cNvPr id="3" name="Shape 1"/>
          <p:cNvSpPr/>
          <p:nvPr/>
        </p:nvSpPr>
        <p:spPr>
          <a:xfrm>
            <a:off x="944936" y="3209230"/>
            <a:ext cx="10585284" cy="1285280"/>
          </a:xfrm>
          <a:prstGeom prst="roundRect">
            <a:avLst>
              <a:gd name="adj" fmla="val 6177"/>
            </a:avLst>
          </a:prstGeom>
          <a:solidFill>
            <a:srgbClr val="F2F2F2"/>
          </a:solidFill>
          <a:ln/>
        </p:spPr>
      </p:sp>
      <p:sp>
        <p:nvSpPr>
          <p:cNvPr id="4" name="Text 2"/>
          <p:cNvSpPr/>
          <p:nvPr/>
        </p:nvSpPr>
        <p:spPr>
          <a:xfrm>
            <a:off x="1171744" y="3398242"/>
            <a:ext cx="10131668"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Upon written request within 30 days of termination, all customer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data is deleted from production systems and purged from backups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within 90 days.</a:t>
            </a:r>
            <a:endParaRPr lang="en-US" sz="1450" dirty="0"/>
          </a:p>
        </p:txBody>
      </p:sp>
      <p:sp>
        <p:nvSpPr>
          <p:cNvPr id="5" name="Shape 3"/>
          <p:cNvSpPr/>
          <p:nvPr/>
        </p:nvSpPr>
        <p:spPr>
          <a:xfrm>
            <a:off x="661475" y="2996605"/>
            <a:ext cx="25399" cy="1710531"/>
          </a:xfrm>
          <a:prstGeom prst="roundRect">
            <a:avLst>
              <a:gd name="adj" fmla="val 50001"/>
            </a:avLst>
          </a:prstGeom>
          <a:solidFill>
            <a:srgbClr val="57A1EB"/>
          </a:solidFill>
          <a:ln/>
        </p:spPr>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18874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answer that opens a new question</a:t>
            </a:r>
            <a:endParaRPr lang="en-US" sz="3700" dirty="0"/>
          </a:p>
        </p:txBody>
      </p:sp>
      <p:pic>
        <p:nvPicPr>
          <p:cNvPr id="3" name="Image 0" descr="preencoded.png">    </p:cNvPr>
          <p:cNvPicPr>
            <a:picLocks noChangeAspect="1"/>
          </p:cNvPicPr>
          <p:nvPr/>
        </p:nvPicPr>
        <p:blipFill>
          <a:blip r:embed="rId1"/>
          <a:stretch>
            <a:fillRect/>
          </a:stretch>
        </p:blipFill>
        <p:spPr>
          <a:xfrm>
            <a:off x="1536662" y="2275483"/>
            <a:ext cx="5152896" cy="3058319"/>
          </a:xfrm>
          <a:prstGeom prst="rect">
            <a:avLst/>
          </a:prstGeom>
        </p:spPr>
      </p:pic>
      <p:sp>
        <p:nvSpPr>
          <p:cNvPr id="4" name="Text 1"/>
          <p:cNvSpPr/>
          <p:nvPr/>
        </p:nvSpPr>
        <p:spPr>
          <a:xfrm>
            <a:off x="5123149" y="4501031"/>
            <a:ext cx="1280885" cy="493504"/>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New row added</a:t>
            </a:r>
            <a:endParaRPr lang="en-US" sz="1550" dirty="0"/>
          </a:p>
        </p:txBody>
      </p:sp>
      <p:sp>
        <p:nvSpPr>
          <p:cNvPr id="5" name="Text 2"/>
          <p:cNvSpPr/>
          <p:nvPr/>
        </p:nvSpPr>
        <p:spPr>
          <a:xfrm>
            <a:off x="3508883" y="4501031"/>
            <a:ext cx="1280885" cy="493504"/>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Aggregated statistics</a:t>
            </a:r>
            <a:endParaRPr lang="en-US" sz="1550" dirty="0"/>
          </a:p>
        </p:txBody>
      </p:sp>
      <p:sp>
        <p:nvSpPr>
          <p:cNvPr id="6" name="Text 3"/>
          <p:cNvSpPr/>
          <p:nvPr/>
        </p:nvSpPr>
        <p:spPr>
          <a:xfrm>
            <a:off x="1868297" y="4501031"/>
            <a:ext cx="1280885" cy="493504"/>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Not used for training</a:t>
            </a:r>
            <a:endParaRPr lang="en-US" sz="1550" dirty="0"/>
          </a:p>
        </p:txBody>
      </p:sp>
      <p:sp>
        <p:nvSpPr>
          <p:cNvPr id="7" name="Text 4"/>
          <p:cNvSpPr/>
          <p:nvPr/>
        </p:nvSpPr>
        <p:spPr>
          <a:xfrm>
            <a:off x="8032251" y="2850257"/>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used for training"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"Aggregated, de-identified statistics improve the service"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a good answer and a new row</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Be suspicious of the answer with no residue</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the decision actually gets made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sees a page headed Privacy with a badge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Says it looks fine. Two classes are using it by Friday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errored. Nobody did anything wrong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nine questions were skipped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20387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3007420"/>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four questions you would send a vendor</a:t>
            </a:r>
            <a:endParaRPr lang="en-US" sz="1850" dirty="0"/>
          </a:p>
        </p:txBody>
      </p:sp>
      <p:sp>
        <p:nvSpPr>
          <p:cNvPr id="6" name="Shape 4"/>
          <p:cNvSpPr/>
          <p:nvPr/>
        </p:nvSpPr>
        <p:spPr>
          <a:xfrm>
            <a:off x="6213915" y="3007420"/>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628480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6828163" y="3072309"/>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Run the network scan on your own project</a:t>
            </a:r>
            <a:endParaRPr lang="en-US" sz="1850" dirty="0"/>
          </a:p>
        </p:txBody>
      </p:sp>
      <p:sp>
        <p:nvSpPr>
          <p:cNvPr id="9" name="Shape 7"/>
          <p:cNvSpPr/>
          <p:nvPr/>
        </p:nvSpPr>
        <p:spPr>
          <a:xfrm>
            <a:off x="661475" y="4040882"/>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4105771"/>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run the test that does not read source</a:t>
            </a:r>
            <a:endParaRPr lang="en-US" sz="1850" dirty="0"/>
          </a:p>
        </p:txBody>
      </p:sp>
      <p:sp>
        <p:nvSpPr>
          <p:cNvPr id="12" name="Shape 10"/>
          <p:cNvSpPr/>
          <p:nvPr/>
        </p:nvSpPr>
        <p:spPr>
          <a:xfrm>
            <a:off x="6213915" y="4040882"/>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628480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6828163" y="4105771"/>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section 8 of your assessment</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2026-09-16T04:22:19Z</dcterms:created>
  <dcterms:modified xsi:type="dcterms:W3CDTF">2026-09-16T04:22:19Z</dcterms:modified>
</cp:coreProperties>
</file>