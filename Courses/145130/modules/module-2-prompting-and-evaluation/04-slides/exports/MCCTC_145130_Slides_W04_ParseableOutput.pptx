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days of this week have been about a person reading the output. Today the reader is your program, and that changes the requirements completely. A friendly opening sentence is pleasant to a human and fatal to a parser. About six items is understandable to a human and meaningless to an integer conversion. You have written programs that consume APIs for two years, and everything you learned there is about to be the wrong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that reframes the whole day. An API has a contract. You read the documentation, you know which keys come back, and if the shape changes somebody versioned it and told you. A model has no contract. There is no schema, no guarantee, and nobody to tell. It will hand you something shaped roughly like what you asked for most of the time, and the whole engineering problem is the rest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JSON is an invitation. Return only JSON, no other text, is an instruction. The difference is four words. Second rule. Parsing succeeding does not mean the data is what you asked for, and that catches people who have never seen it fail. Third rule, and it is the one that separates a demo from a program. The model will eventually return something unusable. That is not an exception case, it is a normal Tuesday, and your program needs a decided answer before that Tuesday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trimmed the step list to fit the slide, and the full reply has six of them. Ask the room whether that is JSON, and take a show of hands. Most hands go up, and they are looking at the braces in the middle and ignoring everything around them. Hold that vote. I am about to hand exactly this reply to a parser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one, column one. Read that carefully, because it tells you something specific. The parser never reached your JSON. It read the letter H from Here are some thoughts, which is not how a JSON document starts, and it stopped there. Everything below it, all the correct braces and keys and the six good steps, was never looked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strict version and parse it in front of them. Parsed OK, keys steps and subject. Two prompts, four words apart, and one of them your program can use. Now be honest about the mechanism. The model is not obeying you. Text that follows return JSON with keys often has a friendly sentence in front of it, because that is how such answers are usually written. Text that follows only JSON, no other text, much less often does. You moved a probability. A shifted probability is not a guarantee, and next week is full of cases where it did not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parse succeeded. No error, no complaint, and a dictionary came back. Steps was supposed to be a list and it is a string. Count was supposed to be a number and it is the words about six. The JSON is valid and the data is wrong, and your program found out one line later when it tried to do arithmetic on the word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what this does. Is it an object. Is subject a non-empty string. Is steps a list, and is it non-empty. Is every step actual text. Now read what it does not do, because that is the part worth arguing about. It says nothing about whether the steps are correct, safe, in the right order, or about your school. It checks shape, and shape is all a program can check. Everything else is a human, and it is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ways to fail and ask dot py already tells them apart. Cause each one on purpose before you build anything that depends on a model, because a failure you have seen once is a failure you will handle. Look at the exit codes and notice they are not all the same, which is deliberate. Different failures want different responses from the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running thread of the module showing up at the network layer. Three of those failure modes hand your program a clean HTTP two hundred. Nothing is red. Nothing throws. A program that only checks the status code treats a partial reply, a reply with no response field, and an empty string as three successes. Tomorrow you review a program that looks better than anything you would have written, and it has a defect in each of these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lab. Acceptance is that your usable function rejects a reply with steps as a string and accepts a correct one, and that your script exits with a different, correct code for each of error, malformed, missing response, not done, and empty response. Put a short table of mode against exit code in your write-up. Build two is prompts four and five of the autopsy, and at least one of them has to ask for structured output. By the end of today you should have five recorded runs and a full comparison table, and the question I will ask at close is whether your five prompts are five genuinely different prompts or five rewordings. That distinction is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image" Target="../media/image-11-2.png"/><Relationship Id="rId5" Type="http://schemas.openxmlformats.org/officeDocument/2006/relationships/image" Target="../media/image-11-3.svg"/><Relationship Id="rId6" Type="http://schemas.openxmlformats.org/officeDocument/2006/relationships/image" Target="../media/image-11-6.png"/><Relationship Id="rId7" Type="http://schemas.openxmlformats.org/officeDocument/2006/relationships/image" Target="../media/image-11-7.sv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Output Your Program Can Parse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6874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Today the reader is a program and it has no patience</a:t>
            </a:r>
            <a:endParaRPr lang="en-US" sz="3700" dirty="0"/>
          </a:p>
        </p:txBody>
      </p:sp>
      <p:sp>
        <p:nvSpPr>
          <p:cNvPr id="3" name="Shape 1"/>
          <p:cNvSpPr/>
          <p:nvPr/>
        </p:nvSpPr>
        <p:spPr>
          <a:xfrm>
            <a:off x="661475" y="2328069"/>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3929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Everything this week assumed a human reading the reply</a:t>
            </a:r>
            <a:endParaRPr lang="en-US" sz="1850" dirty="0"/>
          </a:p>
        </p:txBody>
      </p:sp>
      <p:sp>
        <p:nvSpPr>
          <p:cNvPr id="5" name="Shape 3"/>
          <p:cNvSpPr/>
          <p:nvPr/>
        </p:nvSpPr>
        <p:spPr>
          <a:xfrm>
            <a:off x="661475" y="3131344"/>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319623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human copes with a friendly sentence before the list</a:t>
            </a:r>
            <a:endParaRPr lang="en-US" sz="1850" dirty="0"/>
          </a:p>
        </p:txBody>
      </p:sp>
      <p:sp>
        <p:nvSpPr>
          <p:cNvPr id="7" name="Shape 5"/>
          <p:cNvSpPr/>
          <p:nvPr/>
        </p:nvSpPr>
        <p:spPr>
          <a:xfrm>
            <a:off x="661475" y="3934619"/>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99950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parser does not</a:t>
            </a:r>
            <a:endParaRPr lang="en-US" sz="1850" dirty="0"/>
          </a:p>
        </p:txBody>
      </p:sp>
      <p:sp>
        <p:nvSpPr>
          <p:cNvPr id="9" name="Shape 7"/>
          <p:cNvSpPr/>
          <p:nvPr/>
        </p:nvSpPr>
        <p:spPr>
          <a:xfrm>
            <a:off x="661475" y="4737894"/>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80278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human reading about six items knows what to do</a:t>
            </a:r>
            <a:endParaRPr lang="en-US" sz="1850" dirty="0"/>
          </a:p>
        </p:txBody>
      </p:sp>
      <p:sp>
        <p:nvSpPr>
          <p:cNvPr id="11" name="Shape 9"/>
          <p:cNvSpPr/>
          <p:nvPr/>
        </p:nvSpPr>
        <p:spPr>
          <a:xfrm>
            <a:off x="661475" y="5541169"/>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6060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code does not</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4889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model has no contract</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113657"/>
            <a:ext cx="6296860" cy="1139924"/>
          </a:xfrm>
          <a:prstGeom prst="rect">
            <a:avLst/>
          </a:prstGeom>
        </p:spPr>
      </p:pic>
      <p:sp>
        <p:nvSpPr>
          <p:cNvPr id="5" name="Text 1"/>
          <p:cNvSpPr/>
          <p:nvPr/>
        </p:nvSpPr>
        <p:spPr>
          <a:xfrm>
            <a:off x="977479" y="2328069"/>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 API tells you the shape before you call it</a:t>
            </a:r>
            <a:endParaRPr lang="en-US" sz="1850" dirty="0"/>
          </a:p>
        </p:txBody>
      </p:sp>
      <p:sp>
        <p:nvSpPr>
          <p:cNvPr id="6" name="Text 2"/>
          <p:cNvSpPr/>
          <p:nvPr/>
        </p:nvSpPr>
        <p:spPr>
          <a:xfrm>
            <a:off x="977479" y="2736751"/>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 build against that guarantee and it holds</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442593"/>
            <a:ext cx="6296860" cy="1435199"/>
          </a:xfrm>
          <a:prstGeom prst="rect">
            <a:avLst/>
          </a:prstGeom>
        </p:spPr>
      </p:pic>
      <p:sp>
        <p:nvSpPr>
          <p:cNvPr id="8" name="Text 3"/>
          <p:cNvSpPr/>
          <p:nvPr/>
        </p:nvSpPr>
        <p:spPr>
          <a:xfrm>
            <a:off x="977479" y="3657005"/>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model gives you roughly the shape you asked for</a:t>
            </a:r>
            <a:endParaRPr lang="en-US" sz="1850" dirty="0"/>
          </a:p>
        </p:txBody>
      </p:sp>
      <p:sp>
        <p:nvSpPr>
          <p:cNvPr id="9" name="Text 4"/>
          <p:cNvSpPr/>
          <p:nvPr/>
        </p:nvSpPr>
        <p:spPr>
          <a:xfrm>
            <a:off x="977479" y="4360962"/>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Most of the time</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5066804"/>
            <a:ext cx="6296860" cy="1019373"/>
          </a:xfrm>
          <a:prstGeom prst="rect">
            <a:avLst/>
          </a:prstGeom>
        </p:spPr>
      </p:pic>
      <p:sp>
        <p:nvSpPr>
          <p:cNvPr id="11" name="Text 5"/>
          <p:cNvSpPr/>
          <p:nvPr/>
        </p:nvSpPr>
        <p:spPr>
          <a:xfrm>
            <a:off x="977479" y="5281216"/>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program has to survive the rest of the time</a:t>
            </a:r>
            <a:endParaRPr lang="en-US" sz="1850" dirty="0"/>
          </a:p>
        </p:txBody>
      </p:sp>
      <p:sp>
        <p:nvSpPr>
          <p:cNvPr id="12"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28279"/>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rules, in order of how often they are skipped</a:t>
            </a:r>
            <a:endParaRPr lang="en-US" sz="3700" dirty="0"/>
          </a:p>
        </p:txBody>
      </p:sp>
      <p:sp>
        <p:nvSpPr>
          <p:cNvPr id="3" name="Shape 1"/>
          <p:cNvSpPr/>
          <p:nvPr/>
        </p:nvSpPr>
        <p:spPr>
          <a:xfrm>
            <a:off x="661475" y="3187601"/>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3223022"/>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3252490"/>
            <a:ext cx="2851178"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Ask for the shape, and say the word only</a:t>
            </a:r>
            <a:endParaRPr lang="en-US" sz="1850" dirty="0"/>
          </a:p>
        </p:txBody>
      </p:sp>
      <p:sp>
        <p:nvSpPr>
          <p:cNvPr id="6" name="Shape 4"/>
          <p:cNvSpPr/>
          <p:nvPr/>
        </p:nvSpPr>
        <p:spPr>
          <a:xfrm>
            <a:off x="4363135" y="3187601"/>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4434025" y="3223022"/>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4977383" y="3252490"/>
            <a:ext cx="285117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Validate before you trust</a:t>
            </a:r>
            <a:endParaRPr lang="en-US" sz="1850" dirty="0"/>
          </a:p>
        </p:txBody>
      </p:sp>
      <p:sp>
        <p:nvSpPr>
          <p:cNvPr id="9" name="Shape 7"/>
          <p:cNvSpPr/>
          <p:nvPr/>
        </p:nvSpPr>
        <p:spPr>
          <a:xfrm>
            <a:off x="8064794" y="3187601"/>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8135684" y="3223022"/>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8679042" y="3252490"/>
            <a:ext cx="2851178"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Decide what happens when it is wrong, before it is wrong</a:t>
            </a:r>
            <a:endParaRPr lang="en-US" sz="1850" dirty="0"/>
          </a:p>
        </p:txBody>
      </p:sp>
      <p:sp>
        <p:nvSpPr>
          <p:cNvPr id="12" name="Shape 10"/>
          <p:cNvSpPr/>
          <p:nvPr/>
        </p:nvSpPr>
        <p:spPr>
          <a:xfrm>
            <a:off x="661475" y="4350941"/>
            <a:ext cx="10868745" cy="755948"/>
          </a:xfrm>
          <a:prstGeom prst="roundRect">
            <a:avLst>
              <a:gd name="adj" fmla="val 10502"/>
            </a:avLst>
          </a:prstGeom>
          <a:solidFill>
            <a:srgbClr val="FCF2B5"/>
          </a:solidFill>
          <a:ln/>
        </p:spPr>
      </p:sp>
      <p:pic>
        <p:nvPicPr>
          <p:cNvPr id="13" name="Image 0" descr="preencoded.png">    </p:cNvPr>
          <p:cNvPicPr>
            <a:picLocks noChangeAspect="1"/>
          </p:cNvPicPr>
          <p:nvPr/>
        </p:nvPicPr>
        <p:blipFill>
          <a:blip r:embed="rId1"/>
          <a:stretch>
            <a:fillRect/>
          </a:stretch>
        </p:blipFill>
        <p:spPr>
          <a:xfrm>
            <a:off x="850482" y="4618633"/>
            <a:ext cx="236234" cy="189012"/>
          </a:xfrm>
          <a:prstGeom prst="rect">
            <a:avLst/>
          </a:prstGeom>
        </p:spPr>
      </p:pic>
      <p:sp>
        <p:nvSpPr>
          <p:cNvPr id="14" name="Text 11"/>
          <p:cNvSpPr/>
          <p:nvPr/>
        </p:nvSpPr>
        <p:spPr>
          <a:xfrm>
            <a:off x="1275723" y="4587180"/>
            <a:ext cx="10675075"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Silence is not a plan</a:t>
            </a:r>
            <a:endParaRPr lang="en-US" sz="1450" dirty="0"/>
          </a:p>
        </p:txBody>
      </p:sp>
      <p:sp>
        <p:nvSpPr>
          <p:cNvPr id="15" name="Text 1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7725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Is this reply JSON?</a:t>
            </a:r>
            <a:endParaRPr lang="en-US" sz="3700" dirty="0"/>
          </a:p>
        </p:txBody>
      </p:sp>
      <p:sp>
        <p:nvSpPr>
          <p:cNvPr id="3" name="Shape 1"/>
          <p:cNvSpPr/>
          <p:nvPr/>
        </p:nvSpPr>
        <p:spPr>
          <a:xfrm>
            <a:off x="661475" y="1545927"/>
            <a:ext cx="10868745" cy="4611886"/>
          </a:xfrm>
          <a:prstGeom prst="roundRect">
            <a:avLst>
              <a:gd name="adj" fmla="val 1721"/>
            </a:avLst>
          </a:prstGeom>
          <a:solidFill>
            <a:srgbClr val="F2F2F2"/>
          </a:solidFill>
          <a:ln/>
        </p:spPr>
      </p:sp>
      <p:sp>
        <p:nvSpPr>
          <p:cNvPr id="4" name="Text 2"/>
          <p:cNvSpPr/>
          <p:nvPr/>
        </p:nvSpPr>
        <p:spPr>
          <a:xfrm>
            <a:off x="888283" y="1734939"/>
            <a:ext cx="10415129" cy="423386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Explain the Friday equipment checkout. Return JSON with keys subject, steps.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Here are some thoughts on the Friday equipment checkout.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"subject": "the Friday equipment checkout",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"steps":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"Open the checkout sheet before anyone lines up",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"Set the return slot to the next school day, first period"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It is worth noting that outcomes vary by situation. Many educators agree that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consistency matters more than any single rule.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the parser says</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python -c "import json; r=json.load(open('runs/loose.json',encoding='utf-8')); json.loads(r['response'])"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json.decoder.JSONDecodeError: Expecting value: line 1 column 1 (char 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57777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words between working and broken</a:t>
            </a:r>
            <a:endParaRPr lang="en-US" sz="3700" dirty="0"/>
          </a:p>
        </p:txBody>
      </p:sp>
      <p:sp>
        <p:nvSpPr>
          <p:cNvPr id="3" name="Shape 1"/>
          <p:cNvSpPr/>
          <p:nvPr/>
        </p:nvSpPr>
        <p:spPr>
          <a:xfrm>
            <a:off x="661475" y="3137098"/>
            <a:ext cx="3496877" cy="2020193"/>
          </a:xfrm>
          <a:prstGeom prst="roundRect">
            <a:avLst>
              <a:gd name="adj" fmla="val 3930"/>
            </a:avLst>
          </a:prstGeom>
          <a:solidFill>
            <a:srgbClr val="D1E5FA"/>
          </a:solidFill>
          <a:ln w="19050">
            <a:solidFill>
              <a:srgbClr val="B7CBE0"/>
            </a:solidFill>
            <a:prstDash val="solid"/>
          </a:ln>
        </p:spPr>
      </p:sp>
      <p:sp>
        <p:nvSpPr>
          <p:cNvPr id="4" name="Text 2"/>
          <p:cNvSpPr/>
          <p:nvPr/>
        </p:nvSpPr>
        <p:spPr>
          <a:xfrm>
            <a:off x="869531" y="3345160"/>
            <a:ext cx="308076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strict prompt file differs by four words</a:t>
            </a:r>
            <a:endParaRPr lang="en-US" sz="1850" dirty="0"/>
          </a:p>
        </p:txBody>
      </p:sp>
      <p:sp>
        <p:nvSpPr>
          <p:cNvPr id="5" name="Text 3"/>
          <p:cNvSpPr/>
          <p:nvPr/>
        </p:nvSpPr>
        <p:spPr>
          <a:xfrm>
            <a:off x="869531" y="4049117"/>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words are </a:t>
            </a:r>
            <a:pPr algn="l" indent="0" marL="0">
              <a:lnSpc>
                <a:spcPct val="133000"/>
              </a:lnSpc>
              <a:buNone/>
            </a:pPr>
            <a:r>
              <a:rPr lang="en-US" sz="1450" b="1" dirty="0">
                <a:solidFill>
                  <a:srgbClr val="1C1C1C"/>
                </a:solidFill>
                <a:latin typeface="Roboto Condensed Bold" pitchFamily="34" charset="0"/>
                <a:ea typeface="Roboto Condensed Bold" pitchFamily="34" charset="-122"/>
                <a:cs typeface="Roboto Condensed Bold" pitchFamily="34" charset="-120"/>
              </a:rPr>
              <a:t>only</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and </a:t>
            </a:r>
            <a:pPr algn="l" indent="0" marL="0">
              <a:lnSpc>
                <a:spcPct val="133000"/>
              </a:lnSpc>
              <a:buNone/>
            </a:pPr>
            <a:r>
              <a:rPr lang="en-US" sz="1450" b="1" dirty="0">
                <a:solidFill>
                  <a:srgbClr val="1C1C1C"/>
                </a:solidFill>
                <a:latin typeface="Roboto Condensed Bold" pitchFamily="34" charset="0"/>
                <a:ea typeface="Roboto Condensed Bold" pitchFamily="34" charset="-122"/>
                <a:cs typeface="Roboto Condensed Bold" pitchFamily="34" charset="-120"/>
              </a:rPr>
              <a:t>no other text</a:t>
            </a:r>
            <a:endParaRPr lang="en-US" sz="1450" dirty="0"/>
          </a:p>
        </p:txBody>
      </p:sp>
      <p:sp>
        <p:nvSpPr>
          <p:cNvPr id="6" name="Shape 4"/>
          <p:cNvSpPr/>
          <p:nvPr/>
        </p:nvSpPr>
        <p:spPr>
          <a:xfrm>
            <a:off x="4347359" y="3137098"/>
            <a:ext cx="3496877" cy="2020193"/>
          </a:xfrm>
          <a:prstGeom prst="roundRect">
            <a:avLst>
              <a:gd name="adj" fmla="val 3930"/>
            </a:avLst>
          </a:prstGeom>
          <a:solidFill>
            <a:srgbClr val="D1E5FA"/>
          </a:solidFill>
          <a:ln w="19050">
            <a:solidFill>
              <a:srgbClr val="B7CBE0"/>
            </a:solidFill>
            <a:prstDash val="solid"/>
          </a:ln>
        </p:spPr>
      </p:sp>
      <p:sp>
        <p:nvSpPr>
          <p:cNvPr id="7" name="Text 5"/>
          <p:cNvSpPr/>
          <p:nvPr/>
        </p:nvSpPr>
        <p:spPr>
          <a:xfrm>
            <a:off x="4555416" y="3345160"/>
            <a:ext cx="3080764"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version parses, with keys steps and subject</a:t>
            </a:r>
            <a:endParaRPr lang="en-US" sz="1850" dirty="0"/>
          </a:p>
        </p:txBody>
      </p:sp>
      <p:sp>
        <p:nvSpPr>
          <p:cNvPr id="8" name="Shape 6"/>
          <p:cNvSpPr/>
          <p:nvPr/>
        </p:nvSpPr>
        <p:spPr>
          <a:xfrm>
            <a:off x="8033244" y="3137098"/>
            <a:ext cx="3496877" cy="2020193"/>
          </a:xfrm>
          <a:prstGeom prst="roundRect">
            <a:avLst>
              <a:gd name="adj" fmla="val 3930"/>
            </a:avLst>
          </a:prstGeom>
          <a:solidFill>
            <a:srgbClr val="D1E5FA"/>
          </a:solidFill>
          <a:ln w="19050">
            <a:solidFill>
              <a:srgbClr val="B7CBE0"/>
            </a:solidFill>
            <a:prstDash val="solid"/>
          </a:ln>
        </p:spPr>
      </p:sp>
      <p:sp>
        <p:nvSpPr>
          <p:cNvPr id="9" name="Text 7"/>
          <p:cNvSpPr/>
          <p:nvPr/>
        </p:nvSpPr>
        <p:spPr>
          <a:xfrm>
            <a:off x="8241300" y="3345160"/>
            <a:ext cx="3080764"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are shifting a probability, not issuing a command</a:t>
            </a:r>
            <a:endParaRPr lang="en-US" sz="1850" dirty="0"/>
          </a:p>
        </p:txBody>
      </p:sp>
      <p:sp>
        <p:nvSpPr>
          <p:cNvPr id="10" name="Text 8"/>
          <p:cNvSpPr/>
          <p:nvPr/>
        </p:nvSpPr>
        <p:spPr>
          <a:xfrm>
            <a:off x="8241300" y="4344392"/>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Which is exactly why your program still has to check</a:t>
            </a:r>
            <a:endParaRPr lang="en-US" sz="14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Valid JSON, useless data</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reply = '{"subject": "checkout", "steps": "I will list them shortly", "count": "about six"}'</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data = json.loads(reply)          # succeeds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print(type(data["steps"]).__name__)</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print(data["count"]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TypeError: can only concatenate str (not "int") to str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84398"/>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check your program needs, written out</a:t>
            </a:r>
            <a:endParaRPr lang="en-US" sz="3700" dirty="0"/>
          </a:p>
        </p:txBody>
      </p:sp>
      <p:sp>
        <p:nvSpPr>
          <p:cNvPr id="3" name="Shape 1"/>
          <p:cNvSpPr/>
          <p:nvPr/>
        </p:nvSpPr>
        <p:spPr>
          <a:xfrm>
            <a:off x="661475" y="2143720"/>
            <a:ext cx="10868745" cy="4007048"/>
          </a:xfrm>
          <a:prstGeom prst="roundRect">
            <a:avLst>
              <a:gd name="adj" fmla="val 1981"/>
            </a:avLst>
          </a:prstGeom>
          <a:solidFill>
            <a:srgbClr val="F2F2F2"/>
          </a:solidFill>
          <a:ln/>
        </p:spPr>
      </p:sp>
      <p:sp>
        <p:nvSpPr>
          <p:cNvPr id="4" name="Text 2"/>
          <p:cNvSpPr/>
          <p:nvPr/>
        </p:nvSpPr>
        <p:spPr>
          <a:xfrm>
            <a:off x="888283" y="2332732"/>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usable(data):</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an error message, or None if the reply can be used."""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not isinstance(data, dict):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"the reply is not an object"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not isinstance(data.get("subject"), str) or not data["subject"].strip():</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"subject is missing or empty"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steps = data.get("steps")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not isinstance(steps, list) or not steps: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"steps is missing or is not a non-empty list"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not all(isinstance(s, str) and s.strip() for s in steps):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"at least one step is not text"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None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59991"/>
            <a:ext cx="10868745" cy="572195"/>
          </a:xfrm>
          <a:prstGeom prst="rect">
            <a:avLst/>
          </a:prstGeom>
          <a:noFill/>
          <a:ln/>
        </p:spPr>
        <p:txBody>
          <a:bodyPr wrap="none" lIns="0" tIns="0" rIns="0" bIns="0" rtlCol="0" anchor="t"/>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Every way a reply can be unusable</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1475" y="1486892"/>
          <a:ext cx="9143771" cy="914400"/>
        </p:xfrm>
        <a:graphic>
          <a:graphicData uri="http://schemas.openxmlformats.org/drawingml/2006/table">
            <a:tbl>
              <a:tblPr/>
              <a:tblGrid>
                <a:gridCol w="2717186"/>
                <a:gridCol w="5434373"/>
                <a:gridCol w="2717186"/>
              </a:tblGrid>
              <a:tr h="517016">
                <a:tc>
                  <a:txBody>
                    <a:bodyPr/>
                    <a:lstStyle/>
                    <a:p>
                      <a:pPr indent="0" marL="0">
                        <a:buNone/>
                      </a:pPr>
                      <a:r>
                        <a:rPr lang="en-US" sz="1400" b="1" dirty="0">
                          <a:solidFill>
                            <a:srgbClr val="1C1C1C"/>
                          </a:solidFill>
                          <a:latin typeface="Roboto Condensed" pitchFamily="34" charset="0"/>
                          <a:ea typeface="Roboto Condensed" pitchFamily="34" charset="-122"/>
                          <a:cs typeface="Roboto Condensed" pitchFamily="34" charset="-120"/>
                        </a:rPr>
                        <a:t>Mode</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b="1" dirty="0">
                          <a:solidFill>
                            <a:srgbClr val="1C1C1C"/>
                          </a:solidFill>
                          <a:latin typeface="Roboto Condensed" pitchFamily="34" charset="0"/>
                          <a:ea typeface="Roboto Condensed" pitchFamily="34" charset="-122"/>
                          <a:cs typeface="Roboto Condensed" pitchFamily="34" charset="-120"/>
                        </a:rPr>
                        <a:t>What ask.py reports</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b="1" dirty="0">
                          <a:solidFill>
                            <a:srgbClr val="1C1C1C"/>
                          </a:solidFill>
                          <a:latin typeface="Roboto Condensed" pitchFamily="34" charset="0"/>
                          <a:ea typeface="Roboto Condensed" pitchFamily="34" charset="-122"/>
                          <a:cs typeface="Roboto Condensed" pitchFamily="34" charset="-120"/>
                        </a:rPr>
                        <a:t>Exit code</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20191">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error</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the server answered HTTP 500</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3</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20191">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malformed</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not valid JSON</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4</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20191">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missing_response</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the reply has no 'response' field</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5</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20191">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not_done</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the reply is not marked done</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5</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20191">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empty_response</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the reply is empty</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5</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20191">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rate_limited</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waits for Retry-After, retries 3 times, then 429</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3</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20191">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slow --delay 30</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no answer inside 20 seconds</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6</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17016">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(nothing running)</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nothing is listening at the endpoint</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00" dirty="0">
                          <a:solidFill>
                            <a:srgbClr val="1C1C1C"/>
                          </a:solidFill>
                          <a:latin typeface="Roboto Condensed" pitchFamily="34" charset="0"/>
                          <a:ea typeface="Roboto Condensed" pitchFamily="34" charset="-122"/>
                          <a:cs typeface="Roboto Condensed" pitchFamily="34" charset="-120"/>
                        </a:rPr>
                        <a:t>2</a:t>
                      </a:r>
                      <a:endParaRPr lang="en-US" sz="1400" dirty="0">
                        <a:latin typeface="Roboto Condensed" charset="0"/>
                        <a:ea typeface="Roboto Condensed" charset="0"/>
                        <a:cs typeface="Roboto Condensed" charset="0"/>
                      </a:endParaRPr>
                    </a:p>
                  </a:txBody>
                  <a:tcPr marL="183112" marR="183112"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bl>
          </a:graphicData>
        </a:graphic>
      </p:graphicFrame>
      <p:sp>
        <p:nvSpPr>
          <p:cNvPr id="4" name="Text 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4038"/>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Three of those return HTTP 200</a:t>
            </a:r>
            <a:endParaRPr lang="en-US" sz="36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991618"/>
            <a:ext cx="6296860" cy="1409402"/>
          </a:xfrm>
          <a:prstGeom prst="rect">
            <a:avLst/>
          </a:prstGeom>
        </p:spPr>
      </p:pic>
      <p:sp>
        <p:nvSpPr>
          <p:cNvPr id="5" name="Text 1"/>
          <p:cNvSpPr/>
          <p:nvPr/>
        </p:nvSpPr>
        <p:spPr>
          <a:xfrm>
            <a:off x="974502" y="2203053"/>
            <a:ext cx="577240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not_done, missing_response and empty_response all return 200</a:t>
            </a:r>
            <a:endParaRPr lang="en-US" sz="1800" dirty="0"/>
          </a:p>
        </p:txBody>
      </p:sp>
      <p:sp>
        <p:nvSpPr>
          <p:cNvPr id="6" name="Text 2"/>
          <p:cNvSpPr/>
          <p:nvPr/>
        </p:nvSpPr>
        <p:spPr>
          <a:xfrm>
            <a:off x="974502" y="2894310"/>
            <a:ext cx="577240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A program that checks the status code trusts all three</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584178"/>
            <a:ext cx="6296860" cy="1409402"/>
          </a:xfrm>
          <a:prstGeom prst="rect">
            <a:avLst/>
          </a:prstGeom>
        </p:spPr>
      </p:pic>
      <p:sp>
        <p:nvSpPr>
          <p:cNvPr id="8" name="Text 3"/>
          <p:cNvSpPr/>
          <p:nvPr/>
        </p:nvSpPr>
        <p:spPr>
          <a:xfrm>
            <a:off x="974502" y="3795613"/>
            <a:ext cx="577240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Status two hundred reads as success and is not</a:t>
            </a:r>
            <a:endParaRPr lang="en-US" sz="1800" dirty="0"/>
          </a:p>
        </p:txBody>
      </p:sp>
      <p:sp>
        <p:nvSpPr>
          <p:cNvPr id="9" name="Text 4"/>
          <p:cNvSpPr/>
          <p:nvPr/>
        </p:nvSpPr>
        <p:spPr>
          <a:xfrm>
            <a:off x="974502" y="4486870"/>
            <a:ext cx="577240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The reply is partial, or keyless, or empty</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5176738"/>
            <a:ext cx="6296860" cy="1004292"/>
          </a:xfrm>
          <a:prstGeom prst="rect">
            <a:avLst/>
          </a:prstGeom>
        </p:spPr>
      </p:pic>
      <p:sp>
        <p:nvSpPr>
          <p:cNvPr id="11" name="Text 5"/>
          <p:cNvSpPr/>
          <p:nvPr/>
        </p:nvSpPr>
        <p:spPr>
          <a:xfrm>
            <a:off x="974502" y="5388173"/>
            <a:ext cx="577240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 dangerous outputs are the ones that look finished</a:t>
            </a:r>
            <a:endParaRPr lang="en-US" sz="1800" dirty="0"/>
          </a:p>
        </p:txBody>
      </p:sp>
      <p:sp>
        <p:nvSpPr>
          <p:cNvPr id="12"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6774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732286"/>
            <a:ext cx="3496877" cy="25400"/>
          </a:xfrm>
          <a:prstGeom prst="rect">
            <a:avLst/>
          </a:prstGeom>
          <a:solidFill>
            <a:srgbClr val="57A1EB"/>
          </a:solidFill>
          <a:ln/>
        </p:spPr>
      </p:sp>
      <p:sp>
        <p:nvSpPr>
          <p:cNvPr id="5" name="Text 3"/>
          <p:cNvSpPr/>
          <p:nvPr/>
        </p:nvSpPr>
        <p:spPr>
          <a:xfrm>
            <a:off x="661475"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M02-01 steps seventeen through twenty-one</a:t>
            </a:r>
            <a:endParaRPr lang="en-US" sz="1850" dirty="0"/>
          </a:p>
        </p:txBody>
      </p:sp>
      <p:sp>
        <p:nvSpPr>
          <p:cNvPr id="6" name="Text 4"/>
          <p:cNvSpPr/>
          <p:nvPr/>
        </p:nvSpPr>
        <p:spPr>
          <a:xfrm>
            <a:off x="4347359"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2732286"/>
            <a:ext cx="3496877" cy="25400"/>
          </a:xfrm>
          <a:prstGeom prst="rect">
            <a:avLst/>
          </a:prstGeom>
          <a:solidFill>
            <a:srgbClr val="57A1EB"/>
          </a:solidFill>
          <a:ln/>
        </p:spPr>
      </p:sp>
      <p:sp>
        <p:nvSpPr>
          <p:cNvPr id="8" name="Text 6"/>
          <p:cNvSpPr/>
          <p:nvPr/>
        </p:nvSpPr>
        <p:spPr>
          <a:xfrm>
            <a:off x="4347359" y="2877542"/>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Ask for JSON two ways and compare what parses</a:t>
            </a:r>
            <a:endParaRPr lang="en-US" sz="1850" dirty="0"/>
          </a:p>
        </p:txBody>
      </p:sp>
      <p:sp>
        <p:nvSpPr>
          <p:cNvPr id="9" name="Text 7"/>
          <p:cNvSpPr/>
          <p:nvPr/>
        </p:nvSpPr>
        <p:spPr>
          <a:xfrm>
            <a:off x="8033244" y="243641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2732286"/>
            <a:ext cx="3496877" cy="25400"/>
          </a:xfrm>
          <a:prstGeom prst="rect">
            <a:avLst/>
          </a:prstGeom>
          <a:solidFill>
            <a:srgbClr val="57A1EB"/>
          </a:solidFill>
          <a:ln/>
        </p:spPr>
      </p:sp>
      <p:sp>
        <p:nvSpPr>
          <p:cNvPr id="11" name="Text 9"/>
          <p:cNvSpPr/>
          <p:nvPr/>
        </p:nvSpPr>
        <p:spPr>
          <a:xfrm>
            <a:off x="8033244" y="2877542"/>
            <a:ext cx="349687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usable validator and prove it rejects a bad reply</a:t>
            </a:r>
            <a:endParaRPr lang="en-US" sz="1850" dirty="0"/>
          </a:p>
        </p:txBody>
      </p:sp>
      <p:sp>
        <p:nvSpPr>
          <p:cNvPr id="12" name="Text 10"/>
          <p:cNvSpPr/>
          <p:nvPr/>
        </p:nvSpPr>
        <p:spPr>
          <a:xfrm>
            <a:off x="661475"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389934"/>
            <a:ext cx="5339820" cy="25400"/>
          </a:xfrm>
          <a:prstGeom prst="rect">
            <a:avLst/>
          </a:prstGeom>
          <a:solidFill>
            <a:srgbClr val="57A1EB"/>
          </a:solidFill>
          <a:ln/>
        </p:spPr>
      </p:sp>
      <p:sp>
        <p:nvSpPr>
          <p:cNvPr id="14" name="Text 12"/>
          <p:cNvSpPr/>
          <p:nvPr/>
        </p:nvSpPr>
        <p:spPr>
          <a:xfrm>
            <a:off x="661475"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Run against six stub failure modes, one exit code each</a:t>
            </a:r>
            <a:endParaRPr lang="en-US" sz="1850" dirty="0"/>
          </a:p>
        </p:txBody>
      </p:sp>
      <p:sp>
        <p:nvSpPr>
          <p:cNvPr id="15" name="Text 13"/>
          <p:cNvSpPr/>
          <p:nvPr/>
        </p:nvSpPr>
        <p:spPr>
          <a:xfrm>
            <a:off x="6190301" y="409406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389934"/>
            <a:ext cx="5339820" cy="25400"/>
          </a:xfrm>
          <a:prstGeom prst="rect">
            <a:avLst/>
          </a:prstGeom>
          <a:solidFill>
            <a:srgbClr val="57A1EB"/>
          </a:solidFill>
          <a:ln/>
        </p:spPr>
      </p:sp>
      <p:sp>
        <p:nvSpPr>
          <p:cNvPr id="17" name="Text 15"/>
          <p:cNvSpPr/>
          <p:nvPr/>
        </p:nvSpPr>
        <p:spPr>
          <a:xfrm>
            <a:off x="6190301" y="453519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Prompt Autopsy prompts four and five</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2026-09-16T04:06:30Z</dcterms:created>
  <dcterms:modified xsi:type="dcterms:W3CDTF">2026-09-16T04:06:30Z</dcterms:modified>
</cp:coreProperties>
</file>