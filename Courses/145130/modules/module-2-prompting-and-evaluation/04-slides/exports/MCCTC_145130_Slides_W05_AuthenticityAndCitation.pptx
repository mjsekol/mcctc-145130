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about sixth grade you have been told to cite your sources, and it was framed as a rule about formatting and about not stealing. That framing is true and it is not the reason. A citation is a set of instructions that lets a reader go and check a claim without trusting you. That is its job. A citation that does not let a reader go and look has failed at its job, no matter how correctly it is punctuated. This matters more than it used to, because claims are now cheap to generate and so are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any citation through those four and see what is missing. A recent survey found has one part and about half of another, and neither of them lets you go and look. Here is the sentence to write down. A claim with an uncheckable source is not weakly supported, it is unsupported, and you treat it exactly the same as a claim with no source at all. That is a harder standard than you have been held to before and it is the standard in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memo is invented for this lesson and I am labelling it as invented, which is a habit you should copy. Now read the extraction underneath it. It is short, it is confident, and it is the sentence most people would write in a hurry. Take twenty seconds and find everything it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extraction is a graded skill rather than a formality. A member reading the bad version thinks one late return costs them two weeks, so they do not check out the camera at all, and the club loses a photographer for a game. Nothing in the bad version is invented. It is all compression, and compression is where accuracy goes when you are in a hurry. A summary that changes what somebody would do is not a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what that citation hands the reader. The document, and the section. They can open it and check whether you dropped anything, which is the entire point. It is one line, it costs you nothing, and it converts a sentence people have to trust into a sentence people can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is deliberate. A publication is quicker to find than an article, so if the venue does not exist you are finished in thirty seconds. Step four is the interesting one, because a real work with wrong numbers is a Validity failure rather than a hallucination, and you will meet at least one of those. Now the rule that catches most of the class. A negative result is a result only if you recorded the search. I could not find it, with no search string, is not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second paragraph is worth more than the word fake, and here is why. It shows the reader precisely what was checked, and it is honest about the part that is still ambiguous. Most of you will hit a check that comes back complicated, where the venue almost exists or the author is real and writes about something else. That is the most valuable outcome in this lab and most students treat it as a failure. Do not resolve ambiguity by rounding to a verdict. Partial matches are common and they are exactly where a careless checker stops.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wrong version live and do it confidently. Ask the model, get an answer, and then say out loud why it is worthless. Asking a model whether its output is true is asking the same process to produce a second piece of text. If a citation-shaped continuation was likely, then yes that is a real paper is also a likely continuation. The subtler version is asking a different model, which is better because the errors are less correlated, and still not a check. Here is the line. A check has to touch the world. A catalog, a library, an index, the actual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shapes and they are different problems. Uncredited reuse happens because the model was trained on that text and text near it is a likely continuation. Nobody decided to copy, and the effect on the person whose work it is does not care about the mechanism. Misattribution is the dangerous one for a reason worth understanding. It passes the check. Somebody searches the quote, finds it immediately, sees that it is real, and stops one question too early. The invented quote gets caught. The misattribution keeps travelling.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hard at the third row. If a sentence in your brief came out of a model, you say so and you point at the run. That is not an admission, it is a citation, and a reader who wants to check can open runs slash v three dot json and read the prompt that produced it. Module three takes the legal side of this much further, because who owns the output of a generative model is a live, unsettled question, and this course is not going to pretend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check drill. Four citations, and you do not get told which is which. For the ambiguous one, write down what is still unresolved rather than picking a verdict, because that is what is being assessed. Build two is extraction. Three claims, each with a citation a reader could follow, and one of them has to be a claim you could not verify, which you say plainly instead of dropping. At close, the exit ticket is one question. What is the difference between I could not find it and a recorded negative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jpeg"/><Relationship Id="rId10" Type="http://schemas.openxmlformats.org/officeDocument/2006/relationships/image" Target="../media/image-3-10.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2.png"/><Relationship Id="rId5" Type="http://schemas.openxmlformats.org/officeDocument/2006/relationships/image" Target="../media/image-5-3.sv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slideLayout" Target="../slideLayouts/slideLayout2.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1.png"/><Relationship Id="rId6" Type="http://schemas.openxmlformats.org/officeDocument/2006/relationships/image" Target="../media/image-11-2.svg"/><Relationship Id="rId7" Type="http://schemas.openxmlformats.org/officeDocument/2006/relationships/image" Target="../media/image-11-1.png"/><Relationship Id="rId8" Type="http://schemas.openxmlformats.org/officeDocument/2006/relationships/image" Target="../media/image-11-2.svg"/><Relationship Id="rId9" Type="http://schemas.openxmlformats.org/officeDocument/2006/relationships/image" Target="../media/image-11-1.png"/><Relationship Id="rId10" Type="http://schemas.openxmlformats.org/officeDocument/2006/relationships/image" Target="../media/image-11-2.svg"/><Relationship Id="rId11" Type="http://schemas.openxmlformats.org/officeDocument/2006/relationships/slideLayout" Target="../slideLayouts/slideLayout2.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Authenticity, and What a Citation Is For</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6874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have cited sources for years for the wrong reason</a:t>
            </a:r>
            <a:endParaRPr lang="en-US" sz="3700" dirty="0"/>
          </a:p>
        </p:txBody>
      </p:sp>
      <p:sp>
        <p:nvSpPr>
          <p:cNvPr id="3" name="Shape 1"/>
          <p:cNvSpPr/>
          <p:nvPr/>
        </p:nvSpPr>
        <p:spPr>
          <a:xfrm>
            <a:off x="661475" y="2328069"/>
            <a:ext cx="425241" cy="425252"/>
          </a:xfrm>
          <a:prstGeom prst="roundRect">
            <a:avLst>
              <a:gd name="adj" fmla="val 18669"/>
            </a:avLst>
          </a:prstGeom>
          <a:solidFill>
            <a:srgbClr val="D1E5FA"/>
          </a:solidFill>
          <a:ln w="19050">
            <a:solidFill>
              <a:srgbClr val="B7CBE0"/>
            </a:solidFill>
            <a:prstDash val="solid"/>
          </a:ln>
        </p:spPr>
      </p:sp>
      <p:sp>
        <p:nvSpPr>
          <p:cNvPr id="4" name="Text 2"/>
          <p:cNvSpPr/>
          <p:nvPr/>
        </p:nvSpPr>
        <p:spPr>
          <a:xfrm>
            <a:off x="1275723" y="23929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were taught citation as formatting and honesty</a:t>
            </a:r>
            <a:endParaRPr lang="en-US" sz="1850" dirty="0"/>
          </a:p>
        </p:txBody>
      </p:sp>
      <p:sp>
        <p:nvSpPr>
          <p:cNvPr id="5" name="Shape 3"/>
          <p:cNvSpPr/>
          <p:nvPr/>
        </p:nvSpPr>
        <p:spPr>
          <a:xfrm>
            <a:off x="661475" y="3131344"/>
            <a:ext cx="425241" cy="425252"/>
          </a:xfrm>
          <a:prstGeom prst="roundRect">
            <a:avLst>
              <a:gd name="adj" fmla="val 18669"/>
            </a:avLst>
          </a:prstGeom>
          <a:solidFill>
            <a:srgbClr val="D1E5FA"/>
          </a:solidFill>
          <a:ln w="19050">
            <a:solidFill>
              <a:srgbClr val="B7CBE0"/>
            </a:solidFill>
            <a:prstDash val="solid"/>
          </a:ln>
        </p:spPr>
      </p:sp>
      <p:sp>
        <p:nvSpPr>
          <p:cNvPr id="6" name="Text 4"/>
          <p:cNvSpPr/>
          <p:nvPr/>
        </p:nvSpPr>
        <p:spPr>
          <a:xfrm>
            <a:off x="1275723" y="319623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Both of those are true</a:t>
            </a:r>
            <a:endParaRPr lang="en-US" sz="1850" dirty="0"/>
          </a:p>
        </p:txBody>
      </p:sp>
      <p:sp>
        <p:nvSpPr>
          <p:cNvPr id="7" name="Shape 5"/>
          <p:cNvSpPr/>
          <p:nvPr/>
        </p:nvSpPr>
        <p:spPr>
          <a:xfrm>
            <a:off x="661475" y="3934619"/>
            <a:ext cx="425241" cy="425252"/>
          </a:xfrm>
          <a:prstGeom prst="roundRect">
            <a:avLst>
              <a:gd name="adj" fmla="val 18669"/>
            </a:avLst>
          </a:prstGeom>
          <a:solidFill>
            <a:srgbClr val="D1E5FA"/>
          </a:solidFill>
          <a:ln w="19050">
            <a:solidFill>
              <a:srgbClr val="B7CBE0"/>
            </a:solidFill>
            <a:prstDash val="solid"/>
          </a:ln>
        </p:spPr>
      </p:sp>
      <p:sp>
        <p:nvSpPr>
          <p:cNvPr id="8" name="Text 6"/>
          <p:cNvSpPr/>
          <p:nvPr/>
        </p:nvSpPr>
        <p:spPr>
          <a:xfrm>
            <a:off x="1275723" y="399950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Neither of them is why the rule exists</a:t>
            </a:r>
            <a:endParaRPr lang="en-US" sz="1850" dirty="0"/>
          </a:p>
        </p:txBody>
      </p:sp>
      <p:sp>
        <p:nvSpPr>
          <p:cNvPr id="9" name="Shape 7"/>
          <p:cNvSpPr/>
          <p:nvPr/>
        </p:nvSpPr>
        <p:spPr>
          <a:xfrm>
            <a:off x="661475" y="4737894"/>
            <a:ext cx="425241" cy="425252"/>
          </a:xfrm>
          <a:prstGeom prst="roundRect">
            <a:avLst>
              <a:gd name="adj" fmla="val 18669"/>
            </a:avLst>
          </a:prstGeom>
          <a:solidFill>
            <a:srgbClr val="D1E5FA"/>
          </a:solidFill>
          <a:ln w="19050">
            <a:solidFill>
              <a:srgbClr val="B7CBE0"/>
            </a:solidFill>
            <a:prstDash val="solid"/>
          </a:ln>
        </p:spPr>
      </p:sp>
      <p:sp>
        <p:nvSpPr>
          <p:cNvPr id="10" name="Text 8"/>
          <p:cNvSpPr/>
          <p:nvPr/>
        </p:nvSpPr>
        <p:spPr>
          <a:xfrm>
            <a:off x="1275723" y="4802783"/>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citation is instructions for checking a claim</a:t>
            </a:r>
            <a:endParaRPr lang="en-US" sz="1850" dirty="0"/>
          </a:p>
        </p:txBody>
      </p:sp>
      <p:sp>
        <p:nvSpPr>
          <p:cNvPr id="11" name="Shape 9"/>
          <p:cNvSpPr/>
          <p:nvPr/>
        </p:nvSpPr>
        <p:spPr>
          <a:xfrm>
            <a:off x="661475" y="5541169"/>
            <a:ext cx="425241" cy="425252"/>
          </a:xfrm>
          <a:prstGeom prst="roundRect">
            <a:avLst>
              <a:gd name="adj" fmla="val 18669"/>
            </a:avLst>
          </a:prstGeom>
          <a:solidFill>
            <a:srgbClr val="D1E5FA"/>
          </a:solidFill>
          <a:ln w="19050">
            <a:solidFill>
              <a:srgbClr val="B7CBE0"/>
            </a:solidFill>
            <a:prstDash val="solid"/>
          </a:ln>
        </p:spPr>
      </p:sp>
      <p:sp>
        <p:nvSpPr>
          <p:cNvPr id="12" name="Text 10"/>
          <p:cNvSpPr/>
          <p:nvPr/>
        </p:nvSpPr>
        <p:spPr>
          <a:xfrm>
            <a:off x="1275723" y="5606058"/>
            <a:ext cx="1025449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Without having to trust the person who made it</a:t>
            </a:r>
            <a:endParaRPr lang="en-US" sz="1850" dirty="0"/>
          </a:p>
        </p:txBody>
      </p:sp>
      <p:sp>
        <p:nvSpPr>
          <p:cNvPr id="13"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80430"/>
            <a:ext cx="10868745" cy="470595"/>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Four parts, and each one narrows the search</a:t>
            </a:r>
            <a:endParaRPr lang="en-US" sz="29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365945"/>
            <a:ext cx="3565138" cy="1127621"/>
          </a:xfrm>
          <a:prstGeom prst="rect">
            <a:avLst/>
          </a:prstGeom>
        </p:spPr>
      </p:pic>
      <p:sp>
        <p:nvSpPr>
          <p:cNvPr id="4" name="Text 1"/>
          <p:cNvSpPr/>
          <p:nvPr/>
        </p:nvSpPr>
        <p:spPr>
          <a:xfrm>
            <a:off x="862388" y="1788517"/>
            <a:ext cx="225915" cy="282377"/>
          </a:xfrm>
          <a:prstGeom prst="rect">
            <a:avLst/>
          </a:prstGeom>
          <a:noFill/>
          <a:ln/>
        </p:spPr>
        <p:txBody>
          <a:bodyPr wrap="none" lIns="0" tIns="0" rIns="0" bIns="0" rtlCol="0" anchor="ctr"/>
          <a:lstStyle/>
          <a:p>
            <a:pPr algn="ctr" indent="0" marL="0">
              <a:lnSpc>
                <a:spcPct val="100000"/>
              </a:lnSpc>
              <a:buNone/>
            </a:pPr>
            <a:r>
              <a:rPr lang="en-US" sz="1750" b="1" dirty="0">
                <a:solidFill>
                  <a:srgbClr val="1C1C1C"/>
                </a:solidFill>
                <a:latin typeface="Orbitron Bold" pitchFamily="34" charset="0"/>
                <a:ea typeface="Orbitron Bold" pitchFamily="34" charset="-122"/>
                <a:cs typeface="Orbitron Bold" pitchFamily="34" charset="-120"/>
              </a:rPr>
              <a:t>1</a:t>
            </a:r>
            <a:endParaRPr lang="en-US" sz="1750" dirty="0"/>
          </a:p>
        </p:txBody>
      </p:sp>
      <p:sp>
        <p:nvSpPr>
          <p:cNvPr id="5" name="Text 2"/>
          <p:cNvSpPr/>
          <p:nvPr/>
        </p:nvSpPr>
        <p:spPr>
          <a:xfrm>
            <a:off x="1402918" y="1535609"/>
            <a:ext cx="2654035" cy="235347"/>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Who</a:t>
            </a:r>
            <a:endParaRPr lang="en-US" sz="1450" dirty="0"/>
          </a:p>
        </p:txBody>
      </p:sp>
      <p:sp>
        <p:nvSpPr>
          <p:cNvPr id="6" name="Text 3"/>
          <p:cNvSpPr/>
          <p:nvPr/>
        </p:nvSpPr>
        <p:spPr>
          <a:xfrm>
            <a:off x="1402918" y="1890911"/>
            <a:ext cx="2654035" cy="432991"/>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1C1C1C"/>
                </a:solidFill>
                <a:latin typeface="Roboto Condensed" pitchFamily="34" charset="0"/>
                <a:ea typeface="Roboto Condensed" pitchFamily="34" charset="-122"/>
                <a:cs typeface="Roboto Condensed" pitchFamily="34" charset="-120"/>
              </a:rPr>
              <a:t>Find the person or organisation responsible</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613521"/>
            <a:ext cx="3565138" cy="1127621"/>
          </a:xfrm>
          <a:prstGeom prst="rect">
            <a:avLst/>
          </a:prstGeom>
        </p:spPr>
      </p:pic>
      <p:sp>
        <p:nvSpPr>
          <p:cNvPr id="8" name="Text 4"/>
          <p:cNvSpPr/>
          <p:nvPr/>
        </p:nvSpPr>
        <p:spPr>
          <a:xfrm>
            <a:off x="862388" y="3036094"/>
            <a:ext cx="225915" cy="282377"/>
          </a:xfrm>
          <a:prstGeom prst="rect">
            <a:avLst/>
          </a:prstGeom>
          <a:noFill/>
          <a:ln/>
        </p:spPr>
        <p:txBody>
          <a:bodyPr wrap="none" lIns="0" tIns="0" rIns="0" bIns="0" rtlCol="0" anchor="ctr"/>
          <a:lstStyle/>
          <a:p>
            <a:pPr algn="ctr" indent="0" marL="0">
              <a:lnSpc>
                <a:spcPct val="100000"/>
              </a:lnSpc>
              <a:buNone/>
            </a:pPr>
            <a:r>
              <a:rPr lang="en-US" sz="1750" b="1" dirty="0">
                <a:solidFill>
                  <a:srgbClr val="1C1C1C"/>
                </a:solidFill>
                <a:latin typeface="Orbitron Bold" pitchFamily="34" charset="0"/>
                <a:ea typeface="Orbitron Bold" pitchFamily="34" charset="-122"/>
                <a:cs typeface="Orbitron Bold" pitchFamily="34" charset="-120"/>
              </a:rPr>
              <a:t>2</a:t>
            </a:r>
            <a:endParaRPr lang="en-US" sz="1750" dirty="0"/>
          </a:p>
        </p:txBody>
      </p:sp>
      <p:sp>
        <p:nvSpPr>
          <p:cNvPr id="9" name="Text 5"/>
          <p:cNvSpPr/>
          <p:nvPr/>
        </p:nvSpPr>
        <p:spPr>
          <a:xfrm>
            <a:off x="1402918" y="2783185"/>
            <a:ext cx="2654035" cy="235347"/>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What</a:t>
            </a:r>
            <a:endParaRPr lang="en-US" sz="1450" dirty="0"/>
          </a:p>
        </p:txBody>
      </p:sp>
      <p:sp>
        <p:nvSpPr>
          <p:cNvPr id="10" name="Text 6"/>
          <p:cNvSpPr/>
          <p:nvPr/>
        </p:nvSpPr>
        <p:spPr>
          <a:xfrm>
            <a:off x="1402918" y="3138488"/>
            <a:ext cx="2654035" cy="432991"/>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1C1C1C"/>
                </a:solidFill>
                <a:latin typeface="Roboto Condensed" pitchFamily="34" charset="0"/>
                <a:ea typeface="Roboto Condensed" pitchFamily="34" charset="-122"/>
                <a:cs typeface="Roboto Condensed" pitchFamily="34" charset="-120"/>
              </a:rPr>
              <a:t>Find the specific work, not the whole publication</a:t>
            </a:r>
            <a:endParaRPr lang="en-US" sz="11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861098"/>
            <a:ext cx="3565138" cy="1127621"/>
          </a:xfrm>
          <a:prstGeom prst="rect">
            <a:avLst/>
          </a:prstGeom>
        </p:spPr>
      </p:pic>
      <p:sp>
        <p:nvSpPr>
          <p:cNvPr id="12" name="Text 7"/>
          <p:cNvSpPr/>
          <p:nvPr/>
        </p:nvSpPr>
        <p:spPr>
          <a:xfrm>
            <a:off x="862388" y="4283670"/>
            <a:ext cx="225915" cy="282377"/>
          </a:xfrm>
          <a:prstGeom prst="rect">
            <a:avLst/>
          </a:prstGeom>
          <a:noFill/>
          <a:ln/>
        </p:spPr>
        <p:txBody>
          <a:bodyPr wrap="none" lIns="0" tIns="0" rIns="0" bIns="0" rtlCol="0" anchor="ctr"/>
          <a:lstStyle/>
          <a:p>
            <a:pPr algn="ctr" indent="0" marL="0">
              <a:lnSpc>
                <a:spcPct val="100000"/>
              </a:lnSpc>
              <a:buNone/>
            </a:pPr>
            <a:r>
              <a:rPr lang="en-US" sz="1750" b="1" dirty="0">
                <a:solidFill>
                  <a:srgbClr val="1C1C1C"/>
                </a:solidFill>
                <a:latin typeface="Orbitron Bold" pitchFamily="34" charset="0"/>
                <a:ea typeface="Orbitron Bold" pitchFamily="34" charset="-122"/>
                <a:cs typeface="Orbitron Bold" pitchFamily="34" charset="-120"/>
              </a:rPr>
              <a:t>3</a:t>
            </a:r>
            <a:endParaRPr lang="en-US" sz="1750" dirty="0"/>
          </a:p>
        </p:txBody>
      </p:sp>
      <p:sp>
        <p:nvSpPr>
          <p:cNvPr id="13" name="Text 8"/>
          <p:cNvSpPr/>
          <p:nvPr/>
        </p:nvSpPr>
        <p:spPr>
          <a:xfrm>
            <a:off x="1402918" y="4030762"/>
            <a:ext cx="2654035" cy="235347"/>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Where</a:t>
            </a:r>
            <a:endParaRPr lang="en-US" sz="1450" dirty="0"/>
          </a:p>
        </p:txBody>
      </p:sp>
      <p:sp>
        <p:nvSpPr>
          <p:cNvPr id="14" name="Text 9"/>
          <p:cNvSpPr/>
          <p:nvPr/>
        </p:nvSpPr>
        <p:spPr>
          <a:xfrm>
            <a:off x="1402918" y="4386064"/>
            <a:ext cx="2654035" cy="432991"/>
          </a:xfrm>
          <a:prstGeom prst="rect">
            <a:avLst/>
          </a:prstGeom>
          <a:noFill/>
          <a:ln/>
        </p:spPr>
        <p:txBody>
          <a:bodyPr wrap="square" lIns="0" tIns="0" rIns="0" bIns="0" rtlCol="0" anchor="t">
            <a:normAutofit/>
          </a:bodyPr>
          <a:lstStyle/>
          <a:p>
            <a:pPr algn="l" indent="0" marL="0">
              <a:lnSpc>
                <a:spcPct val="120000"/>
              </a:lnSpc>
              <a:buNone/>
            </a:pPr>
            <a:r>
              <a:rPr lang="en-US" sz="1150" dirty="0">
                <a:solidFill>
                  <a:srgbClr val="1C1C1C"/>
                </a:solidFill>
                <a:latin typeface="Roboto Condensed" pitchFamily="34" charset="0"/>
                <a:ea typeface="Roboto Condensed" pitchFamily="34" charset="-122"/>
                <a:cs typeface="Roboto Condensed" pitchFamily="34" charset="-120"/>
              </a:rPr>
              <a:t>The exact page, section, timestamp, or table</a:t>
            </a:r>
            <a:endParaRPr lang="en-US" sz="11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5108674"/>
            <a:ext cx="3565138" cy="911126"/>
          </a:xfrm>
          <a:prstGeom prst="rect">
            <a:avLst/>
          </a:prstGeom>
        </p:spPr>
      </p:pic>
      <p:sp>
        <p:nvSpPr>
          <p:cNvPr id="16" name="Text 10"/>
          <p:cNvSpPr/>
          <p:nvPr/>
        </p:nvSpPr>
        <p:spPr>
          <a:xfrm>
            <a:off x="862388" y="5422999"/>
            <a:ext cx="225915" cy="282377"/>
          </a:xfrm>
          <a:prstGeom prst="rect">
            <a:avLst/>
          </a:prstGeom>
          <a:noFill/>
          <a:ln/>
        </p:spPr>
        <p:txBody>
          <a:bodyPr wrap="none" lIns="0" tIns="0" rIns="0" bIns="0" rtlCol="0" anchor="ctr"/>
          <a:lstStyle/>
          <a:p>
            <a:pPr algn="ctr" indent="0" marL="0">
              <a:lnSpc>
                <a:spcPct val="100000"/>
              </a:lnSpc>
              <a:buNone/>
            </a:pPr>
            <a:r>
              <a:rPr lang="en-US" sz="1750" b="1" dirty="0">
                <a:solidFill>
                  <a:srgbClr val="1C1C1C"/>
                </a:solidFill>
                <a:latin typeface="Orbitron Bold" pitchFamily="34" charset="0"/>
                <a:ea typeface="Orbitron Bold" pitchFamily="34" charset="-122"/>
                <a:cs typeface="Orbitron Bold" pitchFamily="34" charset="-120"/>
              </a:rPr>
              <a:t>4</a:t>
            </a:r>
            <a:endParaRPr lang="en-US" sz="1750" dirty="0"/>
          </a:p>
        </p:txBody>
      </p:sp>
      <p:sp>
        <p:nvSpPr>
          <p:cNvPr id="17" name="Text 11"/>
          <p:cNvSpPr/>
          <p:nvPr/>
        </p:nvSpPr>
        <p:spPr>
          <a:xfrm>
            <a:off x="1402918" y="5278338"/>
            <a:ext cx="2654035" cy="235347"/>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When</a:t>
            </a:r>
            <a:endParaRPr lang="en-US" sz="1450" dirty="0"/>
          </a:p>
        </p:txBody>
      </p:sp>
      <p:sp>
        <p:nvSpPr>
          <p:cNvPr id="18" name="Text 12"/>
          <p:cNvSpPr/>
          <p:nvPr/>
        </p:nvSpPr>
        <p:spPr>
          <a:xfrm>
            <a:off x="1402918" y="5633641"/>
            <a:ext cx="2654035" cy="216495"/>
          </a:xfrm>
          <a:prstGeom prst="rect">
            <a:avLst/>
          </a:prstGeom>
          <a:noFill/>
          <a:ln/>
        </p:spPr>
        <p:txBody>
          <a:bodyPr wrap="none" lIns="0" tIns="0" rIns="0" bIns="0" rtlCol="0" anchor="t"/>
          <a:lstStyle/>
          <a:p>
            <a:pPr algn="l" indent="0" marL="0">
              <a:lnSpc>
                <a:spcPct val="120000"/>
              </a:lnSpc>
              <a:buNone/>
            </a:pPr>
            <a:r>
              <a:rPr lang="en-US" sz="1150" dirty="0">
                <a:solidFill>
                  <a:srgbClr val="1C1C1C"/>
                </a:solidFill>
                <a:latin typeface="Roboto Condensed" pitchFamily="34" charset="0"/>
                <a:ea typeface="Roboto Condensed" pitchFamily="34" charset="-122"/>
                <a:cs typeface="Roboto Condensed" pitchFamily="34" charset="-120"/>
              </a:rPr>
              <a:t>Know which version you are looking at</a:t>
            </a:r>
            <a:endParaRPr lang="en-US" sz="1150" dirty="0"/>
          </a:p>
        </p:txBody>
      </p:sp>
      <p:pic>
        <p:nvPicPr>
          <p:cNvPr id="19" name="Image 4" descr="preencoded.png">    </p:cNvPr>
          <p:cNvPicPr>
            <a:picLocks noChangeAspect="1"/>
          </p:cNvPicPr>
          <p:nvPr/>
        </p:nvPicPr>
        <p:blipFill>
          <a:blip r:embed="rId9"/>
          <a:stretch>
            <a:fillRect/>
          </a:stretch>
        </p:blipFill>
        <p:spPr>
          <a:xfrm>
            <a:off x="4600460" y="1406327"/>
            <a:ext cx="6936011" cy="3930452"/>
          </a:xfrm>
          <a:prstGeom prst="rect">
            <a:avLst/>
          </a:prstGeom>
        </p:spPr>
      </p:pic>
      <p:sp>
        <p:nvSpPr>
          <p:cNvPr id="20" name="Shape 13"/>
          <p:cNvSpPr/>
          <p:nvPr/>
        </p:nvSpPr>
        <p:spPr>
          <a:xfrm>
            <a:off x="4600460" y="5471716"/>
            <a:ext cx="6936011" cy="507603"/>
          </a:xfrm>
          <a:prstGeom prst="roundRect">
            <a:avLst>
              <a:gd name="adj" fmla="val 12463"/>
            </a:avLst>
          </a:prstGeom>
          <a:solidFill>
            <a:srgbClr val="FCF2B5"/>
          </a:solidFill>
          <a:ln/>
        </p:spPr>
      </p:sp>
      <p:pic>
        <p:nvPicPr>
          <p:cNvPr id="21" name="Image 5" descr="preencoded.png">    </p:cNvPr>
          <p:cNvPicPr>
            <a:picLocks noChangeAspect="1"/>
          </p:cNvPicPr>
          <p:nvPr/>
        </p:nvPicPr>
        <p:blipFill>
          <a:blip r:embed="rId10"/>
          <a:stretch>
            <a:fillRect/>
          </a:stretch>
        </p:blipFill>
        <p:spPr>
          <a:xfrm>
            <a:off x="4751070" y="5656163"/>
            <a:ext cx="188213" cy="150614"/>
          </a:xfrm>
          <a:prstGeom prst="rect">
            <a:avLst/>
          </a:prstGeom>
        </p:spPr>
      </p:pic>
      <p:sp>
        <p:nvSpPr>
          <p:cNvPr id="22" name="Text 14"/>
          <p:cNvSpPr/>
          <p:nvPr/>
        </p:nvSpPr>
        <p:spPr>
          <a:xfrm>
            <a:off x="5089894" y="5617270"/>
            <a:ext cx="6905551" cy="216495"/>
          </a:xfrm>
          <a:prstGeom prst="rect">
            <a:avLst/>
          </a:prstGeom>
          <a:noFill/>
          <a:ln/>
        </p:spPr>
        <p:txBody>
          <a:bodyPr wrap="none" lIns="0" tIns="0" rIns="0" bIns="0" rtlCol="0" anchor="t"/>
          <a:lstStyle/>
          <a:p>
            <a:pPr algn="l" indent="0" marL="0">
              <a:lnSpc>
                <a:spcPct val="120000"/>
              </a:lnSpc>
              <a:buNone/>
            </a:pPr>
            <a:r>
              <a:rPr lang="en-US" sz="1150" dirty="0">
                <a:solidFill>
                  <a:srgbClr val="000000"/>
                </a:solidFill>
                <a:latin typeface="Roboto Condensed" pitchFamily="34" charset="0"/>
                <a:ea typeface="Roboto Condensed" pitchFamily="34" charset="-122"/>
                <a:cs typeface="Roboto Condensed" pitchFamily="34" charset="-120"/>
              </a:rPr>
              <a:t>"Studies have shown" has none of the four.</a:t>
            </a:r>
            <a:endParaRPr lang="en-US" sz="1150" dirty="0"/>
          </a:p>
        </p:txBody>
      </p:sp>
      <p:sp>
        <p:nvSpPr>
          <p:cNvPr id="23" name="Text 1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038027"/>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raw material, and the version that drops things</a:t>
            </a:r>
            <a:endParaRPr lang="en-US" sz="3700" dirty="0"/>
          </a:p>
        </p:txBody>
      </p:sp>
      <p:sp>
        <p:nvSpPr>
          <p:cNvPr id="3" name="Shape 1"/>
          <p:cNvSpPr/>
          <p:nvPr/>
        </p:nvSpPr>
        <p:spPr>
          <a:xfrm>
            <a:off x="661475" y="2597348"/>
            <a:ext cx="10868745" cy="3099792"/>
          </a:xfrm>
          <a:prstGeom prst="roundRect">
            <a:avLst>
              <a:gd name="adj" fmla="val 2561"/>
            </a:avLst>
          </a:prstGeom>
          <a:solidFill>
            <a:srgbClr val="F2F2F2"/>
          </a:solidFill>
          <a:ln/>
        </p:spPr>
      </p:sp>
      <p:sp>
        <p:nvSpPr>
          <p:cNvPr id="4" name="Text 2"/>
          <p:cNvSpPr/>
          <p:nvPr/>
        </p:nvSpPr>
        <p:spPr>
          <a:xfrm>
            <a:off x="888283" y="2786360"/>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SOURCE. Media Club equipment memo, section 3 (constructed for this lesson).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"Cameras returned after 3:15 are logged as late. A late return does not carry a</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penalty on the first occasion. On a second late return in the same quarter, the</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member loses checkout privileges for two weeks. The advisor may waive this for</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a documented conflict."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BADLY EXTRACTED</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"You get banned for two weeks if you are late."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36972"/>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It is wrong in three separate ways</a:t>
            </a:r>
            <a:endParaRPr lang="en-US" sz="36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974552"/>
            <a:ext cx="6296860" cy="1118691"/>
          </a:xfrm>
          <a:prstGeom prst="rect">
            <a:avLst/>
          </a:prstGeom>
        </p:spPr>
      </p:pic>
      <p:sp>
        <p:nvSpPr>
          <p:cNvPr id="5" name="Text 1"/>
          <p:cNvSpPr/>
          <p:nvPr/>
        </p:nvSpPr>
        <p:spPr>
          <a:xfrm>
            <a:off x="5546388" y="2185988"/>
            <a:ext cx="577240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First omission</a:t>
            </a:r>
            <a:endParaRPr lang="en-US" sz="1800" dirty="0"/>
          </a:p>
        </p:txBody>
      </p:sp>
      <p:sp>
        <p:nvSpPr>
          <p:cNvPr id="6" name="Text 2"/>
          <p:cNvSpPr/>
          <p:nvPr/>
        </p:nvSpPr>
        <p:spPr>
          <a:xfrm>
            <a:off x="5546388" y="2586534"/>
            <a:ext cx="577240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It drops the first occasion exception</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276402"/>
            <a:ext cx="6296860" cy="1118691"/>
          </a:xfrm>
          <a:prstGeom prst="rect">
            <a:avLst/>
          </a:prstGeom>
        </p:spPr>
      </p:pic>
      <p:sp>
        <p:nvSpPr>
          <p:cNvPr id="8" name="Text 3"/>
          <p:cNvSpPr/>
          <p:nvPr/>
        </p:nvSpPr>
        <p:spPr>
          <a:xfrm>
            <a:off x="5546388" y="3487837"/>
            <a:ext cx="577240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Second omission</a:t>
            </a:r>
            <a:endParaRPr lang="en-US" sz="1800" dirty="0"/>
          </a:p>
        </p:txBody>
      </p:sp>
      <p:sp>
        <p:nvSpPr>
          <p:cNvPr id="9" name="Text 4"/>
          <p:cNvSpPr/>
          <p:nvPr/>
        </p:nvSpPr>
        <p:spPr>
          <a:xfrm>
            <a:off x="5546388" y="3888383"/>
            <a:ext cx="577240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It drops the same quarter scope</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578251"/>
            <a:ext cx="6296860" cy="1118691"/>
          </a:xfrm>
          <a:prstGeom prst="rect">
            <a:avLst/>
          </a:prstGeom>
        </p:spPr>
      </p:pic>
      <p:sp>
        <p:nvSpPr>
          <p:cNvPr id="11" name="Text 5"/>
          <p:cNvSpPr/>
          <p:nvPr/>
        </p:nvSpPr>
        <p:spPr>
          <a:xfrm>
            <a:off x="5546388" y="4789686"/>
            <a:ext cx="577240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Third omission</a:t>
            </a:r>
            <a:endParaRPr lang="en-US" sz="1800" dirty="0"/>
          </a:p>
        </p:txBody>
      </p:sp>
      <p:sp>
        <p:nvSpPr>
          <p:cNvPr id="12" name="Text 6"/>
          <p:cNvSpPr/>
          <p:nvPr/>
        </p:nvSpPr>
        <p:spPr>
          <a:xfrm>
            <a:off x="5546388" y="5190232"/>
            <a:ext cx="5772402"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It drops the advisor waiver</a:t>
            </a:r>
            <a:endParaRPr lang="en-US" sz="1450" dirty="0"/>
          </a:p>
        </p:txBody>
      </p:sp>
      <p:sp>
        <p:nvSpPr>
          <p:cNvPr id="13" name="Text 7"/>
          <p:cNvSpPr/>
          <p:nvPr/>
        </p:nvSpPr>
        <p:spPr>
          <a:xfrm>
            <a:off x="5233360" y="5902920"/>
            <a:ext cx="6906444" cy="295275"/>
          </a:xfrm>
          <a:prstGeom prst="rect">
            <a:avLst/>
          </a:prstGeom>
          <a:noFill/>
          <a:ln/>
        </p:spPr>
        <p:txBody>
          <a:bodyPr wrap="none" lIns="0" tIns="0" rIns="0" bIns="0" rtlCol="0" anchor="t"/>
          <a:lstStyle/>
          <a:p>
            <a:pPr algn="l" indent="0" marL="0">
              <a:lnSpc>
                <a:spcPct val="132000"/>
              </a:lnSpc>
              <a:buNone/>
            </a:pPr>
            <a:r>
              <a:rPr lang="en-US" sz="1450" dirty="0">
                <a:solidFill>
                  <a:srgbClr val="1C1C1C"/>
                </a:solidFill>
                <a:latin typeface="Roboto Condensed" pitchFamily="34" charset="0"/>
                <a:ea typeface="Roboto Condensed" pitchFamily="34" charset="-122"/>
                <a:cs typeface="Roboto Condensed" pitchFamily="34" charset="-120"/>
              </a:rPr>
              <a:t>Every one of those changes what somebody would do.</a:t>
            </a:r>
            <a:endParaRPr lang="en-US" sz="1450" dirty="0"/>
          </a:p>
        </p:txBody>
      </p:sp>
      <p:sp>
        <p:nvSpPr>
          <p:cNvPr id="14" name="Text 8"/>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version a reader can check</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WELL EXTRACTED</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 camera returned after 3:15 is logged late. The first late return in a quarter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carries no penalty; a second costs two weeks of checkout privileges, and the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advisor may waive it for a documented conflict.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(Media Club equipment memo, section 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259780"/>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four-step check, in the order that works</a:t>
            </a:r>
            <a:endParaRPr lang="en-US" sz="3700" dirty="0"/>
          </a:p>
        </p:txBody>
      </p:sp>
      <p:sp>
        <p:nvSpPr>
          <p:cNvPr id="3" name="Text 1"/>
          <p:cNvSpPr/>
          <p:nvPr/>
        </p:nvSpPr>
        <p:spPr>
          <a:xfrm>
            <a:off x="661475" y="28191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3114973"/>
            <a:ext cx="3496877" cy="25400"/>
          </a:xfrm>
          <a:prstGeom prst="rect">
            <a:avLst/>
          </a:prstGeom>
          <a:solidFill>
            <a:srgbClr val="57A1EB"/>
          </a:solidFill>
          <a:ln/>
        </p:spPr>
      </p:sp>
      <p:sp>
        <p:nvSpPr>
          <p:cNvPr id="5" name="Text 3"/>
          <p:cNvSpPr/>
          <p:nvPr/>
        </p:nvSpPr>
        <p:spPr>
          <a:xfrm>
            <a:off x="661475" y="32602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Does the venue exist?</a:t>
            </a:r>
            <a:endParaRPr lang="en-US" sz="1850" dirty="0"/>
          </a:p>
        </p:txBody>
      </p:sp>
      <p:sp>
        <p:nvSpPr>
          <p:cNvPr id="6" name="Text 4"/>
          <p:cNvSpPr/>
          <p:nvPr/>
        </p:nvSpPr>
        <p:spPr>
          <a:xfrm>
            <a:off x="661475" y="36689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Search the publication name in quotes</a:t>
            </a:r>
            <a:endParaRPr lang="en-US" sz="1450" dirty="0"/>
          </a:p>
        </p:txBody>
      </p:sp>
      <p:sp>
        <p:nvSpPr>
          <p:cNvPr id="7" name="Text 5"/>
          <p:cNvSpPr/>
          <p:nvPr/>
        </p:nvSpPr>
        <p:spPr>
          <a:xfrm>
            <a:off x="4347359" y="28191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6"/>
          <p:cNvSpPr/>
          <p:nvPr/>
        </p:nvSpPr>
        <p:spPr>
          <a:xfrm>
            <a:off x="4347359" y="3114973"/>
            <a:ext cx="3496877" cy="25400"/>
          </a:xfrm>
          <a:prstGeom prst="rect">
            <a:avLst/>
          </a:prstGeom>
          <a:solidFill>
            <a:srgbClr val="57A1EB"/>
          </a:solidFill>
          <a:ln/>
        </p:spPr>
      </p:sp>
      <p:sp>
        <p:nvSpPr>
          <p:cNvPr id="9" name="Text 7"/>
          <p:cNvSpPr/>
          <p:nvPr/>
        </p:nvSpPr>
        <p:spPr>
          <a:xfrm>
            <a:off x="4347359" y="3260229"/>
            <a:ext cx="349687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Does the work exist?</a:t>
            </a:r>
            <a:endParaRPr lang="en-US" sz="1850" dirty="0"/>
          </a:p>
        </p:txBody>
      </p:sp>
      <p:sp>
        <p:nvSpPr>
          <p:cNvPr id="10" name="Text 8"/>
          <p:cNvSpPr/>
          <p:nvPr/>
        </p:nvSpPr>
        <p:spPr>
          <a:xfrm>
            <a:off x="4347359" y="3668911"/>
            <a:ext cx="349687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Search the title in quotes</a:t>
            </a:r>
            <a:endParaRPr lang="en-US" sz="1450" dirty="0"/>
          </a:p>
        </p:txBody>
      </p:sp>
      <p:sp>
        <p:nvSpPr>
          <p:cNvPr id="11" name="Text 9"/>
          <p:cNvSpPr/>
          <p:nvPr/>
        </p:nvSpPr>
        <p:spPr>
          <a:xfrm>
            <a:off x="8033244" y="2819102"/>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2" name="Shape 10"/>
          <p:cNvSpPr/>
          <p:nvPr/>
        </p:nvSpPr>
        <p:spPr>
          <a:xfrm>
            <a:off x="8033244" y="3114973"/>
            <a:ext cx="3496877" cy="25400"/>
          </a:xfrm>
          <a:prstGeom prst="rect">
            <a:avLst/>
          </a:prstGeom>
          <a:solidFill>
            <a:srgbClr val="57A1EB"/>
          </a:solidFill>
          <a:ln/>
        </p:spPr>
      </p:sp>
      <p:sp>
        <p:nvSpPr>
          <p:cNvPr id="13" name="Text 11"/>
          <p:cNvSpPr/>
          <p:nvPr/>
        </p:nvSpPr>
        <p:spPr>
          <a:xfrm>
            <a:off x="8033244" y="3260229"/>
            <a:ext cx="349687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Does the author exist, and did they write this</a:t>
            </a:r>
            <a:endParaRPr lang="en-US" sz="1850" dirty="0"/>
          </a:p>
        </p:txBody>
      </p:sp>
      <p:sp>
        <p:nvSpPr>
          <p:cNvPr id="14" name="Text 12"/>
          <p:cNvSpPr/>
          <p:nvPr/>
        </p:nvSpPr>
        <p:spPr>
          <a:xfrm>
            <a:off x="661475" y="43020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5" name="Shape 13"/>
          <p:cNvSpPr/>
          <p:nvPr/>
        </p:nvSpPr>
        <p:spPr>
          <a:xfrm>
            <a:off x="661475" y="4597896"/>
            <a:ext cx="5339820" cy="25400"/>
          </a:xfrm>
          <a:prstGeom prst="rect">
            <a:avLst/>
          </a:prstGeom>
          <a:solidFill>
            <a:srgbClr val="57A1EB"/>
          </a:solidFill>
          <a:ln/>
        </p:spPr>
      </p:sp>
      <p:sp>
        <p:nvSpPr>
          <p:cNvPr id="16" name="Text 14"/>
          <p:cNvSpPr/>
          <p:nvPr/>
        </p:nvSpPr>
        <p:spPr>
          <a:xfrm>
            <a:off x="661475" y="4743152"/>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 the year, volume and page range match</a:t>
            </a:r>
            <a:endParaRPr lang="en-US" sz="1850" dirty="0"/>
          </a:p>
        </p:txBody>
      </p:sp>
      <p:sp>
        <p:nvSpPr>
          <p:cNvPr id="17" name="Text 15"/>
          <p:cNvSpPr/>
          <p:nvPr/>
        </p:nvSpPr>
        <p:spPr>
          <a:xfrm>
            <a:off x="6190301" y="43020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05</a:t>
            </a:r>
            <a:endParaRPr lang="en-US" sz="1450" dirty="0"/>
          </a:p>
        </p:txBody>
      </p:sp>
      <p:sp>
        <p:nvSpPr>
          <p:cNvPr id="18" name="Shape 16"/>
          <p:cNvSpPr/>
          <p:nvPr/>
        </p:nvSpPr>
        <p:spPr>
          <a:xfrm>
            <a:off x="6190301" y="4597896"/>
            <a:ext cx="5339820" cy="25400"/>
          </a:xfrm>
          <a:prstGeom prst="rect">
            <a:avLst/>
          </a:prstGeom>
          <a:solidFill>
            <a:srgbClr val="57A1EB"/>
          </a:solidFill>
          <a:ln/>
        </p:spPr>
      </p:sp>
      <p:sp>
        <p:nvSpPr>
          <p:cNvPr id="19" name="Text 17"/>
          <p:cNvSpPr/>
          <p:nvPr/>
        </p:nvSpPr>
        <p:spPr>
          <a:xfrm>
            <a:off x="6190301" y="4743152"/>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Record the catalog, the exact string, and what came back</a:t>
            </a:r>
            <a:endParaRPr lang="en-US" sz="1850" dirty="0"/>
          </a:p>
        </p:txBody>
      </p:sp>
      <p:sp>
        <p:nvSpPr>
          <p:cNvPr id="20" name="Text 1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a recorded check looks like</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NOT A FINDING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"This source is fake."</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 FINDING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 venue "Proceedings of the Workshop on Classroom Systems" returned no</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results. A similarly named workshop does exist, and searching its proceedings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index for the title returned nothing. Volume 10 of that index covers a</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different year than 2011.</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45167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it is the first thing everybody tries</a:t>
            </a:r>
            <a:endParaRPr lang="en-US" sz="3700" dirty="0"/>
          </a:p>
        </p:txBody>
      </p:sp>
      <p:sp>
        <p:nvSpPr>
          <p:cNvPr id="4" name="Text 1"/>
          <p:cNvSpPr/>
          <p:nvPr/>
        </p:nvSpPr>
        <p:spPr>
          <a:xfrm>
            <a:off x="661475" y="3507085"/>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Ask the model whether its own citation is real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says yes, or it cannot verify, or it apologises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None of those is a check, because nothing looked anything up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fake citation and yes that is real are both likely text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Asking a second model is two guesses, not a check</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52231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Misattribution survives the check most people run</a:t>
            </a:r>
            <a:endParaRPr lang="en-US" sz="3700" dirty="0"/>
          </a:p>
        </p:txBody>
      </p:sp>
      <p:sp>
        <p:nvSpPr>
          <p:cNvPr id="3" name="Shape 1"/>
          <p:cNvSpPr/>
          <p:nvPr/>
        </p:nvSpPr>
        <p:spPr>
          <a:xfrm>
            <a:off x="661475" y="3199705"/>
            <a:ext cx="2507394" cy="1800523"/>
          </a:xfrm>
          <a:prstGeom prst="roundRect">
            <a:avLst>
              <a:gd name="adj" fmla="val 4409"/>
            </a:avLst>
          </a:prstGeom>
          <a:solidFill>
            <a:srgbClr val="D1E5FA"/>
          </a:solidFill>
          <a:ln w="19050">
            <a:solidFill>
              <a:srgbClr val="B7CBE0"/>
            </a:solidFill>
            <a:prstDash val="solid"/>
          </a:ln>
        </p:spPr>
      </p:sp>
      <p:sp>
        <p:nvSpPr>
          <p:cNvPr id="4" name="Text 2"/>
          <p:cNvSpPr/>
          <p:nvPr/>
        </p:nvSpPr>
        <p:spPr>
          <a:xfrm>
            <a:off x="869531" y="3407767"/>
            <a:ext cx="209128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Uncredited reuse</a:t>
            </a:r>
            <a:endParaRPr lang="en-US" sz="1850" dirty="0"/>
          </a:p>
        </p:txBody>
      </p:sp>
      <p:sp>
        <p:nvSpPr>
          <p:cNvPr id="5" name="Text 3"/>
          <p:cNvSpPr/>
          <p:nvPr/>
        </p:nvSpPr>
        <p:spPr>
          <a:xfrm>
            <a:off x="869531" y="4187329"/>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passage that tracks a source, unnamed</a:t>
            </a:r>
            <a:endParaRPr lang="en-US" sz="1450" dirty="0"/>
          </a:p>
        </p:txBody>
      </p:sp>
      <p:sp>
        <p:nvSpPr>
          <p:cNvPr id="6" name="Shape 4"/>
          <p:cNvSpPr/>
          <p:nvPr/>
        </p:nvSpPr>
        <p:spPr>
          <a:xfrm>
            <a:off x="3357875" y="3199705"/>
            <a:ext cx="2507394" cy="1800523"/>
          </a:xfrm>
          <a:prstGeom prst="roundRect">
            <a:avLst>
              <a:gd name="adj" fmla="val 4409"/>
            </a:avLst>
          </a:prstGeom>
          <a:solidFill>
            <a:srgbClr val="D1E5FA"/>
          </a:solidFill>
          <a:ln w="19050">
            <a:solidFill>
              <a:srgbClr val="B7CBE0"/>
            </a:solidFill>
            <a:prstDash val="solid"/>
          </a:ln>
        </p:spPr>
      </p:sp>
      <p:sp>
        <p:nvSpPr>
          <p:cNvPr id="7" name="Text 5"/>
          <p:cNvSpPr/>
          <p:nvPr/>
        </p:nvSpPr>
        <p:spPr>
          <a:xfrm>
            <a:off x="3565932" y="3407767"/>
            <a:ext cx="209128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Misattribution</a:t>
            </a:r>
            <a:endParaRPr lang="en-US" sz="1850" dirty="0"/>
          </a:p>
        </p:txBody>
      </p:sp>
      <p:sp>
        <p:nvSpPr>
          <p:cNvPr id="8" name="Text 6"/>
          <p:cNvSpPr/>
          <p:nvPr/>
        </p:nvSpPr>
        <p:spPr>
          <a:xfrm>
            <a:off x="3565932" y="3892054"/>
            <a:ext cx="209128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 real quote assigned to the wrong person</a:t>
            </a:r>
            <a:endParaRPr lang="en-US" sz="1450" dirty="0"/>
          </a:p>
        </p:txBody>
      </p:sp>
      <p:sp>
        <p:nvSpPr>
          <p:cNvPr id="9" name="Text 7"/>
          <p:cNvSpPr/>
          <p:nvPr/>
        </p:nvSpPr>
        <p:spPr>
          <a:xfrm>
            <a:off x="6332776" y="3157141"/>
            <a:ext cx="5203794" cy="1247378"/>
          </a:xfrm>
          <a:prstGeom prst="rect">
            <a:avLst/>
          </a:prstGeom>
          <a:noFill/>
          <a:ln/>
        </p:spPr>
        <p:txBody>
          <a:bodyPr wrap="square" lIns="0" tIns="0" rIns="0" bIns="0" rtlCol="0" anchor="t"/>
          <a:lstStyle/>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Misattribution is worse, because the quote is real.</a:t>
            </a:r>
            <a:endParaRPr lang="en-US" sz="1450" dirty="0"/>
          </a:p>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A searcher confirms it exists and stops.</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invented quote fails that same search and gets caught.</a:t>
            </a:r>
            <a:endParaRPr lang="en-US" sz="1450" dirty="0"/>
          </a:p>
        </p:txBody>
      </p:sp>
      <p:sp>
        <p:nvSpPr>
          <p:cNvPr id="10"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62670"/>
            <a:ext cx="10868745"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How you cite everything in this module</a:t>
            </a:r>
            <a:endParaRPr lang="en-US" sz="35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9041" y="1474639"/>
            <a:ext cx="270166" cy="270173"/>
          </a:xfrm>
          <a:prstGeom prst="rect">
            <a:avLst/>
          </a:prstGeom>
        </p:spPr>
      </p:pic>
      <p:sp>
        <p:nvSpPr>
          <p:cNvPr id="4" name="Text 1"/>
          <p:cNvSpPr/>
          <p:nvPr/>
        </p:nvSpPr>
        <p:spPr>
          <a:xfrm>
            <a:off x="1246851" y="1469132"/>
            <a:ext cx="10283369"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A document</a:t>
            </a:r>
            <a:endParaRPr lang="en-US" sz="1750" dirty="0"/>
          </a:p>
        </p:txBody>
      </p:sp>
      <p:sp>
        <p:nvSpPr>
          <p:cNvPr id="5" name="Text 2"/>
          <p:cNvSpPr/>
          <p:nvPr/>
        </p:nvSpPr>
        <p:spPr>
          <a:xfrm>
            <a:off x="1246851" y="1853605"/>
            <a:ext cx="10283369"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Title, and section or page</a:t>
            </a:r>
            <a:endParaRPr lang="en-US" sz="14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9041" y="2483991"/>
            <a:ext cx="270166" cy="270173"/>
          </a:xfrm>
          <a:prstGeom prst="rect">
            <a:avLst/>
          </a:prstGeom>
        </p:spPr>
      </p:pic>
      <p:sp>
        <p:nvSpPr>
          <p:cNvPr id="7" name="Text 3"/>
          <p:cNvSpPr/>
          <p:nvPr/>
        </p:nvSpPr>
        <p:spPr>
          <a:xfrm>
            <a:off x="1246851" y="2478484"/>
            <a:ext cx="10283369"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A web page</a:t>
            </a:r>
            <a:endParaRPr lang="en-US" sz="1750" dirty="0"/>
          </a:p>
        </p:txBody>
      </p:sp>
      <p:sp>
        <p:nvSpPr>
          <p:cNvPr id="8" name="Text 4"/>
          <p:cNvSpPr/>
          <p:nvPr/>
        </p:nvSpPr>
        <p:spPr>
          <a:xfrm>
            <a:off x="1246851" y="2862957"/>
            <a:ext cx="10283369"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Title, publisher, the URL, and that you opened it</a:t>
            </a:r>
            <a:endParaRPr lang="en-US" sz="14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9041" y="3493343"/>
            <a:ext cx="270166" cy="270173"/>
          </a:xfrm>
          <a:prstGeom prst="rect">
            <a:avLst/>
          </a:prstGeom>
        </p:spPr>
      </p:pic>
      <p:sp>
        <p:nvSpPr>
          <p:cNvPr id="10" name="Text 5"/>
          <p:cNvSpPr/>
          <p:nvPr/>
        </p:nvSpPr>
        <p:spPr>
          <a:xfrm>
            <a:off x="1246851" y="3487837"/>
            <a:ext cx="10283369"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A model output</a:t>
            </a:r>
            <a:endParaRPr lang="en-US" sz="1750" dirty="0"/>
          </a:p>
        </p:txBody>
      </p:sp>
      <p:sp>
        <p:nvSpPr>
          <p:cNvPr id="11" name="Text 6"/>
          <p:cNvSpPr/>
          <p:nvPr/>
        </p:nvSpPr>
        <p:spPr>
          <a:xfrm>
            <a:off x="1246851" y="3872309"/>
            <a:ext cx="10283369"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The run label and the prompt file</a:t>
            </a:r>
            <a:endParaRPr lang="en-US" sz="140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9041" y="4502696"/>
            <a:ext cx="270166" cy="270173"/>
          </a:xfrm>
          <a:prstGeom prst="rect">
            <a:avLst/>
          </a:prstGeom>
        </p:spPr>
      </p:pic>
      <p:sp>
        <p:nvSpPr>
          <p:cNvPr id="13" name="Text 7"/>
          <p:cNvSpPr/>
          <p:nvPr/>
        </p:nvSpPr>
        <p:spPr>
          <a:xfrm>
            <a:off x="1246851" y="4497189"/>
            <a:ext cx="10283369"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A search that found nothing</a:t>
            </a:r>
            <a:endParaRPr lang="en-US" sz="1750" dirty="0"/>
          </a:p>
        </p:txBody>
      </p:sp>
      <p:sp>
        <p:nvSpPr>
          <p:cNvPr id="14" name="Text 8"/>
          <p:cNvSpPr/>
          <p:nvPr/>
        </p:nvSpPr>
        <p:spPr>
          <a:xfrm>
            <a:off x="1246851" y="4881662"/>
            <a:ext cx="10283369"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Catalog, exact string, no results</a:t>
            </a:r>
            <a:endParaRPr lang="en-US" sz="140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9041" y="5512048"/>
            <a:ext cx="270166" cy="270173"/>
          </a:xfrm>
          <a:prstGeom prst="rect">
            <a:avLst/>
          </a:prstGeom>
        </p:spPr>
      </p:pic>
      <p:sp>
        <p:nvSpPr>
          <p:cNvPr id="16" name="Text 9"/>
          <p:cNvSpPr/>
          <p:nvPr/>
        </p:nvSpPr>
        <p:spPr>
          <a:xfrm>
            <a:off x="1246851" y="5506541"/>
            <a:ext cx="10283369" cy="281484"/>
          </a:xfrm>
          <a:prstGeom prst="rect">
            <a:avLst/>
          </a:prstGeom>
          <a:noFill/>
          <a:ln/>
        </p:spPr>
        <p:txBody>
          <a:bodyPr wrap="none" lIns="0" tIns="0" rIns="0" bIns="0" rtlCol="0" anchor="t"/>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Model output</a:t>
            </a:r>
            <a:endParaRPr lang="en-US" sz="1750" dirty="0"/>
          </a:p>
        </p:txBody>
      </p:sp>
      <p:sp>
        <p:nvSpPr>
          <p:cNvPr id="17" name="Text 10"/>
          <p:cNvSpPr/>
          <p:nvPr/>
        </p:nvSpPr>
        <p:spPr>
          <a:xfrm>
            <a:off x="1246851" y="5891014"/>
            <a:ext cx="10283369" cy="281484"/>
          </a:xfrm>
          <a:prstGeom prst="rect">
            <a:avLst/>
          </a:prstGeom>
          <a:noFill/>
          <a:ln/>
        </p:spPr>
        <p:txBody>
          <a:bodyPr wrap="none" lIns="0" tIns="0" rIns="0" bIns="0" rtlCol="0" anchor="t"/>
          <a:lstStyle/>
          <a:p>
            <a:pPr algn="l" indent="0" marL="0">
              <a:lnSpc>
                <a:spcPct val="130000"/>
              </a:lnSpc>
              <a:buNone/>
            </a:pPr>
            <a:r>
              <a:rPr lang="en-US" sz="1400" dirty="0">
                <a:solidFill>
                  <a:srgbClr val="1C1C1C"/>
                </a:solidFill>
                <a:latin typeface="Roboto Condensed" pitchFamily="34" charset="0"/>
                <a:ea typeface="Roboto Condensed" pitchFamily="34" charset="-122"/>
                <a:cs typeface="Roboto Condensed" pitchFamily="34" charset="-120"/>
              </a:rPr>
              <a:t>Gets cited like anything else</a:t>
            </a:r>
            <a:endParaRPr lang="en-US" sz="1400" dirty="0"/>
          </a:p>
        </p:txBody>
      </p:sp>
      <p:sp>
        <p:nvSpPr>
          <p:cNvPr id="18"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Four supplied citations, the four-step check on each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are fabricated, one is real, one is deliberately ambiguous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Record the catalog, the exact string, and what came back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extract three claims from a reference run and cite them</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of the three has to be one you could not verify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2026-09-16T04:08:15Z</dcterms:created>
  <dcterms:modified xsi:type="dcterms:W3CDTF">2026-09-16T04:08:15Z</dcterms:modified>
</cp:coreProperties>
</file>