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module exit criterion asks which framework governs a given category of data, and the question is subtly wrong in a way that costs people real money. Today you learn to ask three questions instead of one, and the second one is the one that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all three and the framework is usually clear. Answer only the first and you will be confidently wrong, in the way the internet is confidently wrong about HIPAA every single day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second one twice. PCI DSS is not a law. It is a standard published by the PCI Security Standards Council and it reaches you through contracts with card brands and processors. It is the odd one out on this list and saying so is worth a point on any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say EUDPR is GDPR-shaped rules for the EU's own institutions, you have the competency. And the citizenship point matters for real: a US citizen living in Berlin is not outside it, and an EU citizen living in Ohio is not automatically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FERPA is not on this module's competency list. It appears in Module 4 under a different code. It is taught here because your assessment is about a school workflow and pretending FERPA is not the governing framework would make the whole exercise a fiction.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one and two are the whole lesson. Identical data, two holders, two answers. If you built a router that keyed on the data alone, both rows would say HIPAA and one of them would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routing table is a starting point that is always incomplete. Card data and health data both attract state law in many places, and this table has no column for it. A tool that never admits it is incomplete trains you to believe it is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rows, three columns, correct spelling, five rows containing something false. The PCI row is the most checkable error in the table and it will be believed by everybody in the room who has not read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not facts of a uniform kind. The format flattened out exactly the distinctions that matter. And the word citizens sounds precise while being the wrong precision, which is how a plausible summary turns into a real engineering error: somebody writes a check for citizenship and the check looks at the wrong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defence and it costs one browser tab. Your notes have the six addresses, each marked verify because government pages move. Click them before you teach or quote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routing exercise, and the grade is on the deciding question rather than the framework name. Build two writes section four of your assessment: name the framework, say what it is for, and say which ones do not apply and why. Purpose level. No section numbers you are not sure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Framework Governs Which Data</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exit criterion has an error in it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which framework governs a category of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Most of these do not follow the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They follow the holder and the relationship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Same fact, two hands, two different answers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928813"/>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questions, not one</a:t>
            </a:r>
            <a:endParaRPr lang="en-US" sz="3700" dirty="0"/>
          </a:p>
        </p:txBody>
      </p:sp>
      <p:sp>
        <p:nvSpPr>
          <p:cNvPr id="4" name="Text 1"/>
          <p:cNvSpPr/>
          <p:nvPr/>
        </p:nvSpPr>
        <p:spPr>
          <a:xfrm>
            <a:off x="8032251" y="3889772"/>
            <a:ext cx="3504219"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is the information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Who holds it, and in what relationship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Where are the people it is about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39849"/>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The six on your competency list</a:t>
            </a:r>
            <a:endParaRPr lang="en-US" sz="3300" dirty="0"/>
          </a:p>
        </p:txBody>
      </p:sp>
      <p:sp>
        <p:nvSpPr>
          <p:cNvPr id="4" name="Shape 1"/>
          <p:cNvSpPr/>
          <p:nvPr/>
        </p:nvSpPr>
        <p:spPr>
          <a:xfrm>
            <a:off x="661475" y="1816795"/>
            <a:ext cx="6296860" cy="982166"/>
          </a:xfrm>
          <a:prstGeom prst="roundRect">
            <a:avLst>
              <a:gd name="adj" fmla="val 7199"/>
            </a:avLst>
          </a:prstGeom>
          <a:solidFill>
            <a:srgbClr val="FFFFFF"/>
          </a:solidFill>
          <a:ln w="19050">
            <a:solidFill>
              <a:srgbClr val="B7CBE0"/>
            </a:solidFill>
            <a:prstDash val="solid"/>
          </a:ln>
        </p:spPr>
      </p:sp>
      <p:sp>
        <p:nvSpPr>
          <p:cNvPr id="5" name="Text 2"/>
          <p:cNvSpPr/>
          <p:nvPr/>
        </p:nvSpPr>
        <p:spPr>
          <a:xfrm>
            <a:off x="848795" y="2004120"/>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HIPAA</a:t>
            </a:r>
            <a:endParaRPr lang="en-US" sz="1650" dirty="0"/>
          </a:p>
        </p:txBody>
      </p:sp>
      <p:sp>
        <p:nvSpPr>
          <p:cNvPr id="6" name="Text 3"/>
          <p:cNvSpPr/>
          <p:nvPr/>
        </p:nvSpPr>
        <p:spPr>
          <a:xfrm>
            <a:off x="848795" y="2357041"/>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Health information, in the health system</a:t>
            </a:r>
            <a:endParaRPr lang="en-US" sz="1300" dirty="0"/>
          </a:p>
        </p:txBody>
      </p:sp>
      <p:sp>
        <p:nvSpPr>
          <p:cNvPr id="7" name="Shape 4"/>
          <p:cNvSpPr/>
          <p:nvPr/>
        </p:nvSpPr>
        <p:spPr>
          <a:xfrm>
            <a:off x="661475" y="2948880"/>
            <a:ext cx="6296860" cy="982166"/>
          </a:xfrm>
          <a:prstGeom prst="roundRect">
            <a:avLst>
              <a:gd name="adj" fmla="val 7199"/>
            </a:avLst>
          </a:prstGeom>
          <a:solidFill>
            <a:srgbClr val="FFFFFF"/>
          </a:solidFill>
          <a:ln w="19050">
            <a:solidFill>
              <a:srgbClr val="B7CBE0"/>
            </a:solidFill>
            <a:prstDash val="solid"/>
          </a:ln>
        </p:spPr>
      </p:sp>
      <p:sp>
        <p:nvSpPr>
          <p:cNvPr id="8" name="Text 5"/>
          <p:cNvSpPr/>
          <p:nvPr/>
        </p:nvSpPr>
        <p:spPr>
          <a:xfrm>
            <a:off x="848795" y="3136205"/>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PCI DSS</a:t>
            </a:r>
            <a:endParaRPr lang="en-US" sz="1650" dirty="0"/>
          </a:p>
        </p:txBody>
      </p:sp>
      <p:sp>
        <p:nvSpPr>
          <p:cNvPr id="9" name="Text 6"/>
          <p:cNvSpPr/>
          <p:nvPr/>
        </p:nvSpPr>
        <p:spPr>
          <a:xfrm>
            <a:off x="848795" y="3489127"/>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Card data, by contract not by statute</a:t>
            </a:r>
            <a:endParaRPr lang="en-US" sz="1300" dirty="0"/>
          </a:p>
        </p:txBody>
      </p:sp>
      <p:sp>
        <p:nvSpPr>
          <p:cNvPr id="10" name="Shape 7"/>
          <p:cNvSpPr/>
          <p:nvPr/>
        </p:nvSpPr>
        <p:spPr>
          <a:xfrm>
            <a:off x="661475" y="4080966"/>
            <a:ext cx="6296860" cy="982166"/>
          </a:xfrm>
          <a:prstGeom prst="roundRect">
            <a:avLst>
              <a:gd name="adj" fmla="val 7199"/>
            </a:avLst>
          </a:prstGeom>
          <a:solidFill>
            <a:srgbClr val="FFFFFF"/>
          </a:solidFill>
          <a:ln w="19050">
            <a:solidFill>
              <a:srgbClr val="B7CBE0"/>
            </a:solidFill>
            <a:prstDash val="solid"/>
          </a:ln>
        </p:spPr>
      </p:sp>
      <p:sp>
        <p:nvSpPr>
          <p:cNvPr id="11" name="Text 8"/>
          <p:cNvSpPr/>
          <p:nvPr/>
        </p:nvSpPr>
        <p:spPr>
          <a:xfrm>
            <a:off x="848795" y="4268291"/>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SOX</a:t>
            </a:r>
            <a:endParaRPr lang="en-US" sz="1650" dirty="0"/>
          </a:p>
        </p:txBody>
      </p:sp>
      <p:sp>
        <p:nvSpPr>
          <p:cNvPr id="12" name="Text 9"/>
          <p:cNvSpPr/>
          <p:nvPr/>
        </p:nvSpPr>
        <p:spPr>
          <a:xfrm>
            <a:off x="848795" y="4621212"/>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Financial reporting at public companies</a:t>
            </a:r>
            <a:endParaRPr lang="en-US" sz="1300" dirty="0"/>
          </a:p>
        </p:txBody>
      </p:sp>
      <p:sp>
        <p:nvSpPr>
          <p:cNvPr id="13" name="Shape 10"/>
          <p:cNvSpPr/>
          <p:nvPr/>
        </p:nvSpPr>
        <p:spPr>
          <a:xfrm>
            <a:off x="661475" y="5213052"/>
            <a:ext cx="6296860" cy="982166"/>
          </a:xfrm>
          <a:prstGeom prst="roundRect">
            <a:avLst>
              <a:gd name="adj" fmla="val 7199"/>
            </a:avLst>
          </a:prstGeom>
          <a:solidFill>
            <a:srgbClr val="FFFFFF"/>
          </a:solidFill>
          <a:ln w="19050">
            <a:solidFill>
              <a:srgbClr val="B7CBE0"/>
            </a:solidFill>
            <a:prstDash val="solid"/>
          </a:ln>
        </p:spPr>
      </p:sp>
      <p:sp>
        <p:nvSpPr>
          <p:cNvPr id="14" name="Text 11"/>
          <p:cNvSpPr/>
          <p:nvPr/>
        </p:nvSpPr>
        <p:spPr>
          <a:xfrm>
            <a:off x="848795" y="5400377"/>
            <a:ext cx="5922219"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ADA</a:t>
            </a:r>
            <a:endParaRPr lang="en-US" sz="1650" dirty="0"/>
          </a:p>
        </p:txBody>
      </p:sp>
      <p:sp>
        <p:nvSpPr>
          <p:cNvPr id="15" name="Text 12"/>
          <p:cNvSpPr/>
          <p:nvPr/>
        </p:nvSpPr>
        <p:spPr>
          <a:xfrm>
            <a:off x="848795" y="5753298"/>
            <a:ext cx="5922219"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Disability discrimination, including accessibility</a:t>
            </a:r>
            <a:endParaRPr lang="en-US" sz="13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39726"/>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two European ones</a:t>
            </a:r>
            <a:endParaRPr lang="en-US" sz="3700" dirty="0"/>
          </a:p>
        </p:txBody>
      </p:sp>
      <p:sp>
        <p:nvSpPr>
          <p:cNvPr id="4" name="Text 1"/>
          <p:cNvSpPr/>
          <p:nvPr/>
        </p:nvSpPr>
        <p:spPr>
          <a:xfrm>
            <a:off x="8032251" y="3100685"/>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GDPR: personal data, rights based, across sectors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EUDPR: the same shape, for the EU's own institutions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GDPR turns on people in the EU, not citizenship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Article 35 is the ancestor of your assessment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88181"/>
            <a:ext cx="6296860" cy="544513"/>
          </a:xfrm>
          <a:prstGeom prst="rect">
            <a:avLst/>
          </a:prstGeom>
          <a:noFill/>
          <a:ln/>
        </p:spPr>
        <p:txBody>
          <a:bodyPr wrap="none" lIns="0" tIns="0" rIns="0" bIns="0" rtlCol="0" anchor="t"/>
          <a:lstStyle/>
          <a:p>
            <a:pPr algn="l" indent="0" marL="0">
              <a:lnSpc>
                <a:spcPct val="104000"/>
              </a:lnSpc>
              <a:buNone/>
            </a:pPr>
            <a:r>
              <a:rPr lang="en-US" sz="3400" b="1" dirty="0">
                <a:solidFill>
                  <a:srgbClr val="111111"/>
                </a:solidFill>
                <a:latin typeface="Orbitron Bold" pitchFamily="34" charset="0"/>
                <a:ea typeface="Orbitron Bold" pitchFamily="34" charset="-122"/>
                <a:cs typeface="Orbitron Bold" pitchFamily="34" charset="-120"/>
              </a:rPr>
              <a:t>The one that governs you</a:t>
            </a:r>
            <a:endParaRPr lang="en-US" sz="3400" dirty="0"/>
          </a:p>
        </p:txBody>
      </p:sp>
      <p:sp>
        <p:nvSpPr>
          <p:cNvPr id="4" name="Shape 1"/>
          <p:cNvSpPr/>
          <p:nvPr/>
        </p:nvSpPr>
        <p:spPr>
          <a:xfrm>
            <a:off x="5233360" y="1473597"/>
            <a:ext cx="6296860" cy="1022846"/>
          </a:xfrm>
          <a:prstGeom prst="roundRect">
            <a:avLst>
              <a:gd name="adj" fmla="val 7155"/>
            </a:avLst>
          </a:prstGeom>
          <a:solidFill>
            <a:srgbClr val="D1E5FA"/>
          </a:solidFill>
          <a:ln w="19050">
            <a:solidFill>
              <a:srgbClr val="B7CBE0"/>
            </a:solidFill>
            <a:prstDash val="solid"/>
          </a:ln>
        </p:spPr>
      </p:sp>
      <p:sp>
        <p:nvSpPr>
          <p:cNvPr id="5" name="Text 2"/>
          <p:cNvSpPr/>
          <p:nvPr/>
        </p:nvSpPr>
        <p:spPr>
          <a:xfrm>
            <a:off x="5426634" y="1666875"/>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FERPA</a:t>
            </a:r>
            <a:endParaRPr lang="en-US" sz="1700" dirty="0"/>
          </a:p>
        </p:txBody>
      </p:sp>
      <p:sp>
        <p:nvSpPr>
          <p:cNvPr id="6" name="Text 3"/>
          <p:cNvSpPr/>
          <p:nvPr/>
        </p:nvSpPr>
        <p:spPr>
          <a:xfrm>
            <a:off x="5426634" y="2035373"/>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Education records at covered schools</a:t>
            </a:r>
            <a:endParaRPr lang="en-US" sz="1350" dirty="0"/>
          </a:p>
        </p:txBody>
      </p:sp>
      <p:sp>
        <p:nvSpPr>
          <p:cNvPr id="7" name="Shape 4"/>
          <p:cNvSpPr/>
          <p:nvPr/>
        </p:nvSpPr>
        <p:spPr>
          <a:xfrm>
            <a:off x="5233360" y="2657078"/>
            <a:ext cx="6296860" cy="1022846"/>
          </a:xfrm>
          <a:prstGeom prst="roundRect">
            <a:avLst>
              <a:gd name="adj" fmla="val 7155"/>
            </a:avLst>
          </a:prstGeom>
          <a:solidFill>
            <a:srgbClr val="D1E5FA"/>
          </a:solidFill>
          <a:ln w="19050">
            <a:solidFill>
              <a:srgbClr val="B7CBE0"/>
            </a:solidFill>
            <a:prstDash val="solid"/>
          </a:ln>
        </p:spPr>
      </p:sp>
      <p:sp>
        <p:nvSpPr>
          <p:cNvPr id="8" name="Text 5"/>
          <p:cNvSpPr/>
          <p:nvPr/>
        </p:nvSpPr>
        <p:spPr>
          <a:xfrm>
            <a:off x="5426634" y="2850356"/>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Rights</a:t>
            </a:r>
            <a:endParaRPr lang="en-US" sz="1700" dirty="0"/>
          </a:p>
        </p:txBody>
      </p:sp>
      <p:sp>
        <p:nvSpPr>
          <p:cNvPr id="9" name="Text 6"/>
          <p:cNvSpPr/>
          <p:nvPr/>
        </p:nvSpPr>
        <p:spPr>
          <a:xfrm>
            <a:off x="5426634" y="3218855"/>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Inspect, request correction, control disclosure</a:t>
            </a:r>
            <a:endParaRPr lang="en-US" sz="1350" dirty="0"/>
          </a:p>
        </p:txBody>
      </p:sp>
      <p:sp>
        <p:nvSpPr>
          <p:cNvPr id="10" name="Shape 7"/>
          <p:cNvSpPr/>
          <p:nvPr/>
        </p:nvSpPr>
        <p:spPr>
          <a:xfrm>
            <a:off x="5233360" y="3840559"/>
            <a:ext cx="6296860" cy="1022846"/>
          </a:xfrm>
          <a:prstGeom prst="roundRect">
            <a:avLst>
              <a:gd name="adj" fmla="val 7155"/>
            </a:avLst>
          </a:prstGeom>
          <a:solidFill>
            <a:srgbClr val="D1E5FA"/>
          </a:solidFill>
          <a:ln w="19050">
            <a:solidFill>
              <a:srgbClr val="B7CBE0"/>
            </a:solidFill>
            <a:prstDash val="solid"/>
          </a:ln>
        </p:spPr>
      </p:sp>
      <p:sp>
        <p:nvSpPr>
          <p:cNvPr id="11" name="Text 8"/>
          <p:cNvSpPr/>
          <p:nvPr/>
        </p:nvSpPr>
        <p:spPr>
          <a:xfrm>
            <a:off x="5426634" y="4033838"/>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Transfer</a:t>
            </a:r>
            <a:endParaRPr lang="en-US" sz="1700" dirty="0"/>
          </a:p>
        </p:txBody>
      </p:sp>
      <p:sp>
        <p:nvSpPr>
          <p:cNvPr id="12" name="Text 9"/>
          <p:cNvSpPr/>
          <p:nvPr/>
        </p:nvSpPr>
        <p:spPr>
          <a:xfrm>
            <a:off x="5426634" y="4402336"/>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Rights transfer at 18 or postsecondary enrolment</a:t>
            </a:r>
            <a:endParaRPr lang="en-US" sz="1350" dirty="0"/>
          </a:p>
        </p:txBody>
      </p:sp>
      <p:sp>
        <p:nvSpPr>
          <p:cNvPr id="13" name="Shape 10"/>
          <p:cNvSpPr/>
          <p:nvPr/>
        </p:nvSpPr>
        <p:spPr>
          <a:xfrm>
            <a:off x="5233360" y="5024041"/>
            <a:ext cx="6296860" cy="1022846"/>
          </a:xfrm>
          <a:prstGeom prst="roundRect">
            <a:avLst>
              <a:gd name="adj" fmla="val 7155"/>
            </a:avLst>
          </a:prstGeom>
          <a:solidFill>
            <a:srgbClr val="D1E5FA"/>
          </a:solidFill>
          <a:ln w="19050">
            <a:solidFill>
              <a:srgbClr val="B7CBE0"/>
            </a:solidFill>
            <a:prstDash val="solid"/>
          </a:ln>
        </p:spPr>
      </p:sp>
      <p:sp>
        <p:nvSpPr>
          <p:cNvPr id="14" name="Text 11"/>
          <p:cNvSpPr/>
          <p:nvPr/>
        </p:nvSpPr>
        <p:spPr>
          <a:xfrm>
            <a:off x="5426634" y="5217319"/>
            <a:ext cx="5910313" cy="272157"/>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You</a:t>
            </a:r>
            <a:endParaRPr lang="en-US" sz="1700" dirty="0"/>
          </a:p>
        </p:txBody>
      </p:sp>
      <p:sp>
        <p:nvSpPr>
          <p:cNvPr id="15" name="Text 12"/>
          <p:cNvSpPr/>
          <p:nvPr/>
        </p:nvSpPr>
        <p:spPr>
          <a:xfrm>
            <a:off x="5426634" y="5585817"/>
            <a:ext cx="5910313" cy="267791"/>
          </a:xfrm>
          <a:prstGeom prst="rect">
            <a:avLst/>
          </a:prstGeom>
          <a:noFill/>
          <a:ln/>
        </p:spPr>
        <p:txBody>
          <a:bodyPr wrap="none" lIns="0" tIns="0" rIns="0" bIns="0" rtlCol="0" anchor="t"/>
          <a:lstStyle/>
          <a:p>
            <a:pPr algn="l" indent="0" marL="0">
              <a:lnSpc>
                <a:spcPct val="128000"/>
              </a:lnSpc>
              <a:buNone/>
            </a:pPr>
            <a:r>
              <a:rPr lang="en-US" sz="1350" dirty="0">
                <a:solidFill>
                  <a:srgbClr val="1C1C1C"/>
                </a:solidFill>
                <a:latin typeface="Roboto Condensed" pitchFamily="34" charset="0"/>
                <a:ea typeface="Roboto Condensed" pitchFamily="34" charset="-122"/>
                <a:cs typeface="Roboto Condensed" pitchFamily="34" charset="-120"/>
              </a:rPr>
              <a:t>Most of you are at or near that line</a:t>
            </a:r>
            <a:endParaRPr lang="en-US" sz="13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Routing to candidates, never to answers</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blood pressure  | a hospital                    | HIPAA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blood pressure  | a fitness app you downloaded  | probably NOT HIPAA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card numbers    | the school store              | PCI DSS (a contract)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attendance      | a public school               | FERPA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names, emails   | a company website, EU         | GDPR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names, emails   | an EU institution             | EUDPR</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267222"/>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 the last line of the output</a:t>
            </a:r>
            <a:endParaRPr lang="en-US" sz="3700" dirty="0"/>
          </a:p>
        </p:txBody>
      </p:sp>
      <p:sp>
        <p:nvSpPr>
          <p:cNvPr id="4" name="Shape 1"/>
          <p:cNvSpPr/>
          <p:nvPr/>
        </p:nvSpPr>
        <p:spPr>
          <a:xfrm>
            <a:off x="8032251" y="3251795"/>
            <a:ext cx="3504219" cy="2192536"/>
          </a:xfrm>
          <a:prstGeom prst="roundRect">
            <a:avLst>
              <a:gd name="adj" fmla="val 3621"/>
            </a:avLst>
          </a:prstGeom>
          <a:solidFill>
            <a:srgbClr val="F2F2F2"/>
          </a:solidFill>
          <a:ln/>
        </p:spPr>
      </p:sp>
      <p:sp>
        <p:nvSpPr>
          <p:cNvPr id="5" name="Text 2"/>
          <p:cNvSpPr/>
          <p:nvPr/>
        </p:nvSpPr>
        <p:spPr>
          <a:xfrm>
            <a:off x="8259060" y="3440807"/>
            <a:ext cx="3050603"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This program routes to candidates. It decides nothing, and it is not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legal advice. Two of these rows also have state law that is not listed.</a:t>
            </a:r>
            <a:endParaRPr lang="en-US" sz="1450" dirty="0"/>
          </a:p>
        </p:txBody>
      </p:sp>
      <p:sp>
        <p:nvSpPr>
          <p:cNvPr id="6"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39849"/>
            <a:ext cx="6296860" cy="1052116"/>
          </a:xfrm>
          <a:prstGeom prst="rect">
            <a:avLst/>
          </a:prstGeom>
          <a:noFill/>
          <a:ln/>
        </p:spPr>
        <p:txBody>
          <a:bodyPr wrap="square" lIns="0" tIns="0" rIns="0" bIns="0" rtlCol="0" anchor="t">
            <a:normAutofit/>
          </a:bodyPr>
          <a:lstStyle/>
          <a:p>
            <a:pPr algn="l" indent="0" marL="0">
              <a:lnSpc>
                <a:spcPct val="104000"/>
              </a:lnSpc>
              <a:buNone/>
            </a:pPr>
            <a:r>
              <a:rPr lang="en-US" sz="3300" b="1" dirty="0">
                <a:solidFill>
                  <a:srgbClr val="111111"/>
                </a:solidFill>
                <a:latin typeface="Orbitron Bold" pitchFamily="34" charset="0"/>
                <a:ea typeface="Orbitron Bold" pitchFamily="34" charset="-122"/>
                <a:cs typeface="Orbitron Bold" pitchFamily="34" charset="-120"/>
              </a:rPr>
              <a:t>The table a model gives you</a:t>
            </a:r>
            <a:endParaRPr lang="en-US" sz="33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816795"/>
            <a:ext cx="6296860" cy="982166"/>
          </a:xfrm>
          <a:prstGeom prst="rect">
            <a:avLst/>
          </a:prstGeom>
        </p:spPr>
      </p:pic>
      <p:sp>
        <p:nvSpPr>
          <p:cNvPr id="5" name="Text 1"/>
          <p:cNvSpPr/>
          <p:nvPr/>
        </p:nvSpPr>
        <p:spPr>
          <a:xfrm>
            <a:off x="924993" y="2004120"/>
            <a:ext cx="584602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HIPAA</a:t>
            </a:r>
            <a:endParaRPr lang="en-US" sz="1650" dirty="0"/>
          </a:p>
        </p:txBody>
      </p:sp>
      <p:sp>
        <p:nvSpPr>
          <p:cNvPr id="6" name="Text 2"/>
          <p:cNvSpPr/>
          <p:nvPr/>
        </p:nvSpPr>
        <p:spPr>
          <a:xfrm>
            <a:off x="924993" y="2357041"/>
            <a:ext cx="584602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Protects all medical information</a:t>
            </a:r>
            <a:endParaRPr lang="en-US" sz="13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48880"/>
            <a:ext cx="6296860" cy="982166"/>
          </a:xfrm>
          <a:prstGeom prst="rect">
            <a:avLst/>
          </a:prstGeom>
        </p:spPr>
      </p:pic>
      <p:sp>
        <p:nvSpPr>
          <p:cNvPr id="8" name="Text 3"/>
          <p:cNvSpPr/>
          <p:nvPr/>
        </p:nvSpPr>
        <p:spPr>
          <a:xfrm>
            <a:off x="924993" y="3136205"/>
            <a:ext cx="584602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PCI DSS</a:t>
            </a:r>
            <a:endParaRPr lang="en-US" sz="1650" dirty="0"/>
          </a:p>
        </p:txBody>
      </p:sp>
      <p:sp>
        <p:nvSpPr>
          <p:cNvPr id="9" name="Text 4"/>
          <p:cNvSpPr/>
          <p:nvPr/>
        </p:nvSpPr>
        <p:spPr>
          <a:xfrm>
            <a:off x="924993" y="3489127"/>
            <a:ext cx="584602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Is a federal law</a:t>
            </a:r>
            <a:endParaRPr lang="en-US" sz="13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080966"/>
            <a:ext cx="6296860" cy="982166"/>
          </a:xfrm>
          <a:prstGeom prst="rect">
            <a:avLst/>
          </a:prstGeom>
        </p:spPr>
      </p:pic>
      <p:sp>
        <p:nvSpPr>
          <p:cNvPr id="11" name="Text 5"/>
          <p:cNvSpPr/>
          <p:nvPr/>
        </p:nvSpPr>
        <p:spPr>
          <a:xfrm>
            <a:off x="924993" y="4268291"/>
            <a:ext cx="584602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SOX</a:t>
            </a:r>
            <a:endParaRPr lang="en-US" sz="1650" dirty="0"/>
          </a:p>
        </p:txBody>
      </p:sp>
      <p:sp>
        <p:nvSpPr>
          <p:cNvPr id="12" name="Text 6"/>
          <p:cNvSpPr/>
          <p:nvPr/>
        </p:nvSpPr>
        <p:spPr>
          <a:xfrm>
            <a:off x="924993" y="4621212"/>
            <a:ext cx="584602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Protects customer privacy</a:t>
            </a:r>
            <a:endParaRPr lang="en-US" sz="13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213052"/>
            <a:ext cx="6296860" cy="982166"/>
          </a:xfrm>
          <a:prstGeom prst="rect">
            <a:avLst/>
          </a:prstGeom>
        </p:spPr>
      </p:pic>
      <p:sp>
        <p:nvSpPr>
          <p:cNvPr id="14" name="Text 7"/>
          <p:cNvSpPr/>
          <p:nvPr/>
        </p:nvSpPr>
        <p:spPr>
          <a:xfrm>
            <a:off x="924993" y="5400377"/>
            <a:ext cx="5846021" cy="263029"/>
          </a:xfrm>
          <a:prstGeom prst="rect">
            <a:avLst/>
          </a:prstGeom>
          <a:noFill/>
          <a:ln/>
        </p:spPr>
        <p:txBody>
          <a:bodyPr wrap="none" lIns="0" tIns="0" rIns="0" bIns="0" rtlCol="0" anchor="t"/>
          <a:lstStyle/>
          <a:p>
            <a:pPr algn="l" indent="0" marL="0">
              <a:lnSpc>
                <a:spcPct val="104000"/>
              </a:lnSpc>
              <a:buNone/>
            </a:pPr>
            <a:r>
              <a:rPr lang="en-US" sz="1650" b="1" dirty="0">
                <a:solidFill>
                  <a:srgbClr val="1C1C1C"/>
                </a:solidFill>
                <a:latin typeface="Orbitron Bold" pitchFamily="34" charset="0"/>
                <a:ea typeface="Orbitron Bold" pitchFamily="34" charset="-122"/>
                <a:cs typeface="Orbitron Bold" pitchFamily="34" charset="-120"/>
              </a:rPr>
              <a:t>GDPR</a:t>
            </a:r>
            <a:endParaRPr lang="en-US" sz="1650" dirty="0"/>
          </a:p>
        </p:txBody>
      </p:sp>
      <p:sp>
        <p:nvSpPr>
          <p:cNvPr id="15" name="Text 8"/>
          <p:cNvSpPr/>
          <p:nvPr/>
        </p:nvSpPr>
        <p:spPr>
          <a:xfrm>
            <a:off x="924993" y="5753298"/>
            <a:ext cx="5846021" cy="254595"/>
          </a:xfrm>
          <a:prstGeom prst="rect">
            <a:avLst/>
          </a:prstGeom>
          <a:noFill/>
          <a:ln/>
        </p:spPr>
        <p:txBody>
          <a:bodyPr wrap="none" lIns="0" tIns="0" rIns="0" bIns="0" rtlCol="0" anchor="t"/>
          <a:lstStyle/>
          <a:p>
            <a:pPr algn="l" indent="0" marL="0">
              <a:lnSpc>
                <a:spcPct val="126000"/>
              </a:lnSpc>
              <a:buNone/>
            </a:pPr>
            <a:r>
              <a:rPr lang="en-US" sz="1300" dirty="0">
                <a:solidFill>
                  <a:srgbClr val="1C1C1C"/>
                </a:solidFill>
                <a:latin typeface="Roboto Condensed" pitchFamily="34" charset="0"/>
                <a:ea typeface="Roboto Condensed" pitchFamily="34" charset="-122"/>
                <a:cs typeface="Roboto Condensed" pitchFamily="34" charset="-120"/>
              </a:rPr>
              <a:t>Protects all data of EU citizens</a:t>
            </a:r>
            <a:endParaRPr lang="en-US" sz="1300" dirty="0"/>
          </a:p>
        </p:txBody>
      </p:sp>
      <p:sp>
        <p:nvSpPr>
          <p:cNvPr id="16"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46870"/>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a uniform table is a warning sign</a:t>
            </a:r>
            <a:endParaRPr lang="en-US" sz="3700" dirty="0"/>
          </a:p>
        </p:txBody>
      </p:sp>
      <p:sp>
        <p:nvSpPr>
          <p:cNvPr id="4" name="Text 1"/>
          <p:cNvSpPr/>
          <p:nvPr/>
        </p:nvSpPr>
        <p:spPr>
          <a:xfrm>
            <a:off x="8032251" y="3698478"/>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row short, every row parallel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Reads as facts of a uniform kind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is not a law. One is not about privacy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differ in a way the table has no column for</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habit that catches it</a:t>
            </a:r>
            <a:endParaRPr lang="en-US" sz="3700" dirty="0"/>
          </a:p>
        </p:txBody>
      </p:sp>
      <p:sp>
        <p:nvSpPr>
          <p:cNvPr id="4" name="Shape 1"/>
          <p:cNvSpPr/>
          <p:nvPr/>
        </p:nvSpPr>
        <p:spPr>
          <a:xfrm>
            <a:off x="5233360"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Keep one primary source open beside the summary</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framework publishes its own material</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HHS, PCI Council, SEC, DOJ, the Commission, ED</a:t>
            </a:r>
            <a:endParaRPr lang="en-US" sz="1850" dirty="0"/>
          </a:p>
        </p:txBody>
      </p:sp>
      <p:sp>
        <p:nvSpPr>
          <p:cNvPr id="10" name="Shape 7"/>
          <p:cNvSpPr/>
          <p:nvPr/>
        </p:nvSpPr>
        <p:spPr>
          <a:xfrm>
            <a:off x="5233360" y="5437485"/>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5023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Six addresses, all in your lecture notes</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139726"/>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8032251" y="3100685"/>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Route six invented situations to candidate frameworks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the question that decides each 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Find the row where the data is identical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Start section 4 of your privacy assessment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2026-09-16T03:39:37Z</dcterms:created>
  <dcterms:modified xsi:type="dcterms:W3CDTF">2026-09-16T03:39:37Z</dcterms:modified>
</cp:coreProperties>
</file>