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embeddedFontLst>
    <p:embeddedFont>
      <p:font typeface="Orbitron Bold"/>
      <p:regular r:id="rId201314"/>
    </p:embeddedFont>
    <p:embeddedFont>
      <p:font typeface="Orbitron"/>
      <p:regular r:id="rId201315"/>
    </p:embeddedFont>
    <p:embeddedFont>
      <p:font typeface="Roboto Condensed Bold"/>
      <p:regular r:id="rId201316"/>
    </p:embeddedFont>
    <p:embeddedFont>
      <p:font typeface="Roboto Condense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Somebody says the AI is down. What is actually down. Nothing is listening at all, or something is listening and answering badly, or your own program cannot read the answer it got. Those are three different problems with three different fixes, and one sentence covering all three costs a period. Today you start the server yourself and find out which is which.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smallest thing that counts as an AI system. One program posts a prompt, another answers with text. There is no layer catching failures for you and no layer turning the text into something tidy. Everything that has to happen to that text is going to happen in your code, and by Friday of next week you will have opinions about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fields. Look at where the answer is. It is a string, sitting in response, with a code fence around it, inside the JSON of the reply. To get the word network out of that you strip a fence and parse again, and you write code that survives the day the fence is not there. Read that block twice, because the rest of this module hangs off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this one down. Everything downstream comes from it. The model has no obligation to answer in the shape you wanted, and when it does not, nothing tells you. Your program finds out by trying to read a value and failing, which means your program has to be written expecting to fail.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the second request in one underscore request dot py. It asked for streaming and this server does not do streaming. Notice what you got: a status code you can branch on and a sentence you can show somebody. That is the good kind of failure. Notice also what happened: the program assumed a capability that was not there, which is the most ordinary integration failure in the world.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request, three modes of the stand-in. Every one of them is status two hundred with done true and real text. At the level of the request all three worked. Only the third one is useless, and nothing in the reply says so. Your program finds out by trying to read a label and coming up empty.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third column is not free. Somebody wrote the code that keeps it. Without it, three weeks from now nobody can tell a label the model produced from a fragment of text your parser sliced out of a sentence. Provenance is a field you decide to keep, and nobody adds one later, because by then the runs that needed it are gone.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works on a good day and it is the version everybody writes first. It crashes on the code fence, because the answer starts with three backticks. Patch that and it crashes on prose. Patch that with a bare except and it gets worse, because now a refusal quietly becomes whatever your fallback produces and it prints in the same column as a real label.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real output from a program in next week's Gate 2, run against a server answering in prose. The label column now holds two lines of somebody else's writing, and it wraps. The program that produced it had a comment above the parse claiming the model always answers with JSON. The comment was wrong and the code trusted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only a rule about your age. The model runs on a machine in this room and there is no account to make. And notice the last line: nothing in this module keeps a session, a history, or a copy, because nobody wrote code to make one. Next week you will review a program that starts doing it without being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real product does not scatter this work across every program that wants an answer. It puts one small service in the middle. That service is your Module 5 performance task, which is exactly why it is not in your kit today. By Friday of next week you will have written the same parsing twice in two different programs, and the argument for a shared layer will make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is two terminals and one request, and you are not finished until you can point at the response field and say what kind of thing is in it. Then the refused request, which is your first failure at a seam. Build two is yesterday's comparison with the other column finally filled in, and the question about that column is the one worth the most marks.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png"/><Relationship Id="rId3" Type="http://schemas.openxmlformats.org/officeDocument/2006/relationships/image" Target="../media/image-5-3.svg"/><Relationship Id="rId4" Type="http://schemas.openxmlformats.org/officeDocument/2006/relationships/image" Target="../media/image-5-2.png"/><Relationship Id="rId5" Type="http://schemas.openxmlformats.org/officeDocument/2006/relationships/image" Target="../media/image-5-3.svg"/><Relationship Id="rId6" Type="http://schemas.openxmlformats.org/officeDocument/2006/relationships/image" Target="../media/image-5-2.png"/><Relationship Id="rId7" Type="http://schemas.openxmlformats.org/officeDocument/2006/relationships/image" Target="../media/image-5-3.svg"/><Relationship Id="rId8" Type="http://schemas.openxmlformats.org/officeDocument/2006/relationships/image" Target="../media/image-5-2.png"/><Relationship Id="rId9" Type="http://schemas.openxmlformats.org/officeDocument/2006/relationships/image" Target="../media/image-5-3.svg"/><Relationship Id="rId10" Type="http://schemas.openxmlformats.org/officeDocument/2006/relationships/slideLayout" Target="../slideLayouts/slideLayout2.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image" Target="../media/image-5-2.png"/><Relationship Id="rId3" Type="http://schemas.openxmlformats.org/officeDocument/2006/relationships/image" Target="../media/image-5-3.svg"/><Relationship Id="rId4" Type="http://schemas.openxmlformats.org/officeDocument/2006/relationships/image" Target="../media/image-10-4.png"/><Relationship Id="rId5" Type="http://schemas.openxmlformats.org/officeDocument/2006/relationships/image" Target="../media/image-10-5.svg"/><Relationship Id="rId6" Type="http://schemas.openxmlformats.org/officeDocument/2006/relationships/slideLayout" Target="../slideLayouts/slideLayout2.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77693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Where the Model Actually Runs</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512987"/>
            <a:ext cx="6296860"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AI is down</a:t>
            </a:r>
            <a:endParaRPr lang="en-US" sz="3700" dirty="0"/>
          </a:p>
        </p:txBody>
      </p:sp>
      <p:sp>
        <p:nvSpPr>
          <p:cNvPr id="4" name="Shape 1"/>
          <p:cNvSpPr/>
          <p:nvPr/>
        </p:nvSpPr>
        <p:spPr>
          <a:xfrm>
            <a:off x="5233360" y="2387104"/>
            <a:ext cx="425241" cy="425252"/>
          </a:xfrm>
          <a:prstGeom prst="roundRect">
            <a:avLst>
              <a:gd name="adj" fmla="val 18669"/>
            </a:avLst>
          </a:prstGeom>
          <a:solidFill>
            <a:srgbClr val="D1E5FA"/>
          </a:solidFill>
          <a:ln w="19050">
            <a:solidFill>
              <a:srgbClr val="B7CBE0"/>
            </a:solidFill>
            <a:prstDash val="solid"/>
          </a:ln>
        </p:spPr>
      </p:sp>
      <p:sp>
        <p:nvSpPr>
          <p:cNvPr id="5" name="Text 2"/>
          <p:cNvSpPr/>
          <p:nvPr/>
        </p:nvSpPr>
        <p:spPr>
          <a:xfrm>
            <a:off x="5847608" y="2451993"/>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Four words, three different problems</a:t>
            </a:r>
            <a:endParaRPr lang="en-US" sz="1850" dirty="0"/>
          </a:p>
        </p:txBody>
      </p:sp>
      <p:sp>
        <p:nvSpPr>
          <p:cNvPr id="6" name="Shape 3"/>
          <p:cNvSpPr/>
          <p:nvPr/>
        </p:nvSpPr>
        <p:spPr>
          <a:xfrm>
            <a:off x="5233360" y="3190379"/>
            <a:ext cx="425241" cy="425252"/>
          </a:xfrm>
          <a:prstGeom prst="roundRect">
            <a:avLst>
              <a:gd name="adj" fmla="val 18669"/>
            </a:avLst>
          </a:prstGeom>
          <a:solidFill>
            <a:srgbClr val="D1E5FA"/>
          </a:solidFill>
          <a:ln w="19050">
            <a:solidFill>
              <a:srgbClr val="B7CBE0"/>
            </a:solidFill>
            <a:prstDash val="solid"/>
          </a:ln>
        </p:spPr>
      </p:sp>
      <p:sp>
        <p:nvSpPr>
          <p:cNvPr id="7" name="Text 4"/>
          <p:cNvSpPr/>
          <p:nvPr/>
        </p:nvSpPr>
        <p:spPr>
          <a:xfrm>
            <a:off x="5847608" y="3255268"/>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Three different fixes</a:t>
            </a:r>
            <a:endParaRPr lang="en-US" sz="1850" dirty="0"/>
          </a:p>
        </p:txBody>
      </p:sp>
      <p:sp>
        <p:nvSpPr>
          <p:cNvPr id="8" name="Shape 5"/>
          <p:cNvSpPr/>
          <p:nvPr/>
        </p:nvSpPr>
        <p:spPr>
          <a:xfrm>
            <a:off x="5233360" y="3993654"/>
            <a:ext cx="425241" cy="425252"/>
          </a:xfrm>
          <a:prstGeom prst="roundRect">
            <a:avLst>
              <a:gd name="adj" fmla="val 18669"/>
            </a:avLst>
          </a:prstGeom>
          <a:solidFill>
            <a:srgbClr val="D1E5FA"/>
          </a:solidFill>
          <a:ln w="19050">
            <a:solidFill>
              <a:srgbClr val="B7CBE0"/>
            </a:solidFill>
            <a:prstDash val="solid"/>
          </a:ln>
        </p:spPr>
      </p:sp>
      <p:sp>
        <p:nvSpPr>
          <p:cNvPr id="9" name="Text 6"/>
          <p:cNvSpPr/>
          <p:nvPr/>
        </p:nvSpPr>
        <p:spPr>
          <a:xfrm>
            <a:off x="5847608" y="4058543"/>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You have said this sentence</a:t>
            </a:r>
            <a:endParaRPr lang="en-US" sz="1850" dirty="0"/>
          </a:p>
        </p:txBody>
      </p:sp>
      <p:sp>
        <p:nvSpPr>
          <p:cNvPr id="10" name="Shape 7"/>
          <p:cNvSpPr/>
          <p:nvPr/>
        </p:nvSpPr>
        <p:spPr>
          <a:xfrm>
            <a:off x="5233360" y="4796929"/>
            <a:ext cx="425241" cy="425252"/>
          </a:xfrm>
          <a:prstGeom prst="roundRect">
            <a:avLst>
              <a:gd name="adj" fmla="val 18669"/>
            </a:avLst>
          </a:prstGeom>
          <a:solidFill>
            <a:srgbClr val="D1E5FA"/>
          </a:solidFill>
          <a:ln w="19050">
            <a:solidFill>
              <a:srgbClr val="B7CBE0"/>
            </a:solidFill>
            <a:prstDash val="solid"/>
          </a:ln>
        </p:spPr>
      </p:sp>
      <p:sp>
        <p:nvSpPr>
          <p:cNvPr id="11" name="Text 8"/>
          <p:cNvSpPr/>
          <p:nvPr/>
        </p:nvSpPr>
        <p:spPr>
          <a:xfrm>
            <a:off x="5847608" y="4861818"/>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After today you cannot</a:t>
            </a:r>
            <a:endParaRPr lang="en-US" sz="1850" dirty="0"/>
          </a:p>
        </p:txBody>
      </p:sp>
      <p:sp>
        <p:nvSpPr>
          <p:cNvPr id="12" name="Text 9"/>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676573"/>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Two programs, one HTTP call</a:t>
            </a:r>
            <a:endParaRPr lang="en-US" sz="3700" dirty="0"/>
          </a:p>
        </p:txBody>
      </p:sp>
      <p:pic>
        <p:nvPicPr>
          <p:cNvPr id="4" name="Image 1" descr="preencoded.png">    </p:cNvPr>
          <p:cNvPicPr>
            <a:picLocks noChangeAspect="1"/>
          </p:cNvPicPr>
          <p:nvPr/>
        </p:nvPicPr>
        <p:blipFill>
          <a:blip r:embed="rId2"/>
          <a:stretch>
            <a:fillRect/>
          </a:stretch>
        </p:blipFill>
        <p:spPr>
          <a:xfrm>
            <a:off x="5233360" y="2141339"/>
            <a:ext cx="945035" cy="1134070"/>
          </a:xfrm>
          <a:prstGeom prst="rect">
            <a:avLst/>
          </a:prstGeom>
        </p:spPr>
      </p:pic>
      <p:sp>
        <p:nvSpPr>
          <p:cNvPr id="5" name="Text 1"/>
          <p:cNvSpPr/>
          <p:nvPr/>
        </p:nvSpPr>
        <p:spPr>
          <a:xfrm>
            <a:off x="6367402" y="2330351"/>
            <a:ext cx="5162818"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Your program sends a prompt</a:t>
            </a:r>
            <a:endParaRPr lang="en-US" sz="1850" dirty="0"/>
          </a:p>
        </p:txBody>
      </p:sp>
      <p:pic>
        <p:nvPicPr>
          <p:cNvPr id="6" name="Image 2" descr="preencoded.png">    </p:cNvPr>
          <p:cNvPicPr>
            <a:picLocks noChangeAspect="1"/>
          </p:cNvPicPr>
          <p:nvPr/>
        </p:nvPicPr>
        <p:blipFill>
          <a:blip r:embed="rId3"/>
          <a:stretch>
            <a:fillRect/>
          </a:stretch>
        </p:blipFill>
        <p:spPr>
          <a:xfrm>
            <a:off x="5233360" y="3275409"/>
            <a:ext cx="945035" cy="1134070"/>
          </a:xfrm>
          <a:prstGeom prst="rect">
            <a:avLst/>
          </a:prstGeom>
        </p:spPr>
      </p:pic>
      <p:sp>
        <p:nvSpPr>
          <p:cNvPr id="7" name="Text 2"/>
          <p:cNvSpPr/>
          <p:nvPr/>
        </p:nvSpPr>
        <p:spPr>
          <a:xfrm>
            <a:off x="6367402" y="3464421"/>
            <a:ext cx="5162818"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 model server sends text back</a:t>
            </a:r>
            <a:endParaRPr lang="en-US" sz="1850" dirty="0"/>
          </a:p>
        </p:txBody>
      </p:sp>
      <p:pic>
        <p:nvPicPr>
          <p:cNvPr id="8" name="Image 3" descr="preencoded.png">    </p:cNvPr>
          <p:cNvPicPr>
            <a:picLocks noChangeAspect="1"/>
          </p:cNvPicPr>
          <p:nvPr/>
        </p:nvPicPr>
        <p:blipFill>
          <a:blip r:embed="rId4"/>
          <a:stretch>
            <a:fillRect/>
          </a:stretch>
        </p:blipFill>
        <p:spPr>
          <a:xfrm>
            <a:off x="5233360" y="4409480"/>
            <a:ext cx="945035" cy="1134070"/>
          </a:xfrm>
          <a:prstGeom prst="rect">
            <a:avLst/>
          </a:prstGeom>
        </p:spPr>
      </p:pic>
      <p:sp>
        <p:nvSpPr>
          <p:cNvPr id="9" name="Text 3"/>
          <p:cNvSpPr/>
          <p:nvPr/>
        </p:nvSpPr>
        <p:spPr>
          <a:xfrm>
            <a:off x="6367402" y="4598491"/>
            <a:ext cx="5162818"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That is the whole architecture today</a:t>
            </a:r>
            <a:endParaRPr lang="en-US" sz="1850" dirty="0"/>
          </a:p>
        </p:txBody>
      </p:sp>
      <p:sp>
        <p:nvSpPr>
          <p:cNvPr id="10" name="Text 4"/>
          <p:cNvSpPr/>
          <p:nvPr/>
        </p:nvSpPr>
        <p:spPr>
          <a:xfrm>
            <a:off x="5233360" y="5756176"/>
            <a:ext cx="6906444"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Nothing sits in between.</a:t>
            </a:r>
            <a:endParaRPr lang="en-US" sz="1450" dirty="0"/>
          </a:p>
        </p:txBody>
      </p:sp>
      <p:sp>
        <p:nvSpPr>
          <p:cNvPr id="11" name="Text 5"/>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2089348"/>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actually comes back</a:t>
            </a:r>
            <a:endParaRPr lang="en-US" sz="3700" dirty="0"/>
          </a:p>
        </p:txBody>
      </p:sp>
      <p:sp>
        <p:nvSpPr>
          <p:cNvPr id="3" name="Shape 1"/>
          <p:cNvSpPr/>
          <p:nvPr/>
        </p:nvSpPr>
        <p:spPr>
          <a:xfrm>
            <a:off x="661475" y="3058021"/>
            <a:ext cx="10868745" cy="1587698"/>
          </a:xfrm>
          <a:prstGeom prst="roundRect">
            <a:avLst>
              <a:gd name="adj" fmla="val 5000"/>
            </a:avLst>
          </a:prstGeom>
          <a:solidFill>
            <a:srgbClr val="F2F2F2"/>
          </a:solidFill>
          <a:ln/>
        </p:spPr>
      </p:sp>
      <p:sp>
        <p:nvSpPr>
          <p:cNvPr id="4" name="Text 2"/>
          <p:cNvSpPr/>
          <p:nvPr/>
        </p:nvSpPr>
        <p:spPr>
          <a:xfrm>
            <a:off x="888283" y="3247033"/>
            <a:ext cx="10415129"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HTTP 200</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{"model": "llama3.2", "created_at": "...",</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"response": "```json\n{\"label\": \"network\"}\n```",</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"done": true}</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903486"/>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model returns text, not data</a:t>
            </a:r>
            <a:endParaRPr lang="en-US" sz="37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1475" y="2368252"/>
            <a:ext cx="6296860" cy="724098"/>
          </a:xfrm>
          <a:prstGeom prst="rect">
            <a:avLst/>
          </a:prstGeom>
        </p:spPr>
      </p:pic>
      <p:sp>
        <p:nvSpPr>
          <p:cNvPr id="5" name="Text 1"/>
          <p:cNvSpPr/>
          <p:nvPr/>
        </p:nvSpPr>
        <p:spPr>
          <a:xfrm>
            <a:off x="977479" y="2582664"/>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Not a label. Not a number</a:t>
            </a:r>
            <a:endParaRPr lang="en-US" sz="185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1475" y="3281362"/>
            <a:ext cx="6296860" cy="724098"/>
          </a:xfrm>
          <a:prstGeom prst="rect">
            <a:avLst/>
          </a:prstGeom>
        </p:spPr>
      </p:pic>
      <p:sp>
        <p:nvSpPr>
          <p:cNvPr id="7" name="Text 2"/>
          <p:cNvSpPr/>
          <p:nvPr/>
        </p:nvSpPr>
        <p:spPr>
          <a:xfrm>
            <a:off x="977479" y="3495774"/>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 string, and nothing promises what is in it</a:t>
            </a:r>
            <a:endParaRPr lang="en-US" sz="185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61475" y="4194473"/>
            <a:ext cx="6296860" cy="724098"/>
          </a:xfrm>
          <a:prstGeom prst="rect">
            <a:avLst/>
          </a:prstGeom>
        </p:spPr>
      </p:pic>
      <p:sp>
        <p:nvSpPr>
          <p:cNvPr id="9" name="Text 3"/>
          <p:cNvSpPr/>
          <p:nvPr/>
        </p:nvSpPr>
        <p:spPr>
          <a:xfrm>
            <a:off x="977479" y="4408884"/>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Sometimes JSON. Sometimes a sentence</a:t>
            </a:r>
            <a:endParaRPr lang="en-US" sz="1850" dirty="0"/>
          </a:p>
        </p:txBody>
      </p:sp>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61475" y="5107583"/>
            <a:ext cx="6296860" cy="724098"/>
          </a:xfrm>
          <a:prstGeom prst="rect">
            <a:avLst/>
          </a:prstGeom>
        </p:spPr>
      </p:pic>
      <p:sp>
        <p:nvSpPr>
          <p:cNvPr id="11" name="Text 4"/>
          <p:cNvSpPr/>
          <p:nvPr/>
        </p:nvSpPr>
        <p:spPr>
          <a:xfrm>
            <a:off x="977479" y="5321995"/>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Sometimes a polite refusal</a:t>
            </a:r>
            <a:endParaRPr lang="en-US" sz="1850" dirty="0"/>
          </a:p>
        </p:txBody>
      </p:sp>
      <p:sp>
        <p:nvSpPr>
          <p:cNvPr id="12"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2391767"/>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 request this server refuses</a:t>
            </a:r>
            <a:endParaRPr lang="en-US" sz="3700" dirty="0"/>
          </a:p>
        </p:txBody>
      </p:sp>
      <p:sp>
        <p:nvSpPr>
          <p:cNvPr id="3" name="Shape 1"/>
          <p:cNvSpPr/>
          <p:nvPr/>
        </p:nvSpPr>
        <p:spPr>
          <a:xfrm>
            <a:off x="661475" y="3360440"/>
            <a:ext cx="10868745" cy="982861"/>
          </a:xfrm>
          <a:prstGeom prst="roundRect">
            <a:avLst>
              <a:gd name="adj" fmla="val 8077"/>
            </a:avLst>
          </a:prstGeom>
          <a:solidFill>
            <a:srgbClr val="F2F2F2"/>
          </a:solidFill>
          <a:ln/>
        </p:spPr>
      </p:sp>
      <p:sp>
        <p:nvSpPr>
          <p:cNvPr id="4" name="Text 2"/>
          <p:cNvSpPr/>
          <p:nvPr/>
        </p:nvSpPr>
        <p:spPr>
          <a:xfrm>
            <a:off x="888283" y="3549452"/>
            <a:ext cx="10415129"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HTTP 400</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{"error": "this stub only supports stream: false"}</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424087"/>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Three answers, all HTTP 200</a:t>
            </a:r>
            <a:endParaRPr lang="en-US" sz="3700" dirty="0"/>
          </a:p>
        </p:txBody>
      </p:sp>
      <p:sp>
        <p:nvSpPr>
          <p:cNvPr id="4" name="Shape 1"/>
          <p:cNvSpPr/>
          <p:nvPr/>
        </p:nvSpPr>
        <p:spPr>
          <a:xfrm>
            <a:off x="661475" y="2888853"/>
            <a:ext cx="3053877" cy="1006673"/>
          </a:xfrm>
          <a:prstGeom prst="roundRect">
            <a:avLst>
              <a:gd name="adj" fmla="val 7886"/>
            </a:avLst>
          </a:prstGeom>
          <a:solidFill>
            <a:srgbClr val="D1E5FA"/>
          </a:solidFill>
          <a:ln w="19050">
            <a:solidFill>
              <a:srgbClr val="B7CBE0"/>
            </a:solidFill>
            <a:prstDash val="solid"/>
          </a:ln>
        </p:spPr>
      </p:sp>
      <p:sp>
        <p:nvSpPr>
          <p:cNvPr id="5" name="Text 2"/>
          <p:cNvSpPr/>
          <p:nvPr/>
        </p:nvSpPr>
        <p:spPr>
          <a:xfrm>
            <a:off x="869531" y="3096915"/>
            <a:ext cx="2637764"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Fenced JSON with a label inside</a:t>
            </a:r>
            <a:endParaRPr lang="en-US" sz="1850" dirty="0"/>
          </a:p>
        </p:txBody>
      </p:sp>
      <p:sp>
        <p:nvSpPr>
          <p:cNvPr id="6" name="Shape 3"/>
          <p:cNvSpPr/>
          <p:nvPr/>
        </p:nvSpPr>
        <p:spPr>
          <a:xfrm>
            <a:off x="3904359" y="2888853"/>
            <a:ext cx="3053976" cy="1006673"/>
          </a:xfrm>
          <a:prstGeom prst="roundRect">
            <a:avLst>
              <a:gd name="adj" fmla="val 7886"/>
            </a:avLst>
          </a:prstGeom>
          <a:solidFill>
            <a:srgbClr val="D1E5FA"/>
          </a:solidFill>
          <a:ln w="19050">
            <a:solidFill>
              <a:srgbClr val="B7CBE0"/>
            </a:solidFill>
            <a:prstDash val="solid"/>
          </a:ln>
        </p:spPr>
      </p:sp>
      <p:sp>
        <p:nvSpPr>
          <p:cNvPr id="7" name="Text 4"/>
          <p:cNvSpPr/>
          <p:nvPr/>
        </p:nvSpPr>
        <p:spPr>
          <a:xfrm>
            <a:off x="4112415" y="3096915"/>
            <a:ext cx="2637863"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 sentence starting Label</a:t>
            </a:r>
            <a:endParaRPr lang="en-US" sz="1850" dirty="0"/>
          </a:p>
        </p:txBody>
      </p:sp>
      <p:sp>
        <p:nvSpPr>
          <p:cNvPr id="8" name="Shape 5"/>
          <p:cNvSpPr/>
          <p:nvPr/>
        </p:nvSpPr>
        <p:spPr>
          <a:xfrm>
            <a:off x="661475" y="4084538"/>
            <a:ext cx="6296860" cy="711398"/>
          </a:xfrm>
          <a:prstGeom prst="roundRect">
            <a:avLst>
              <a:gd name="adj" fmla="val 11159"/>
            </a:avLst>
          </a:prstGeom>
          <a:solidFill>
            <a:srgbClr val="D1E5FA"/>
          </a:solidFill>
          <a:ln w="19050">
            <a:solidFill>
              <a:srgbClr val="B7CBE0"/>
            </a:solidFill>
            <a:prstDash val="solid"/>
          </a:ln>
        </p:spPr>
      </p:sp>
      <p:sp>
        <p:nvSpPr>
          <p:cNvPr id="9" name="Text 6"/>
          <p:cNvSpPr/>
          <p:nvPr/>
        </p:nvSpPr>
        <p:spPr>
          <a:xfrm>
            <a:off x="869531" y="4292600"/>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 am not able to help with that request</a:t>
            </a:r>
            <a:endParaRPr lang="en-US" sz="1850" dirty="0"/>
          </a:p>
        </p:txBody>
      </p:sp>
      <p:sp>
        <p:nvSpPr>
          <p:cNvPr id="10" name="Text 7"/>
          <p:cNvSpPr/>
          <p:nvPr/>
        </p:nvSpPr>
        <p:spPr>
          <a:xfrm>
            <a:off x="661475" y="5008563"/>
            <a:ext cx="6906444"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All three succeeded. One is useless.</a:t>
            </a:r>
            <a:endParaRPr lang="en-US" sz="1450" dirty="0"/>
          </a:p>
        </p:txBody>
      </p:sp>
      <p:sp>
        <p:nvSpPr>
          <p:cNvPr id="11" name="Text 8"/>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2240558"/>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So record how you got it</a:t>
            </a:r>
            <a:endParaRPr lang="en-US" sz="3700" dirty="0"/>
          </a:p>
        </p:txBody>
      </p:sp>
      <p:sp>
        <p:nvSpPr>
          <p:cNvPr id="3" name="Shape 1"/>
          <p:cNvSpPr/>
          <p:nvPr/>
        </p:nvSpPr>
        <p:spPr>
          <a:xfrm>
            <a:off x="661475" y="3209230"/>
            <a:ext cx="10868745" cy="1285280"/>
          </a:xfrm>
          <a:prstGeom prst="roundRect">
            <a:avLst>
              <a:gd name="adj" fmla="val 6177"/>
            </a:avLst>
          </a:prstGeom>
          <a:solidFill>
            <a:srgbClr val="F2F2F2"/>
          </a:solidFill>
          <a:ln/>
        </p:spPr>
      </p:sp>
      <p:sp>
        <p:nvSpPr>
          <p:cNvPr id="4" name="Text 2"/>
          <p:cNvSpPr/>
          <p:nvPr/>
        </p:nvSpPr>
        <p:spPr>
          <a:xfrm>
            <a:off x="888283" y="3398242"/>
            <a:ext cx="10415129"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MT-2002  network   read from json</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MT-2007  hardware  read from prose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MT-2011  no label  read from unparsed</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2391767"/>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two-line version, and why it breaks</a:t>
            </a:r>
            <a:endParaRPr lang="en-US" sz="3700" dirty="0"/>
          </a:p>
        </p:txBody>
      </p:sp>
      <p:sp>
        <p:nvSpPr>
          <p:cNvPr id="3" name="Shape 1"/>
          <p:cNvSpPr/>
          <p:nvPr/>
        </p:nvSpPr>
        <p:spPr>
          <a:xfrm>
            <a:off x="661475" y="3360440"/>
            <a:ext cx="10868745" cy="982861"/>
          </a:xfrm>
          <a:prstGeom prst="roundRect">
            <a:avLst>
              <a:gd name="adj" fmla="val 8077"/>
            </a:avLst>
          </a:prstGeom>
          <a:solidFill>
            <a:srgbClr val="F2F2F2"/>
          </a:solidFill>
          <a:ln/>
        </p:spPr>
      </p:sp>
      <p:sp>
        <p:nvSpPr>
          <p:cNvPr id="4" name="Text 2"/>
          <p:cNvSpPr/>
          <p:nvPr/>
        </p:nvSpPr>
        <p:spPr>
          <a:xfrm>
            <a:off x="888283" y="3549452"/>
            <a:ext cx="10415129"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answer = json.loads(response)["response"]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label = json.loads(answer)["label"]</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400770"/>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that looks like when it happens</a:t>
            </a:r>
            <a:endParaRPr lang="en-US" sz="37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3360" y="2865537"/>
            <a:ext cx="6296860" cy="724098"/>
          </a:xfrm>
          <a:prstGeom prst="rect">
            <a:avLst/>
          </a:prstGeom>
        </p:spPr>
      </p:pic>
      <p:sp>
        <p:nvSpPr>
          <p:cNvPr id="5" name="Text 1"/>
          <p:cNvSpPr/>
          <p:nvPr/>
        </p:nvSpPr>
        <p:spPr>
          <a:xfrm>
            <a:off x="5549364" y="3079948"/>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label: Label: hardware</a:t>
            </a:r>
            <a:endParaRPr lang="en-US" sz="185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233360" y="3778647"/>
            <a:ext cx="6296860" cy="1555750"/>
          </a:xfrm>
          <a:prstGeom prst="rect">
            <a:avLst/>
          </a:prstGeom>
        </p:spPr>
      </p:pic>
      <p:sp>
        <p:nvSpPr>
          <p:cNvPr id="7" name="Text 2"/>
          <p:cNvSpPr/>
          <p:nvPr/>
        </p:nvSpPr>
        <p:spPr>
          <a:xfrm>
            <a:off x="5549364" y="3993059"/>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Why:</a:t>
            </a:r>
            <a:endParaRPr lang="en-US" sz="1850" dirty="0"/>
          </a:p>
        </p:txBody>
      </p:sp>
      <p:sp>
        <p:nvSpPr>
          <p:cNvPr id="8" name="Text 3"/>
          <p:cNvSpPr/>
          <p:nvPr/>
        </p:nvSpPr>
        <p:spPr>
          <a:xfrm>
            <a:off x="5549364" y="4401741"/>
            <a:ext cx="5766449" cy="718245"/>
          </a:xfrm>
          <a:prstGeom prst="rect">
            <a:avLst/>
          </a:prstGeom>
          <a:noFill/>
          <a:ln/>
        </p:spPr>
        <p:txBody>
          <a:bodyPr wrap="square" lIns="0" tIns="0" rIns="0" bIns="0" rtlCol="0" anchor="t"/>
          <a:lstStyle/>
          <a:p>
            <a:pPr algn="l" indent="0" marL="0">
              <a:lnSpc>
                <a:spcPct val="133000"/>
              </a:lnSpc>
              <a:spcAft>
                <a:spcPts val="850"/>
              </a:spcAft>
              <a:buNone/>
            </a:pPr>
            <a:r>
              <a:rPr lang="en-US" sz="1450" dirty="0">
                <a:solidFill>
                  <a:srgbClr val="1C1C1C"/>
                </a:solidFill>
                <a:latin typeface="Roboto Condensed" pitchFamily="34" charset="0"/>
                <a:ea typeface="Roboto Condensed" pitchFamily="34" charset="-122"/>
                <a:cs typeface="Roboto Condensed" pitchFamily="34" charset="-120"/>
              </a:rPr>
              <a:t>That is not a label</a:t>
            </a:r>
            <a:endParaRPr lang="en-US" sz="1450" dirty="0"/>
          </a:p>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It is a slice of somebody's sentence</a:t>
            </a:r>
            <a:endParaRPr lang="en-US" sz="1450" dirty="0"/>
          </a:p>
        </p:txBody>
      </p:sp>
      <p:sp>
        <p:nvSpPr>
          <p:cNvPr id="9" name="Text 4"/>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102519"/>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No account, no key, ever</a:t>
            </a:r>
            <a:endParaRPr lang="en-US" sz="3700" dirty="0"/>
          </a:p>
        </p:txBody>
      </p:sp>
      <p:sp>
        <p:nvSpPr>
          <p:cNvPr id="4" name="Shape 1"/>
          <p:cNvSpPr/>
          <p:nvPr/>
        </p:nvSpPr>
        <p:spPr>
          <a:xfrm>
            <a:off x="5233360" y="2567285"/>
            <a:ext cx="425241" cy="425252"/>
          </a:xfrm>
          <a:prstGeom prst="roundRect">
            <a:avLst>
              <a:gd name="adj" fmla="val 18669"/>
            </a:avLst>
          </a:prstGeom>
          <a:solidFill>
            <a:srgbClr val="D1E5FA"/>
          </a:solidFill>
          <a:ln w="19050">
            <a:solidFill>
              <a:srgbClr val="B7CBE0"/>
            </a:solidFill>
            <a:prstDash val="solid"/>
          </a:ln>
        </p:spPr>
      </p:sp>
      <p:sp>
        <p:nvSpPr>
          <p:cNvPr id="5" name="Text 2"/>
          <p:cNvSpPr/>
          <p:nvPr/>
        </p:nvSpPr>
        <p:spPr>
          <a:xfrm>
            <a:off x="5847608" y="2632174"/>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Commercial developer services require users 18 or older</a:t>
            </a:r>
            <a:endParaRPr lang="en-US" sz="1850" dirty="0"/>
          </a:p>
        </p:txBody>
      </p:sp>
      <p:sp>
        <p:nvSpPr>
          <p:cNvPr id="6" name="Shape 3"/>
          <p:cNvSpPr/>
          <p:nvPr/>
        </p:nvSpPr>
        <p:spPr>
          <a:xfrm>
            <a:off x="5233360" y="3600748"/>
            <a:ext cx="425241" cy="425252"/>
          </a:xfrm>
          <a:prstGeom prst="roundRect">
            <a:avLst>
              <a:gd name="adj" fmla="val 18669"/>
            </a:avLst>
          </a:prstGeom>
          <a:solidFill>
            <a:srgbClr val="D1E5FA"/>
          </a:solidFill>
          <a:ln w="19050">
            <a:solidFill>
              <a:srgbClr val="B7CBE0"/>
            </a:solidFill>
            <a:prstDash val="solid"/>
          </a:ln>
        </p:spPr>
      </p:sp>
      <p:sp>
        <p:nvSpPr>
          <p:cNvPr id="7" name="Text 4"/>
          <p:cNvSpPr/>
          <p:nvPr/>
        </p:nvSpPr>
        <p:spPr>
          <a:xfrm>
            <a:off x="5847608" y="3665637"/>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This course never uses one</a:t>
            </a:r>
            <a:endParaRPr lang="en-US" sz="1850" dirty="0"/>
          </a:p>
        </p:txBody>
      </p:sp>
      <p:sp>
        <p:nvSpPr>
          <p:cNvPr id="8" name="Shape 5"/>
          <p:cNvSpPr/>
          <p:nvPr/>
        </p:nvSpPr>
        <p:spPr>
          <a:xfrm>
            <a:off x="5233360" y="4404023"/>
            <a:ext cx="425241" cy="425252"/>
          </a:xfrm>
          <a:prstGeom prst="roundRect">
            <a:avLst>
              <a:gd name="adj" fmla="val 18669"/>
            </a:avLst>
          </a:prstGeom>
          <a:solidFill>
            <a:srgbClr val="D1E5FA"/>
          </a:solidFill>
          <a:ln w="19050">
            <a:solidFill>
              <a:srgbClr val="B7CBE0"/>
            </a:solidFill>
            <a:prstDash val="solid"/>
          </a:ln>
        </p:spPr>
      </p:sp>
      <p:sp>
        <p:nvSpPr>
          <p:cNvPr id="9" name="Text 6"/>
          <p:cNvSpPr/>
          <p:nvPr/>
        </p:nvSpPr>
        <p:spPr>
          <a:xfrm>
            <a:off x="5847608" y="4468912"/>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Nothing you type leaves the building</a:t>
            </a:r>
            <a:endParaRPr lang="en-US" sz="1850" dirty="0"/>
          </a:p>
        </p:txBody>
      </p:sp>
      <p:sp>
        <p:nvSpPr>
          <p:cNvPr id="10" name="Shape 7"/>
          <p:cNvSpPr/>
          <p:nvPr/>
        </p:nvSpPr>
        <p:spPr>
          <a:xfrm>
            <a:off x="5233360" y="5207298"/>
            <a:ext cx="425241" cy="425252"/>
          </a:xfrm>
          <a:prstGeom prst="roundRect">
            <a:avLst>
              <a:gd name="adj" fmla="val 18669"/>
            </a:avLst>
          </a:prstGeom>
          <a:solidFill>
            <a:srgbClr val="D1E5FA"/>
          </a:solidFill>
          <a:ln w="19050">
            <a:solidFill>
              <a:srgbClr val="B7CBE0"/>
            </a:solidFill>
            <a:prstDash val="solid"/>
          </a:ln>
        </p:spPr>
      </p:sp>
      <p:sp>
        <p:nvSpPr>
          <p:cNvPr id="11" name="Text 8"/>
          <p:cNvSpPr/>
          <p:nvPr/>
        </p:nvSpPr>
        <p:spPr>
          <a:xfrm>
            <a:off x="5847608" y="5272187"/>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Nothing in this module stores anything</a:t>
            </a:r>
            <a:endParaRPr lang="en-US" sz="1850" dirty="0"/>
          </a:p>
        </p:txBody>
      </p:sp>
      <p:sp>
        <p:nvSpPr>
          <p:cNvPr id="12" name="Text 9"/>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550565"/>
            <a:ext cx="6296860" cy="1144389"/>
          </a:xfrm>
          <a:prstGeom prst="rect">
            <a:avLst/>
          </a:prstGeom>
          <a:noFill/>
          <a:ln/>
        </p:spPr>
        <p:txBody>
          <a:bodyPr wrap="square" lIns="0" tIns="0" rIns="0" bIns="0" rtlCol="0" anchor="t">
            <a:normAutofit/>
          </a:bodyPr>
          <a:lstStyle/>
          <a:p>
            <a:pPr algn="l" indent="0" marL="0">
              <a:lnSpc>
                <a:spcPct val="104000"/>
              </a:lnSpc>
              <a:buNone/>
            </a:pPr>
            <a:r>
              <a:rPr lang="en-US" sz="3600" b="1" dirty="0">
                <a:solidFill>
                  <a:srgbClr val="111111"/>
                </a:solidFill>
                <a:latin typeface="Orbitron Bold" pitchFamily="34" charset="0"/>
                <a:ea typeface="Orbitron Bold" pitchFamily="34" charset="-122"/>
                <a:cs typeface="Orbitron Bold" pitchFamily="34" charset="-120"/>
              </a:rPr>
              <a:t>In Module 5 you build the layer</a:t>
            </a:r>
            <a:endParaRPr lang="en-US" sz="3600" dirty="0"/>
          </a:p>
        </p:txBody>
      </p:sp>
      <p:sp>
        <p:nvSpPr>
          <p:cNvPr id="4" name="Text 1"/>
          <p:cNvSpPr/>
          <p:nvPr/>
        </p:nvSpPr>
        <p:spPr>
          <a:xfrm>
            <a:off x="661475" y="1960959"/>
            <a:ext cx="366207" cy="228798"/>
          </a:xfrm>
          <a:prstGeom prst="rect">
            <a:avLst/>
          </a:prstGeom>
          <a:noFill/>
          <a:ln/>
        </p:spPr>
        <p:txBody>
          <a:bodyPr wrap="none" lIns="0" tIns="0" rIns="0" bIns="0" rtlCol="0" anchor="ctr"/>
          <a:lstStyle/>
          <a:p>
            <a:pPr algn="l" indent="0" marL="0">
              <a:lnSpc>
                <a:spcPct val="100000"/>
              </a:lnSpc>
              <a:buNone/>
            </a:pPr>
            <a:r>
              <a:rPr lang="en-US" sz="1400" dirty="0">
                <a:solidFill>
                  <a:srgbClr val="1C1C1C"/>
                </a:solidFill>
                <a:latin typeface="Orbitron" pitchFamily="34" charset="0"/>
                <a:ea typeface="Orbitron" pitchFamily="34" charset="-122"/>
                <a:cs typeface="Orbitron" pitchFamily="34" charset="-120"/>
              </a:rPr>
              <a:t>01</a:t>
            </a:r>
            <a:endParaRPr lang="en-US" sz="1400" dirty="0"/>
          </a:p>
        </p:txBody>
      </p:sp>
      <p:sp>
        <p:nvSpPr>
          <p:cNvPr id="5" name="Shape 2"/>
          <p:cNvSpPr/>
          <p:nvPr/>
        </p:nvSpPr>
        <p:spPr>
          <a:xfrm>
            <a:off x="661475" y="2246709"/>
            <a:ext cx="6296860" cy="25400"/>
          </a:xfrm>
          <a:prstGeom prst="rect">
            <a:avLst/>
          </a:prstGeom>
          <a:solidFill>
            <a:srgbClr val="57A1EB"/>
          </a:solidFill>
          <a:ln/>
        </p:spPr>
      </p:sp>
      <p:sp>
        <p:nvSpPr>
          <p:cNvPr id="6" name="Text 3"/>
          <p:cNvSpPr/>
          <p:nvPr/>
        </p:nvSpPr>
        <p:spPr>
          <a:xfrm>
            <a:off x="661475" y="2388989"/>
            <a:ext cx="6296860" cy="572095"/>
          </a:xfrm>
          <a:prstGeom prst="rect">
            <a:avLst/>
          </a:prstGeom>
          <a:noFill/>
          <a:ln/>
        </p:spPr>
        <p:txBody>
          <a:bodyPr wrap="square" lIns="0" tIns="0" rIns="0" bIns="0" rtlCol="0" anchor="t">
            <a:normAutofit/>
          </a:bodyPr>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One service between the application and the model</a:t>
            </a:r>
            <a:endParaRPr lang="en-US" sz="1800" dirty="0"/>
          </a:p>
        </p:txBody>
      </p:sp>
      <p:sp>
        <p:nvSpPr>
          <p:cNvPr id="7" name="Text 4"/>
          <p:cNvSpPr/>
          <p:nvPr/>
        </p:nvSpPr>
        <p:spPr>
          <a:xfrm>
            <a:off x="661475" y="3275707"/>
            <a:ext cx="366207" cy="228798"/>
          </a:xfrm>
          <a:prstGeom prst="rect">
            <a:avLst/>
          </a:prstGeom>
          <a:noFill/>
          <a:ln/>
        </p:spPr>
        <p:txBody>
          <a:bodyPr wrap="none" lIns="0" tIns="0" rIns="0" bIns="0" rtlCol="0" anchor="ctr"/>
          <a:lstStyle/>
          <a:p>
            <a:pPr algn="l" indent="0" marL="0">
              <a:lnSpc>
                <a:spcPct val="100000"/>
              </a:lnSpc>
              <a:buNone/>
            </a:pPr>
            <a:r>
              <a:rPr lang="en-US" sz="1400" dirty="0">
                <a:solidFill>
                  <a:srgbClr val="1C1C1C"/>
                </a:solidFill>
                <a:latin typeface="Orbitron" pitchFamily="34" charset="0"/>
                <a:ea typeface="Orbitron" pitchFamily="34" charset="-122"/>
                <a:cs typeface="Orbitron" pitchFamily="34" charset="-120"/>
              </a:rPr>
              <a:t>02</a:t>
            </a:r>
            <a:endParaRPr lang="en-US" sz="1400" dirty="0"/>
          </a:p>
        </p:txBody>
      </p:sp>
      <p:sp>
        <p:nvSpPr>
          <p:cNvPr id="8" name="Shape 5"/>
          <p:cNvSpPr/>
          <p:nvPr/>
        </p:nvSpPr>
        <p:spPr>
          <a:xfrm>
            <a:off x="661475" y="3561457"/>
            <a:ext cx="6296860" cy="25400"/>
          </a:xfrm>
          <a:prstGeom prst="rect">
            <a:avLst/>
          </a:prstGeom>
          <a:solidFill>
            <a:srgbClr val="57A1EB"/>
          </a:solidFill>
          <a:ln/>
        </p:spPr>
      </p:sp>
      <p:sp>
        <p:nvSpPr>
          <p:cNvPr id="9" name="Text 6"/>
          <p:cNvSpPr/>
          <p:nvPr/>
        </p:nvSpPr>
        <p:spPr>
          <a:xfrm>
            <a:off x="661475" y="3703737"/>
            <a:ext cx="6296860" cy="286048"/>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It handles the mess once</a:t>
            </a:r>
            <a:endParaRPr lang="en-US" sz="1800" dirty="0"/>
          </a:p>
        </p:txBody>
      </p:sp>
      <p:sp>
        <p:nvSpPr>
          <p:cNvPr id="10" name="Text 7"/>
          <p:cNvSpPr/>
          <p:nvPr/>
        </p:nvSpPr>
        <p:spPr>
          <a:xfrm>
            <a:off x="661475" y="4304407"/>
            <a:ext cx="366207" cy="228798"/>
          </a:xfrm>
          <a:prstGeom prst="rect">
            <a:avLst/>
          </a:prstGeom>
          <a:noFill/>
          <a:ln/>
        </p:spPr>
        <p:txBody>
          <a:bodyPr wrap="none" lIns="0" tIns="0" rIns="0" bIns="0" rtlCol="0" anchor="ctr"/>
          <a:lstStyle/>
          <a:p>
            <a:pPr algn="l" indent="0" marL="0">
              <a:lnSpc>
                <a:spcPct val="100000"/>
              </a:lnSpc>
              <a:buNone/>
            </a:pPr>
            <a:r>
              <a:rPr lang="en-US" sz="1400" dirty="0">
                <a:solidFill>
                  <a:srgbClr val="1C1C1C"/>
                </a:solidFill>
                <a:latin typeface="Orbitron" pitchFamily="34" charset="0"/>
                <a:ea typeface="Orbitron" pitchFamily="34" charset="-122"/>
                <a:cs typeface="Orbitron" pitchFamily="34" charset="-120"/>
              </a:rPr>
              <a:t>03</a:t>
            </a:r>
            <a:endParaRPr lang="en-US" sz="1400" dirty="0"/>
          </a:p>
        </p:txBody>
      </p:sp>
      <p:sp>
        <p:nvSpPr>
          <p:cNvPr id="11" name="Shape 8"/>
          <p:cNvSpPr/>
          <p:nvPr/>
        </p:nvSpPr>
        <p:spPr>
          <a:xfrm>
            <a:off x="661475" y="4590157"/>
            <a:ext cx="6296860" cy="25400"/>
          </a:xfrm>
          <a:prstGeom prst="rect">
            <a:avLst/>
          </a:prstGeom>
          <a:solidFill>
            <a:srgbClr val="57A1EB"/>
          </a:solidFill>
          <a:ln/>
        </p:spPr>
      </p:sp>
      <p:sp>
        <p:nvSpPr>
          <p:cNvPr id="12" name="Text 9"/>
          <p:cNvSpPr/>
          <p:nvPr/>
        </p:nvSpPr>
        <p:spPr>
          <a:xfrm>
            <a:off x="661475" y="4732437"/>
            <a:ext cx="6296860" cy="286048"/>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Every caller gets the same shape</a:t>
            </a:r>
            <a:endParaRPr lang="en-US" sz="1800" dirty="0"/>
          </a:p>
        </p:txBody>
      </p:sp>
      <p:sp>
        <p:nvSpPr>
          <p:cNvPr id="13" name="Text 10"/>
          <p:cNvSpPr/>
          <p:nvPr/>
        </p:nvSpPr>
        <p:spPr>
          <a:xfrm>
            <a:off x="661475" y="5333107"/>
            <a:ext cx="366207" cy="228798"/>
          </a:xfrm>
          <a:prstGeom prst="rect">
            <a:avLst/>
          </a:prstGeom>
          <a:noFill/>
          <a:ln/>
        </p:spPr>
        <p:txBody>
          <a:bodyPr wrap="none" lIns="0" tIns="0" rIns="0" bIns="0" rtlCol="0" anchor="ctr"/>
          <a:lstStyle/>
          <a:p>
            <a:pPr algn="l" indent="0" marL="0">
              <a:lnSpc>
                <a:spcPct val="100000"/>
              </a:lnSpc>
              <a:buNone/>
            </a:pPr>
            <a:r>
              <a:rPr lang="en-US" sz="1400" dirty="0">
                <a:solidFill>
                  <a:srgbClr val="1C1C1C"/>
                </a:solidFill>
                <a:latin typeface="Orbitron" pitchFamily="34" charset="0"/>
                <a:ea typeface="Orbitron" pitchFamily="34" charset="-122"/>
                <a:cs typeface="Orbitron" pitchFamily="34" charset="-120"/>
              </a:rPr>
              <a:t>04</a:t>
            </a:r>
            <a:endParaRPr lang="en-US" sz="1400" dirty="0"/>
          </a:p>
        </p:txBody>
      </p:sp>
      <p:sp>
        <p:nvSpPr>
          <p:cNvPr id="14" name="Shape 11"/>
          <p:cNvSpPr/>
          <p:nvPr/>
        </p:nvSpPr>
        <p:spPr>
          <a:xfrm>
            <a:off x="661475" y="5618857"/>
            <a:ext cx="6296860" cy="25400"/>
          </a:xfrm>
          <a:prstGeom prst="rect">
            <a:avLst/>
          </a:prstGeom>
          <a:solidFill>
            <a:srgbClr val="57A1EB"/>
          </a:solidFill>
          <a:ln/>
        </p:spPr>
      </p:sp>
      <p:sp>
        <p:nvSpPr>
          <p:cNvPr id="15" name="Text 12"/>
          <p:cNvSpPr/>
          <p:nvPr/>
        </p:nvSpPr>
        <p:spPr>
          <a:xfrm>
            <a:off x="661475" y="5761137"/>
            <a:ext cx="6296860" cy="286048"/>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You are supposed to feel the problem first</a:t>
            </a:r>
            <a:endParaRPr lang="en-US" sz="1800" dirty="0"/>
          </a:p>
        </p:txBody>
      </p:sp>
      <p:sp>
        <p:nvSpPr>
          <p:cNvPr id="16" name="Text 1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217613"/>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4" name="Shape 1"/>
          <p:cNvSpPr/>
          <p:nvPr/>
        </p:nvSpPr>
        <p:spPr>
          <a:xfrm>
            <a:off x="661475" y="2682379"/>
            <a:ext cx="425241" cy="425252"/>
          </a:xfrm>
          <a:prstGeom prst="roundRect">
            <a:avLst>
              <a:gd name="adj" fmla="val 18669"/>
            </a:avLst>
          </a:prstGeom>
          <a:solidFill>
            <a:srgbClr val="D1E5FA"/>
          </a:solidFill>
          <a:ln w="19050">
            <a:solidFill>
              <a:srgbClr val="B7CBE0"/>
            </a:solidFill>
            <a:prstDash val="solid"/>
          </a:ln>
        </p:spPr>
      </p:sp>
      <p:sp>
        <p:nvSpPr>
          <p:cNvPr id="5" name="Text 2"/>
          <p:cNvSpPr/>
          <p:nvPr/>
        </p:nvSpPr>
        <p:spPr>
          <a:xfrm>
            <a:off x="732365" y="2717800"/>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1</a:t>
            </a:r>
            <a:endParaRPr lang="en-US" sz="2200" dirty="0"/>
          </a:p>
        </p:txBody>
      </p:sp>
      <p:sp>
        <p:nvSpPr>
          <p:cNvPr id="6" name="Text 3"/>
          <p:cNvSpPr/>
          <p:nvPr/>
        </p:nvSpPr>
        <p:spPr>
          <a:xfrm>
            <a:off x="1275723" y="2747268"/>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Start the model server yourself</a:t>
            </a:r>
            <a:endParaRPr lang="en-US" sz="1850" dirty="0"/>
          </a:p>
        </p:txBody>
      </p:sp>
      <p:sp>
        <p:nvSpPr>
          <p:cNvPr id="7" name="Shape 4"/>
          <p:cNvSpPr/>
          <p:nvPr/>
        </p:nvSpPr>
        <p:spPr>
          <a:xfrm>
            <a:off x="661475" y="3485654"/>
            <a:ext cx="425241" cy="425252"/>
          </a:xfrm>
          <a:prstGeom prst="roundRect">
            <a:avLst>
              <a:gd name="adj" fmla="val 18669"/>
            </a:avLst>
          </a:prstGeom>
          <a:solidFill>
            <a:srgbClr val="D1E5FA"/>
          </a:solidFill>
          <a:ln w="19050">
            <a:solidFill>
              <a:srgbClr val="B7CBE0"/>
            </a:solidFill>
            <a:prstDash val="solid"/>
          </a:ln>
        </p:spPr>
      </p:sp>
      <p:sp>
        <p:nvSpPr>
          <p:cNvPr id="8" name="Text 5"/>
          <p:cNvSpPr/>
          <p:nvPr/>
        </p:nvSpPr>
        <p:spPr>
          <a:xfrm>
            <a:off x="732365" y="3521075"/>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2</a:t>
            </a:r>
            <a:endParaRPr lang="en-US" sz="2200" dirty="0"/>
          </a:p>
        </p:txBody>
      </p:sp>
      <p:sp>
        <p:nvSpPr>
          <p:cNvPr id="9" name="Text 6"/>
          <p:cNvSpPr/>
          <p:nvPr/>
        </p:nvSpPr>
        <p:spPr>
          <a:xfrm>
            <a:off x="1275723" y="3550543"/>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Send one request and read three fields</a:t>
            </a:r>
            <a:endParaRPr lang="en-US" sz="1850" dirty="0"/>
          </a:p>
        </p:txBody>
      </p:sp>
      <p:sp>
        <p:nvSpPr>
          <p:cNvPr id="10" name="Shape 7"/>
          <p:cNvSpPr/>
          <p:nvPr/>
        </p:nvSpPr>
        <p:spPr>
          <a:xfrm>
            <a:off x="661475" y="4288929"/>
            <a:ext cx="425241" cy="425252"/>
          </a:xfrm>
          <a:prstGeom prst="roundRect">
            <a:avLst>
              <a:gd name="adj" fmla="val 18669"/>
            </a:avLst>
          </a:prstGeom>
          <a:solidFill>
            <a:srgbClr val="D1E5FA"/>
          </a:solidFill>
          <a:ln w="19050">
            <a:solidFill>
              <a:srgbClr val="B7CBE0"/>
            </a:solidFill>
            <a:prstDash val="solid"/>
          </a:ln>
        </p:spPr>
      </p:sp>
      <p:sp>
        <p:nvSpPr>
          <p:cNvPr id="11" name="Text 8"/>
          <p:cNvSpPr/>
          <p:nvPr/>
        </p:nvSpPr>
        <p:spPr>
          <a:xfrm>
            <a:off x="732365" y="4324350"/>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3</a:t>
            </a:r>
            <a:endParaRPr lang="en-US" sz="2200" dirty="0"/>
          </a:p>
        </p:txBody>
      </p:sp>
      <p:sp>
        <p:nvSpPr>
          <p:cNvPr id="12" name="Text 9"/>
          <p:cNvSpPr/>
          <p:nvPr/>
        </p:nvSpPr>
        <p:spPr>
          <a:xfrm>
            <a:off x="1275723" y="4353818"/>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Then ask for streaming and get refused</a:t>
            </a:r>
            <a:endParaRPr lang="en-US" sz="1850" dirty="0"/>
          </a:p>
        </p:txBody>
      </p:sp>
      <p:sp>
        <p:nvSpPr>
          <p:cNvPr id="13" name="Shape 10"/>
          <p:cNvSpPr/>
          <p:nvPr/>
        </p:nvSpPr>
        <p:spPr>
          <a:xfrm>
            <a:off x="661475" y="5092204"/>
            <a:ext cx="425241" cy="425252"/>
          </a:xfrm>
          <a:prstGeom prst="roundRect">
            <a:avLst>
              <a:gd name="adj" fmla="val 18669"/>
            </a:avLst>
          </a:prstGeom>
          <a:solidFill>
            <a:srgbClr val="D1E5FA"/>
          </a:solidFill>
          <a:ln w="19050">
            <a:solidFill>
              <a:srgbClr val="B7CBE0"/>
            </a:solidFill>
            <a:prstDash val="solid"/>
          </a:ln>
        </p:spPr>
      </p:sp>
      <p:sp>
        <p:nvSpPr>
          <p:cNvPr id="14" name="Text 11"/>
          <p:cNvSpPr/>
          <p:nvPr/>
        </p:nvSpPr>
        <p:spPr>
          <a:xfrm>
            <a:off x="732365" y="5127625"/>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4</a:t>
            </a:r>
            <a:endParaRPr lang="en-US" sz="2200" dirty="0"/>
          </a:p>
        </p:txBody>
      </p:sp>
      <p:sp>
        <p:nvSpPr>
          <p:cNvPr id="15" name="Text 12"/>
          <p:cNvSpPr/>
          <p:nvPr/>
        </p:nvSpPr>
        <p:spPr>
          <a:xfrm>
            <a:off x="1275723" y="5157093"/>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Then finish yesterday's comparison</a:t>
            </a:r>
            <a:endParaRPr lang="en-US" sz="1850" dirty="0"/>
          </a:p>
        </p:txBody>
      </p:sp>
      <p:sp>
        <p:nvSpPr>
          <p:cNvPr id="16" name="Text 1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2026-09-16T05:29:03Z</dcterms:created>
  <dcterms:modified xsi:type="dcterms:W3CDTF">2026-09-16T05:29:03Z</dcterms:modified>
</cp:coreProperties>
</file>