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two weeks you have evaluated outputs. Today the thing in front of you is a whole situation with people in it. The exam asks this directly, and so does every job that uses these tools. It is also the place where a person with good instincts and no method produces an opinion nobody can check. A method is the difference between a verdict and an analysis, and the verdict is the least interesting part of either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first line out loud every time you use this, and do not skip it. This is a composite built from patterns that are common in schools, and it is not a report of a real incident. You are being trained to detect fabrication, so if I presented an invented case as a real one I would have destroyed the premise of the course to make a point. Now read it twice. Once for what happened, once for what you were not told.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them in order, because steps one and two are the ones that get skipped and they are the ones that change the answer. Step one is facts only, no motives and no adjectives. If the scenario does not say somebody knew something, you do not get to say they knew it. Watch how much of what people say about this scenario is actually a conclusion smuggled into step one. She was careless. She should have known. The model failed. None of those are in the paragraph and two of them are verdicts.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conclusion you would hold no matter what is not a conclusion about this scenario. It is a position you walked in with. Writing down the fact that would change your mind does three things. It makes your reasoning checkable by somebody who disagrees with you. It tells you what to go and find out, if you can. And it stops you defending a verdict when the facts move, which is the most expensive habit in professional judgement. This is the same shape as a testable theory in troubleshooting and the same shape as a bias test that could come out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these from the room and they will give you three and stop. The fourth one is the one nobody asks and it is the one that changes the recommendation. Read it out and let it sit before you explain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time pressure the mind treats the scenario as complete and reasons from what is present. Forcing yourself to write the list produces gaps you would not have noticed, and here one of those gaps moves the whole recommendation. If the sample was not random, the problem is not that she checked too few, it is that the check produced confidence without producing evidence. It is also what makes your analysis checkable, because a reader who knows one of your gaps can tell you, and your conclusion updates instead of getting defended.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has a rule in it. The person most affected is often the one not in the scenario, and if your list only has the people the paragraph names, go back. Step four is the one that surprises people. Using the model was reasonable, it saved real time, and the output was mostly right. A spot check on generated output is not a sample of a process that is uniformly good or bad, it is a sample of a process that is right about common cases and wrong about unusual ones. There is an earlier decision point worth naming too. The yearbook has no fact-checking step, so this was going to happen eventually. A model made it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recommendation with no cost is not a recommendation. Time, money, effort, inconvenience, or a result somebody wanted and does not get. Fifteen minutes is a real number and it is also the reason the right thing did not happen, so an analysis that pretends the fifteen minutes is free has not finished. Then look at the cheaper version, because this is where an analysis earns its keep. Twelve checks instead of forty gets most of the benefit for a third of the cost, and that is the version somebody will actually adopt.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gets written first and it is partly right, which is what makes it dangerous, because it will be graded as analysis by anyone who happens to agree with it. It skips step one, because the model did not make up the student or the game. It skips step two entirely, so nobody can check it. It prices nothing. And it fails step six. The mirror image is equally wrong, and somebody in every room writes it. Thirty-nine out of forty beats a tired student at midnight, so the process worked. That one skips step three, because the sophomore is not in it, and treats an error rate as the only thing that matters when the harm lands on one named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scenarios do not have a right answer and you are scored on whether you noticed. The word that does the work in that list is strongest. Not the version most convenient to argue against. A scored analysis of a contested question that reads as though one side is beyond argument has lost marks, even if you picked the side I agree with. The reasoning is the assessment, and that is true of everything you write in the back half of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one and two were done Friday. Build one is steps three through five. Step four uses the sentence exactly as the lab gives it. A different choice here would have produced a different outcome. Step five has a number in it. Build two is step six and the contested part of the scenario, written so a reader could not tell which side you believe. At close, two of you read only your step six aloud, and the room decides whether the fact you named is one somebody could go and find out. If it is not, it is not a falsifier.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1.png"/><Relationship Id="rId4" Type="http://schemas.openxmlformats.org/officeDocument/2006/relationships/image" Target="../media/image-5-2.svg"/><Relationship Id="rId5" Type="http://schemas.openxmlformats.org/officeDocument/2006/relationships/image" Target="../media/image-5-1.png"/><Relationship Id="rId6" Type="http://schemas.openxmlformats.org/officeDocument/2006/relationships/image" Target="../media/image-5-2.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7.png"/><Relationship Id="rId10" Type="http://schemas.openxmlformats.org/officeDocument/2006/relationships/image" Target="../media/image-5-8.svg"/><Relationship Id="rId11" Type="http://schemas.openxmlformats.org/officeDocument/2006/relationships/slideLayout" Target="../slideLayouts/slideLayout2.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2.png"/><Relationship Id="rId5" Type="http://schemas.openxmlformats.org/officeDocument/2006/relationships/image" Target="../media/image-7-3.svg"/><Relationship Id="rId6" Type="http://schemas.openxmlformats.org/officeDocument/2006/relationships/image" Target="../media/image-7-2.png"/><Relationship Id="rId7" Type="http://schemas.openxmlformats.org/officeDocument/2006/relationships/image" Target="../media/image-7-3.svg"/><Relationship Id="rId8" Type="http://schemas.openxmlformats.org/officeDocument/2006/relationships/image" Target="../media/image-7-2.png"/><Relationship Id="rId9" Type="http://schemas.openxmlformats.org/officeDocument/2006/relationships/image" Target="../media/image-7-3.svg"/><Relationship Id="rId10" Type="http://schemas.openxmlformats.org/officeDocument/2006/relationships/slideLayout" Target="../slideLayouts/slideLayout2.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5-7.png"/><Relationship Id="rId2" Type="http://schemas.openxmlformats.org/officeDocument/2006/relationships/image" Target="../media/image-5-8.svg"/><Relationship Id="rId3" Type="http://schemas.openxmlformats.org/officeDocument/2006/relationships/image" Target="../media/image-5-7.png"/><Relationship Id="rId4" Type="http://schemas.openxmlformats.org/officeDocument/2006/relationships/image" Target="../media/image-5-8.svg"/><Relationship Id="rId5" Type="http://schemas.openxmlformats.org/officeDocument/2006/relationships/image" Target="../media/image-5-7.png"/><Relationship Id="rId6" Type="http://schemas.openxmlformats.org/officeDocument/2006/relationships/image" Target="../media/image-5-8.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7.png"/><Relationship Id="rId10" Type="http://schemas.openxmlformats.org/officeDocument/2006/relationships/image" Target="../media/image-5-8.svg"/><Relationship Id="rId11" Type="http://schemas.openxmlformats.org/officeDocument/2006/relationships/slideLayout" Target="../slideLayouts/slideLayout2.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Analyzing a Scenario Involving AI</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768747"/>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 have an opinion in four seconds and nobody can check it</a:t>
            </a:r>
            <a:endParaRPr lang="en-US" sz="3700" dirty="0"/>
          </a:p>
        </p:txBody>
      </p:sp>
      <p:sp>
        <p:nvSpPr>
          <p:cNvPr id="3" name="Shape 1"/>
          <p:cNvSpPr/>
          <p:nvPr/>
        </p:nvSpPr>
        <p:spPr>
          <a:xfrm>
            <a:off x="661475" y="2328069"/>
            <a:ext cx="425241" cy="425252"/>
          </a:xfrm>
          <a:prstGeom prst="roundRect">
            <a:avLst>
              <a:gd name="adj" fmla="val 18669"/>
            </a:avLst>
          </a:prstGeom>
          <a:solidFill>
            <a:srgbClr val="D1E5FA"/>
          </a:solidFill>
          <a:ln w="19050">
            <a:solidFill>
              <a:srgbClr val="B7CBE0"/>
            </a:solidFill>
            <a:prstDash val="solid"/>
          </a:ln>
        </p:spPr>
      </p:sp>
      <p:sp>
        <p:nvSpPr>
          <p:cNvPr id="4" name="Text 2"/>
          <p:cNvSpPr/>
          <p:nvPr/>
        </p:nvSpPr>
        <p:spPr>
          <a:xfrm>
            <a:off x="1275723" y="2392958"/>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This week the thing in front of you is a situation</a:t>
            </a:r>
            <a:endParaRPr lang="en-US" sz="1850" dirty="0"/>
          </a:p>
        </p:txBody>
      </p:sp>
      <p:sp>
        <p:nvSpPr>
          <p:cNvPr id="5" name="Shape 3"/>
          <p:cNvSpPr/>
          <p:nvPr/>
        </p:nvSpPr>
        <p:spPr>
          <a:xfrm>
            <a:off x="661475" y="3131344"/>
            <a:ext cx="425241" cy="425252"/>
          </a:xfrm>
          <a:prstGeom prst="roundRect">
            <a:avLst>
              <a:gd name="adj" fmla="val 18669"/>
            </a:avLst>
          </a:prstGeom>
          <a:solidFill>
            <a:srgbClr val="D1E5FA"/>
          </a:solidFill>
          <a:ln w="19050">
            <a:solidFill>
              <a:srgbClr val="B7CBE0"/>
            </a:solidFill>
            <a:prstDash val="solid"/>
          </a:ln>
        </p:spPr>
      </p:sp>
      <p:sp>
        <p:nvSpPr>
          <p:cNvPr id="6" name="Text 4"/>
          <p:cNvSpPr/>
          <p:nvPr/>
        </p:nvSpPr>
        <p:spPr>
          <a:xfrm>
            <a:off x="1275723" y="3196233"/>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Somebody used a model and something happened</a:t>
            </a:r>
            <a:endParaRPr lang="en-US" sz="1850" dirty="0"/>
          </a:p>
        </p:txBody>
      </p:sp>
      <p:sp>
        <p:nvSpPr>
          <p:cNvPr id="7" name="Shape 5"/>
          <p:cNvSpPr/>
          <p:nvPr/>
        </p:nvSpPr>
        <p:spPr>
          <a:xfrm>
            <a:off x="661475" y="3934619"/>
            <a:ext cx="425241" cy="425252"/>
          </a:xfrm>
          <a:prstGeom prst="roundRect">
            <a:avLst>
              <a:gd name="adj" fmla="val 18669"/>
            </a:avLst>
          </a:prstGeom>
          <a:solidFill>
            <a:srgbClr val="D1E5FA"/>
          </a:solidFill>
          <a:ln w="19050">
            <a:solidFill>
              <a:srgbClr val="B7CBE0"/>
            </a:solidFill>
            <a:prstDash val="solid"/>
          </a:ln>
        </p:spPr>
      </p:sp>
      <p:sp>
        <p:nvSpPr>
          <p:cNvPr id="8" name="Text 6"/>
          <p:cNvSpPr/>
          <p:nvPr/>
        </p:nvSpPr>
        <p:spPr>
          <a:xfrm>
            <a:off x="1275723" y="3999508"/>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have to say what you think</a:t>
            </a:r>
            <a:endParaRPr lang="en-US" sz="1850" dirty="0"/>
          </a:p>
        </p:txBody>
      </p:sp>
      <p:sp>
        <p:nvSpPr>
          <p:cNvPr id="9" name="Shape 7"/>
          <p:cNvSpPr/>
          <p:nvPr/>
        </p:nvSpPr>
        <p:spPr>
          <a:xfrm>
            <a:off x="661475" y="4737894"/>
            <a:ext cx="425241" cy="425252"/>
          </a:xfrm>
          <a:prstGeom prst="roundRect">
            <a:avLst>
              <a:gd name="adj" fmla="val 18669"/>
            </a:avLst>
          </a:prstGeom>
          <a:solidFill>
            <a:srgbClr val="D1E5FA"/>
          </a:solidFill>
          <a:ln w="19050">
            <a:solidFill>
              <a:srgbClr val="B7CBE0"/>
            </a:solidFill>
            <a:prstDash val="solid"/>
          </a:ln>
        </p:spPr>
      </p:sp>
      <p:sp>
        <p:nvSpPr>
          <p:cNvPr id="10" name="Text 8"/>
          <p:cNvSpPr/>
          <p:nvPr/>
        </p:nvSpPr>
        <p:spPr>
          <a:xfrm>
            <a:off x="1275723" y="4802783"/>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Good instincts with no method produce an unreviewable opinion</a:t>
            </a:r>
            <a:endParaRPr lang="en-US" sz="1850" dirty="0"/>
          </a:p>
        </p:txBody>
      </p:sp>
      <p:sp>
        <p:nvSpPr>
          <p:cNvPr id="11" name="Shape 9"/>
          <p:cNvSpPr/>
          <p:nvPr/>
        </p:nvSpPr>
        <p:spPr>
          <a:xfrm>
            <a:off x="661475" y="5541169"/>
            <a:ext cx="425241" cy="425252"/>
          </a:xfrm>
          <a:prstGeom prst="roundRect">
            <a:avLst>
              <a:gd name="adj" fmla="val 18669"/>
            </a:avLst>
          </a:prstGeom>
          <a:solidFill>
            <a:srgbClr val="D1E5FA"/>
          </a:solidFill>
          <a:ln w="19050">
            <a:solidFill>
              <a:srgbClr val="B7CBE0"/>
            </a:solidFill>
            <a:prstDash val="solid"/>
          </a:ln>
        </p:spPr>
      </p:sp>
      <p:sp>
        <p:nvSpPr>
          <p:cNvPr id="12" name="Text 10"/>
          <p:cNvSpPr/>
          <p:nvPr/>
        </p:nvSpPr>
        <p:spPr>
          <a:xfrm>
            <a:off x="1275723" y="5606058"/>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In a meeting that is worth nothing</a:t>
            </a:r>
            <a:endParaRPr lang="en-US" sz="1850" dirty="0"/>
          </a:p>
        </p:txBody>
      </p:sp>
      <p:sp>
        <p:nvSpPr>
          <p:cNvPr id="13"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87967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scenario</a:t>
            </a:r>
            <a:endParaRPr lang="en-US" sz="3700" dirty="0"/>
          </a:p>
        </p:txBody>
      </p:sp>
      <p:sp>
        <p:nvSpPr>
          <p:cNvPr id="3" name="Shape 1"/>
          <p:cNvSpPr/>
          <p:nvPr/>
        </p:nvSpPr>
        <p:spPr>
          <a:xfrm>
            <a:off x="661475" y="1848346"/>
            <a:ext cx="10868745" cy="4007048"/>
          </a:xfrm>
          <a:prstGeom prst="roundRect">
            <a:avLst>
              <a:gd name="adj" fmla="val 1981"/>
            </a:avLst>
          </a:prstGeom>
          <a:solidFill>
            <a:srgbClr val="F2F2F2"/>
          </a:solidFill>
          <a:ln/>
        </p:spPr>
      </p:sp>
      <p:sp>
        <p:nvSpPr>
          <p:cNvPr id="4" name="Text 2"/>
          <p:cNvSpPr/>
          <p:nvPr/>
        </p:nvSpPr>
        <p:spPr>
          <a:xfrm>
            <a:off x="888283" y="2037358"/>
            <a:ext cx="10415129" cy="362902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A COMPOSITE, constructed for this lesson from patterns that are common in</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schools. It is not a report of a real incident.</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A junior on the yearbook staff is behind on captions for the sports section.</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She pastes the roster into a locally hosted model along with the game results</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and asks it to write one caption per photo. It produces forty captions in two</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minutes. They read well. She checks six of them against the results sheet,</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finds them correct, and uses all forty.</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Two weeks later the yearbook goes to print. One caption says a sophomore</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scored the winning goal in the district semifinal. He did not play in that</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game. He was listed as a manager that week.</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46774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Six steps, and the order is the method</a:t>
            </a:r>
            <a:endParaRPr lang="en-US" sz="3700" dirty="0"/>
          </a:p>
        </p:txBody>
      </p:sp>
      <p:sp>
        <p:nvSpPr>
          <p:cNvPr id="3" name="Text 1"/>
          <p:cNvSpPr/>
          <p:nvPr/>
        </p:nvSpPr>
        <p:spPr>
          <a:xfrm>
            <a:off x="661475" y="243641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4" name="Shape 2"/>
          <p:cNvSpPr/>
          <p:nvPr/>
        </p:nvSpPr>
        <p:spPr>
          <a:xfrm>
            <a:off x="661475" y="2732286"/>
            <a:ext cx="3496877" cy="25400"/>
          </a:xfrm>
          <a:prstGeom prst="rect">
            <a:avLst/>
          </a:prstGeom>
          <a:solidFill>
            <a:srgbClr val="57A1EB"/>
          </a:solidFill>
          <a:ln/>
        </p:spPr>
      </p:sp>
      <p:sp>
        <p:nvSpPr>
          <p:cNvPr id="5" name="Text 3"/>
          <p:cNvSpPr/>
          <p:nvPr/>
        </p:nvSpPr>
        <p:spPr>
          <a:xfrm>
            <a:off x="661475" y="2877542"/>
            <a:ext cx="349687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State what happened, with nothing added</a:t>
            </a:r>
            <a:endParaRPr lang="en-US" sz="1850" dirty="0"/>
          </a:p>
        </p:txBody>
      </p:sp>
      <p:sp>
        <p:nvSpPr>
          <p:cNvPr id="6" name="Text 4"/>
          <p:cNvSpPr/>
          <p:nvPr/>
        </p:nvSpPr>
        <p:spPr>
          <a:xfrm>
            <a:off x="4347359" y="243641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7" name="Shape 5"/>
          <p:cNvSpPr/>
          <p:nvPr/>
        </p:nvSpPr>
        <p:spPr>
          <a:xfrm>
            <a:off x="4347359" y="2732286"/>
            <a:ext cx="3496877" cy="25400"/>
          </a:xfrm>
          <a:prstGeom prst="rect">
            <a:avLst/>
          </a:prstGeom>
          <a:solidFill>
            <a:srgbClr val="57A1EB"/>
          </a:solidFill>
          <a:ln/>
        </p:spPr>
      </p:sp>
      <p:sp>
        <p:nvSpPr>
          <p:cNvPr id="8" name="Text 6"/>
          <p:cNvSpPr/>
          <p:nvPr/>
        </p:nvSpPr>
        <p:spPr>
          <a:xfrm>
            <a:off x="4347359" y="2877542"/>
            <a:ext cx="349687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List what you were not told</a:t>
            </a:r>
            <a:endParaRPr lang="en-US" sz="1850" dirty="0"/>
          </a:p>
        </p:txBody>
      </p:sp>
      <p:sp>
        <p:nvSpPr>
          <p:cNvPr id="9" name="Text 7"/>
          <p:cNvSpPr/>
          <p:nvPr/>
        </p:nvSpPr>
        <p:spPr>
          <a:xfrm>
            <a:off x="8033244" y="243641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0" name="Shape 8"/>
          <p:cNvSpPr/>
          <p:nvPr/>
        </p:nvSpPr>
        <p:spPr>
          <a:xfrm>
            <a:off x="8033244" y="2732286"/>
            <a:ext cx="3496877" cy="25400"/>
          </a:xfrm>
          <a:prstGeom prst="rect">
            <a:avLst/>
          </a:prstGeom>
          <a:solidFill>
            <a:srgbClr val="57A1EB"/>
          </a:solidFill>
          <a:ln/>
        </p:spPr>
      </p:sp>
      <p:sp>
        <p:nvSpPr>
          <p:cNvPr id="11" name="Text 9"/>
          <p:cNvSpPr/>
          <p:nvPr/>
        </p:nvSpPr>
        <p:spPr>
          <a:xfrm>
            <a:off x="8033244" y="2877542"/>
            <a:ext cx="349687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Name who is affected, including people not in the scenario</a:t>
            </a:r>
            <a:endParaRPr lang="en-US" sz="1850" dirty="0"/>
          </a:p>
        </p:txBody>
      </p:sp>
      <p:sp>
        <p:nvSpPr>
          <p:cNvPr id="12" name="Text 10"/>
          <p:cNvSpPr/>
          <p:nvPr/>
        </p:nvSpPr>
        <p:spPr>
          <a:xfrm>
            <a:off x="661475" y="409406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3" name="Shape 11"/>
          <p:cNvSpPr/>
          <p:nvPr/>
        </p:nvSpPr>
        <p:spPr>
          <a:xfrm>
            <a:off x="661475" y="4389934"/>
            <a:ext cx="5339820" cy="25400"/>
          </a:xfrm>
          <a:prstGeom prst="rect">
            <a:avLst/>
          </a:prstGeom>
          <a:solidFill>
            <a:srgbClr val="57A1EB"/>
          </a:solidFill>
          <a:ln/>
        </p:spPr>
      </p:sp>
      <p:sp>
        <p:nvSpPr>
          <p:cNvPr id="14" name="Text 12"/>
          <p:cNvSpPr/>
          <p:nvPr/>
        </p:nvSpPr>
        <p:spPr>
          <a:xfrm>
            <a:off x="661475" y="4535190"/>
            <a:ext cx="533982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Identify the decision point</a:t>
            </a:r>
            <a:endParaRPr lang="en-US" sz="1850" dirty="0"/>
          </a:p>
        </p:txBody>
      </p:sp>
      <p:sp>
        <p:nvSpPr>
          <p:cNvPr id="15" name="Text 13"/>
          <p:cNvSpPr/>
          <p:nvPr/>
        </p:nvSpPr>
        <p:spPr>
          <a:xfrm>
            <a:off x="6190301" y="409406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05</a:t>
            </a:r>
            <a:endParaRPr lang="en-US" sz="1450" dirty="0"/>
          </a:p>
        </p:txBody>
      </p:sp>
      <p:sp>
        <p:nvSpPr>
          <p:cNvPr id="16" name="Shape 14"/>
          <p:cNvSpPr/>
          <p:nvPr/>
        </p:nvSpPr>
        <p:spPr>
          <a:xfrm>
            <a:off x="6190301" y="4389934"/>
            <a:ext cx="5339820" cy="25400"/>
          </a:xfrm>
          <a:prstGeom prst="rect">
            <a:avLst/>
          </a:prstGeom>
          <a:solidFill>
            <a:srgbClr val="57A1EB"/>
          </a:solidFill>
          <a:ln/>
        </p:spPr>
      </p:sp>
      <p:sp>
        <p:nvSpPr>
          <p:cNvPr id="17" name="Text 15"/>
          <p:cNvSpPr/>
          <p:nvPr/>
        </p:nvSpPr>
        <p:spPr>
          <a:xfrm>
            <a:off x="6190301" y="4535190"/>
            <a:ext cx="533982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Say what should have happened, and what it would cost</a:t>
            </a:r>
            <a:endParaRPr lang="en-US" sz="1850" dirty="0"/>
          </a:p>
        </p:txBody>
      </p:sp>
      <p:sp>
        <p:nvSpPr>
          <p:cNvPr id="18" name="Text 1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32645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Step 6 is the whole thing</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295128"/>
            <a:ext cx="3496877" cy="1609923"/>
          </a:xfrm>
          <a:prstGeom prst="rect">
            <a:avLst/>
          </a:prstGeom>
        </p:spPr>
      </p:pic>
      <p:sp>
        <p:nvSpPr>
          <p:cNvPr id="4" name="Text 1"/>
          <p:cNvSpPr/>
          <p:nvPr/>
        </p:nvSpPr>
        <p:spPr>
          <a:xfrm>
            <a:off x="977479" y="2509540"/>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State the one fact that would change your conclusion</a:t>
            </a:r>
            <a:endParaRPr lang="en-US" sz="185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47359" y="2295128"/>
            <a:ext cx="3496877" cy="1609923"/>
          </a:xfrm>
          <a:prstGeom prst="rect">
            <a:avLst/>
          </a:prstGeom>
        </p:spPr>
      </p:pic>
      <p:sp>
        <p:nvSpPr>
          <p:cNvPr id="6" name="Text 2"/>
          <p:cNvSpPr/>
          <p:nvPr/>
        </p:nvSpPr>
        <p:spPr>
          <a:xfrm>
            <a:off x="4663363" y="2509540"/>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If you cannot name one, you have an opinion</a:t>
            </a:r>
            <a:endParaRPr lang="en-US" sz="185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33244" y="2295128"/>
            <a:ext cx="3496877" cy="1609923"/>
          </a:xfrm>
          <a:prstGeom prst="rect">
            <a:avLst/>
          </a:prstGeom>
        </p:spPr>
      </p:pic>
      <p:sp>
        <p:nvSpPr>
          <p:cNvPr id="8" name="Text 3"/>
          <p:cNvSpPr/>
          <p:nvPr/>
        </p:nvSpPr>
        <p:spPr>
          <a:xfrm>
            <a:off x="8349247" y="2509540"/>
            <a:ext cx="2966467" cy="118110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makes your reasoning checkable by somebody who disagrees</a:t>
            </a:r>
            <a:endParaRPr lang="en-US" sz="185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4094063"/>
            <a:ext cx="3496877" cy="1314648"/>
          </a:xfrm>
          <a:prstGeom prst="rect">
            <a:avLst/>
          </a:prstGeom>
        </p:spPr>
      </p:pic>
      <p:sp>
        <p:nvSpPr>
          <p:cNvPr id="10" name="Text 4"/>
          <p:cNvSpPr/>
          <p:nvPr/>
        </p:nvSpPr>
        <p:spPr>
          <a:xfrm>
            <a:off x="977479" y="4308475"/>
            <a:ext cx="296646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tells you what to go and find out</a:t>
            </a:r>
            <a:endParaRPr lang="en-US" sz="1850" dirty="0"/>
          </a:p>
        </p:txBody>
      </p:sp>
      <p:pic>
        <p:nvPicPr>
          <p:cNvPr id="1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47359" y="4094063"/>
            <a:ext cx="3496877" cy="1314648"/>
          </a:xfrm>
          <a:prstGeom prst="rect">
            <a:avLst/>
          </a:prstGeom>
        </p:spPr>
      </p:pic>
      <p:sp>
        <p:nvSpPr>
          <p:cNvPr id="12" name="Text 5"/>
          <p:cNvSpPr/>
          <p:nvPr/>
        </p:nvSpPr>
        <p:spPr>
          <a:xfrm>
            <a:off x="4663363" y="4308475"/>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claim that cannot be wrong cannot be checked</a:t>
            </a:r>
            <a:endParaRPr lang="en-US" sz="1850" dirty="0"/>
          </a:p>
        </p:txBody>
      </p:sp>
      <p:sp>
        <p:nvSpPr>
          <p:cNvPr id="13"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340445"/>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Step 2, and this is where the lesson lives</a:t>
            </a:r>
            <a:endParaRPr lang="en-US" sz="3700" dirty="0"/>
          </a:p>
        </p:txBody>
      </p:sp>
      <p:sp>
        <p:nvSpPr>
          <p:cNvPr id="3" name="Shape 1"/>
          <p:cNvSpPr/>
          <p:nvPr/>
        </p:nvSpPr>
        <p:spPr>
          <a:xfrm>
            <a:off x="661475" y="2899767"/>
            <a:ext cx="10868745" cy="2494955"/>
          </a:xfrm>
          <a:prstGeom prst="roundRect">
            <a:avLst>
              <a:gd name="adj" fmla="val 3182"/>
            </a:avLst>
          </a:prstGeom>
          <a:solidFill>
            <a:srgbClr val="F2F2F2"/>
          </a:solidFill>
          <a:ln/>
        </p:spPr>
      </p:sp>
      <p:sp>
        <p:nvSpPr>
          <p:cNvPr id="4" name="Text 2"/>
          <p:cNvSpPr/>
          <p:nvPr/>
        </p:nvSpPr>
        <p:spPr>
          <a:xfrm>
            <a:off x="888283" y="3088779"/>
            <a:ext cx="10415129" cy="2116931"/>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WHAT YOU WERE NOT TOLD</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1. Whether anyone else reviewed the captions before print.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2. Whether the yearbook has a fact-checking step at all.</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3. Whether the roster's "manager" notation was visible in what she pasted.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4. Whether the six she checked were chosen at random or were the first six.</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5. How much time she had, and whether a slower method was available.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887016"/>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fourth gap is the one nobody asks</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2315" y="2357636"/>
            <a:ext cx="283461" cy="283468"/>
          </a:xfrm>
          <a:prstGeom prst="rect">
            <a:avLst/>
          </a:prstGeom>
        </p:spPr>
      </p:pic>
      <p:sp>
        <p:nvSpPr>
          <p:cNvPr id="5" name="Text 1"/>
          <p:cNvSpPr/>
          <p:nvPr/>
        </p:nvSpPr>
        <p:spPr>
          <a:xfrm>
            <a:off x="1275723" y="2351782"/>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If she checked the first six, she checked the quickest six</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2315" y="3326209"/>
            <a:ext cx="283461" cy="283468"/>
          </a:xfrm>
          <a:prstGeom prst="rect">
            <a:avLst/>
          </a:prstGeom>
        </p:spPr>
      </p:pic>
      <p:sp>
        <p:nvSpPr>
          <p:cNvPr id="7" name="Text 2"/>
          <p:cNvSpPr/>
          <p:nvPr/>
        </p:nvSpPr>
        <p:spPr>
          <a:xfrm>
            <a:off x="1275723" y="3320355"/>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spot check that is not random is not a spot check</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2315" y="4294783"/>
            <a:ext cx="283461" cy="283468"/>
          </a:xfrm>
          <a:prstGeom prst="rect">
            <a:avLst/>
          </a:prstGeom>
        </p:spPr>
      </p:pic>
      <p:sp>
        <p:nvSpPr>
          <p:cNvPr id="9" name="Text 3"/>
          <p:cNvSpPr/>
          <p:nvPr/>
        </p:nvSpPr>
        <p:spPr>
          <a:xfrm>
            <a:off x="1275723" y="4288929"/>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That single fact changes what you recommend</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2315" y="5263356"/>
            <a:ext cx="283461" cy="283468"/>
          </a:xfrm>
          <a:prstGeom prst="rect">
            <a:avLst/>
          </a:prstGeom>
        </p:spPr>
      </p:pic>
      <p:sp>
        <p:nvSpPr>
          <p:cNvPr id="11" name="Text 4"/>
          <p:cNvSpPr/>
          <p:nvPr/>
        </p:nvSpPr>
        <p:spPr>
          <a:xfrm>
            <a:off x="1275723" y="5257502"/>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Step 2 is what separates an analysis from a reaction</a:t>
            </a:r>
            <a:endParaRPr lang="en-US" sz="185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33330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Steps 3 and 4</a:t>
            </a:r>
            <a:endParaRPr lang="en-US" sz="3700" dirty="0"/>
          </a:p>
        </p:txBody>
      </p:sp>
      <p:sp>
        <p:nvSpPr>
          <p:cNvPr id="3" name="Shape 1"/>
          <p:cNvSpPr/>
          <p:nvPr/>
        </p:nvSpPr>
        <p:spPr>
          <a:xfrm>
            <a:off x="661475" y="2301974"/>
            <a:ext cx="10868745" cy="3099792"/>
          </a:xfrm>
          <a:prstGeom prst="roundRect">
            <a:avLst>
              <a:gd name="adj" fmla="val 2561"/>
            </a:avLst>
          </a:prstGeom>
          <a:solidFill>
            <a:srgbClr val="F2F2F2"/>
          </a:solidFill>
          <a:ln/>
        </p:spPr>
      </p:sp>
      <p:sp>
        <p:nvSpPr>
          <p:cNvPr id="4" name="Text 2"/>
          <p:cNvSpPr/>
          <p:nvPr/>
        </p:nvSpPr>
        <p:spPr>
          <a:xfrm>
            <a:off x="888283" y="2490986"/>
            <a:ext cx="10415129" cy="2721769"/>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STEP 3. WHO IS AFFECTED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The sophomore. A false claim about him, printed, permanent, with his name on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it. He is the person most affected and he is not in the scenario.</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Also the junior, the readers who cannot tell which captions were checked,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next year's staff, and every student whose roster data went into a prompt.</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STEP 4. THE DECISION POINT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Not the moment she used the model. The spot check. Six of forty, and the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manager notation is exactly the unusual case a small spot check misses.</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6344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Step 5 needs a price on it</a:t>
            </a:r>
            <a:endParaRPr lang="en-US" sz="3700" dirty="0"/>
          </a:p>
        </p:txBody>
      </p:sp>
      <p:sp>
        <p:nvSpPr>
          <p:cNvPr id="3" name="Shape 1"/>
          <p:cNvSpPr/>
          <p:nvPr/>
        </p:nvSpPr>
        <p:spPr>
          <a:xfrm>
            <a:off x="661475" y="2603103"/>
            <a:ext cx="3496877" cy="1301948"/>
          </a:xfrm>
          <a:prstGeom prst="roundRect">
            <a:avLst>
              <a:gd name="adj" fmla="val 6098"/>
            </a:avLst>
          </a:prstGeom>
          <a:solidFill>
            <a:srgbClr val="D1E5FA"/>
          </a:solidFill>
          <a:ln w="19050">
            <a:solidFill>
              <a:srgbClr val="B7CBE0"/>
            </a:solidFill>
            <a:prstDash val="solid"/>
          </a:ln>
        </p:spPr>
      </p:sp>
      <p:sp>
        <p:nvSpPr>
          <p:cNvPr id="4" name="Text 2"/>
          <p:cNvSpPr/>
          <p:nvPr/>
        </p:nvSpPr>
        <p:spPr>
          <a:xfrm>
            <a:off x="869531" y="2811165"/>
            <a:ext cx="3080764"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Check every caption that names a person and an action</a:t>
            </a:r>
            <a:endParaRPr lang="en-US" sz="1850" dirty="0"/>
          </a:p>
        </p:txBody>
      </p:sp>
      <p:sp>
        <p:nvSpPr>
          <p:cNvPr id="5" name="Shape 3"/>
          <p:cNvSpPr/>
          <p:nvPr/>
        </p:nvSpPr>
        <p:spPr>
          <a:xfrm>
            <a:off x="4347359" y="2603103"/>
            <a:ext cx="3496877" cy="1301948"/>
          </a:xfrm>
          <a:prstGeom prst="roundRect">
            <a:avLst>
              <a:gd name="adj" fmla="val 6098"/>
            </a:avLst>
          </a:prstGeom>
          <a:solidFill>
            <a:srgbClr val="D1E5FA"/>
          </a:solidFill>
          <a:ln w="19050">
            <a:solidFill>
              <a:srgbClr val="B7CBE0"/>
            </a:solidFill>
            <a:prstDash val="solid"/>
          </a:ln>
        </p:spPr>
      </p:sp>
      <p:sp>
        <p:nvSpPr>
          <p:cNvPr id="6" name="Text 4"/>
          <p:cNvSpPr/>
          <p:nvPr/>
        </p:nvSpPr>
        <p:spPr>
          <a:xfrm>
            <a:off x="4555416" y="2811165"/>
            <a:ext cx="3080764"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Forty checks, roughly fifteen minutes</a:t>
            </a:r>
            <a:endParaRPr lang="en-US" sz="1850" dirty="0"/>
          </a:p>
        </p:txBody>
      </p:sp>
      <p:sp>
        <p:nvSpPr>
          <p:cNvPr id="7" name="Shape 5"/>
          <p:cNvSpPr/>
          <p:nvPr/>
        </p:nvSpPr>
        <p:spPr>
          <a:xfrm>
            <a:off x="8033244" y="2603103"/>
            <a:ext cx="3496877" cy="1301948"/>
          </a:xfrm>
          <a:prstGeom prst="roundRect">
            <a:avLst>
              <a:gd name="adj" fmla="val 6098"/>
            </a:avLst>
          </a:prstGeom>
          <a:solidFill>
            <a:srgbClr val="D1E5FA"/>
          </a:solidFill>
          <a:ln w="19050">
            <a:solidFill>
              <a:srgbClr val="B7CBE0"/>
            </a:solidFill>
            <a:prstDash val="solid"/>
          </a:ln>
        </p:spPr>
      </p:sp>
      <p:sp>
        <p:nvSpPr>
          <p:cNvPr id="8" name="Text 6"/>
          <p:cNvSpPr/>
          <p:nvPr/>
        </p:nvSpPr>
        <p:spPr>
          <a:xfrm>
            <a:off x="8241300" y="2811165"/>
            <a:ext cx="3080764"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Fifteen minutes she did not have, which is why she skipped it</a:t>
            </a:r>
            <a:endParaRPr lang="en-US" sz="1850" dirty="0"/>
          </a:p>
        </p:txBody>
      </p:sp>
      <p:sp>
        <p:nvSpPr>
          <p:cNvPr id="9" name="Shape 7"/>
          <p:cNvSpPr/>
          <p:nvPr/>
        </p:nvSpPr>
        <p:spPr>
          <a:xfrm>
            <a:off x="661475" y="4094063"/>
            <a:ext cx="5339820" cy="1006673"/>
          </a:xfrm>
          <a:prstGeom prst="roundRect">
            <a:avLst>
              <a:gd name="adj" fmla="val 7886"/>
            </a:avLst>
          </a:prstGeom>
          <a:solidFill>
            <a:srgbClr val="D1E5FA"/>
          </a:solidFill>
          <a:ln w="19050">
            <a:solidFill>
              <a:srgbClr val="B7CBE0"/>
            </a:solidFill>
            <a:prstDash val="solid"/>
          </a:ln>
        </p:spPr>
      </p:sp>
      <p:sp>
        <p:nvSpPr>
          <p:cNvPr id="10" name="Text 8"/>
          <p:cNvSpPr/>
          <p:nvPr/>
        </p:nvSpPr>
        <p:spPr>
          <a:xfrm>
            <a:off x="869531" y="4302125"/>
            <a:ext cx="492370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recommendation that ignores that is one nobody follows</a:t>
            </a:r>
            <a:endParaRPr lang="en-US" sz="1850" dirty="0"/>
          </a:p>
        </p:txBody>
      </p:sp>
      <p:sp>
        <p:nvSpPr>
          <p:cNvPr id="11" name="Shape 9"/>
          <p:cNvSpPr/>
          <p:nvPr/>
        </p:nvSpPr>
        <p:spPr>
          <a:xfrm>
            <a:off x="6190301" y="4094063"/>
            <a:ext cx="5339820" cy="1006673"/>
          </a:xfrm>
          <a:prstGeom prst="roundRect">
            <a:avLst>
              <a:gd name="adj" fmla="val 7886"/>
            </a:avLst>
          </a:prstGeom>
          <a:solidFill>
            <a:srgbClr val="D1E5FA"/>
          </a:solidFill>
          <a:ln w="19050">
            <a:solidFill>
              <a:srgbClr val="B7CBE0"/>
            </a:solidFill>
            <a:prstDash val="solid"/>
          </a:ln>
        </p:spPr>
      </p:sp>
      <p:sp>
        <p:nvSpPr>
          <p:cNvPr id="12" name="Text 10"/>
          <p:cNvSpPr/>
          <p:nvPr/>
        </p:nvSpPr>
        <p:spPr>
          <a:xfrm>
            <a:off x="6398358" y="4302125"/>
            <a:ext cx="492370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Cheaper version: check only the captions naming a person</a:t>
            </a:r>
            <a:endParaRPr lang="en-US" sz="1850" dirty="0"/>
          </a:p>
        </p:txBody>
      </p:sp>
      <p:sp>
        <p:nvSpPr>
          <p:cNvPr id="13"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178719"/>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way, and it takes thirty seconds</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738041"/>
            <a:ext cx="3496877" cy="1314648"/>
          </a:xfrm>
          <a:prstGeom prst="rect">
            <a:avLst/>
          </a:prstGeom>
        </p:spPr>
      </p:pic>
      <p:sp>
        <p:nvSpPr>
          <p:cNvPr id="4" name="Text 1"/>
          <p:cNvSpPr/>
          <p:nvPr/>
        </p:nvSpPr>
        <p:spPr>
          <a:xfrm>
            <a:off x="977479" y="2952452"/>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She should not have used AI. It made up a fact</a:t>
            </a:r>
            <a:endParaRPr lang="en-US" sz="185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47359" y="2738041"/>
            <a:ext cx="3496877" cy="1314648"/>
          </a:xfrm>
          <a:prstGeom prst="rect">
            <a:avLst/>
          </a:prstGeom>
        </p:spPr>
      </p:pic>
      <p:sp>
        <p:nvSpPr>
          <p:cNvPr id="6" name="Text 2"/>
          <p:cNvSpPr/>
          <p:nvPr/>
        </p:nvSpPr>
        <p:spPr>
          <a:xfrm>
            <a:off x="4663363" y="2952452"/>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model did not invent the student or the game</a:t>
            </a:r>
            <a:endParaRPr lang="en-US" sz="185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33244" y="2738041"/>
            <a:ext cx="3496877" cy="1314648"/>
          </a:xfrm>
          <a:prstGeom prst="rect">
            <a:avLst/>
          </a:prstGeom>
        </p:spPr>
      </p:pic>
      <p:sp>
        <p:nvSpPr>
          <p:cNvPr id="8" name="Text 3"/>
          <p:cNvSpPr/>
          <p:nvPr/>
        </p:nvSpPr>
        <p:spPr>
          <a:xfrm>
            <a:off x="8349247" y="2952452"/>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drew a wrong connection from real data she supplied</a:t>
            </a:r>
            <a:endParaRPr lang="en-US" sz="185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4241701"/>
            <a:ext cx="3496877" cy="1314648"/>
          </a:xfrm>
          <a:prstGeom prst="rect">
            <a:avLst/>
          </a:prstGeom>
        </p:spPr>
      </p:pic>
      <p:sp>
        <p:nvSpPr>
          <p:cNvPr id="10" name="Text 4"/>
          <p:cNvSpPr/>
          <p:nvPr/>
        </p:nvSpPr>
        <p:spPr>
          <a:xfrm>
            <a:off x="977479" y="4456113"/>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 cost in it: forty captions by hand is hours</a:t>
            </a:r>
            <a:endParaRPr lang="en-US" sz="1850" dirty="0"/>
          </a:p>
        </p:txBody>
      </p:sp>
      <p:pic>
        <p:nvPicPr>
          <p:cNvPr id="1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47359" y="4241701"/>
            <a:ext cx="3496877" cy="1314648"/>
          </a:xfrm>
          <a:prstGeom prst="rect">
            <a:avLst/>
          </a:prstGeom>
        </p:spPr>
      </p:pic>
      <p:sp>
        <p:nvSpPr>
          <p:cNvPr id="12" name="Text 5"/>
          <p:cNvSpPr/>
          <p:nvPr/>
        </p:nvSpPr>
        <p:spPr>
          <a:xfrm>
            <a:off x="4663363" y="4456113"/>
            <a:ext cx="296646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 fact would change it, so it is a position</a:t>
            </a:r>
            <a:endParaRPr lang="en-US" sz="1850" dirty="0"/>
          </a:p>
        </p:txBody>
      </p:sp>
      <p:sp>
        <p:nvSpPr>
          <p:cNvPr id="13"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452662"/>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When the question is genuinely contested</a:t>
            </a:r>
            <a:endParaRPr lang="en-US" sz="3700" dirty="0"/>
          </a:p>
        </p:txBody>
      </p:sp>
      <p:sp>
        <p:nvSpPr>
          <p:cNvPr id="3" name="Shape 1"/>
          <p:cNvSpPr/>
          <p:nvPr/>
        </p:nvSpPr>
        <p:spPr>
          <a:xfrm>
            <a:off x="661475" y="3011984"/>
            <a:ext cx="10868745" cy="2270522"/>
          </a:xfrm>
          <a:prstGeom prst="roundRect">
            <a:avLst>
              <a:gd name="adj" fmla="val 3496"/>
            </a:avLst>
          </a:prstGeom>
          <a:solidFill>
            <a:srgbClr val="D1E5FA"/>
          </a:solidFill>
          <a:ln w="19050">
            <a:solidFill>
              <a:srgbClr val="B7CBE0"/>
            </a:solidFill>
            <a:prstDash val="solid"/>
          </a:ln>
        </p:spPr>
      </p:sp>
      <p:sp>
        <p:nvSpPr>
          <p:cNvPr id="4" name="Shape 2"/>
          <p:cNvSpPr/>
          <p:nvPr/>
        </p:nvSpPr>
        <p:spPr>
          <a:xfrm>
            <a:off x="680524" y="3031034"/>
            <a:ext cx="3610182" cy="1263848"/>
          </a:xfrm>
          <a:custGeom>
            <a:avLst/>
            <a:gdLst/>
            <a:ahLst/>
            <a:cxnLst/>
            <a:rect l="l" t="t" r="r" b="b"/>
            <a:pathLst>
              <a:path w="3610182" h="1263848">
                <a:moveTo>
                  <a:pt x="66156" y="0"/>
                </a:moveTo>
                <a:lnTo>
                  <a:pt x="3610182" y="0"/>
                </a:lnTo>
                <a:lnTo>
                  <a:pt x="3610182" y="1263848"/>
                </a:lnTo>
                <a:lnTo>
                  <a:pt x="0" y="1263848"/>
                </a:lnTo>
                <a:lnTo>
                  <a:pt x="0" y="66158"/>
                </a:lnTo>
                <a:arcTo hR="66158" wR="66156" stAng="10800000" swAng="5400000"/>
                <a:close/>
              </a:path>
            </a:pathLst>
          </a:custGeom>
          <a:solidFill>
            <a:srgbClr val="D1E5FA"/>
          </a:solidFill>
          <a:ln/>
        </p:spPr>
      </p:sp>
      <p:sp>
        <p:nvSpPr>
          <p:cNvPr id="5" name="Text 3"/>
          <p:cNvSpPr/>
          <p:nvPr/>
        </p:nvSpPr>
        <p:spPr>
          <a:xfrm>
            <a:off x="869531" y="3220045"/>
            <a:ext cx="3232168"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strongest version of the case on one side</a:t>
            </a:r>
            <a:endParaRPr lang="en-US" sz="1850" dirty="0"/>
          </a:p>
        </p:txBody>
      </p:sp>
      <p:sp>
        <p:nvSpPr>
          <p:cNvPr id="6" name="Shape 4"/>
          <p:cNvSpPr/>
          <p:nvPr/>
        </p:nvSpPr>
        <p:spPr>
          <a:xfrm>
            <a:off x="4290707" y="3031034"/>
            <a:ext cx="3610182" cy="1263848"/>
          </a:xfrm>
          <a:prstGeom prst="rect">
            <a:avLst/>
          </a:prstGeom>
          <a:solidFill>
            <a:srgbClr val="D1E5FA"/>
          </a:solidFill>
          <a:ln/>
        </p:spPr>
      </p:sp>
      <p:sp>
        <p:nvSpPr>
          <p:cNvPr id="7" name="Shape 5"/>
          <p:cNvSpPr/>
          <p:nvPr/>
        </p:nvSpPr>
        <p:spPr>
          <a:xfrm>
            <a:off x="4290707" y="3031034"/>
            <a:ext cx="25399" cy="1263848"/>
          </a:xfrm>
          <a:prstGeom prst="roundRect">
            <a:avLst>
              <a:gd name="adj" fmla="val 50001"/>
            </a:avLst>
          </a:prstGeom>
          <a:solidFill>
            <a:srgbClr val="B7CBE0"/>
          </a:solidFill>
          <a:ln/>
        </p:spPr>
      </p:sp>
      <p:sp>
        <p:nvSpPr>
          <p:cNvPr id="8" name="Text 6"/>
          <p:cNvSpPr/>
          <p:nvPr/>
        </p:nvSpPr>
        <p:spPr>
          <a:xfrm>
            <a:off x="4479714" y="3220045"/>
            <a:ext cx="3232168"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strongest version of the other, not one you can knock down</a:t>
            </a:r>
            <a:endParaRPr lang="en-US" sz="1850" dirty="0"/>
          </a:p>
        </p:txBody>
      </p:sp>
      <p:sp>
        <p:nvSpPr>
          <p:cNvPr id="9" name="Shape 7"/>
          <p:cNvSpPr/>
          <p:nvPr/>
        </p:nvSpPr>
        <p:spPr>
          <a:xfrm>
            <a:off x="7900889" y="3031034"/>
            <a:ext cx="3610282" cy="1263848"/>
          </a:xfrm>
          <a:custGeom>
            <a:avLst/>
            <a:gdLst/>
            <a:ahLst/>
            <a:cxnLst/>
            <a:rect l="l" t="t" r="r" b="b"/>
            <a:pathLst>
              <a:path w="3610282" h="1263848">
                <a:moveTo>
                  <a:pt x="0" y="0"/>
                </a:moveTo>
                <a:lnTo>
                  <a:pt x="3544125" y="0"/>
                </a:lnTo>
                <a:arcTo hR="66158" wR="66156" stAng="16200000" swAng="5400000"/>
                <a:lnTo>
                  <a:pt x="3610282" y="1263848"/>
                </a:lnTo>
                <a:lnTo>
                  <a:pt x="0" y="1263848"/>
                </a:lnTo>
                <a:lnTo>
                  <a:pt x="0" y="0"/>
                </a:lnTo>
                <a:close/>
              </a:path>
            </a:pathLst>
          </a:custGeom>
          <a:solidFill>
            <a:srgbClr val="D1E5FA"/>
          </a:solidFill>
          <a:ln/>
        </p:spPr>
      </p:sp>
      <p:sp>
        <p:nvSpPr>
          <p:cNvPr id="10" name="Shape 8"/>
          <p:cNvSpPr/>
          <p:nvPr/>
        </p:nvSpPr>
        <p:spPr>
          <a:xfrm>
            <a:off x="7900889" y="3031034"/>
            <a:ext cx="25399" cy="1263848"/>
          </a:xfrm>
          <a:prstGeom prst="roundRect">
            <a:avLst>
              <a:gd name="adj" fmla="val 50001"/>
            </a:avLst>
          </a:prstGeom>
          <a:solidFill>
            <a:srgbClr val="B7CBE0"/>
          </a:solidFill>
          <a:ln/>
        </p:spPr>
      </p:sp>
      <p:sp>
        <p:nvSpPr>
          <p:cNvPr id="11" name="Text 9"/>
          <p:cNvSpPr/>
          <p:nvPr/>
        </p:nvSpPr>
        <p:spPr>
          <a:xfrm>
            <a:off x="8089896" y="3220045"/>
            <a:ext cx="3232268"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What you would do, and why, given both are real</a:t>
            </a:r>
            <a:endParaRPr lang="en-US" sz="1850" dirty="0"/>
          </a:p>
        </p:txBody>
      </p:sp>
      <p:sp>
        <p:nvSpPr>
          <p:cNvPr id="12" name="Shape 10"/>
          <p:cNvSpPr/>
          <p:nvPr/>
        </p:nvSpPr>
        <p:spPr>
          <a:xfrm>
            <a:off x="680524" y="4294882"/>
            <a:ext cx="5415323" cy="968573"/>
          </a:xfrm>
          <a:custGeom>
            <a:avLst/>
            <a:gdLst/>
            <a:ahLst/>
            <a:cxnLst/>
            <a:rect l="l" t="t" r="r" b="b"/>
            <a:pathLst>
              <a:path w="5415323" h="968573">
                <a:moveTo>
                  <a:pt x="0" y="0"/>
                </a:moveTo>
                <a:lnTo>
                  <a:pt x="5415323" y="0"/>
                </a:lnTo>
                <a:lnTo>
                  <a:pt x="5415323" y="968573"/>
                </a:lnTo>
                <a:lnTo>
                  <a:pt x="66156" y="968573"/>
                </a:lnTo>
                <a:arcTo hR="66158" wR="66156" stAng="5400000" swAng="5400000"/>
                <a:lnTo>
                  <a:pt x="0" y="0"/>
                </a:lnTo>
                <a:close/>
              </a:path>
            </a:pathLst>
          </a:custGeom>
          <a:solidFill>
            <a:srgbClr val="D1E5FA"/>
          </a:solidFill>
          <a:ln/>
        </p:spPr>
      </p:sp>
      <p:sp>
        <p:nvSpPr>
          <p:cNvPr id="13" name="Shape 11"/>
          <p:cNvSpPr/>
          <p:nvPr/>
        </p:nvSpPr>
        <p:spPr>
          <a:xfrm>
            <a:off x="680524" y="4294882"/>
            <a:ext cx="5415323" cy="25400"/>
          </a:xfrm>
          <a:prstGeom prst="roundRect">
            <a:avLst>
              <a:gd name="adj" fmla="val 49999"/>
            </a:avLst>
          </a:prstGeom>
          <a:solidFill>
            <a:srgbClr val="B7CBE0"/>
          </a:solidFill>
          <a:ln/>
        </p:spPr>
      </p:sp>
      <p:sp>
        <p:nvSpPr>
          <p:cNvPr id="14" name="Text 12"/>
          <p:cNvSpPr/>
          <p:nvPr/>
        </p:nvSpPr>
        <p:spPr>
          <a:xfrm>
            <a:off x="869531" y="4483894"/>
            <a:ext cx="50373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What would change your mind</a:t>
            </a:r>
            <a:endParaRPr lang="en-US" sz="1850" dirty="0"/>
          </a:p>
        </p:txBody>
      </p:sp>
      <p:sp>
        <p:nvSpPr>
          <p:cNvPr id="15" name="Shape 13"/>
          <p:cNvSpPr/>
          <p:nvPr/>
        </p:nvSpPr>
        <p:spPr>
          <a:xfrm>
            <a:off x="6095848" y="4294882"/>
            <a:ext cx="5415323" cy="968573"/>
          </a:xfrm>
          <a:custGeom>
            <a:avLst/>
            <a:gdLst/>
            <a:ahLst/>
            <a:cxnLst/>
            <a:rect l="l" t="t" r="r" b="b"/>
            <a:pathLst>
              <a:path w="5415323" h="968573">
                <a:moveTo>
                  <a:pt x="0" y="0"/>
                </a:moveTo>
                <a:lnTo>
                  <a:pt x="5415323" y="0"/>
                </a:lnTo>
                <a:lnTo>
                  <a:pt x="5415323" y="902415"/>
                </a:lnTo>
                <a:arcTo hR="66158" wR="66156" stAng="0" swAng="5400000"/>
                <a:lnTo>
                  <a:pt x="0" y="968573"/>
                </a:lnTo>
                <a:lnTo>
                  <a:pt x="0" y="0"/>
                </a:lnTo>
                <a:close/>
              </a:path>
            </a:pathLst>
          </a:custGeom>
          <a:solidFill>
            <a:srgbClr val="D1E5FA"/>
          </a:solidFill>
          <a:ln/>
        </p:spPr>
      </p:sp>
      <p:sp>
        <p:nvSpPr>
          <p:cNvPr id="16" name="Shape 14"/>
          <p:cNvSpPr/>
          <p:nvPr/>
        </p:nvSpPr>
        <p:spPr>
          <a:xfrm>
            <a:off x="6095848" y="4294882"/>
            <a:ext cx="25399" cy="968573"/>
          </a:xfrm>
          <a:prstGeom prst="roundRect">
            <a:avLst>
              <a:gd name="adj" fmla="val 50001"/>
            </a:avLst>
          </a:prstGeom>
          <a:solidFill>
            <a:srgbClr val="B7CBE0"/>
          </a:solidFill>
          <a:ln/>
        </p:spPr>
      </p:sp>
      <p:sp>
        <p:nvSpPr>
          <p:cNvPr id="17" name="Shape 15"/>
          <p:cNvSpPr/>
          <p:nvPr/>
        </p:nvSpPr>
        <p:spPr>
          <a:xfrm>
            <a:off x="6095848" y="4294882"/>
            <a:ext cx="5415323" cy="25400"/>
          </a:xfrm>
          <a:prstGeom prst="roundRect">
            <a:avLst>
              <a:gd name="adj" fmla="val 49999"/>
            </a:avLst>
          </a:prstGeom>
          <a:solidFill>
            <a:srgbClr val="B7CBE0"/>
          </a:solidFill>
          <a:ln/>
        </p:spPr>
      </p:sp>
      <p:sp>
        <p:nvSpPr>
          <p:cNvPr id="18" name="Text 16"/>
          <p:cNvSpPr/>
          <p:nvPr/>
        </p:nvSpPr>
        <p:spPr>
          <a:xfrm>
            <a:off x="6284854" y="4483894"/>
            <a:ext cx="503730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Writing as though one side is settled loses marks</a:t>
            </a:r>
            <a:endParaRPr lang="en-US" sz="1850" dirty="0"/>
          </a:p>
        </p:txBody>
      </p:sp>
      <p:sp>
        <p:nvSpPr>
          <p:cNvPr id="19" name="Text 1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146774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3" name="Text 1"/>
          <p:cNvSpPr/>
          <p:nvPr/>
        </p:nvSpPr>
        <p:spPr>
          <a:xfrm>
            <a:off x="661475" y="243641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4" name="Shape 2"/>
          <p:cNvSpPr/>
          <p:nvPr/>
        </p:nvSpPr>
        <p:spPr>
          <a:xfrm>
            <a:off x="661475" y="2732286"/>
            <a:ext cx="3496877" cy="25400"/>
          </a:xfrm>
          <a:prstGeom prst="rect">
            <a:avLst/>
          </a:prstGeom>
          <a:solidFill>
            <a:srgbClr val="57A1EB"/>
          </a:solidFill>
          <a:ln/>
        </p:spPr>
      </p:sp>
      <p:sp>
        <p:nvSpPr>
          <p:cNvPr id="5" name="Text 3"/>
          <p:cNvSpPr/>
          <p:nvPr/>
        </p:nvSpPr>
        <p:spPr>
          <a:xfrm>
            <a:off x="661475" y="2877542"/>
            <a:ext cx="349687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Scenario Teardown, steps three through five</a:t>
            </a:r>
            <a:endParaRPr lang="en-US" sz="1850" dirty="0"/>
          </a:p>
        </p:txBody>
      </p:sp>
      <p:sp>
        <p:nvSpPr>
          <p:cNvPr id="6" name="Text 4"/>
          <p:cNvSpPr/>
          <p:nvPr/>
        </p:nvSpPr>
        <p:spPr>
          <a:xfrm>
            <a:off x="4347359" y="243641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7" name="Shape 5"/>
          <p:cNvSpPr/>
          <p:nvPr/>
        </p:nvSpPr>
        <p:spPr>
          <a:xfrm>
            <a:off x="4347359" y="2732286"/>
            <a:ext cx="3496877" cy="25400"/>
          </a:xfrm>
          <a:prstGeom prst="rect">
            <a:avLst/>
          </a:prstGeom>
          <a:solidFill>
            <a:srgbClr val="57A1EB"/>
          </a:solidFill>
          <a:ln/>
        </p:spPr>
      </p:sp>
      <p:sp>
        <p:nvSpPr>
          <p:cNvPr id="8" name="Text 6"/>
          <p:cNvSpPr/>
          <p:nvPr/>
        </p:nvSpPr>
        <p:spPr>
          <a:xfrm>
            <a:off x="4347359" y="2877542"/>
            <a:ext cx="349687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Step 3 names five affected parties, one not in the scenario</a:t>
            </a:r>
            <a:endParaRPr lang="en-US" sz="1850" dirty="0"/>
          </a:p>
        </p:txBody>
      </p:sp>
      <p:sp>
        <p:nvSpPr>
          <p:cNvPr id="9" name="Text 7"/>
          <p:cNvSpPr/>
          <p:nvPr/>
        </p:nvSpPr>
        <p:spPr>
          <a:xfrm>
            <a:off x="8033244" y="243641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0" name="Shape 8"/>
          <p:cNvSpPr/>
          <p:nvPr/>
        </p:nvSpPr>
        <p:spPr>
          <a:xfrm>
            <a:off x="8033244" y="2732286"/>
            <a:ext cx="3496877" cy="25400"/>
          </a:xfrm>
          <a:prstGeom prst="rect">
            <a:avLst/>
          </a:prstGeom>
          <a:solidFill>
            <a:srgbClr val="57A1EB"/>
          </a:solidFill>
          <a:ln/>
        </p:spPr>
      </p:sp>
      <p:sp>
        <p:nvSpPr>
          <p:cNvPr id="11" name="Text 9"/>
          <p:cNvSpPr/>
          <p:nvPr/>
        </p:nvSpPr>
        <p:spPr>
          <a:xfrm>
            <a:off x="8033244" y="2877542"/>
            <a:ext cx="349687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Step 4 names one decision point, in the required sentence</a:t>
            </a:r>
            <a:endParaRPr lang="en-US" sz="1850" dirty="0"/>
          </a:p>
        </p:txBody>
      </p:sp>
      <p:sp>
        <p:nvSpPr>
          <p:cNvPr id="12" name="Text 10"/>
          <p:cNvSpPr/>
          <p:nvPr/>
        </p:nvSpPr>
        <p:spPr>
          <a:xfrm>
            <a:off x="661475" y="409406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3" name="Shape 11"/>
          <p:cNvSpPr/>
          <p:nvPr/>
        </p:nvSpPr>
        <p:spPr>
          <a:xfrm>
            <a:off x="661475" y="4389934"/>
            <a:ext cx="5339820" cy="25400"/>
          </a:xfrm>
          <a:prstGeom prst="rect">
            <a:avLst/>
          </a:prstGeom>
          <a:solidFill>
            <a:srgbClr val="57A1EB"/>
          </a:solidFill>
          <a:ln/>
        </p:spPr>
      </p:sp>
      <p:sp>
        <p:nvSpPr>
          <p:cNvPr id="14" name="Text 12"/>
          <p:cNvSpPr/>
          <p:nvPr/>
        </p:nvSpPr>
        <p:spPr>
          <a:xfrm>
            <a:off x="661475" y="4535190"/>
            <a:ext cx="533982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Step 5 has a cost in it, quantified</a:t>
            </a:r>
            <a:endParaRPr lang="en-US" sz="1850" dirty="0"/>
          </a:p>
        </p:txBody>
      </p:sp>
      <p:sp>
        <p:nvSpPr>
          <p:cNvPr id="15" name="Text 13"/>
          <p:cNvSpPr/>
          <p:nvPr/>
        </p:nvSpPr>
        <p:spPr>
          <a:xfrm>
            <a:off x="6190301" y="409406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05</a:t>
            </a:r>
            <a:endParaRPr lang="en-US" sz="1450" dirty="0"/>
          </a:p>
        </p:txBody>
      </p:sp>
      <p:sp>
        <p:nvSpPr>
          <p:cNvPr id="16" name="Shape 14"/>
          <p:cNvSpPr/>
          <p:nvPr/>
        </p:nvSpPr>
        <p:spPr>
          <a:xfrm>
            <a:off x="6190301" y="4389934"/>
            <a:ext cx="5339820" cy="25400"/>
          </a:xfrm>
          <a:prstGeom prst="rect">
            <a:avLst/>
          </a:prstGeom>
          <a:solidFill>
            <a:srgbClr val="57A1EB"/>
          </a:solidFill>
          <a:ln/>
        </p:spPr>
      </p:sp>
      <p:sp>
        <p:nvSpPr>
          <p:cNvPr id="17" name="Text 15"/>
          <p:cNvSpPr/>
          <p:nvPr/>
        </p:nvSpPr>
        <p:spPr>
          <a:xfrm>
            <a:off x="6190301" y="4535190"/>
            <a:ext cx="533982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Then step 6, and both sides of the contested question</a:t>
            </a:r>
            <a:endParaRPr lang="en-US" sz="1850" dirty="0"/>
          </a:p>
        </p:txBody>
      </p:sp>
      <p:sp>
        <p:nvSpPr>
          <p:cNvPr id="18" name="Text 1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2026-09-16T04:10:56Z</dcterms:created>
  <dcterms:modified xsi:type="dcterms:W3CDTF">2026-09-16T04:10:56Z</dcterms:modified>
</cp:coreProperties>
</file>