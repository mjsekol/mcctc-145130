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sentence. It sounds like a requirement and it is not one, because there is no way anybody could tell you that you missed it. A design with no numbers in it cannot be wrong, and that sounds like an advantage. It is the opposite of one. Every number you write down today is a number somebody can check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things. A constraint you did not choose, like the model running locally because commercial developer APIs need users to be eighteen. A processing requirement is a number you picked and can defend. An I O requirement names a field. And the test that sorts them: can you change it by deciding to. If no, constraint. If yes and it is a number,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constraint gets a reason next to it. A constraint with no reason is a rule somebody breaks the first time it is inconvenient, and they are right to. Look at C five. That one has a practical consequence you will hit tomorrow: on SDK ten, dotnet new sln writes a dot slnx file that an older SDK cannot open, so you pass the format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is not enough. Every constraint buys you something and takes something away, and a constraint list that only says what you gained is marketing rather than design. A local model buys you no account, no key, nothing leaving the building. It costs you a smaller model that follows output instructions less reliably. Both of those are true and both belong in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people get wrong, and it is the most common way an integration in this lab is built wrong. Your service is allowed to take its timeout multiplied by its attempts. If your application gives up sooner, the labelled fallback your service was about to hand you never arrives. Write both numbers down, in both programs, and check them against each other out loud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columns per field. Name, type, allowed range, and what happens when it is wrong. That fourth column is the one people leave blank, and it cannot actually be blank, because something does happen. If you did not decide, the answer is whatever the language does by default, and the language does not know what your program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elapsed underscore ms. Zero. The service did not call the model, did not wait, and did not spend anything. Checking input before you do work with it is not politeness. It is the difference between a wrong request costing nothing and a wrong request costing twenty seconds of somebody's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those three crashes. All three produce output. The last one is the worst, because the row goes into your database and the report that groups by label quietly has a group nobody built a page for, and you find out in three weeks. This is the same shape as every dangerous bug in this program: it does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one. On the day you write it, everybody on your team understands the field, so writing down its range feels like writing down something obvious. The person who does not understand it is you in Week fifteen, and your partner in Week fourteen while you are at BPA Regional, and whoever reads this repository next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the contract trace with the probe, six cases, including the two the service refuses. Build two is your own constraint list and your own I O specification. The one thing I will check first on Friday is whether your caller's timeout is bigger than your service's worst case, because if it is not, nothing else in your design gets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86285"/>
            <a:ext cx="6296860"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Constraints, Requirements, and What Crosses the Boundary</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47055"/>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service should respond quickly"</a:t>
            </a:r>
            <a:endParaRPr lang="en-US" sz="2950" dirty="0"/>
          </a:p>
        </p:txBody>
      </p:sp>
      <p:sp>
        <p:nvSpPr>
          <p:cNvPr id="4" name="Shape 1"/>
          <p:cNvSpPr/>
          <p:nvPr/>
        </p:nvSpPr>
        <p:spPr>
          <a:xfrm>
            <a:off x="661475" y="2275483"/>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4835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Cannot be tested</a:t>
            </a:r>
            <a:endParaRPr lang="en-US" sz="1850" dirty="0"/>
          </a:p>
        </p:txBody>
      </p:sp>
      <p:sp>
        <p:nvSpPr>
          <p:cNvPr id="6" name="Shape 3"/>
          <p:cNvSpPr/>
          <p:nvPr/>
        </p:nvSpPr>
        <p:spPr>
          <a:xfrm>
            <a:off x="661475" y="317589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38395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Cannot be reviewed</a:t>
            </a:r>
            <a:endParaRPr lang="en-US" sz="1850" dirty="0"/>
          </a:p>
        </p:txBody>
      </p:sp>
      <p:sp>
        <p:nvSpPr>
          <p:cNvPr id="8" name="Shape 5"/>
          <p:cNvSpPr/>
          <p:nvPr/>
        </p:nvSpPr>
        <p:spPr>
          <a:xfrm>
            <a:off x="661475" y="407630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28436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Cannot be failed</a:t>
            </a:r>
            <a:endParaRPr lang="en-US" sz="1850" dirty="0"/>
          </a:p>
        </p:txBody>
      </p:sp>
      <p:sp>
        <p:nvSpPr>
          <p:cNvPr id="10" name="Shape 7"/>
          <p:cNvSpPr/>
          <p:nvPr/>
        </p:nvSpPr>
        <p:spPr>
          <a:xfrm>
            <a:off x="661475" y="497671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18477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means it is not a requirement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64679"/>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Three things people mix up constantly</a:t>
            </a:r>
            <a:endParaRPr lang="en-US" sz="2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33252"/>
            <a:ext cx="5203794" cy="1215529"/>
          </a:xfrm>
          <a:prstGeom prst="rect">
            <a:avLst/>
          </a:prstGeom>
        </p:spPr>
      </p:pic>
      <p:sp>
        <p:nvSpPr>
          <p:cNvPr id="4" name="Text 1"/>
          <p:cNvSpPr/>
          <p:nvPr/>
        </p:nvSpPr>
        <p:spPr>
          <a:xfrm>
            <a:off x="977479" y="1947664"/>
            <a:ext cx="467338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Constraint</a:t>
            </a:r>
            <a:endParaRPr lang="en-US" sz="1850" dirty="0"/>
          </a:p>
        </p:txBody>
      </p:sp>
      <p:sp>
        <p:nvSpPr>
          <p:cNvPr id="5" name="Text 2"/>
          <p:cNvSpPr/>
          <p:nvPr/>
        </p:nvSpPr>
        <p:spPr>
          <a:xfrm>
            <a:off x="977479" y="2431951"/>
            <a:ext cx="46733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are not allowed to change it</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137793"/>
            <a:ext cx="5203794" cy="1215529"/>
          </a:xfrm>
          <a:prstGeom prst="rect">
            <a:avLst/>
          </a:prstGeom>
        </p:spPr>
      </p:pic>
      <p:sp>
        <p:nvSpPr>
          <p:cNvPr id="7" name="Text 3"/>
          <p:cNvSpPr/>
          <p:nvPr/>
        </p:nvSpPr>
        <p:spPr>
          <a:xfrm>
            <a:off x="977479" y="3352205"/>
            <a:ext cx="467338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Processing requirement</a:t>
            </a:r>
            <a:endParaRPr lang="en-US" sz="1850" dirty="0"/>
          </a:p>
        </p:txBody>
      </p:sp>
      <p:sp>
        <p:nvSpPr>
          <p:cNvPr id="8" name="Text 4"/>
          <p:cNvSpPr/>
          <p:nvPr/>
        </p:nvSpPr>
        <p:spPr>
          <a:xfrm>
            <a:off x="977479" y="3836491"/>
            <a:ext cx="46733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number you chose and can defend</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542334"/>
            <a:ext cx="5203794" cy="1215529"/>
          </a:xfrm>
          <a:prstGeom prst="rect">
            <a:avLst/>
          </a:prstGeom>
        </p:spPr>
      </p:pic>
      <p:sp>
        <p:nvSpPr>
          <p:cNvPr id="10" name="Text 5"/>
          <p:cNvSpPr/>
          <p:nvPr/>
        </p:nvSpPr>
        <p:spPr>
          <a:xfrm>
            <a:off x="977479" y="4756745"/>
            <a:ext cx="467338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I/O requirement</a:t>
            </a:r>
            <a:endParaRPr lang="en-US" sz="1850" dirty="0"/>
          </a:p>
        </p:txBody>
      </p:sp>
      <p:sp>
        <p:nvSpPr>
          <p:cNvPr id="11" name="Text 6"/>
          <p:cNvSpPr/>
          <p:nvPr/>
        </p:nvSpPr>
        <p:spPr>
          <a:xfrm>
            <a:off x="977479" y="5241032"/>
            <a:ext cx="46733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field, its type, its range</a:t>
            </a:r>
            <a:endParaRPr lang="en-US" sz="1450" dirty="0"/>
          </a:p>
        </p:txBody>
      </p:sp>
      <p:sp>
        <p:nvSpPr>
          <p:cNvPr id="12" name="Text 7"/>
          <p:cNvSpPr/>
          <p:nvPr/>
        </p:nvSpPr>
        <p:spPr>
          <a:xfrm>
            <a:off x="6616237" y="1903313"/>
            <a:ext cx="552991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test: can you change it by deciding to?</a:t>
            </a:r>
            <a:endParaRPr lang="en-US" sz="1450" dirty="0"/>
          </a:p>
        </p:txBody>
      </p:sp>
      <p:sp>
        <p:nvSpPr>
          <p:cNvPr id="13" name="Shape 8"/>
          <p:cNvSpPr/>
          <p:nvPr/>
        </p:nvSpPr>
        <p:spPr>
          <a:xfrm>
            <a:off x="6332776" y="1733252"/>
            <a:ext cx="25399" cy="642541"/>
          </a:xfrm>
          <a:prstGeom prst="roundRect">
            <a:avLst>
              <a:gd name="adj" fmla="val 50001"/>
            </a:avLst>
          </a:prstGeom>
          <a:solidFill>
            <a:srgbClr val="57A1EB"/>
          </a:solidFill>
          <a:ln/>
        </p:spPr>
      </p:sp>
      <p:sp>
        <p:nvSpPr>
          <p:cNvPr id="14"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9727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constraint with no reason gets broken</a:t>
            </a:r>
            <a:endParaRPr lang="en-US" sz="2950" dirty="0"/>
          </a:p>
        </p:txBody>
      </p:sp>
      <p:sp>
        <p:nvSpPr>
          <p:cNvPr id="3" name="Shape 1"/>
          <p:cNvSpPr/>
          <p:nvPr/>
        </p:nvSpPr>
        <p:spPr>
          <a:xfrm>
            <a:off x="661475" y="2847777"/>
            <a:ext cx="10868745" cy="1890117"/>
          </a:xfrm>
          <a:prstGeom prst="roundRect">
            <a:avLst>
              <a:gd name="adj" fmla="val 4200"/>
            </a:avLst>
          </a:prstGeom>
          <a:solidFill>
            <a:srgbClr val="F2F2F2"/>
          </a:solidFill>
          <a:ln/>
        </p:spPr>
      </p:sp>
      <p:sp>
        <p:nvSpPr>
          <p:cNvPr id="4" name="Text 2"/>
          <p:cNvSpPr/>
          <p:nvPr/>
        </p:nvSpPr>
        <p:spPr>
          <a:xfrm>
            <a:off x="888283" y="303678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C1  model runs locally         those APIs require users to be 18 or older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C2  no credential anywhere     a local model needs none, and one that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exists can be leaked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C5  C# targets net8.0          lab machines may have an older SDK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C8  one model server per room   there is not a graphics card per seat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572022"/>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Now add the third column</a:t>
            </a:r>
            <a:endParaRPr lang="en-US" sz="2950" dirty="0"/>
          </a:p>
        </p:txBody>
      </p:sp>
      <p:sp>
        <p:nvSpPr>
          <p:cNvPr id="4" name="Shape 1"/>
          <p:cNvSpPr/>
          <p:nvPr/>
        </p:nvSpPr>
        <p:spPr>
          <a:xfrm>
            <a:off x="661475" y="2327970"/>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3928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it buys you</a:t>
            </a:r>
            <a:endParaRPr lang="en-US" sz="1850" dirty="0"/>
          </a:p>
        </p:txBody>
      </p:sp>
      <p:sp>
        <p:nvSpPr>
          <p:cNvPr id="6" name="Shape 3"/>
          <p:cNvSpPr/>
          <p:nvPr/>
        </p:nvSpPr>
        <p:spPr>
          <a:xfrm>
            <a:off x="661475" y="3131245"/>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19613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it costs you</a:t>
            </a:r>
            <a:endParaRPr lang="en-US" sz="1850" dirty="0"/>
          </a:p>
        </p:txBody>
      </p:sp>
      <p:sp>
        <p:nvSpPr>
          <p:cNvPr id="8" name="Shape 5"/>
          <p:cNvSpPr/>
          <p:nvPr/>
        </p:nvSpPr>
        <p:spPr>
          <a:xfrm>
            <a:off x="661475" y="3934520"/>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399940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list with only the first is marketing</a:t>
            </a:r>
            <a:endParaRPr lang="en-US" sz="1850" dirty="0"/>
          </a:p>
        </p:txBody>
      </p:sp>
      <p:sp>
        <p:nvSpPr>
          <p:cNvPr id="10" name="Shape 7"/>
          <p:cNvSpPr/>
          <p:nvPr/>
        </p:nvSpPr>
        <p:spPr>
          <a:xfrm>
            <a:off x="661475" y="4737795"/>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480268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Local model: no key, and a weaker model</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45090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These two numbers, against each other</a:t>
            </a:r>
            <a:endParaRPr lang="en-US" sz="2950" dirty="0"/>
          </a:p>
        </p:txBody>
      </p:sp>
      <p:sp>
        <p:nvSpPr>
          <p:cNvPr id="3" name="Shape 1"/>
          <p:cNvSpPr/>
          <p:nvPr/>
        </p:nvSpPr>
        <p:spPr>
          <a:xfrm>
            <a:off x="661475" y="3301405"/>
            <a:ext cx="10868745" cy="982861"/>
          </a:xfrm>
          <a:prstGeom prst="roundRect">
            <a:avLst>
              <a:gd name="adj" fmla="val 8077"/>
            </a:avLst>
          </a:prstGeom>
          <a:solidFill>
            <a:srgbClr val="F2F2F2"/>
          </a:solidFill>
          <a:ln/>
        </p:spPr>
      </p:sp>
      <p:sp>
        <p:nvSpPr>
          <p:cNvPr id="4" name="Text 2"/>
          <p:cNvSpPr/>
          <p:nvPr/>
        </p:nvSpPr>
        <p:spPr>
          <a:xfrm>
            <a:off x="888283" y="349041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P5  worst case for one request   timeout x attempts    20s x 2 = 40s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P6  the caller's own timeout     larger than P5        45s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866801"/>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Describing a field is not specifying it</a:t>
            </a:r>
            <a:endParaRPr lang="en-US" sz="2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35374"/>
            <a:ext cx="2507394" cy="1820366"/>
          </a:xfrm>
          <a:prstGeom prst="rect">
            <a:avLst/>
          </a:prstGeom>
        </p:spPr>
      </p:pic>
      <p:sp>
        <p:nvSpPr>
          <p:cNvPr id="4" name="Text 1"/>
          <p:cNvSpPr/>
          <p:nvPr/>
        </p:nvSpPr>
        <p:spPr>
          <a:xfrm>
            <a:off x="977479" y="3049786"/>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Describing</a:t>
            </a:r>
            <a:endParaRPr lang="en-US" sz="1850" dirty="0"/>
          </a:p>
        </p:txBody>
      </p:sp>
      <p:sp>
        <p:nvSpPr>
          <p:cNvPr id="5" name="Text 2"/>
          <p:cNvSpPr/>
          <p:nvPr/>
        </p:nvSpPr>
        <p:spPr>
          <a:xfrm>
            <a:off x="977479" y="3534073"/>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text the user wants summarised</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7875" y="2835374"/>
            <a:ext cx="2507394" cy="1820366"/>
          </a:xfrm>
          <a:prstGeom prst="rect">
            <a:avLst/>
          </a:prstGeom>
        </p:spPr>
      </p:pic>
      <p:sp>
        <p:nvSpPr>
          <p:cNvPr id="7" name="Text 3"/>
          <p:cNvSpPr/>
          <p:nvPr/>
        </p:nvSpPr>
        <p:spPr>
          <a:xfrm>
            <a:off x="3673879" y="3049786"/>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Specifying</a:t>
            </a:r>
            <a:endParaRPr lang="en-US" sz="1850" dirty="0"/>
          </a:p>
        </p:txBody>
      </p:sp>
      <p:sp>
        <p:nvSpPr>
          <p:cNvPr id="8" name="Text 4"/>
          <p:cNvSpPr/>
          <p:nvPr/>
        </p:nvSpPr>
        <p:spPr>
          <a:xfrm>
            <a:off x="3673879" y="3534073"/>
            <a:ext cx="197698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string, 1 to 4000 characters, after cleaning</a:t>
            </a:r>
            <a:endParaRPr lang="en-US" sz="1450" dirty="0"/>
          </a:p>
        </p:txBody>
      </p:sp>
      <p:sp>
        <p:nvSpPr>
          <p:cNvPr id="9" name="Shape 5"/>
          <p:cNvSpPr/>
          <p:nvPr/>
        </p:nvSpPr>
        <p:spPr>
          <a:xfrm>
            <a:off x="6332776" y="2835374"/>
            <a:ext cx="5203794" cy="1341834"/>
          </a:xfrm>
          <a:prstGeom prst="roundRect">
            <a:avLst>
              <a:gd name="adj" fmla="val 5916"/>
            </a:avLst>
          </a:prstGeom>
          <a:solidFill>
            <a:srgbClr val="FCF2B5"/>
          </a:solidFill>
          <a:ln/>
        </p:spPr>
      </p:sp>
      <p:pic>
        <p:nvPicPr>
          <p:cNvPr id="10" name="Image 2" descr="preencoded.png">    </p:cNvPr>
          <p:cNvPicPr>
            <a:picLocks noChangeAspect="1"/>
          </p:cNvPicPr>
          <p:nvPr/>
        </p:nvPicPr>
        <p:blipFill>
          <a:blip r:embed="rId5"/>
          <a:stretch>
            <a:fillRect/>
          </a:stretch>
        </p:blipFill>
        <p:spPr>
          <a:xfrm>
            <a:off x="6521783" y="3122116"/>
            <a:ext cx="236234" cy="189012"/>
          </a:xfrm>
          <a:prstGeom prst="rect">
            <a:avLst/>
          </a:prstGeom>
        </p:spPr>
      </p:pic>
      <p:sp>
        <p:nvSpPr>
          <p:cNvPr id="11" name="Text 6"/>
          <p:cNvSpPr/>
          <p:nvPr/>
        </p:nvSpPr>
        <p:spPr>
          <a:xfrm>
            <a:off x="6947024" y="3052663"/>
            <a:ext cx="440053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Plus the fourth column: what happens when it is wrong. If that column is empty you have not finished thinking.</a:t>
            </a:r>
            <a:endParaRPr lang="en-US" sz="1450" dirty="0"/>
          </a:p>
        </p:txBody>
      </p:sp>
      <p:sp>
        <p:nvSpPr>
          <p:cNvPr id="12"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84606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Checking before you work costs nothing</a:t>
            </a:r>
            <a:endParaRPr lang="en-US" sz="2950" dirty="0"/>
          </a:p>
        </p:txBody>
      </p:sp>
      <p:sp>
        <p:nvSpPr>
          <p:cNvPr id="3" name="Shape 1"/>
          <p:cNvSpPr/>
          <p:nvPr/>
        </p:nvSpPr>
        <p:spPr>
          <a:xfrm>
            <a:off x="661475" y="2696567"/>
            <a:ext cx="10868745" cy="2192536"/>
          </a:xfrm>
          <a:prstGeom prst="roundRect">
            <a:avLst>
              <a:gd name="adj" fmla="val 3621"/>
            </a:avLst>
          </a:prstGeom>
          <a:solidFill>
            <a:srgbClr val="F2F2F2"/>
          </a:solidFill>
          <a:ln/>
        </p:spPr>
      </p:sp>
      <p:sp>
        <p:nvSpPr>
          <p:cNvPr id="4" name="Text 2"/>
          <p:cNvSpPr/>
          <p:nvPr/>
        </p:nvSpPr>
        <p:spPr>
          <a:xfrm>
            <a:off x="888283" y="2885579"/>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contract_probe.py long-prompt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HTTP status    400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source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elapsed_ms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{"kind": "prompt_too_long", "message": "the prompt is 4001 charac...</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29969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Three missing limits, three silent failures</a:t>
            </a:r>
            <a:endParaRPr lang="en-US" sz="2950" dirty="0"/>
          </a:p>
        </p:txBody>
      </p:sp>
      <p:sp>
        <p:nvSpPr>
          <p:cNvPr id="3" name="Shape 1"/>
          <p:cNvSpPr/>
          <p:nvPr/>
        </p:nvSpPr>
        <p:spPr>
          <a:xfrm>
            <a:off x="661475" y="3150195"/>
            <a:ext cx="10868745" cy="1285280"/>
          </a:xfrm>
          <a:prstGeom prst="roundRect">
            <a:avLst>
              <a:gd name="adj" fmla="val 6177"/>
            </a:avLst>
          </a:prstGeom>
          <a:solidFill>
            <a:srgbClr val="F2F2F2"/>
          </a:solidFill>
          <a:ln/>
        </p:spPr>
      </p:sp>
      <p:sp>
        <p:nvSpPr>
          <p:cNvPr id="4" name="Text 2"/>
          <p:cNvSpPr/>
          <p:nvPr/>
        </p:nvSpPr>
        <p:spPr>
          <a:xfrm>
            <a:off x="888283" y="3339207"/>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prompt   no cap     40,000 characters pasted, the model takes forever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minutes  no range   the model returns 600, timer runs ten hours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label    no list    the model invents "facilities", database accepts it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Why people skip the specification</a:t>
            </a:r>
            <a:endParaRPr lang="en-US" sz="2950" dirty="0"/>
          </a:p>
        </p:txBody>
      </p:sp>
      <p:sp>
        <p:nvSpPr>
          <p:cNvPr id="4" name="Text 1"/>
          <p:cNvSpPr/>
          <p:nvPr/>
        </p:nvSpPr>
        <p:spPr>
          <a:xfrm>
            <a:off x="661475"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already know what the field is for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Writing the range feels like writing the obvious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person who does not know is you in Week 15</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your partner, while you are at a competition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74416"/>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3" name="Text 1"/>
          <p:cNvSpPr/>
          <p:nvPr/>
        </p:nvSpPr>
        <p:spPr>
          <a:xfrm>
            <a:off x="661475" y="252491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20789"/>
            <a:ext cx="5339820" cy="25400"/>
          </a:xfrm>
          <a:prstGeom prst="rect">
            <a:avLst/>
          </a:prstGeom>
          <a:solidFill>
            <a:srgbClr val="57A1EB"/>
          </a:solidFill>
          <a:ln/>
        </p:spPr>
      </p:sp>
      <p:sp>
        <p:nvSpPr>
          <p:cNvPr id="5" name="Text 3"/>
          <p:cNvSpPr/>
          <p:nvPr/>
        </p:nvSpPr>
        <p:spPr>
          <a:xfrm>
            <a:off x="661475" y="2966045"/>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Finish Lab M05-01 with the probe, six cases</a:t>
            </a:r>
            <a:endParaRPr lang="en-US" sz="1850" dirty="0"/>
          </a:p>
        </p:txBody>
      </p:sp>
      <p:sp>
        <p:nvSpPr>
          <p:cNvPr id="6" name="Text 4"/>
          <p:cNvSpPr/>
          <p:nvPr/>
        </p:nvSpPr>
        <p:spPr>
          <a:xfrm>
            <a:off x="6190301" y="2524919"/>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20789"/>
            <a:ext cx="5339919" cy="25400"/>
          </a:xfrm>
          <a:prstGeom prst="rect">
            <a:avLst/>
          </a:prstGeom>
          <a:solidFill>
            <a:srgbClr val="57A1EB"/>
          </a:solidFill>
          <a:ln/>
        </p:spPr>
      </p:sp>
      <p:sp>
        <p:nvSpPr>
          <p:cNvPr id="8" name="Text 6"/>
          <p:cNvSpPr/>
          <p:nvPr/>
        </p:nvSpPr>
        <p:spPr>
          <a:xfrm>
            <a:off x="6190301" y="2966045"/>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own constraint list, with all three columns</a:t>
            </a:r>
            <a:endParaRPr lang="en-US" sz="1850" dirty="0"/>
          </a:p>
        </p:txBody>
      </p:sp>
      <p:sp>
        <p:nvSpPr>
          <p:cNvPr id="9" name="Text 7"/>
          <p:cNvSpPr/>
          <p:nvPr/>
        </p:nvSpPr>
        <p:spPr>
          <a:xfrm>
            <a:off x="661475" y="38872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183162"/>
            <a:ext cx="5339820" cy="25400"/>
          </a:xfrm>
          <a:prstGeom prst="rect">
            <a:avLst/>
          </a:prstGeom>
          <a:solidFill>
            <a:srgbClr val="57A1EB"/>
          </a:solidFill>
          <a:ln/>
        </p:spPr>
      </p:sp>
      <p:sp>
        <p:nvSpPr>
          <p:cNvPr id="11" name="Text 9"/>
          <p:cNvSpPr/>
          <p:nvPr/>
        </p:nvSpPr>
        <p:spPr>
          <a:xfrm>
            <a:off x="661475" y="4328418"/>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own I/O specification, field by field</a:t>
            </a:r>
            <a:endParaRPr lang="en-US" sz="1850" dirty="0"/>
          </a:p>
        </p:txBody>
      </p:sp>
      <p:sp>
        <p:nvSpPr>
          <p:cNvPr id="12" name="Text 10"/>
          <p:cNvSpPr/>
          <p:nvPr/>
        </p:nvSpPr>
        <p:spPr>
          <a:xfrm>
            <a:off x="6190301" y="38872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183162"/>
            <a:ext cx="5339919" cy="25400"/>
          </a:xfrm>
          <a:prstGeom prst="rect">
            <a:avLst/>
          </a:prstGeom>
          <a:solidFill>
            <a:srgbClr val="57A1EB"/>
          </a:solidFill>
          <a:ln/>
        </p:spPr>
      </p:sp>
      <p:sp>
        <p:nvSpPr>
          <p:cNvPr id="14" name="Text 12"/>
          <p:cNvSpPr/>
          <p:nvPr/>
        </p:nvSpPr>
        <p:spPr>
          <a:xfrm>
            <a:off x="6190301" y="4328418"/>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numbers: your worst case, your caller's timeout</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2026-09-16T04:10:11Z</dcterms:created>
  <dcterms:modified xsi:type="dcterms:W3CDTF">2026-09-16T04:10:11Z</dcterms:modified>
</cp:coreProperties>
</file>