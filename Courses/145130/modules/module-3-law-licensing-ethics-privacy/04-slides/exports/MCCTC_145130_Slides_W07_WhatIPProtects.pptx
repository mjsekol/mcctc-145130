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week your work goes somewhere a stranger can see it. And the question that has never mattered in twelve years of school suddenly matters. Not did it work. Not did anybody notice. Is every piece of this yours to use. Today you get the four systems that answer that question, and you find out that the project on your screen right now already fails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four separate systems. Different things, different starting moments, different lengths. Mixing them up is the most common error in this whole area, including in every AI-written summary you will read this week. Learn the four rows and you can catch most of those errors on 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Protection is automatic on fixation. That is worth saying twice because it cuts both ways. Your work is protected without you doing anything, and so is everybody else's, including the person whose image came up in your search. There is no step where somebody had to claim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statute says this directly. Copyright does not extend to any idea, procedure, process, system, or method of operation. So the idea of a flashcard app is not protected and the particular code somebody wrote for theirs is. That distinction is not a technicality, it is the thing that lets you learn from anybody.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a project gets checked in practice. Walk the tree, look for a file called LICENSE, print what you find. I am going to run it on the Study Buddy project. Predict how many lines come out before I press 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components. No errors. A confident closing sentence. This is the output a team pastes into a competition submission when a judge asks about licensing. Everything on this screen is true and the conclusion a reader draws from it is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components. Three with nothing at all. One whose license lives in a source header the first scan never opened. The difference between the two programs is not cleverness. The second one starts by naming what has to be accounted for, then goes looking. The first one looks, then reports what it happened to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phrases share a word and share nothing else. This is the single most expensive misunderstanding in the module and it is sitting in your fixture right now, in a file whose recorded source is found it in image search, looked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app is a stack of works owned by different people under terms that do not automatically agree with each other. This is what makes interactive media its own competency. Count the layers in your own project tonight and write the number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useful history is not a list of dates, it is one pattern. A copying technology arrives, does something the rules did not anticipate, courts and legislatures fight, the rules get rewritten, it becomes ordinary. Generative models are the current turn, and the rules are being written right now while you sit here. That is Thursday.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both scans, with the output pasted into your notes. Build two starts the manifest that becomes your licensing audit, and the requirement that matters is that you list the components first and then go looking. Start from the tree, not from the files you happen to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Intellectual Property Actually Protects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Your poster goes up in front of strangers</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competition deadline is next week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project leaves the room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Somebody asks: is all of this yours to use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have never been asked that before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66151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Four systems, not one</a:t>
            </a:r>
            <a:endParaRPr lang="en-US" sz="3700" dirty="0"/>
          </a:p>
        </p:txBody>
      </p:sp>
      <p:sp>
        <p:nvSpPr>
          <p:cNvPr id="3" name="Shape 1"/>
          <p:cNvSpPr/>
          <p:nvPr/>
        </p:nvSpPr>
        <p:spPr>
          <a:xfrm>
            <a:off x="661475" y="2630190"/>
            <a:ext cx="5339820" cy="1127224"/>
          </a:xfrm>
          <a:prstGeom prst="roundRect">
            <a:avLst>
              <a:gd name="adj" fmla="val 7043"/>
            </a:avLst>
          </a:prstGeom>
          <a:solidFill>
            <a:srgbClr val="D1E5FA"/>
          </a:solidFill>
          <a:ln w="19050">
            <a:solidFill>
              <a:srgbClr val="B7CBE0"/>
            </a:solidFill>
            <a:prstDash val="solid"/>
          </a:ln>
        </p:spPr>
      </p:sp>
      <p:sp>
        <p:nvSpPr>
          <p:cNvPr id="4" name="Text 2"/>
          <p:cNvSpPr/>
          <p:nvPr/>
        </p:nvSpPr>
        <p:spPr>
          <a:xfrm>
            <a:off x="869531" y="2838252"/>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Copyright</a:t>
            </a:r>
            <a:endParaRPr lang="en-US" sz="1850" dirty="0"/>
          </a:p>
        </p:txBody>
      </p:sp>
      <p:sp>
        <p:nvSpPr>
          <p:cNvPr id="5" name="Text 3"/>
          <p:cNvSpPr/>
          <p:nvPr/>
        </p:nvSpPr>
        <p:spPr>
          <a:xfrm>
            <a:off x="869531" y="3246934"/>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Protects expression, automatically, on fixation</a:t>
            </a:r>
            <a:endParaRPr lang="en-US" sz="1450" dirty="0"/>
          </a:p>
        </p:txBody>
      </p:sp>
      <p:sp>
        <p:nvSpPr>
          <p:cNvPr id="6" name="Shape 4"/>
          <p:cNvSpPr/>
          <p:nvPr/>
        </p:nvSpPr>
        <p:spPr>
          <a:xfrm>
            <a:off x="6190301" y="2630190"/>
            <a:ext cx="5339919" cy="1127224"/>
          </a:xfrm>
          <a:prstGeom prst="roundRect">
            <a:avLst>
              <a:gd name="adj" fmla="val 7043"/>
            </a:avLst>
          </a:prstGeom>
          <a:solidFill>
            <a:srgbClr val="D1E5FA"/>
          </a:solidFill>
          <a:ln w="19050">
            <a:solidFill>
              <a:srgbClr val="B7CBE0"/>
            </a:solidFill>
            <a:prstDash val="solid"/>
          </a:ln>
        </p:spPr>
      </p:sp>
      <p:sp>
        <p:nvSpPr>
          <p:cNvPr id="7" name="Text 5"/>
          <p:cNvSpPr/>
          <p:nvPr/>
        </p:nvSpPr>
        <p:spPr>
          <a:xfrm>
            <a:off x="6398358" y="2838252"/>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Trademark</a:t>
            </a:r>
            <a:endParaRPr lang="en-US" sz="1850" dirty="0"/>
          </a:p>
        </p:txBody>
      </p:sp>
      <p:sp>
        <p:nvSpPr>
          <p:cNvPr id="8" name="Text 6"/>
          <p:cNvSpPr/>
          <p:nvPr/>
        </p:nvSpPr>
        <p:spPr>
          <a:xfrm>
            <a:off x="6398358" y="3246934"/>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Protects the badge on the product</a:t>
            </a:r>
            <a:endParaRPr lang="en-US" sz="1450" dirty="0"/>
          </a:p>
        </p:txBody>
      </p:sp>
      <p:sp>
        <p:nvSpPr>
          <p:cNvPr id="9" name="Shape 7"/>
          <p:cNvSpPr/>
          <p:nvPr/>
        </p:nvSpPr>
        <p:spPr>
          <a:xfrm>
            <a:off x="661475" y="3946426"/>
            <a:ext cx="5339820" cy="1127224"/>
          </a:xfrm>
          <a:prstGeom prst="roundRect">
            <a:avLst>
              <a:gd name="adj" fmla="val 7043"/>
            </a:avLst>
          </a:prstGeom>
          <a:solidFill>
            <a:srgbClr val="D1E5FA"/>
          </a:solidFill>
          <a:ln w="19050">
            <a:solidFill>
              <a:srgbClr val="B7CBE0"/>
            </a:solidFill>
            <a:prstDash val="solid"/>
          </a:ln>
        </p:spPr>
      </p:sp>
      <p:sp>
        <p:nvSpPr>
          <p:cNvPr id="10" name="Text 8"/>
          <p:cNvSpPr/>
          <p:nvPr/>
        </p:nvSpPr>
        <p:spPr>
          <a:xfrm>
            <a:off x="869531" y="4154488"/>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Patent</a:t>
            </a:r>
            <a:endParaRPr lang="en-US" sz="1850" dirty="0"/>
          </a:p>
        </p:txBody>
      </p:sp>
      <p:sp>
        <p:nvSpPr>
          <p:cNvPr id="11" name="Text 9"/>
          <p:cNvSpPr/>
          <p:nvPr/>
        </p:nvSpPr>
        <p:spPr>
          <a:xfrm>
            <a:off x="869531" y="4563170"/>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Protects an invention, only if granted</a:t>
            </a:r>
            <a:endParaRPr lang="en-US" sz="1450" dirty="0"/>
          </a:p>
        </p:txBody>
      </p:sp>
      <p:sp>
        <p:nvSpPr>
          <p:cNvPr id="12" name="Shape 10"/>
          <p:cNvSpPr/>
          <p:nvPr/>
        </p:nvSpPr>
        <p:spPr>
          <a:xfrm>
            <a:off x="6190301" y="3946426"/>
            <a:ext cx="5339919" cy="1127224"/>
          </a:xfrm>
          <a:prstGeom prst="roundRect">
            <a:avLst>
              <a:gd name="adj" fmla="val 7043"/>
            </a:avLst>
          </a:prstGeom>
          <a:solidFill>
            <a:srgbClr val="D1E5FA"/>
          </a:solidFill>
          <a:ln w="19050">
            <a:solidFill>
              <a:srgbClr val="B7CBE0"/>
            </a:solidFill>
            <a:prstDash val="solid"/>
          </a:ln>
        </p:spPr>
      </p:sp>
      <p:sp>
        <p:nvSpPr>
          <p:cNvPr id="13" name="Text 11"/>
          <p:cNvSpPr/>
          <p:nvPr/>
        </p:nvSpPr>
        <p:spPr>
          <a:xfrm>
            <a:off x="6398358" y="4154488"/>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Trade Secret</a:t>
            </a:r>
            <a:endParaRPr lang="en-US" sz="1850" dirty="0"/>
          </a:p>
        </p:txBody>
      </p:sp>
      <p:sp>
        <p:nvSpPr>
          <p:cNvPr id="14" name="Text 12"/>
          <p:cNvSpPr/>
          <p:nvPr/>
        </p:nvSpPr>
        <p:spPr>
          <a:xfrm>
            <a:off x="6398358" y="4563170"/>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Protects what you keep secret</a:t>
            </a:r>
            <a:endParaRPr lang="en-US" sz="14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Copyright starts the moment you save</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 notice required. No registration required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commit you pushed this morning is protected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 is the photo a stranger posted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Registration is a separate step with separate benefits</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76190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line the whole system runs on</a:t>
            </a:r>
            <a:endParaRPr lang="en-US" sz="3700" dirty="0"/>
          </a:p>
        </p:txBody>
      </p:sp>
      <p:pic>
        <p:nvPicPr>
          <p:cNvPr id="3" name="Image 0" descr="preencoded.png">    </p:cNvPr>
          <p:cNvPicPr>
            <a:picLocks noChangeAspect="1"/>
          </p:cNvPicPr>
          <p:nvPr/>
        </p:nvPicPr>
        <p:blipFill>
          <a:blip r:embed="rId1"/>
          <a:stretch>
            <a:fillRect/>
          </a:stretch>
        </p:blipFill>
        <p:spPr>
          <a:xfrm>
            <a:off x="661475" y="1848644"/>
            <a:ext cx="6903269" cy="3911898"/>
          </a:xfrm>
          <a:prstGeom prst="rect">
            <a:avLst/>
          </a:prstGeom>
        </p:spPr>
      </p:pic>
      <p:sp>
        <p:nvSpPr>
          <p:cNvPr id="4" name="Text 1"/>
          <p:cNvSpPr/>
          <p:nvPr/>
        </p:nvSpPr>
        <p:spPr>
          <a:xfrm>
            <a:off x="8032251" y="2698948"/>
            <a:ext cx="3504219" cy="2315170"/>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Copyright covers expression, not the idea</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Not procedures, processes, systems, or methods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Read the blog post, close the tab, write your own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Copy and paste is a different act</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63572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How most people look for licenses</a:t>
            </a:r>
            <a:endParaRPr lang="en-US" sz="3700" dirty="0"/>
          </a:p>
        </p:txBody>
      </p:sp>
      <p:sp>
        <p:nvSpPr>
          <p:cNvPr id="3" name="Shape 1"/>
          <p:cNvSpPr/>
          <p:nvPr/>
        </p:nvSpPr>
        <p:spPr>
          <a:xfrm>
            <a:off x="661475" y="2604393"/>
            <a:ext cx="10868745" cy="2494955"/>
          </a:xfrm>
          <a:prstGeom prst="roundRect">
            <a:avLst>
              <a:gd name="adj" fmla="val 3182"/>
            </a:avLst>
          </a:prstGeom>
          <a:solidFill>
            <a:srgbClr val="F2F2F2"/>
          </a:solidFill>
          <a:ln/>
        </p:spPr>
      </p:sp>
      <p:sp>
        <p:nvSpPr>
          <p:cNvPr id="4" name="Text 2"/>
          <p:cNvSpPr/>
          <p:nvPr/>
        </p:nvSpPr>
        <p:spPr>
          <a:xfrm>
            <a:off x="888283" y="2793405"/>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import os</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folder, subfolders, filenames in os.walk("study-buddy"):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"LICENSE" in filenames: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print("licensed:", folder)</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print("Scan complete. Everything above is licensed.")</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clean lines</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b="1" dirty="0">
                <a:solidFill>
                  <a:srgbClr val="005CC5"/>
                </a:solidFill>
                <a:latin typeface="Consolas" pitchFamily="34" charset="0"/>
                <a:ea typeface="Consolas" pitchFamily="34" charset="-122"/>
                <a:cs typeface="Consolas" pitchFamily="34" charset="-120"/>
              </a:rPr>
              <a:t>licensed: study-buddy</a:t>
            </a:r>
            <a:endParaRPr lang="en-US" sz="1450" dirty="0"/>
          </a:p>
          <a:p>
            <a:pPr algn="l" indent="0" marL="0">
              <a:lnSpc>
                <a:spcPct val="133000"/>
              </a:lnSpc>
              <a:buNone/>
            </a:pPr>
            <a:r>
              <a:rPr lang="en-US" sz="1450" b="1" dirty="0">
                <a:solidFill>
                  <a:srgbClr val="005CC5"/>
                </a:solidFill>
                <a:latin typeface="Consolas" pitchFamily="34" charset="0"/>
                <a:ea typeface="Consolas" pitchFamily="34" charset="-122"/>
                <a:cs typeface="Consolas" pitchFamily="34" charset="-120"/>
              </a:rPr>
              <a:t>licensed: study-buddy\vendor\lanternparse</a:t>
            </a:r>
            <a:endParaRPr lang="en-US" sz="1450" dirty="0"/>
          </a:p>
          <a:p>
            <a:pPr algn="l" indent="0" marL="0">
              <a:lnSpc>
                <a:spcPct val="133000"/>
              </a:lnSpc>
              <a:buNone/>
            </a:pPr>
            <a:r>
              <a:rPr lang="en-US" sz="1450" b="1" dirty="0">
                <a:solidFill>
                  <a:srgbClr val="005CC5"/>
                </a:solidFill>
                <a:latin typeface="Consolas" pitchFamily="34" charset="0"/>
                <a:ea typeface="Consolas" pitchFamily="34" charset="-122"/>
                <a:cs typeface="Consolas" pitchFamily="34" charset="-120"/>
              </a:rPr>
              <a:t>licensed: study-buddy\vendor\pocketgrid</a:t>
            </a:r>
            <a:endParaRPr lang="en-US" sz="1450" dirty="0"/>
          </a:p>
          <a:p>
            <a:pPr algn="l" indent="0" marL="0">
              <a:lnSpc>
                <a:spcPct val="133000"/>
              </a:lnSpc>
              <a:buNone/>
            </a:pPr>
            <a:r>
              <a:rPr lang="en-US" sz="1450" b="1" dirty="0">
                <a:solidFill>
                  <a:srgbClr val="005CC5"/>
                </a:solidFill>
                <a:latin typeface="Consolas" pitchFamily="34" charset="0"/>
                <a:ea typeface="Consolas" pitchFamily="34" charset="-122"/>
                <a:cs typeface="Consolas" pitchFamily="34" charset="-120"/>
              </a:rPr>
              <a:t>Scan complete. Everything above is licensed.</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18209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same project, looked at properly</a:t>
            </a:r>
            <a:endParaRPr lang="en-US" sz="3700" dirty="0"/>
          </a:p>
        </p:txBody>
      </p:sp>
      <p:sp>
        <p:nvSpPr>
          <p:cNvPr id="3" name="Shape 1"/>
          <p:cNvSpPr/>
          <p:nvPr/>
        </p:nvSpPr>
        <p:spPr>
          <a:xfrm>
            <a:off x="661475" y="2150765"/>
            <a:ext cx="10868745" cy="3402211"/>
          </a:xfrm>
          <a:prstGeom prst="roundRect">
            <a:avLst>
              <a:gd name="adj" fmla="val 2333"/>
            </a:avLst>
          </a:prstGeom>
          <a:solidFill>
            <a:srgbClr val="F2F2F2"/>
          </a:solidFill>
          <a:ln/>
        </p:spPr>
      </p:sp>
      <p:sp>
        <p:nvSpPr>
          <p:cNvPr id="4" name="Text 2"/>
          <p:cNvSpPr/>
          <p:nvPr/>
        </p:nvSpPr>
        <p:spPr>
          <a:xfrm>
            <a:off x="888283" y="2339777"/>
            <a:ext cx="10415129"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vendor/pocketgrid                file: LICENSE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vendor/lanternparse              file: LICENSE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vendor/sortwell                  header in sortwell.py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snippets/shuffle_from_blog.py    NOTHING FOUND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assets/fonts                     NOTHING FOUND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assets/icons                     file: LICENSE.txt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assets/images                    NOTHING FOUND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assets/sounds                    file: LICENSE.txt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model                            file: LICENSE.txt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data/flashcard_seed              file: LICENSE.txt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Public is not public domain</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Publicly available means you can see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Public domain means nobody holds a copyright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file you can download is not a file you can use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Study Buddy's poster image is exactly this mistake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Your app is not one work</a:t>
            </a:r>
            <a:endParaRPr lang="en-US" sz="1850" dirty="0"/>
          </a:p>
        </p:txBody>
      </p:sp>
      <p:pic>
        <p:nvPicPr>
          <p:cNvPr id="3" name="Image 0" descr="preencoded.png">    </p:cNvPr>
          <p:cNvPicPr>
            <a:picLocks noChangeAspect="1"/>
          </p:cNvPicPr>
          <p:nvPr/>
        </p:nvPicPr>
        <p:blipFill>
          <a:blip r:embed="rId1"/>
          <a:stretch>
            <a:fillRect/>
          </a:stretch>
        </p:blipFill>
        <p:spPr>
          <a:xfrm>
            <a:off x="661475" y="939006"/>
            <a:ext cx="5319083" cy="5319216"/>
          </a:xfrm>
          <a:prstGeom prst="rect">
            <a:avLst/>
          </a:prstGeom>
        </p:spPr>
      </p:pic>
      <p:sp>
        <p:nvSpPr>
          <p:cNvPr id="4" name="Text 1"/>
          <p:cNvSpPr/>
          <p:nvPr/>
        </p:nvSpPr>
        <p:spPr>
          <a:xfrm>
            <a:off x="6217487" y="3360043"/>
            <a:ext cx="5319083" cy="503039"/>
          </a:xfrm>
          <a:prstGeom prst="rect">
            <a:avLst/>
          </a:prstGeom>
          <a:noFill/>
          <a:ln/>
        </p:spPr>
        <p:txBody>
          <a:bodyPr wrap="square" lIns="0" tIns="0" rIns="0" bIns="0" rtlCol="0" anchor="t">
            <a:normAutofit/>
          </a:bodyPr>
          <a:lstStyle/>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Code you wrote, code you copied, icons, font</a:t>
            </a:r>
            <a:endParaRPr lang="en-US" sz="700" dirty="0"/>
          </a:p>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Sound, text, the name, the model, the dataset</a:t>
            </a:r>
            <a:endParaRPr lang="en-US" sz="700" dirty="0"/>
          </a:p>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Different owners, different terms, one window</a:t>
            </a:r>
            <a:endParaRPr lang="en-US" sz="700" dirty="0"/>
          </a:p>
          <a:p>
            <a:pPr algn="l" marL="142240" indent="-142240">
              <a:lnSpc>
                <a:spcPct val="100000"/>
              </a:lnSpc>
              <a:buSzPct val="100000"/>
              <a:buChar char="•"/>
            </a:pPr>
            <a:r>
              <a:rPr lang="en-US" sz="700" dirty="0">
                <a:solidFill>
                  <a:srgbClr val="1C1C1C"/>
                </a:solidFill>
                <a:latin typeface="Roboto Condensed" pitchFamily="34" charset="0"/>
                <a:ea typeface="Roboto Condensed" pitchFamily="34" charset="-122"/>
                <a:cs typeface="Roboto Condensed" pitchFamily="34" charset="-120"/>
              </a:rPr>
              <a:t>Each can be fine and still not ship together</a:t>
            </a:r>
            <a:endParaRPr lang="en-US" sz="700" dirty="0"/>
          </a:p>
        </p:txBody>
      </p:sp>
      <p:sp>
        <p:nvSpPr>
          <p:cNvPr id="5" name="Text 2"/>
          <p:cNvSpPr/>
          <p:nvPr/>
        </p:nvSpPr>
        <p:spPr>
          <a:xfrm>
            <a:off x="132255" y="6553200"/>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pattern has repeated for a century</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Player pianos, photocopiers, cassettes, the web</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copying technology arrives, rules get rewritten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1976 Act, Berne in 1989, the DMCA in 1998</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are living inside the next turn</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203874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Shape 1"/>
          <p:cNvSpPr/>
          <p:nvPr/>
        </p:nvSpPr>
        <p:spPr>
          <a:xfrm>
            <a:off x="661475" y="3007420"/>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732365" y="3042841"/>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5" name="Text 3"/>
          <p:cNvSpPr/>
          <p:nvPr/>
        </p:nvSpPr>
        <p:spPr>
          <a:xfrm>
            <a:off x="1275723" y="3072309"/>
            <a:ext cx="4701958"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Run both scans against the Study Buddy tree</a:t>
            </a:r>
            <a:endParaRPr lang="en-US" sz="1850" dirty="0"/>
          </a:p>
        </p:txBody>
      </p:sp>
      <p:sp>
        <p:nvSpPr>
          <p:cNvPr id="6" name="Shape 4"/>
          <p:cNvSpPr/>
          <p:nvPr/>
        </p:nvSpPr>
        <p:spPr>
          <a:xfrm>
            <a:off x="6213915" y="3007420"/>
            <a:ext cx="425241" cy="425252"/>
          </a:xfrm>
          <a:prstGeom prst="roundRect">
            <a:avLst>
              <a:gd name="adj" fmla="val 18669"/>
            </a:avLst>
          </a:prstGeom>
          <a:solidFill>
            <a:srgbClr val="D1E5FA"/>
          </a:solidFill>
          <a:ln w="19050">
            <a:solidFill>
              <a:srgbClr val="B7CBE0"/>
            </a:solidFill>
            <a:prstDash val="solid"/>
          </a:ln>
        </p:spPr>
      </p:sp>
      <p:sp>
        <p:nvSpPr>
          <p:cNvPr id="7" name="Text 5"/>
          <p:cNvSpPr/>
          <p:nvPr/>
        </p:nvSpPr>
        <p:spPr>
          <a:xfrm>
            <a:off x="6284805" y="3042841"/>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8" name="Text 6"/>
          <p:cNvSpPr/>
          <p:nvPr/>
        </p:nvSpPr>
        <p:spPr>
          <a:xfrm>
            <a:off x="6828163" y="3072309"/>
            <a:ext cx="470205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down all ten components and what you found</a:t>
            </a:r>
            <a:endParaRPr lang="en-US" sz="1850" dirty="0"/>
          </a:p>
        </p:txBody>
      </p:sp>
      <p:sp>
        <p:nvSpPr>
          <p:cNvPr id="9" name="Shape 7"/>
          <p:cNvSpPr/>
          <p:nvPr/>
        </p:nvSpPr>
        <p:spPr>
          <a:xfrm>
            <a:off x="661475" y="4040882"/>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732365" y="407630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1" name="Text 9"/>
          <p:cNvSpPr/>
          <p:nvPr/>
        </p:nvSpPr>
        <p:spPr>
          <a:xfrm>
            <a:off x="1275723" y="4105771"/>
            <a:ext cx="4701958"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Three of them have nothing. Name them</a:t>
            </a:r>
            <a:endParaRPr lang="en-US" sz="1850" dirty="0"/>
          </a:p>
        </p:txBody>
      </p:sp>
      <p:sp>
        <p:nvSpPr>
          <p:cNvPr id="12" name="Shape 10"/>
          <p:cNvSpPr/>
          <p:nvPr/>
        </p:nvSpPr>
        <p:spPr>
          <a:xfrm>
            <a:off x="6213915" y="4040882"/>
            <a:ext cx="425241" cy="425252"/>
          </a:xfrm>
          <a:prstGeom prst="roundRect">
            <a:avLst>
              <a:gd name="adj" fmla="val 18669"/>
            </a:avLst>
          </a:prstGeom>
          <a:solidFill>
            <a:srgbClr val="D1E5FA"/>
          </a:solidFill>
          <a:ln w="19050">
            <a:solidFill>
              <a:srgbClr val="B7CBE0"/>
            </a:solidFill>
            <a:prstDash val="solid"/>
          </a:ln>
        </p:spPr>
      </p:sp>
      <p:sp>
        <p:nvSpPr>
          <p:cNvPr id="13" name="Text 11"/>
          <p:cNvSpPr/>
          <p:nvPr/>
        </p:nvSpPr>
        <p:spPr>
          <a:xfrm>
            <a:off x="6284805" y="407630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4" name="Text 12"/>
          <p:cNvSpPr/>
          <p:nvPr/>
        </p:nvSpPr>
        <p:spPr>
          <a:xfrm>
            <a:off x="6828163" y="4105771"/>
            <a:ext cx="470205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That list becomes your licensing audit</a:t>
            </a:r>
            <a:endParaRPr lang="en-US" sz="18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2026-09-16T03:31:30Z</dcterms:created>
  <dcterms:modified xsi:type="dcterms:W3CDTF">2026-09-16T03:31:30Z</dcterms:modified>
</cp:coreProperties>
</file>