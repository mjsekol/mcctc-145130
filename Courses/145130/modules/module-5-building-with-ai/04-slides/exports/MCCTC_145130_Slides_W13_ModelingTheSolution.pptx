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embeddedFontLst>
    <p:embeddedFont>
      <p:font typeface="Orbitron Bold"/>
      <p:regular r:id="rId201314"/>
    </p:embeddedFont>
    <p:embeddedFont>
      <p:font typeface="Roboto Condensed Bold"/>
      <p:regular r:id="rId201315"/>
    </p:embeddedFont>
    <p:embeddedFont>
      <p:font typeface="Roboto Condensed"/>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this week goes wrong, and it goes wrong the same way every year. Two of you split the build. You agree out loud on what the service will return. Nobody writes it down, because you both understand it. On Thursday you connect the two halves and find out that you understood two different things. Today costs forty minutes and it is the cheapest forty minutes in this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not interchangeable and picking the wrong one is how design documents end up unread. The IPO chart is always first and always one page. The dataflow diagram is for when there is more than one program. The decision table is for three or more conditions that combine. Pseudocode is the step right before you write the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at the last row. The model's answer is an input to your system. It arrives from outside, you do not control it, and it is the input most likely to be shaped in a way you did not plan for. If it is not on your input list, your design has a hole in it and the hole is exactly where the refusals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Row two is the point of this whole slide. Row two is a success that carries an error, and nobody writes row two by accident. You write it because you filled in the table and saw an empty cell staring at you. Rows five, six and seven are the wire failures, which is Week fourteen.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 how many different messages a program needs to serve those seven rows. At least five. A program that prints the word Error for rows three through seven has thrown away the one thing the person actually needed, which is which of the five happened. You met this last year with 404 and timeout and rate limit. Same idea, new shapes.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lines, and every decision the real service makes is in them. No imports, no syntax to get wrong, no language. The real function is twenty lines of Python and does exactly this. Here is the test of pseudocode. Hand it to your partner and ask them what happens when the model answers with something the parser cannot use. If they can answer from this alone, it is finished.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competency names artificial intelligence alongside the graphic tools, which means using a model to help you model. That is allowed and it has one rule attached. Every draft you take from a model goes in your decision log with what you changed and why, and you defend it line by line. The only way to fail outright in this program is submitting work you cannot explain.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Neither of them is wrong. They never agreed. The C sharp program runs, deserialises without complaining, and prints one empty line, because System dot Text dot Json sets a missing field to its default rather than telling you. That is two days of work that do not fit together, found on Thursday, in a three week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about why people skip this. You can see code working and you cannot see a design working. Forty minutes of tables produces nothing on a screen. The cost is not paid evenly. A design mistake found on Monday costs you a conversation. The same mistake found Thursday costs both of you a rewrite, and Thursday of Week thirteen is the last day I am in the room before the competition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is your own IPO chart, on paper, both of you at one table. Build two is the result shape and the decision table. The rule for the result shape is that you do not describe it, you write it, in JSON, and both of you paste the same block into your own file. Not a description. The shape.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1.png"/><Relationship Id="rId4" Type="http://schemas.openxmlformats.org/officeDocument/2006/relationships/image" Target="../media/image-3-2.svg"/><Relationship Id="rId5" Type="http://schemas.openxmlformats.org/officeDocument/2006/relationships/image" Target="../media/image-3-1.png"/><Relationship Id="rId6" Type="http://schemas.openxmlformats.org/officeDocument/2006/relationships/image" Target="../media/image-3-2.svg"/><Relationship Id="rId7" Type="http://schemas.openxmlformats.org/officeDocument/2006/relationships/image" Target="../media/image-3-1.png"/><Relationship Id="rId8" Type="http://schemas.openxmlformats.org/officeDocument/2006/relationships/image" Target="../media/image-3-2.svg"/><Relationship Id="rId9" Type="http://schemas.openxmlformats.org/officeDocument/2006/relationships/slideLayout" Target="../slideLayouts/slideLayout2.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277693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Modeling the Solution Before You Build It</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635919"/>
            <a:ext cx="6296860"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Two people. One design. Written down nowhere.</a:t>
            </a:r>
            <a:endParaRPr lang="en-US" sz="3700" dirty="0"/>
          </a:p>
        </p:txBody>
      </p:sp>
      <p:sp>
        <p:nvSpPr>
          <p:cNvPr id="4" name="Text 1"/>
          <p:cNvSpPr/>
          <p:nvPr/>
        </p:nvSpPr>
        <p:spPr>
          <a:xfrm>
            <a:off x="5233360" y="3691334"/>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You split the build on Monday</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You agreed out loud on "return the summary"</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You connect the halves on Thursday</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They do not fit</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1081782"/>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Five tools, five different questions</a:t>
            </a:r>
            <a:endParaRPr lang="en-US" sz="37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050455"/>
            <a:ext cx="5339820" cy="1706959"/>
          </a:xfrm>
          <a:prstGeom prst="rect">
            <a:avLst/>
          </a:prstGeom>
        </p:spPr>
      </p:pic>
      <p:sp>
        <p:nvSpPr>
          <p:cNvPr id="4" name="Text 1"/>
          <p:cNvSpPr/>
          <p:nvPr/>
        </p:nvSpPr>
        <p:spPr>
          <a:xfrm>
            <a:off x="3189605" y="2172593"/>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1</a:t>
            </a:r>
            <a:endParaRPr lang="en-US" sz="2200" dirty="0"/>
          </a:p>
        </p:txBody>
      </p:sp>
      <p:sp>
        <p:nvSpPr>
          <p:cNvPr id="5" name="Text 2"/>
          <p:cNvSpPr/>
          <p:nvPr/>
        </p:nvSpPr>
        <p:spPr>
          <a:xfrm>
            <a:off x="875881" y="2831902"/>
            <a:ext cx="491100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IPO chart</a:t>
            </a:r>
            <a:endParaRPr lang="en-US" sz="1850" dirty="0"/>
          </a:p>
        </p:txBody>
      </p:sp>
      <p:sp>
        <p:nvSpPr>
          <p:cNvPr id="6" name="Text 3"/>
          <p:cNvSpPr/>
          <p:nvPr/>
        </p:nvSpPr>
        <p:spPr>
          <a:xfrm>
            <a:off x="875881" y="3240584"/>
            <a:ext cx="491100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What goes in, happens, comes out</a:t>
            </a:r>
            <a:endParaRPr lang="en-US" sz="145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90301" y="2050455"/>
            <a:ext cx="5339919" cy="1706959"/>
          </a:xfrm>
          <a:prstGeom prst="rect">
            <a:avLst/>
          </a:prstGeom>
        </p:spPr>
      </p:pic>
      <p:sp>
        <p:nvSpPr>
          <p:cNvPr id="8" name="Text 4"/>
          <p:cNvSpPr/>
          <p:nvPr/>
        </p:nvSpPr>
        <p:spPr>
          <a:xfrm>
            <a:off x="8718530" y="2172593"/>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2</a:t>
            </a:r>
            <a:endParaRPr lang="en-US" sz="2200" dirty="0"/>
          </a:p>
        </p:txBody>
      </p:sp>
      <p:sp>
        <p:nvSpPr>
          <p:cNvPr id="9" name="Text 5"/>
          <p:cNvSpPr/>
          <p:nvPr/>
        </p:nvSpPr>
        <p:spPr>
          <a:xfrm>
            <a:off x="6404708" y="2831902"/>
            <a:ext cx="4911106"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Dataflow diagram</a:t>
            </a:r>
            <a:endParaRPr lang="en-US" sz="1850" dirty="0"/>
          </a:p>
        </p:txBody>
      </p:sp>
      <p:sp>
        <p:nvSpPr>
          <p:cNvPr id="10" name="Text 6"/>
          <p:cNvSpPr/>
          <p:nvPr/>
        </p:nvSpPr>
        <p:spPr>
          <a:xfrm>
            <a:off x="6404708" y="3240584"/>
            <a:ext cx="4911106"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What moves between layers</a:t>
            </a:r>
            <a:endParaRPr lang="en-US" sz="1450" dirty="0"/>
          </a:p>
        </p:txBody>
      </p:sp>
      <p:pic>
        <p:nvPicPr>
          <p:cNvPr id="1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3946426"/>
            <a:ext cx="5339820" cy="1706959"/>
          </a:xfrm>
          <a:prstGeom prst="rect">
            <a:avLst/>
          </a:prstGeom>
        </p:spPr>
      </p:pic>
      <p:sp>
        <p:nvSpPr>
          <p:cNvPr id="12" name="Text 7"/>
          <p:cNvSpPr/>
          <p:nvPr/>
        </p:nvSpPr>
        <p:spPr>
          <a:xfrm>
            <a:off x="3189605" y="4068564"/>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3</a:t>
            </a:r>
            <a:endParaRPr lang="en-US" sz="2200" dirty="0"/>
          </a:p>
        </p:txBody>
      </p:sp>
      <p:sp>
        <p:nvSpPr>
          <p:cNvPr id="13" name="Text 8"/>
          <p:cNvSpPr/>
          <p:nvPr/>
        </p:nvSpPr>
        <p:spPr>
          <a:xfrm>
            <a:off x="875881" y="4727873"/>
            <a:ext cx="491100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Decision table</a:t>
            </a:r>
            <a:endParaRPr lang="en-US" sz="1850" dirty="0"/>
          </a:p>
        </p:txBody>
      </p:sp>
      <p:sp>
        <p:nvSpPr>
          <p:cNvPr id="14" name="Text 9"/>
          <p:cNvSpPr/>
          <p:nvPr/>
        </p:nvSpPr>
        <p:spPr>
          <a:xfrm>
            <a:off x="875881" y="5136555"/>
            <a:ext cx="491100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Every combination, what happens</a:t>
            </a:r>
            <a:endParaRPr lang="en-US" sz="1450" dirty="0"/>
          </a:p>
        </p:txBody>
      </p:sp>
      <p:pic>
        <p:nvPicPr>
          <p:cNvPr id="15"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90301" y="3946426"/>
            <a:ext cx="5339919" cy="1706959"/>
          </a:xfrm>
          <a:prstGeom prst="rect">
            <a:avLst/>
          </a:prstGeom>
        </p:spPr>
      </p:pic>
      <p:sp>
        <p:nvSpPr>
          <p:cNvPr id="16" name="Text 10"/>
          <p:cNvSpPr/>
          <p:nvPr/>
        </p:nvSpPr>
        <p:spPr>
          <a:xfrm>
            <a:off x="8718530" y="4068564"/>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4</a:t>
            </a:r>
            <a:endParaRPr lang="en-US" sz="2200" dirty="0"/>
          </a:p>
        </p:txBody>
      </p:sp>
      <p:sp>
        <p:nvSpPr>
          <p:cNvPr id="17" name="Text 11"/>
          <p:cNvSpPr/>
          <p:nvPr/>
        </p:nvSpPr>
        <p:spPr>
          <a:xfrm>
            <a:off x="6404708" y="4727873"/>
            <a:ext cx="4911106"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Pseudocode</a:t>
            </a:r>
            <a:endParaRPr lang="en-US" sz="1850" dirty="0"/>
          </a:p>
        </p:txBody>
      </p:sp>
      <p:sp>
        <p:nvSpPr>
          <p:cNvPr id="18" name="Text 12"/>
          <p:cNvSpPr/>
          <p:nvPr/>
        </p:nvSpPr>
        <p:spPr>
          <a:xfrm>
            <a:off x="6404708" y="5136555"/>
            <a:ext cx="4911106"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The exact logic, no language</a:t>
            </a:r>
            <a:endParaRPr lang="en-US" sz="1450" dirty="0"/>
          </a:p>
        </p:txBody>
      </p:sp>
      <p:sp>
        <p:nvSpPr>
          <p:cNvPr id="19" name="Text 1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2089348"/>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row everybody leaves off</a:t>
            </a:r>
            <a:endParaRPr lang="en-US" sz="3700" dirty="0"/>
          </a:p>
        </p:txBody>
      </p:sp>
      <p:sp>
        <p:nvSpPr>
          <p:cNvPr id="3" name="Shape 1"/>
          <p:cNvSpPr/>
          <p:nvPr/>
        </p:nvSpPr>
        <p:spPr>
          <a:xfrm>
            <a:off x="661475" y="3058021"/>
            <a:ext cx="10868745" cy="1587698"/>
          </a:xfrm>
          <a:prstGeom prst="roundRect">
            <a:avLst>
              <a:gd name="adj" fmla="val 5000"/>
            </a:avLst>
          </a:prstGeom>
          <a:solidFill>
            <a:srgbClr val="F2F2F2"/>
          </a:solidFill>
          <a:ln/>
        </p:spPr>
      </p:sp>
      <p:sp>
        <p:nvSpPr>
          <p:cNvPr id="4" name="Text 2"/>
          <p:cNvSpPr/>
          <p:nvPr/>
        </p:nvSpPr>
        <p:spPr>
          <a:xfrm>
            <a:off x="888283" y="3247033"/>
            <a:ext cx="10415129" cy="120967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Input            From              Allowed              Untrusted</a:t>
            </a:r>
            <a:endParaRPr lang="en-US" sz="1450" dirty="0"/>
          </a:p>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command          the person        four words           yes</a:t>
            </a:r>
            <a:endParaRPr lang="en-US" sz="1450" dirty="0"/>
          </a:p>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text             the person        1 to 4000 chars      yes</a:t>
            </a:r>
            <a:endParaRPr lang="en-US" sz="1450" dirty="0"/>
          </a:p>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model answer     the model         any text at all      YES</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1642864"/>
            <a:ext cx="10868745"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 decision table finds the row you would never write</a:t>
            </a:r>
            <a:endParaRPr lang="en-US" sz="3700" dirty="0"/>
          </a:p>
        </p:txBody>
      </p:sp>
      <p:sp>
        <p:nvSpPr>
          <p:cNvPr id="3" name="Shape 1"/>
          <p:cNvSpPr/>
          <p:nvPr/>
        </p:nvSpPr>
        <p:spPr>
          <a:xfrm>
            <a:off x="661475" y="3202186"/>
            <a:ext cx="10868745" cy="1890117"/>
          </a:xfrm>
          <a:prstGeom prst="roundRect">
            <a:avLst>
              <a:gd name="adj" fmla="val 4200"/>
            </a:avLst>
          </a:prstGeom>
          <a:solidFill>
            <a:srgbClr val="F2F2F2"/>
          </a:solidFill>
          <a:ln/>
        </p:spPr>
      </p:sp>
      <p:sp>
        <p:nvSpPr>
          <p:cNvPr id="4" name="Text 2"/>
          <p:cNvSpPr/>
          <p:nvPr/>
        </p:nvSpPr>
        <p:spPr>
          <a:xfrm>
            <a:off x="888283" y="3391198"/>
            <a:ext cx="10415129" cy="1512094"/>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6A737D"/>
                </a:solidFill>
                <a:latin typeface="Consolas" pitchFamily="34" charset="0"/>
                <a:ea typeface="Consolas" pitchFamily="34" charset="-122"/>
                <a:cs typeface="Consolas" pitchFamily="34" charset="-120"/>
              </a:rPr>
              <a:t>#  HTTP        source     error   What the program does</a:t>
            </a:r>
            <a:endParaRPr lang="en-US" sz="1450" dirty="0"/>
          </a:p>
          <a:p>
            <a:pPr algn="l" indent="0" marL="0">
              <a:lnSpc>
                <a:spcPct val="133000"/>
              </a:lnSpc>
              <a:buNone/>
            </a:pPr>
            <a:r>
              <a:rPr lang="en-US" sz="1450" dirty="0">
                <a:solidFill>
                  <a:srgbClr val="6A737D"/>
                </a:solidFill>
                <a:latin typeface="Consolas" pitchFamily="34" charset="0"/>
                <a:ea typeface="Consolas" pitchFamily="34" charset="-122"/>
                <a:cs typeface="Consolas" pitchFamily="34" charset="-120"/>
              </a:rPr>
              <a:t>1  200         model      null    print it, say it came from the model</a:t>
            </a:r>
            <a:endParaRPr lang="en-US" sz="1450" dirty="0"/>
          </a:p>
          <a:p>
            <a:pPr algn="l" indent="0" marL="0">
              <a:lnSpc>
                <a:spcPct val="133000"/>
              </a:lnSpc>
              <a:buNone/>
            </a:pPr>
            <a:r>
              <a:rPr lang="en-US" sz="1450" dirty="0">
                <a:solidFill>
                  <a:srgbClr val="6A737D"/>
                </a:solidFill>
                <a:latin typeface="Consolas" pitchFamily="34" charset="0"/>
                <a:ea typeface="Consolas" pitchFamily="34" charset="-122"/>
                <a:cs typeface="Consolas" pitchFamily="34" charset="-120"/>
              </a:rPr>
              <a:t>2  200         fallback   set     print it, say it came from the fallback</a:t>
            </a:r>
            <a:endParaRPr lang="en-US" sz="1450" dirty="0"/>
          </a:p>
          <a:p>
            <a:pPr algn="l" indent="0" marL="0">
              <a:lnSpc>
                <a:spcPct val="133000"/>
              </a:lnSpc>
              <a:buNone/>
            </a:pPr>
            <a:r>
              <a:rPr lang="en-US" sz="1450" dirty="0">
                <a:solidFill>
                  <a:srgbClr val="6A737D"/>
                </a:solidFill>
                <a:latin typeface="Consolas" pitchFamily="34" charset="0"/>
                <a:ea typeface="Consolas" pitchFamily="34" charset="-122"/>
                <a:cs typeface="Consolas" pitchFamily="34" charset="-120"/>
              </a:rPr>
              <a:t>3  400         none       set     do not print, name the kind</a:t>
            </a:r>
            <a:endParaRPr lang="en-US" sz="1450" dirty="0"/>
          </a:p>
          <a:p>
            <a:pPr algn="l" indent="0" marL="0">
              <a:lnSpc>
                <a:spcPct val="133000"/>
              </a:lnSpc>
              <a:buNone/>
            </a:pPr>
            <a:r>
              <a:rPr lang="en-US" sz="1450" dirty="0">
                <a:solidFill>
                  <a:srgbClr val="6A737D"/>
                </a:solidFill>
                <a:latin typeface="Consolas" pitchFamily="34" charset="0"/>
                <a:ea typeface="Consolas" pitchFamily="34" charset="-122"/>
                <a:cs typeface="Consolas" pitchFamily="34" charset="-120"/>
              </a:rPr>
              <a:t>4  200         missing    any     not the envelope, name the port</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2226568"/>
            <a:ext cx="6296860"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Count the messages</a:t>
            </a:r>
            <a:endParaRPr lang="en-US" sz="3700" dirty="0"/>
          </a:p>
        </p:txBody>
      </p:sp>
      <p:sp>
        <p:nvSpPr>
          <p:cNvPr id="4" name="Text 1"/>
          <p:cNvSpPr/>
          <p:nvPr/>
        </p:nvSpPr>
        <p:spPr>
          <a:xfrm>
            <a:off x="5233360" y="3100685"/>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Seven rows in that table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At least five different messages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One word for all of them throws the answer away</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Each one has a different fix</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886817"/>
            <a:ext cx="10868745"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Pseudocode is not code with the syntax removed</a:t>
            </a:r>
            <a:endParaRPr lang="en-US" sz="3700" dirty="0"/>
          </a:p>
        </p:txBody>
      </p:sp>
      <p:sp>
        <p:nvSpPr>
          <p:cNvPr id="3" name="Shape 1"/>
          <p:cNvSpPr/>
          <p:nvPr/>
        </p:nvSpPr>
        <p:spPr>
          <a:xfrm>
            <a:off x="661475" y="2446139"/>
            <a:ext cx="10868745" cy="3402211"/>
          </a:xfrm>
          <a:prstGeom prst="roundRect">
            <a:avLst>
              <a:gd name="adj" fmla="val 2333"/>
            </a:avLst>
          </a:prstGeom>
          <a:solidFill>
            <a:srgbClr val="F2F2F2"/>
          </a:solidFill>
          <a:ln/>
        </p:spPr>
      </p:sp>
      <p:sp>
        <p:nvSpPr>
          <p:cNvPr id="4" name="Text 2"/>
          <p:cNvSpPr/>
          <p:nvPr/>
        </p:nvSpPr>
        <p:spPr>
          <a:xfrm>
            <a:off x="888283" y="2635151"/>
            <a:ext cx="10415129" cy="302418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run_task(task, prompt):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try:</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answer = ask the model, with a timeout, retrying only what can change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result = parse the answer into this task's shape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reason = check the result against this task's rules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if reason is nothing: return envelope(source: "model")</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error = ("task_validation_failed", reason)</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catch a model failure as 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error = (e.kind, e.message)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return envelope(source: "fallback", fallback result, error)</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You may use a model to help you model</a:t>
            </a:r>
            <a:endParaRPr lang="en-US" sz="3700" dirty="0"/>
          </a:p>
        </p:txBody>
      </p:sp>
      <p:sp>
        <p:nvSpPr>
          <p:cNvPr id="4" name="Text 1"/>
          <p:cNvSpPr/>
          <p:nvPr/>
        </p:nvSpPr>
        <p:spPr>
          <a:xfrm>
            <a:off x="661475"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Draft a diagram or a decision table with it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Check every line against your own code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Record what you changed, in the decision log</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Submit nothing you cannot defend</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1794073"/>
            <a:ext cx="10868745"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the design you did not write down produces</a:t>
            </a:r>
            <a:endParaRPr lang="en-US" sz="3700" dirty="0"/>
          </a:p>
        </p:txBody>
      </p:sp>
      <p:sp>
        <p:nvSpPr>
          <p:cNvPr id="3" name="Shape 1"/>
          <p:cNvSpPr/>
          <p:nvPr/>
        </p:nvSpPr>
        <p:spPr>
          <a:xfrm>
            <a:off x="661475" y="3353395"/>
            <a:ext cx="10868745" cy="1587698"/>
          </a:xfrm>
          <a:prstGeom prst="roundRect">
            <a:avLst>
              <a:gd name="adj" fmla="val 5000"/>
            </a:avLst>
          </a:prstGeom>
          <a:solidFill>
            <a:srgbClr val="F2F2F2"/>
          </a:solidFill>
          <a:ln/>
        </p:spPr>
      </p:sp>
      <p:sp>
        <p:nvSpPr>
          <p:cNvPr id="4" name="Text 2"/>
          <p:cNvSpPr/>
          <p:nvPr/>
        </p:nvSpPr>
        <p:spPr>
          <a:xfrm>
            <a:off x="888283" y="3542407"/>
            <a:ext cx="10415129" cy="120967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service returns:  {"summary": "...", "bullets": [...]}</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client expects:   {"result": {"text": "...", "points": [...]}}</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summary:</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1965226"/>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Why the tables feel like a waste of time</a:t>
            </a:r>
            <a:endParaRPr lang="en-US" sz="3700" dirty="0"/>
          </a:p>
        </p:txBody>
      </p:sp>
      <p:sp>
        <p:nvSpPr>
          <p:cNvPr id="3" name="Shape 1"/>
          <p:cNvSpPr/>
          <p:nvPr/>
        </p:nvSpPr>
        <p:spPr>
          <a:xfrm>
            <a:off x="661475" y="3051969"/>
            <a:ext cx="2507394" cy="1505248"/>
          </a:xfrm>
          <a:prstGeom prst="roundRect">
            <a:avLst>
              <a:gd name="adj" fmla="val 5274"/>
            </a:avLst>
          </a:prstGeom>
          <a:solidFill>
            <a:srgbClr val="D1E5FA"/>
          </a:solidFill>
          <a:ln w="19050">
            <a:solidFill>
              <a:srgbClr val="B7CBE0"/>
            </a:solidFill>
            <a:prstDash val="solid"/>
          </a:ln>
        </p:spPr>
      </p:sp>
      <p:sp>
        <p:nvSpPr>
          <p:cNvPr id="4" name="Text 2"/>
          <p:cNvSpPr/>
          <p:nvPr/>
        </p:nvSpPr>
        <p:spPr>
          <a:xfrm>
            <a:off x="869531" y="3260030"/>
            <a:ext cx="2091280"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Monday</a:t>
            </a:r>
            <a:endParaRPr lang="en-US" sz="1850" dirty="0"/>
          </a:p>
        </p:txBody>
      </p:sp>
      <p:sp>
        <p:nvSpPr>
          <p:cNvPr id="5" name="Text 3"/>
          <p:cNvSpPr/>
          <p:nvPr/>
        </p:nvSpPr>
        <p:spPr>
          <a:xfrm>
            <a:off x="869531" y="3744317"/>
            <a:ext cx="2091280"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Code gives you something on screen</a:t>
            </a:r>
            <a:endParaRPr lang="en-US" sz="1450" dirty="0"/>
          </a:p>
        </p:txBody>
      </p:sp>
      <p:sp>
        <p:nvSpPr>
          <p:cNvPr id="6" name="Shape 4"/>
          <p:cNvSpPr/>
          <p:nvPr/>
        </p:nvSpPr>
        <p:spPr>
          <a:xfrm>
            <a:off x="3357875" y="3051969"/>
            <a:ext cx="2507394" cy="1505248"/>
          </a:xfrm>
          <a:prstGeom prst="roundRect">
            <a:avLst>
              <a:gd name="adj" fmla="val 5274"/>
            </a:avLst>
          </a:prstGeom>
          <a:solidFill>
            <a:srgbClr val="D1E5FA"/>
          </a:solidFill>
          <a:ln w="19050">
            <a:solidFill>
              <a:srgbClr val="B7CBE0"/>
            </a:solidFill>
            <a:prstDash val="solid"/>
          </a:ln>
        </p:spPr>
      </p:sp>
      <p:sp>
        <p:nvSpPr>
          <p:cNvPr id="7" name="Text 5"/>
          <p:cNvSpPr/>
          <p:nvPr/>
        </p:nvSpPr>
        <p:spPr>
          <a:xfrm>
            <a:off x="3565932" y="3260030"/>
            <a:ext cx="2091280"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Monday</a:t>
            </a:r>
            <a:endParaRPr lang="en-US" sz="1850" dirty="0"/>
          </a:p>
        </p:txBody>
      </p:sp>
      <p:sp>
        <p:nvSpPr>
          <p:cNvPr id="8" name="Text 6"/>
          <p:cNvSpPr/>
          <p:nvPr/>
        </p:nvSpPr>
        <p:spPr>
          <a:xfrm>
            <a:off x="3565932" y="3744317"/>
            <a:ext cx="2091280"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Tables give you nothing you can run</a:t>
            </a:r>
            <a:endParaRPr lang="en-US" sz="1450" dirty="0"/>
          </a:p>
        </p:txBody>
      </p:sp>
      <p:sp>
        <p:nvSpPr>
          <p:cNvPr id="9" name="Shape 7"/>
          <p:cNvSpPr/>
          <p:nvPr/>
        </p:nvSpPr>
        <p:spPr>
          <a:xfrm>
            <a:off x="6332776" y="3051969"/>
            <a:ext cx="2507394" cy="1498104"/>
          </a:xfrm>
          <a:prstGeom prst="roundRect">
            <a:avLst>
              <a:gd name="adj" fmla="val 5299"/>
            </a:avLst>
          </a:prstGeom>
          <a:solidFill>
            <a:srgbClr val="D1E5FA"/>
          </a:solidFill>
          <a:ln w="19050">
            <a:solidFill>
              <a:srgbClr val="B7CBE0"/>
            </a:solidFill>
            <a:prstDash val="solid"/>
          </a:ln>
        </p:spPr>
      </p:sp>
      <p:sp>
        <p:nvSpPr>
          <p:cNvPr id="10" name="Text 8"/>
          <p:cNvSpPr/>
          <p:nvPr/>
        </p:nvSpPr>
        <p:spPr>
          <a:xfrm>
            <a:off x="6540832" y="3260030"/>
            <a:ext cx="2091280"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Monday mistake</a:t>
            </a:r>
            <a:endParaRPr lang="en-US" sz="1850" dirty="0"/>
          </a:p>
        </p:txBody>
      </p:sp>
      <p:sp>
        <p:nvSpPr>
          <p:cNvPr id="11" name="Text 9"/>
          <p:cNvSpPr/>
          <p:nvPr/>
        </p:nvSpPr>
        <p:spPr>
          <a:xfrm>
            <a:off x="6540832" y="4039592"/>
            <a:ext cx="2091280"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Costs a conversation</a:t>
            </a:r>
            <a:endParaRPr lang="en-US" sz="1450" dirty="0"/>
          </a:p>
        </p:txBody>
      </p:sp>
      <p:sp>
        <p:nvSpPr>
          <p:cNvPr id="12" name="Shape 10"/>
          <p:cNvSpPr/>
          <p:nvPr/>
        </p:nvSpPr>
        <p:spPr>
          <a:xfrm>
            <a:off x="9029176" y="3051969"/>
            <a:ext cx="2507394" cy="1498104"/>
          </a:xfrm>
          <a:prstGeom prst="roundRect">
            <a:avLst>
              <a:gd name="adj" fmla="val 5299"/>
            </a:avLst>
          </a:prstGeom>
          <a:solidFill>
            <a:srgbClr val="D1E5FA"/>
          </a:solidFill>
          <a:ln w="19050">
            <a:solidFill>
              <a:srgbClr val="B7CBE0"/>
            </a:solidFill>
            <a:prstDash val="solid"/>
          </a:ln>
        </p:spPr>
      </p:sp>
      <p:sp>
        <p:nvSpPr>
          <p:cNvPr id="13" name="Text 11"/>
          <p:cNvSpPr/>
          <p:nvPr/>
        </p:nvSpPr>
        <p:spPr>
          <a:xfrm>
            <a:off x="9237233" y="3260030"/>
            <a:ext cx="2091280"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Thursday mistake</a:t>
            </a:r>
            <a:endParaRPr lang="en-US" sz="1850" dirty="0"/>
          </a:p>
        </p:txBody>
      </p:sp>
      <p:sp>
        <p:nvSpPr>
          <p:cNvPr id="14" name="Text 12"/>
          <p:cNvSpPr/>
          <p:nvPr/>
        </p:nvSpPr>
        <p:spPr>
          <a:xfrm>
            <a:off x="9237233" y="4039592"/>
            <a:ext cx="2091280"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Costs a rewrite</a:t>
            </a:r>
            <a:endParaRPr lang="en-US" sz="1450" dirty="0"/>
          </a:p>
        </p:txBody>
      </p:sp>
      <p:sp>
        <p:nvSpPr>
          <p:cNvPr id="15" name="Text 1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sp>
        <p:nvSpPr>
          <p:cNvPr id="4" name="Text 1"/>
          <p:cNvSpPr/>
          <p:nvPr/>
        </p:nvSpPr>
        <p:spPr>
          <a:xfrm>
            <a:off x="661475"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Lab M05-02 starts Thursday, design today</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Your IPO chart, one page, both of you</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Your result shape, in JSON, pasted into both files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Your decision table, every row, including the empty ones</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2026-09-16T04:09:31Z</dcterms:created>
  <dcterms:modified xsi:type="dcterms:W3CDTF">2026-09-16T04:09:31Z</dcterms:modified>
</cp:coreProperties>
</file>