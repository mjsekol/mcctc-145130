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assignment people push back on hardest and value most afterwards. An argument that only works on people who already agree with you is not an argument, it is a flag. By Friday you will know which one you have been carrying.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bad arguments about AI are bad because they notice one row and treat it as the whole table. AI is good and AI is bad are both statements that fail to say anything, because they do not name who gains and who 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Refuting the weak version accomplishes nothing and it is the single most common failure in student position papers. The steel man test is uncomfortable on purpose, because comfort is what produced the straw man in the first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second sentence. It describes the other side's motives, standing exactly where a reason should be. That is the shape of a straw man and it is what your own first draft is going to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position. Version B states the case for detectors in a way a teacher who wants one would recognize as their own view, and then answers it. That is the paragraph that can change somebody's mind. And do not trust the counter: you could get six of six by sprinkling phrases into Version A without changing one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third one, this course chose local because commercial developer APIs require users to be eighteen or older. That is a constraint-driven decision and not a claim that the argument is settled. You should be able to argue the other side of it by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argument, two rooms, two receptions. In a sectoral system the absence of a rule for your sector means something. In a rights-based system a general principle applies whether or not a rule names you. Neither framing is foolish and the failure is not knowing which one your reader is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questions about the person in front of you, never predictions about them. People from somewhere are indirect is a stereotype and it will make you wrong about the individual. I do not know whether this reader wants the conclusion first or last, so I will ask, is intercultural communication.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is named. Concerns and downsides are the shape of an argument with the content removed. The truth lies in the middle is asserted, not argued. And the last clause is compatible with every possible policy, which means it recommends none. It cannot be wrong, which is why it is worthless.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your goal is to avoid criticism rather than to be right, that is the optimal paragraph. Notice that about yourself the next time you catch yourself writing one. Your position paper is graded partly on not doing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steel man paragraph, read out loud to a partner who actually holds that view if one exists in the room. Build two names your audience and writes the sentence that says what would change your mind. That last sentence separates an analysis from a position, and it is worth real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2.png"/><Relationship Id="rId5" Type="http://schemas.openxmlformats.org/officeDocument/2006/relationships/image" Target="../media/image-3-3.sv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2.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2.png"/><Relationship Id="rId5" Type="http://schemas.openxmlformats.org/officeDocument/2006/relationships/image" Target="../media/image-7-3.svg"/><Relationship Id="rId6" Type="http://schemas.openxmlformats.org/officeDocument/2006/relationships/image" Target="../media/image-7-2.png"/><Relationship Id="rId7" Type="http://schemas.openxmlformats.org/officeDocument/2006/relationships/image" Target="../media/image-7-3.svg"/><Relationship Id="rId8" Type="http://schemas.openxmlformats.org/officeDocument/2006/relationships/image" Target="../media/image-7-2.png"/><Relationship Id="rId9" Type="http://schemas.openxmlformats.org/officeDocument/2006/relationships/image" Target="../media/image-7-3.sv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Arguing Honestly About AI, With Somebody Unlike You</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Your paper argues the side you disagree with</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a trick. Not an exercise in being fake</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fastest way to find out whether you understood</a:t>
            </a:r>
            <a:endParaRPr lang="en-US" sz="1850" dirty="0"/>
          </a:p>
        </p:txBody>
      </p:sp>
      <p:sp>
        <p:nvSpPr>
          <p:cNvPr id="8" name="Shape 5"/>
          <p:cNvSpPr/>
          <p:nvPr/>
        </p:nvSpPr>
        <p:spPr>
          <a:xfrm>
            <a:off x="5233360"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Or whether you picked a team</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And you will use it every year after this</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61380"/>
            <a:ext cx="6296860" cy="1144389"/>
          </a:xfrm>
          <a:prstGeom prst="rect">
            <a:avLst/>
          </a:prstGeom>
          <a:noFill/>
          <a:ln/>
        </p:spPr>
        <p:txBody>
          <a:bodyPr wrap="square" lIns="0" tIns="0" rIns="0" bIns="0" rtlCol="0" anchor="t">
            <a:normAutofit/>
          </a:bodyPr>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Almost every row has a real gain and a real loss</a:t>
            </a:r>
            <a:endParaRPr lang="en-US" sz="36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971774"/>
            <a:ext cx="6296860" cy="989013"/>
          </a:xfrm>
          <a:prstGeom prst="rect">
            <a:avLst/>
          </a:prstGeom>
        </p:spPr>
      </p:pic>
      <p:sp>
        <p:nvSpPr>
          <p:cNvPr id="5" name="Text 1"/>
          <p:cNvSpPr/>
          <p:nvPr/>
        </p:nvSpPr>
        <p:spPr>
          <a:xfrm>
            <a:off x="5543411" y="2180233"/>
            <a:ext cx="5778355"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Work, access to expertise, education, allocation</a:t>
            </a:r>
            <a:endParaRPr lang="en-US" sz="18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138091"/>
            <a:ext cx="6296860" cy="989013"/>
          </a:xfrm>
          <a:prstGeom prst="rect">
            <a:avLst/>
          </a:prstGeom>
        </p:spPr>
      </p:pic>
      <p:sp>
        <p:nvSpPr>
          <p:cNvPr id="7" name="Text 2"/>
          <p:cNvSpPr/>
          <p:nvPr/>
        </p:nvSpPr>
        <p:spPr>
          <a:xfrm>
            <a:off x="5543411" y="3346549"/>
            <a:ext cx="5778355"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Information environment, accessibility, energy, concentration</a:t>
            </a:r>
            <a:endParaRPr lang="en-US" sz="18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304407"/>
            <a:ext cx="6296860" cy="989013"/>
          </a:xfrm>
          <a:prstGeom prst="rect">
            <a:avLst/>
          </a:prstGeom>
        </p:spPr>
      </p:pic>
      <p:sp>
        <p:nvSpPr>
          <p:cNvPr id="9" name="Text 3"/>
          <p:cNvSpPr/>
          <p:nvPr/>
        </p:nvSpPr>
        <p:spPr>
          <a:xfrm>
            <a:off x="5543411" y="4512866"/>
            <a:ext cx="5778355"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The gain and the loss land on different people</a:t>
            </a:r>
            <a:endParaRPr lang="en-US" sz="18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470723"/>
            <a:ext cx="6296860" cy="702965"/>
          </a:xfrm>
          <a:prstGeom prst="rect">
            <a:avLst/>
          </a:prstGeom>
        </p:spPr>
      </p:pic>
      <p:sp>
        <p:nvSpPr>
          <p:cNvPr id="11" name="Text 4"/>
          <p:cNvSpPr/>
          <p:nvPr/>
        </p:nvSpPr>
        <p:spPr>
          <a:xfrm>
            <a:off x="5543411" y="5679182"/>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That is what makes these questions hard</a:t>
            </a:r>
            <a:endParaRPr lang="en-US" sz="180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4561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Straw man and steel man</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Shape 1"/>
          <p:cNvSpPr/>
          <p:nvPr/>
        </p:nvSpPr>
        <p:spPr>
          <a:xfrm>
            <a:off x="8032251" y="1732359"/>
            <a:ext cx="3504219" cy="1202829"/>
          </a:xfrm>
          <a:prstGeom prst="roundRect">
            <a:avLst>
              <a:gd name="adj" fmla="val 6600"/>
            </a:avLst>
          </a:prstGeom>
          <a:solidFill>
            <a:srgbClr val="D1E5FA"/>
          </a:solidFill>
          <a:ln w="19050">
            <a:solidFill>
              <a:srgbClr val="B7CBE0"/>
            </a:solidFill>
            <a:prstDash val="solid"/>
          </a:ln>
        </p:spPr>
      </p:sp>
      <p:sp>
        <p:nvSpPr>
          <p:cNvPr id="5" name="Text 2"/>
          <p:cNvSpPr/>
          <p:nvPr/>
        </p:nvSpPr>
        <p:spPr>
          <a:xfrm>
            <a:off x="8240308" y="1940421"/>
            <a:ext cx="3088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Straw</a:t>
            </a:r>
            <a:endParaRPr lang="en-US" sz="1850" dirty="0"/>
          </a:p>
        </p:txBody>
      </p:sp>
      <p:sp>
        <p:nvSpPr>
          <p:cNvPr id="6" name="Text 3"/>
          <p:cNvSpPr/>
          <p:nvPr/>
        </p:nvSpPr>
        <p:spPr>
          <a:xfrm>
            <a:off x="8240308" y="2424708"/>
            <a:ext cx="3088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weakest version, held by nobody</a:t>
            </a:r>
            <a:endParaRPr lang="en-US" sz="1450" dirty="0"/>
          </a:p>
        </p:txBody>
      </p:sp>
      <p:sp>
        <p:nvSpPr>
          <p:cNvPr id="7" name="Shape 4"/>
          <p:cNvSpPr/>
          <p:nvPr/>
        </p:nvSpPr>
        <p:spPr>
          <a:xfrm>
            <a:off x="8032251" y="3124200"/>
            <a:ext cx="3504219" cy="1505248"/>
          </a:xfrm>
          <a:prstGeom prst="roundRect">
            <a:avLst>
              <a:gd name="adj" fmla="val 5274"/>
            </a:avLst>
          </a:prstGeom>
          <a:solidFill>
            <a:srgbClr val="D1E5FA"/>
          </a:solidFill>
          <a:ln w="19050">
            <a:solidFill>
              <a:srgbClr val="B7CBE0"/>
            </a:solidFill>
            <a:prstDash val="solid"/>
          </a:ln>
        </p:spPr>
      </p:sp>
      <p:sp>
        <p:nvSpPr>
          <p:cNvPr id="8" name="Text 5"/>
          <p:cNvSpPr/>
          <p:nvPr/>
        </p:nvSpPr>
        <p:spPr>
          <a:xfrm>
            <a:off x="8240308" y="3332262"/>
            <a:ext cx="3088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Steel</a:t>
            </a:r>
            <a:endParaRPr lang="en-US" sz="1850" dirty="0"/>
          </a:p>
        </p:txBody>
      </p:sp>
      <p:sp>
        <p:nvSpPr>
          <p:cNvPr id="9" name="Text 6"/>
          <p:cNvSpPr/>
          <p:nvPr/>
        </p:nvSpPr>
        <p:spPr>
          <a:xfrm>
            <a:off x="8240308" y="3816548"/>
            <a:ext cx="3088106"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strongest version, stated at full force</a:t>
            </a:r>
            <a:endParaRPr lang="en-US" sz="1450" dirty="0"/>
          </a:p>
        </p:txBody>
      </p:sp>
      <p:sp>
        <p:nvSpPr>
          <p:cNvPr id="10" name="Text 7"/>
          <p:cNvSpPr/>
          <p:nvPr/>
        </p:nvSpPr>
        <p:spPr>
          <a:xfrm>
            <a:off x="8032251" y="4842073"/>
            <a:ext cx="3504219" cy="1077317"/>
          </a:xfrm>
          <a:prstGeom prst="rect">
            <a:avLst/>
          </a:prstGeom>
          <a:noFill/>
          <a:ln/>
        </p:spPr>
        <p:txBody>
          <a:bodyPr wrap="square" lIns="0" tIns="0" rIns="0" bIns="0" rtlCol="0" anchor="t">
            <a:normAutofit/>
          </a:bodyPr>
          <a:lstStyle/>
          <a:p>
            <a:pPr algn="l" indent="0" marL="0">
              <a:lnSpc>
                <a:spcPct val="133000"/>
              </a:lnSpc>
              <a:spcAft>
                <a:spcPts val="1300"/>
              </a:spcAft>
              <a:buNone/>
            </a:pPr>
            <a:r>
              <a:rPr lang="en-US" sz="1450" dirty="0">
                <a:solidFill>
                  <a:srgbClr val="1C1C1C"/>
                </a:solidFill>
                <a:latin typeface="Roboto Condensed" pitchFamily="34" charset="0"/>
                <a:ea typeface="Roboto Condensed" pitchFamily="34" charset="-122"/>
                <a:cs typeface="Roboto Condensed" pitchFamily="34" charset="-120"/>
              </a:rPr>
              <a:t>The test: show it to somebody who holds it</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If they say you got it wrong, you did</a:t>
            </a:r>
            <a:endParaRPr lang="en-US" sz="1450" dirty="0"/>
          </a:p>
        </p:txBody>
      </p:sp>
      <p:sp>
        <p:nvSpPr>
          <p:cNvPr id="11"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4528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Version A, written when you know the answer</a:t>
            </a:r>
            <a:endParaRPr lang="en-US" sz="3700" dirty="0"/>
          </a:p>
        </p:txBody>
      </p:sp>
      <p:sp>
        <p:nvSpPr>
          <p:cNvPr id="3" name="Shape 1"/>
          <p:cNvSpPr/>
          <p:nvPr/>
        </p:nvSpPr>
        <p:spPr>
          <a:xfrm>
            <a:off x="661475" y="3504605"/>
            <a:ext cx="10868745" cy="1285280"/>
          </a:xfrm>
          <a:prstGeom prst="roundRect">
            <a:avLst>
              <a:gd name="adj" fmla="val 6177"/>
            </a:avLst>
          </a:prstGeom>
          <a:solidFill>
            <a:srgbClr val="F2F2F2"/>
          </a:solidFill>
          <a:ln/>
        </p:spPr>
      </p:sp>
      <p:sp>
        <p:nvSpPr>
          <p:cNvPr id="4" name="Text 2"/>
          <p:cNvSpPr/>
          <p:nvPr/>
        </p:nvSpPr>
        <p:spPr>
          <a:xfrm>
            <a:off x="888283" y="3693616"/>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Schools should not use AI writing detectors. People who want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them only care about catching students and do not care about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learning. Anyone who has used one knows they are terrible.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642864"/>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Version B, same conclusion, different paper</a:t>
            </a:r>
            <a:endParaRPr lang="en-US" sz="3700" dirty="0"/>
          </a:p>
        </p:txBody>
      </p:sp>
      <p:sp>
        <p:nvSpPr>
          <p:cNvPr id="3" name="Shape 1"/>
          <p:cNvSpPr/>
          <p:nvPr/>
        </p:nvSpPr>
        <p:spPr>
          <a:xfrm>
            <a:off x="661475" y="3202186"/>
            <a:ext cx="10868745" cy="1890117"/>
          </a:xfrm>
          <a:prstGeom prst="roundRect">
            <a:avLst>
              <a:gd name="adj" fmla="val 4200"/>
            </a:avLst>
          </a:prstGeom>
          <a:solidFill>
            <a:srgbClr val="F2F2F2"/>
          </a:solidFill>
          <a:ln/>
        </p:spPr>
      </p:sp>
      <p:sp>
        <p:nvSpPr>
          <p:cNvPr id="4" name="Text 2"/>
          <p:cNvSpPr/>
          <p:nvPr/>
        </p:nvSpPr>
        <p:spPr>
          <a:xfrm>
            <a:off x="888283" y="3391198"/>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Version A: 2 of 6 parts present</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Version B: 6 of 6 parts present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states a claim · gives a reason · points at evidence</a:t>
            </a:r>
            <a:endParaRPr lang="en-US" sz="1450" dirty="0"/>
          </a:p>
          <a:p>
            <a:pPr algn="l" indent="0" marL="0">
              <a:lnSpc>
                <a:spcPct val="133000"/>
              </a:lnSpc>
              <a:buNone/>
            </a:pPr>
            <a:r>
              <a:rPr lang="en-US" sz="1450" dirty="0">
                <a:solidFill>
                  <a:srgbClr val="22863A"/>
                </a:solidFill>
                <a:latin typeface="Consolas" pitchFamily="34" charset="0"/>
                <a:ea typeface="Consolas" pitchFamily="34" charset="-122"/>
                <a:cs typeface="Consolas" pitchFamily="34" charset="-120"/>
              </a:rPr>
              <a:t>   names who is affected · states the other side · answers it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4677"/>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questions where both sides are real</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4201" y="2375297"/>
            <a:ext cx="283461" cy="283468"/>
          </a:xfrm>
          <a:prstGeom prst="rect">
            <a:avLst/>
          </a:prstGeom>
        </p:spPr>
      </p:pic>
      <p:sp>
        <p:nvSpPr>
          <p:cNvPr id="5" name="Text 1"/>
          <p:cNvSpPr/>
          <p:nvPr/>
        </p:nvSpPr>
        <p:spPr>
          <a:xfrm>
            <a:off x="5847608" y="23694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Detectors on student work</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4201" y="3326209"/>
            <a:ext cx="283461" cy="283468"/>
          </a:xfrm>
          <a:prstGeom prst="rect">
            <a:avLst/>
          </a:prstGeom>
        </p:spPr>
      </p:pic>
      <p:sp>
        <p:nvSpPr>
          <p:cNvPr id="7" name="Text 2"/>
          <p:cNvSpPr/>
          <p:nvPr/>
        </p:nvSpPr>
        <p:spPr>
          <a:xfrm>
            <a:off x="5847608" y="3320355"/>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AI screening job applicants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4201" y="4277122"/>
            <a:ext cx="283461" cy="283468"/>
          </a:xfrm>
          <a:prstGeom prst="rect">
            <a:avLst/>
          </a:prstGeom>
        </p:spPr>
      </p:pic>
      <p:sp>
        <p:nvSpPr>
          <p:cNvPr id="9" name="Text 3"/>
          <p:cNvSpPr/>
          <p:nvPr/>
        </p:nvSpPr>
        <p:spPr>
          <a:xfrm>
            <a:off x="5847608" y="4271268"/>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Local models at higher cost versus a cloud service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304201" y="5245695"/>
            <a:ext cx="283461" cy="283468"/>
          </a:xfrm>
          <a:prstGeom prst="rect">
            <a:avLst/>
          </a:prstGeom>
        </p:spPr>
      </p:pic>
      <p:sp>
        <p:nvSpPr>
          <p:cNvPr id="11" name="Text 4"/>
          <p:cNvSpPr/>
          <p:nvPr/>
        </p:nvSpPr>
        <p:spPr>
          <a:xfrm>
            <a:off x="5847608" y="5239841"/>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This course chose the third and told you why</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791567"/>
            <a:ext cx="10868745" cy="572195"/>
          </a:xfrm>
          <a:prstGeom prst="rect">
            <a:avLst/>
          </a:prstGeom>
          <a:noFill/>
          <a:ln/>
        </p:spPr>
        <p:txBody>
          <a:bodyPr wrap="none" lIns="0" tIns="0" rIns="0" bIns="0" rtlCol="0" anchor="t"/>
          <a:lstStyle/>
          <a:p>
            <a:pPr algn="l" indent="0" marL="0">
              <a:lnSpc>
                <a:spcPct val="104000"/>
              </a:lnSpc>
              <a:buNone/>
            </a:pPr>
            <a:r>
              <a:rPr lang="en-US" sz="3600" b="1" dirty="0">
                <a:solidFill>
                  <a:srgbClr val="111111"/>
                </a:solidFill>
                <a:latin typeface="Orbitron Bold" pitchFamily="34" charset="0"/>
                <a:ea typeface="Orbitron Bold" pitchFamily="34" charset="-122"/>
                <a:cs typeface="Orbitron Bold" pitchFamily="34" charset="-120"/>
              </a:rPr>
              <a:t>Your reader is not standing where you are</a:t>
            </a:r>
            <a:endParaRPr lang="en-US" sz="3600" dirty="0"/>
          </a:p>
        </p:txBody>
      </p:sp>
      <p:pic>
        <p:nvPicPr>
          <p:cNvPr id="3" name="Image 0" descr="preencoded.png">    </p:cNvPr>
          <p:cNvPicPr>
            <a:picLocks noChangeAspect="1"/>
          </p:cNvPicPr>
          <p:nvPr/>
        </p:nvPicPr>
        <p:blipFill>
          <a:blip r:embed="rId1"/>
          <a:stretch>
            <a:fillRect/>
          </a:stretch>
        </p:blipFill>
        <p:spPr>
          <a:xfrm>
            <a:off x="661475" y="1829296"/>
            <a:ext cx="6908330" cy="3914775"/>
          </a:xfrm>
          <a:prstGeom prst="rect">
            <a:avLst/>
          </a:prstGeom>
        </p:spPr>
      </p:pic>
      <p:sp>
        <p:nvSpPr>
          <p:cNvPr id="4" name="Shape 1"/>
          <p:cNvSpPr/>
          <p:nvPr/>
        </p:nvSpPr>
        <p:spPr>
          <a:xfrm>
            <a:off x="8022826" y="2381349"/>
            <a:ext cx="3513645" cy="1914525"/>
          </a:xfrm>
          <a:prstGeom prst="roundRect">
            <a:avLst>
              <a:gd name="adj" fmla="val 4017"/>
            </a:avLst>
          </a:prstGeom>
          <a:solidFill>
            <a:srgbClr val="D1E5FA"/>
          </a:solidFill>
          <a:ln w="19050">
            <a:solidFill>
              <a:srgbClr val="B7CBE0"/>
            </a:solidFill>
            <a:prstDash val="solid"/>
          </a:ln>
        </p:spPr>
      </p:sp>
      <p:sp>
        <p:nvSpPr>
          <p:cNvPr id="5" name="Shape 2"/>
          <p:cNvSpPr/>
          <p:nvPr/>
        </p:nvSpPr>
        <p:spPr>
          <a:xfrm>
            <a:off x="8041875" y="2400399"/>
            <a:ext cx="3475546" cy="938212"/>
          </a:xfrm>
          <a:custGeom>
            <a:avLst/>
            <a:gdLst/>
            <a:ahLst/>
            <a:cxnLst/>
            <a:rect l="l" t="t" r="r" b="b"/>
            <a:pathLst>
              <a:path w="3475546" h="938212">
                <a:moveTo>
                  <a:pt x="64089" y="0"/>
                </a:moveTo>
                <a:lnTo>
                  <a:pt x="3411457" y="0"/>
                </a:lnTo>
                <a:arcTo hR="64091" wR="64089" stAng="16200000" swAng="5400000"/>
                <a:lnTo>
                  <a:pt x="3475546" y="938212"/>
                </a:lnTo>
                <a:lnTo>
                  <a:pt x="0" y="938212"/>
                </a:lnTo>
                <a:lnTo>
                  <a:pt x="0" y="64091"/>
                </a:lnTo>
                <a:arcTo hR="64091" wR="64089" stAng="10800000" swAng="5400000"/>
                <a:close/>
              </a:path>
            </a:pathLst>
          </a:custGeom>
          <a:solidFill>
            <a:srgbClr val="D1E5FA"/>
          </a:solidFill>
          <a:ln/>
        </p:spPr>
      </p:sp>
      <p:sp>
        <p:nvSpPr>
          <p:cNvPr id="6" name="Text 3"/>
          <p:cNvSpPr/>
          <p:nvPr/>
        </p:nvSpPr>
        <p:spPr>
          <a:xfrm>
            <a:off x="8224929" y="2583458"/>
            <a:ext cx="3109438"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US privacy framing is largely sectoral</a:t>
            </a:r>
            <a:endParaRPr lang="en-US" sz="1800" dirty="0"/>
          </a:p>
        </p:txBody>
      </p:sp>
      <p:sp>
        <p:nvSpPr>
          <p:cNvPr id="7" name="Shape 4"/>
          <p:cNvSpPr/>
          <p:nvPr/>
        </p:nvSpPr>
        <p:spPr>
          <a:xfrm>
            <a:off x="8041875" y="3338612"/>
            <a:ext cx="3475546" cy="938212"/>
          </a:xfrm>
          <a:custGeom>
            <a:avLst/>
            <a:gdLst/>
            <a:ahLst/>
            <a:cxnLst/>
            <a:rect l="l" t="t" r="r" b="b"/>
            <a:pathLst>
              <a:path w="3475546" h="938212">
                <a:moveTo>
                  <a:pt x="0" y="0"/>
                </a:moveTo>
                <a:lnTo>
                  <a:pt x="3475546" y="0"/>
                </a:lnTo>
                <a:lnTo>
                  <a:pt x="3475546" y="874122"/>
                </a:lnTo>
                <a:arcTo hR="64091" wR="64089" stAng="0" swAng="5400000"/>
                <a:lnTo>
                  <a:pt x="64089" y="938212"/>
                </a:lnTo>
                <a:arcTo hR="64091" wR="64089" stAng="5400000" swAng="5400000"/>
                <a:lnTo>
                  <a:pt x="0" y="0"/>
                </a:lnTo>
                <a:close/>
              </a:path>
            </a:pathLst>
          </a:custGeom>
          <a:solidFill>
            <a:srgbClr val="D1E5FA"/>
          </a:solidFill>
          <a:ln/>
        </p:spPr>
      </p:sp>
      <p:sp>
        <p:nvSpPr>
          <p:cNvPr id="8" name="Shape 5"/>
          <p:cNvSpPr/>
          <p:nvPr/>
        </p:nvSpPr>
        <p:spPr>
          <a:xfrm>
            <a:off x="8041875" y="3338612"/>
            <a:ext cx="3475546" cy="25400"/>
          </a:xfrm>
          <a:prstGeom prst="roundRect">
            <a:avLst>
              <a:gd name="adj" fmla="val 49999"/>
            </a:avLst>
          </a:prstGeom>
          <a:solidFill>
            <a:srgbClr val="B7CBE0"/>
          </a:solidFill>
          <a:ln/>
        </p:spPr>
      </p:sp>
      <p:sp>
        <p:nvSpPr>
          <p:cNvPr id="9" name="Text 6"/>
          <p:cNvSpPr/>
          <p:nvPr/>
        </p:nvSpPr>
        <p:spPr>
          <a:xfrm>
            <a:off x="8224929" y="3521670"/>
            <a:ext cx="3109438" cy="572095"/>
          </a:xfrm>
          <a:prstGeom prst="rect">
            <a:avLst/>
          </a:prstGeom>
          <a:noFill/>
          <a:ln/>
        </p:spPr>
        <p:txBody>
          <a:bodyPr wrap="square" lIns="0" tIns="0" rIns="0" bIns="0" rtlCol="0" anchor="t">
            <a:normAutofit/>
          </a:bodyPr>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EU framing under the GDPR is rights based</a:t>
            </a:r>
            <a:endParaRPr lang="en-US" sz="1800" dirty="0"/>
          </a:p>
        </p:txBody>
      </p:sp>
      <p:sp>
        <p:nvSpPr>
          <p:cNvPr id="10" name="Text 7"/>
          <p:cNvSpPr/>
          <p:nvPr/>
        </p:nvSpPr>
        <p:spPr>
          <a:xfrm>
            <a:off x="8022826" y="4495403"/>
            <a:ext cx="3513645" cy="736501"/>
          </a:xfrm>
          <a:prstGeom prst="rect">
            <a:avLst/>
          </a:prstGeom>
          <a:noFill/>
          <a:ln/>
        </p:spPr>
        <p:txBody>
          <a:bodyPr wrap="square" lIns="0" tIns="0" rIns="0" bIns="0" rtlCol="0" anchor="t"/>
          <a:lstStyle/>
          <a:p>
            <a:pPr algn="l" indent="0" marL="0">
              <a:lnSpc>
                <a:spcPct val="131000"/>
              </a:lnSpc>
              <a:spcAft>
                <a:spcPts val="1250"/>
              </a:spcAft>
              <a:buNone/>
            </a:pPr>
            <a:r>
              <a:rPr lang="en-US" sz="1400" dirty="0">
                <a:solidFill>
                  <a:srgbClr val="1C1C1C"/>
                </a:solidFill>
                <a:latin typeface="Roboto Condensed" pitchFamily="34" charset="0"/>
                <a:ea typeface="Roboto Condensed" pitchFamily="34" charset="-122"/>
                <a:cs typeface="Roboto Condensed" pitchFamily="34" charset="-120"/>
              </a:rPr>
              <a:t>"There is no law against it" is strong in one</a:t>
            </a:r>
            <a:endParaRPr lang="en-US" sz="1400" dirty="0"/>
          </a:p>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And weak in the other</a:t>
            </a:r>
            <a:endParaRPr lang="en-US" sz="1400" dirty="0"/>
          </a:p>
        </p:txBody>
      </p:sp>
      <p:sp>
        <p:nvSpPr>
          <p:cNvPr id="11" name="Text 8"/>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53740"/>
            <a:ext cx="6296860" cy="959842"/>
          </a:xfrm>
          <a:prstGeom prst="rect">
            <a:avLst/>
          </a:prstGeom>
          <a:noFill/>
          <a:ln/>
        </p:spPr>
        <p:txBody>
          <a:bodyPr wrap="square" lIns="0" tIns="0" rIns="0" bIns="0" rtlCol="0" anchor="t">
            <a:normAutofit/>
          </a:bodyPr>
          <a:lstStyle/>
          <a:p>
            <a:pPr algn="l" indent="0" marL="0">
              <a:lnSpc>
                <a:spcPct val="104000"/>
              </a:lnSpc>
              <a:buNone/>
            </a:pPr>
            <a:r>
              <a:rPr lang="en-US" sz="3000" b="1" dirty="0">
                <a:solidFill>
                  <a:srgbClr val="111111"/>
                </a:solidFill>
                <a:latin typeface="Orbitron Bold" pitchFamily="34" charset="0"/>
                <a:ea typeface="Orbitron Bold" pitchFamily="34" charset="-122"/>
                <a:cs typeface="Orbitron Bold" pitchFamily="34" charset="-120"/>
              </a:rPr>
              <a:t>Four things to ask, never to assume</a:t>
            </a:r>
            <a:endParaRPr lang="en-US" sz="30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1700709"/>
            <a:ext cx="6296860" cy="1026616"/>
          </a:xfrm>
          <a:prstGeom prst="rect">
            <a:avLst/>
          </a:prstGeom>
        </p:spPr>
      </p:pic>
      <p:sp>
        <p:nvSpPr>
          <p:cNvPr id="5" name="Text 1"/>
          <p:cNvSpPr/>
          <p:nvPr/>
        </p:nvSpPr>
        <p:spPr>
          <a:xfrm>
            <a:off x="8289668" y="1815902"/>
            <a:ext cx="184245" cy="230287"/>
          </a:xfrm>
          <a:prstGeom prst="rect">
            <a:avLst/>
          </a:prstGeom>
          <a:noFill/>
          <a:ln/>
        </p:spPr>
        <p:txBody>
          <a:bodyPr wrap="none" lIns="0" tIns="0" rIns="0" bIns="0" rtlCol="0" anchor="ctr"/>
          <a:lstStyle/>
          <a:p>
            <a:pPr algn="ctr" indent="0" marL="0">
              <a:lnSpc>
                <a:spcPct val="100000"/>
              </a:lnSpc>
              <a:buNone/>
            </a:pPr>
            <a:r>
              <a:rPr lang="en-US" sz="1450" b="1" dirty="0">
                <a:solidFill>
                  <a:srgbClr val="000000"/>
                </a:solidFill>
                <a:latin typeface="Orbitron Bold" pitchFamily="34" charset="0"/>
                <a:ea typeface="Orbitron Bold" pitchFamily="34" charset="-122"/>
                <a:cs typeface="Orbitron Bold" pitchFamily="34" charset="-120"/>
              </a:rPr>
              <a:t>1</a:t>
            </a:r>
            <a:endParaRPr lang="en-US" sz="1450" dirty="0"/>
          </a:p>
        </p:txBody>
      </p:sp>
      <p:sp>
        <p:nvSpPr>
          <p:cNvPr id="6" name="Text 2"/>
          <p:cNvSpPr/>
          <p:nvPr/>
        </p:nvSpPr>
        <p:spPr>
          <a:xfrm>
            <a:off x="5405898" y="2314873"/>
            <a:ext cx="5951785" cy="239911"/>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How direct does this reader want you to be</a:t>
            </a:r>
            <a:endParaRPr lang="en-US" sz="15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852043"/>
            <a:ext cx="6296860" cy="1026616"/>
          </a:xfrm>
          <a:prstGeom prst="rect">
            <a:avLst/>
          </a:prstGeom>
        </p:spPr>
      </p:pic>
      <p:sp>
        <p:nvSpPr>
          <p:cNvPr id="8" name="Text 3"/>
          <p:cNvSpPr/>
          <p:nvPr/>
        </p:nvSpPr>
        <p:spPr>
          <a:xfrm>
            <a:off x="8289668" y="2967236"/>
            <a:ext cx="184245" cy="230287"/>
          </a:xfrm>
          <a:prstGeom prst="rect">
            <a:avLst/>
          </a:prstGeom>
          <a:noFill/>
          <a:ln/>
        </p:spPr>
        <p:txBody>
          <a:bodyPr wrap="none" lIns="0" tIns="0" rIns="0" bIns="0" rtlCol="0" anchor="ctr"/>
          <a:lstStyle/>
          <a:p>
            <a:pPr algn="ctr" indent="0" marL="0">
              <a:lnSpc>
                <a:spcPct val="100000"/>
              </a:lnSpc>
              <a:buNone/>
            </a:pPr>
            <a:r>
              <a:rPr lang="en-US" sz="1450" b="1" dirty="0">
                <a:solidFill>
                  <a:srgbClr val="000000"/>
                </a:solidFill>
                <a:latin typeface="Orbitron Bold" pitchFamily="34" charset="0"/>
                <a:ea typeface="Orbitron Bold" pitchFamily="34" charset="-122"/>
                <a:cs typeface="Orbitron Bold" pitchFamily="34" charset="-120"/>
              </a:rPr>
              <a:t>2</a:t>
            </a:r>
            <a:endParaRPr lang="en-US" sz="1450" dirty="0"/>
          </a:p>
        </p:txBody>
      </p:sp>
      <p:sp>
        <p:nvSpPr>
          <p:cNvPr id="9" name="Text 4"/>
          <p:cNvSpPr/>
          <p:nvPr/>
        </p:nvSpPr>
        <p:spPr>
          <a:xfrm>
            <a:off x="5405898" y="3466207"/>
            <a:ext cx="5951785" cy="239911"/>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How much context goes into the words</a:t>
            </a:r>
            <a:endParaRPr lang="en-US" sz="15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003377"/>
            <a:ext cx="6296860" cy="1026616"/>
          </a:xfrm>
          <a:prstGeom prst="rect">
            <a:avLst/>
          </a:prstGeom>
        </p:spPr>
      </p:pic>
      <p:sp>
        <p:nvSpPr>
          <p:cNvPr id="11" name="Text 5"/>
          <p:cNvSpPr/>
          <p:nvPr/>
        </p:nvSpPr>
        <p:spPr>
          <a:xfrm>
            <a:off x="8289668" y="4118570"/>
            <a:ext cx="184245" cy="230287"/>
          </a:xfrm>
          <a:prstGeom prst="rect">
            <a:avLst/>
          </a:prstGeom>
          <a:noFill/>
          <a:ln/>
        </p:spPr>
        <p:txBody>
          <a:bodyPr wrap="none" lIns="0" tIns="0" rIns="0" bIns="0" rtlCol="0" anchor="ctr"/>
          <a:lstStyle/>
          <a:p>
            <a:pPr algn="ctr" indent="0" marL="0">
              <a:lnSpc>
                <a:spcPct val="100000"/>
              </a:lnSpc>
              <a:buNone/>
            </a:pPr>
            <a:r>
              <a:rPr lang="en-US" sz="1450" b="1" dirty="0">
                <a:solidFill>
                  <a:srgbClr val="000000"/>
                </a:solidFill>
                <a:latin typeface="Orbitron Bold" pitchFamily="34" charset="0"/>
                <a:ea typeface="Orbitron Bold" pitchFamily="34" charset="-122"/>
                <a:cs typeface="Orbitron Bold" pitchFamily="34" charset="-120"/>
              </a:rPr>
              <a:t>3</a:t>
            </a:r>
            <a:endParaRPr lang="en-US" sz="1450" dirty="0"/>
          </a:p>
        </p:txBody>
      </p:sp>
      <p:sp>
        <p:nvSpPr>
          <p:cNvPr id="12" name="Text 6"/>
          <p:cNvSpPr/>
          <p:nvPr/>
        </p:nvSpPr>
        <p:spPr>
          <a:xfrm>
            <a:off x="5405898" y="4617541"/>
            <a:ext cx="5951785" cy="239911"/>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Who is authorized to disagree in this room</a:t>
            </a:r>
            <a:endParaRPr lang="en-US" sz="15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54712"/>
            <a:ext cx="6296860" cy="1026616"/>
          </a:xfrm>
          <a:prstGeom prst="rect">
            <a:avLst/>
          </a:prstGeom>
        </p:spPr>
      </p:pic>
      <p:sp>
        <p:nvSpPr>
          <p:cNvPr id="14" name="Text 7"/>
          <p:cNvSpPr/>
          <p:nvPr/>
        </p:nvSpPr>
        <p:spPr>
          <a:xfrm>
            <a:off x="8289668" y="5269905"/>
            <a:ext cx="184245" cy="230287"/>
          </a:xfrm>
          <a:prstGeom prst="rect">
            <a:avLst/>
          </a:prstGeom>
          <a:noFill/>
          <a:ln/>
        </p:spPr>
        <p:txBody>
          <a:bodyPr wrap="none" lIns="0" tIns="0" rIns="0" bIns="0" rtlCol="0" anchor="ctr"/>
          <a:lstStyle/>
          <a:p>
            <a:pPr algn="ctr" indent="0" marL="0">
              <a:lnSpc>
                <a:spcPct val="100000"/>
              </a:lnSpc>
              <a:buNone/>
            </a:pPr>
            <a:r>
              <a:rPr lang="en-US" sz="1450" b="1" dirty="0">
                <a:solidFill>
                  <a:srgbClr val="000000"/>
                </a:solidFill>
                <a:latin typeface="Orbitron Bold" pitchFamily="34" charset="0"/>
                <a:ea typeface="Orbitron Bold" pitchFamily="34" charset="-122"/>
                <a:cs typeface="Orbitron Bold" pitchFamily="34" charset="-120"/>
              </a:rPr>
              <a:t>4</a:t>
            </a:r>
            <a:endParaRPr lang="en-US" sz="1450" dirty="0"/>
          </a:p>
        </p:txBody>
      </p:sp>
      <p:sp>
        <p:nvSpPr>
          <p:cNvPr id="15" name="Text 8"/>
          <p:cNvSpPr/>
          <p:nvPr/>
        </p:nvSpPr>
        <p:spPr>
          <a:xfrm>
            <a:off x="5405898" y="5768876"/>
            <a:ext cx="5951785" cy="239911"/>
          </a:xfrm>
          <a:prstGeom prst="rect">
            <a:avLst/>
          </a:prstGeom>
          <a:noFill/>
          <a:ln/>
        </p:spPr>
        <p:txBody>
          <a:bodyPr wrap="none" lIns="0" tIns="0" rIns="0" bIns="0" rtlCol="0" anchor="t"/>
          <a:lstStyle/>
          <a:p>
            <a:pPr algn="l" indent="0" marL="0">
              <a:lnSpc>
                <a:spcPct val="104000"/>
              </a:lnSpc>
              <a:buNone/>
            </a:pPr>
            <a:r>
              <a:rPr lang="en-US" sz="1500" b="1" dirty="0">
                <a:solidFill>
                  <a:srgbClr val="1C1C1C"/>
                </a:solidFill>
                <a:latin typeface="Orbitron Bold" pitchFamily="34" charset="0"/>
                <a:ea typeface="Orbitron Bold" pitchFamily="34" charset="-122"/>
                <a:cs typeface="Orbitron Bold" pitchFamily="34" charset="-120"/>
              </a:rPr>
              <a:t>What counts as evidence here</a:t>
            </a:r>
            <a:endParaRPr lang="en-US" sz="1500" dirty="0"/>
          </a:p>
        </p:txBody>
      </p:sp>
      <p:sp>
        <p:nvSpPr>
          <p:cNvPr id="16"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746845"/>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paragraph that says nothing</a:t>
            </a:r>
            <a:endParaRPr lang="en-US" sz="3700" dirty="0"/>
          </a:p>
        </p:txBody>
      </p:sp>
      <p:sp>
        <p:nvSpPr>
          <p:cNvPr id="3" name="Text 1"/>
          <p:cNvSpPr/>
          <p:nvPr/>
        </p:nvSpPr>
        <p:spPr>
          <a:xfrm>
            <a:off x="944936" y="2928144"/>
            <a:ext cx="10585284" cy="1847552"/>
          </a:xfrm>
          <a:prstGeom prst="rect">
            <a:avLst/>
          </a:prstGeom>
          <a:noFill/>
          <a:ln/>
        </p:spPr>
        <p:txBody>
          <a:bodyPr wrap="square" lIns="0" tIns="0" rIns="0" bIns="0" rtlCol="0" anchor="t"/>
          <a:lstStyle/>
          <a:p>
            <a:pPr algn="l" indent="0" marL="0">
              <a:lnSpc>
                <a:spcPct val="133000"/>
              </a:lnSpc>
              <a:spcAft>
                <a:spcPts val="1650"/>
              </a:spcAft>
              <a:buNone/>
            </a:pPr>
            <a:r>
              <a:rPr lang="en-US" sz="1450" dirty="0">
                <a:solidFill>
                  <a:srgbClr val="1C1C1C"/>
                </a:solidFill>
                <a:latin typeface="Roboto Condensed" pitchFamily="34" charset="0"/>
                <a:ea typeface="Roboto Condensed" pitchFamily="34" charset="-122"/>
                <a:cs typeface="Roboto Condensed" pitchFamily="34" charset="-120"/>
              </a:rPr>
              <a:t>Supporters point to personalized learning</a:t>
            </a:r>
            <a:endParaRPr lang="en-US" sz="1450" dirty="0"/>
          </a:p>
          <a:p>
            <a:pPr algn="l" indent="0" marL="0">
              <a:lnSpc>
                <a:spcPct val="133000"/>
              </a:lnSpc>
              <a:spcAft>
                <a:spcPts val="1650"/>
              </a:spcAft>
              <a:buNone/>
            </a:pPr>
            <a:r>
              <a:rPr lang="en-US" sz="1450" dirty="0">
                <a:solidFill>
                  <a:srgbClr val="1C1C1C"/>
                </a:solidFill>
                <a:latin typeface="Roboto Condensed" pitchFamily="34" charset="0"/>
                <a:ea typeface="Roboto Condensed" pitchFamily="34" charset="-122"/>
                <a:cs typeface="Roboto Condensed" pitchFamily="34" charset="-120"/>
              </a:rPr>
              <a:t>Critics raise concerns about over-reliance</a:t>
            </a:r>
            <a:endParaRPr lang="en-US" sz="1450" dirty="0"/>
          </a:p>
          <a:p>
            <a:pPr algn="l" indent="0" marL="0">
              <a:lnSpc>
                <a:spcPct val="133000"/>
              </a:lnSpc>
              <a:spcAft>
                <a:spcPts val="1650"/>
              </a:spcAft>
              <a:buNone/>
            </a:pPr>
            <a:r>
              <a:rPr lang="en-US" sz="1450" dirty="0">
                <a:solidFill>
                  <a:srgbClr val="1C1C1C"/>
                </a:solidFill>
                <a:latin typeface="Roboto Condensed" pitchFamily="34" charset="0"/>
                <a:ea typeface="Roboto Condensed" pitchFamily="34" charset="-122"/>
                <a:cs typeface="Roboto Condensed" pitchFamily="34" charset="-120"/>
              </a:rPr>
              <a:t>The truth likely lies somewhere in the middle</a:t>
            </a:r>
            <a:endParaRPr lang="en-US" sz="1450" dirty="0"/>
          </a:p>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Balance innovation with responsibility going forward</a:t>
            </a:r>
            <a:endParaRPr lang="en-US" sz="1450" dirty="0"/>
          </a:p>
        </p:txBody>
      </p:sp>
      <p:sp>
        <p:nvSpPr>
          <p:cNvPr id="4" name="Shape 2"/>
          <p:cNvSpPr/>
          <p:nvPr/>
        </p:nvSpPr>
        <p:spPr>
          <a:xfrm>
            <a:off x="661475" y="2715518"/>
            <a:ext cx="25399" cy="2272804"/>
          </a:xfrm>
          <a:prstGeom prst="roundRect">
            <a:avLst>
              <a:gd name="adj" fmla="val 50001"/>
            </a:avLst>
          </a:prstGeom>
          <a:solidFill>
            <a:srgbClr val="57A1EB"/>
          </a:solidFill>
          <a:ln/>
        </p:spPr>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8742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Why that paragraph keeps getting written</a:t>
            </a:r>
            <a:endParaRPr lang="en-US" sz="3700" dirty="0"/>
          </a:p>
        </p:txBody>
      </p:sp>
      <p:sp>
        <p:nvSpPr>
          <p:cNvPr id="4" name="Shape 1"/>
          <p:cNvSpPr/>
          <p:nvPr/>
        </p:nvSpPr>
        <p:spPr>
          <a:xfrm>
            <a:off x="5233360" y="2452191"/>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517080"/>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sounds fair, and even-handedness is a real virtue</a:t>
            </a:r>
            <a:endParaRPr lang="en-US" sz="1850" dirty="0"/>
          </a:p>
        </p:txBody>
      </p:sp>
      <p:sp>
        <p:nvSpPr>
          <p:cNvPr id="6" name="Shape 3"/>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55054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cannot be attacked, because it claims nothing</a:t>
            </a:r>
            <a:endParaRPr lang="en-US" sz="1850" dirty="0"/>
          </a:p>
        </p:txBody>
      </p:sp>
      <p:sp>
        <p:nvSpPr>
          <p:cNvPr id="8" name="Shape 5"/>
          <p:cNvSpPr/>
          <p:nvPr/>
        </p:nvSpPr>
        <p:spPr>
          <a:xfrm>
            <a:off x="5233360" y="4519116"/>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584005"/>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is what a model produces by default</a:t>
            </a:r>
            <a:endParaRPr lang="en-US" sz="1850" dirty="0"/>
          </a:p>
        </p:txBody>
      </p:sp>
      <p:sp>
        <p:nvSpPr>
          <p:cNvPr id="10" name="Shape 7"/>
          <p:cNvSpPr/>
          <p:nvPr/>
        </p:nvSpPr>
        <p:spPr>
          <a:xfrm>
            <a:off x="5233360" y="5322391"/>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387280"/>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Your rubric exists for exactly this reason</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802977"/>
            <a:ext cx="6296860" cy="110748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What you are about to build</a:t>
            </a:r>
            <a:endParaRPr lang="en-US" sz="3450" dirty="0"/>
          </a:p>
        </p:txBody>
      </p:sp>
      <p:sp>
        <p:nvSpPr>
          <p:cNvPr id="4" name="Text 1"/>
          <p:cNvSpPr/>
          <p:nvPr/>
        </p:nvSpPr>
        <p:spPr>
          <a:xfrm>
            <a:off x="5233360" y="2159595"/>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01</a:t>
            </a:r>
            <a:endParaRPr lang="en-US" sz="1350" dirty="0"/>
          </a:p>
        </p:txBody>
      </p:sp>
      <p:sp>
        <p:nvSpPr>
          <p:cNvPr id="5" name="Shape 2"/>
          <p:cNvSpPr/>
          <p:nvPr/>
        </p:nvSpPr>
        <p:spPr>
          <a:xfrm>
            <a:off x="5233360" y="2441674"/>
            <a:ext cx="6296860" cy="19050"/>
          </a:xfrm>
          <a:prstGeom prst="rect">
            <a:avLst/>
          </a:prstGeom>
          <a:solidFill>
            <a:srgbClr val="57A1EB"/>
          </a:solidFill>
          <a:ln/>
        </p:spPr>
      </p:sp>
      <p:sp>
        <p:nvSpPr>
          <p:cNvPr id="6" name="Text 3"/>
          <p:cNvSpPr/>
          <p:nvPr/>
        </p:nvSpPr>
        <p:spPr>
          <a:xfrm>
            <a:off x="5233360" y="2568377"/>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Pick the side you disagree with</a:t>
            </a:r>
            <a:endParaRPr lang="en-US" sz="1700" dirty="0"/>
          </a:p>
        </p:txBody>
      </p:sp>
      <p:sp>
        <p:nvSpPr>
          <p:cNvPr id="7" name="Text 4"/>
          <p:cNvSpPr/>
          <p:nvPr/>
        </p:nvSpPr>
        <p:spPr>
          <a:xfrm>
            <a:off x="5233360" y="3144242"/>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02</a:t>
            </a:r>
            <a:endParaRPr lang="en-US" sz="1350" dirty="0"/>
          </a:p>
        </p:txBody>
      </p:sp>
      <p:sp>
        <p:nvSpPr>
          <p:cNvPr id="8" name="Shape 5"/>
          <p:cNvSpPr/>
          <p:nvPr/>
        </p:nvSpPr>
        <p:spPr>
          <a:xfrm>
            <a:off x="5233360" y="3426321"/>
            <a:ext cx="6296860" cy="19050"/>
          </a:xfrm>
          <a:prstGeom prst="rect">
            <a:avLst/>
          </a:prstGeom>
          <a:solidFill>
            <a:srgbClr val="57A1EB"/>
          </a:solidFill>
          <a:ln/>
        </p:spPr>
      </p:sp>
      <p:sp>
        <p:nvSpPr>
          <p:cNvPr id="9" name="Text 6"/>
          <p:cNvSpPr/>
          <p:nvPr/>
        </p:nvSpPr>
        <p:spPr>
          <a:xfrm>
            <a:off x="5233360" y="3553023"/>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Write five sentences with no motive claims in them</a:t>
            </a:r>
            <a:endParaRPr lang="en-US" sz="1700" dirty="0"/>
          </a:p>
        </p:txBody>
      </p:sp>
      <p:sp>
        <p:nvSpPr>
          <p:cNvPr id="10" name="Text 7"/>
          <p:cNvSpPr/>
          <p:nvPr/>
        </p:nvSpPr>
        <p:spPr>
          <a:xfrm>
            <a:off x="5233360" y="4128889"/>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03</a:t>
            </a:r>
            <a:endParaRPr lang="en-US" sz="1350" dirty="0"/>
          </a:p>
        </p:txBody>
      </p:sp>
      <p:sp>
        <p:nvSpPr>
          <p:cNvPr id="11" name="Shape 8"/>
          <p:cNvSpPr/>
          <p:nvPr/>
        </p:nvSpPr>
        <p:spPr>
          <a:xfrm>
            <a:off x="5233360" y="4410968"/>
            <a:ext cx="6296860" cy="19050"/>
          </a:xfrm>
          <a:prstGeom prst="rect">
            <a:avLst/>
          </a:prstGeom>
          <a:solidFill>
            <a:srgbClr val="57A1EB"/>
          </a:solidFill>
          <a:ln/>
        </p:spPr>
      </p:sp>
      <p:sp>
        <p:nvSpPr>
          <p:cNvPr id="12" name="Text 9"/>
          <p:cNvSpPr/>
          <p:nvPr/>
        </p:nvSpPr>
        <p:spPr>
          <a:xfrm>
            <a:off x="5233360" y="4537670"/>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Name your audience and one assumption they hold</a:t>
            </a:r>
            <a:endParaRPr lang="en-US" sz="1700" dirty="0"/>
          </a:p>
        </p:txBody>
      </p:sp>
      <p:sp>
        <p:nvSpPr>
          <p:cNvPr id="13" name="Text 10"/>
          <p:cNvSpPr/>
          <p:nvPr/>
        </p:nvSpPr>
        <p:spPr>
          <a:xfrm>
            <a:off x="5233360" y="5113536"/>
            <a:ext cx="354401" cy="221456"/>
          </a:xfrm>
          <a:prstGeom prst="rect">
            <a:avLst/>
          </a:prstGeom>
          <a:noFill/>
          <a:ln/>
        </p:spPr>
        <p:txBody>
          <a:bodyPr wrap="none" lIns="0" tIns="0" rIns="0" bIns="0" rtlCol="0" anchor="ctr"/>
          <a:lstStyle/>
          <a:p>
            <a:pPr algn="l" indent="0" marL="0">
              <a:lnSpc>
                <a:spcPct val="100000"/>
              </a:lnSpc>
              <a:buNone/>
            </a:pPr>
            <a:r>
              <a:rPr lang="en-US" sz="1350" dirty="0">
                <a:solidFill>
                  <a:srgbClr val="1C1C1C"/>
                </a:solidFill>
                <a:latin typeface="Orbitron" pitchFamily="34" charset="0"/>
                <a:ea typeface="Orbitron" pitchFamily="34" charset="-122"/>
                <a:cs typeface="Orbitron" pitchFamily="34" charset="-120"/>
              </a:rPr>
              <a:t>04</a:t>
            </a:r>
            <a:endParaRPr lang="en-US" sz="1350" dirty="0"/>
          </a:p>
        </p:txBody>
      </p:sp>
      <p:sp>
        <p:nvSpPr>
          <p:cNvPr id="14" name="Shape 11"/>
          <p:cNvSpPr/>
          <p:nvPr/>
        </p:nvSpPr>
        <p:spPr>
          <a:xfrm>
            <a:off x="5233360" y="5395615"/>
            <a:ext cx="6296860" cy="19050"/>
          </a:xfrm>
          <a:prstGeom prst="rect">
            <a:avLst/>
          </a:prstGeom>
          <a:solidFill>
            <a:srgbClr val="57A1EB"/>
          </a:solidFill>
          <a:ln/>
        </p:spPr>
      </p:sp>
      <p:sp>
        <p:nvSpPr>
          <p:cNvPr id="15" name="Text 12"/>
          <p:cNvSpPr/>
          <p:nvPr/>
        </p:nvSpPr>
        <p:spPr>
          <a:xfrm>
            <a:off x="5233360" y="5522317"/>
            <a:ext cx="629686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State the evidence that would change your mind</a:t>
            </a:r>
            <a:endParaRPr lang="en-US" sz="170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2026-09-16T03:43:15Z</dcterms:created>
  <dcterms:modified xsi:type="dcterms:W3CDTF">2026-09-16T03:43:15Z</dcterms:modified>
</cp:coreProperties>
</file>