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help request about being locked out of an account. Two systems labelled it. One said account and one said hardware. In a minute I am going to ask each of them why, and only one of them is going to be able to tell me. That difference is the whole competency for today and it is the most likely thing from this module to show up on your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lines. A person wrote every one of them and a person chose the order. You can read it. You can put a print statement above any branch. When it gives a wrong answer, there is a line to change. Hold on to those three facts because in two slides all three of them go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second line came out of the program itself. It is not a guess about what happened. The function that produced the label produced the reason at the same time, from the same branch. Nothing else in this course is going to be able to do that, so look at it while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neural network is numbers. They were adjusted automatically, over and over, in whatever direction made the system's answers closer to a huge collection of examples. When it finishes, the numbers are the whole system. There is no list of rules inside it, no comments, and no line to point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this down because it is the sentence people get wrong. A model is not a better if statement. You are giving up the readable reason in order to get coverage of cases nobody wrote a rule for. That is a trade, and which side you want depends on whether you would rather explain a wrong answer or have fewer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ticket. I am locked out of my account after changing my password, and the login screen accepts it on my phone. Three words in there could trigger three different branches. What the system answers depends entirely on which question somebody decided to ask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run from the lab you are about to do. Two tickets where the hand written rules agreed with the makerspace staff and the other side did not. Before anybody celebrates, look at the column headed source, because there is a problem with it and it is the most useful thing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sentence turns up in project write ups every single year. Accuracy is not a property a technology has. It is a number a specific system got on a specific test. And notice what the sentence quietly threw away: the tree could tell you which branch fired, and whatever replaced it cannot. That cost is real and the sentence does not mention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telling you this because somebody in here will find it and I would rather you hear it from me. The neat sentence, trees are written and networks are learned, is a starting point and not the whole truth. The property that actually divides them is whether a human authored the boundaries and whether you can read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difference that matters when a person is going to read the output. The tree has a no branch matched state and it reports it. A model has no such state. Asked for a label, it produces the tokens that look like a label, and it will explain its reasoning in a sentence that reads perfectly well and describes reasoning that never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your decision tree in triage rules dot py, and check rules dot py tells you when the nine settled tickets pass. Build two runs both systems on the same twelve tickets and writes a comparison file. Three of those tickets have no agreed answer on purpose, and what you write about those three is the part I am going to read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Rules You Wrote Against Weights Somebody Fitted</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226568"/>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did it say that</a:t>
            </a:r>
            <a:endParaRPr lang="en-US" sz="3700" dirty="0"/>
          </a:p>
        </p:txBody>
      </p:sp>
      <p:sp>
        <p:nvSpPr>
          <p:cNvPr id="4" name="Text 1"/>
          <p:cNvSpPr/>
          <p:nvPr/>
        </p:nvSpPr>
        <p:spPr>
          <a:xfrm>
            <a:off x="661475" y="3100685"/>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Your program said hardware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ticket was about a password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Somebody has to answer why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One of these systems can</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Rules a person wrote</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if "locked out" in text.lower():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"account"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if "wifi" in text.lower():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"network"</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return "other"</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239176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reason is a line you can point at</a:t>
            </a:r>
            <a:endParaRPr lang="en-US" sz="3700" dirty="0"/>
          </a:p>
        </p:txBody>
      </p:sp>
      <p:sp>
        <p:nvSpPr>
          <p:cNvPr id="3" name="Shape 1"/>
          <p:cNvSpPr/>
          <p:nvPr/>
        </p:nvSpPr>
        <p:spPr>
          <a:xfrm>
            <a:off x="661475" y="3360440"/>
            <a:ext cx="10868745" cy="982861"/>
          </a:xfrm>
          <a:prstGeom prst="roundRect">
            <a:avLst>
              <a:gd name="adj" fmla="val 8077"/>
            </a:avLst>
          </a:prstGeom>
          <a:solidFill>
            <a:srgbClr val="F2F2F2"/>
          </a:solidFill>
          <a:ln/>
        </p:spPr>
      </p:sp>
      <p:sp>
        <p:nvSpPr>
          <p:cNvPr id="4" name="Text 2"/>
          <p:cNvSpPr/>
          <p:nvPr/>
        </p:nvSpPr>
        <p:spPr>
          <a:xfrm>
            <a:off x="888283" y="3549452"/>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account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branch account (getting in) fired on the phrase 'locked out'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226568"/>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Weights fitted to data</a:t>
            </a:r>
            <a:endParaRPr lang="en-US" sz="3700" dirty="0"/>
          </a:p>
        </p:txBody>
      </p:sp>
      <p:sp>
        <p:nvSpPr>
          <p:cNvPr id="4" name="Text 1"/>
          <p:cNvSpPr/>
          <p:nvPr/>
        </p:nvSpPr>
        <p:spPr>
          <a:xfrm>
            <a:off x="5233360" y="3100685"/>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very large pile of numbers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Nudged until outputs matched examples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Nobody wrote a rule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Nobody can read one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885156"/>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trade, both directions</a:t>
            </a:r>
            <a:endParaRPr lang="en-US" sz="3700" dirty="0"/>
          </a:p>
        </p:txBody>
      </p:sp>
      <p:sp>
        <p:nvSpPr>
          <p:cNvPr id="3" name="Shape 1"/>
          <p:cNvSpPr/>
          <p:nvPr/>
        </p:nvSpPr>
        <p:spPr>
          <a:xfrm>
            <a:off x="525350" y="2759273"/>
            <a:ext cx="5476043" cy="2090737"/>
          </a:xfrm>
          <a:prstGeom prst="roundRect">
            <a:avLst>
              <a:gd name="adj" fmla="val 6509"/>
            </a:avLst>
          </a:prstGeom>
          <a:solidFill>
            <a:srgbClr val="57A1EB"/>
          </a:solidFill>
          <a:ln/>
        </p:spPr>
      </p:sp>
      <p:sp>
        <p:nvSpPr>
          <p:cNvPr id="4" name="Text 2"/>
          <p:cNvSpPr/>
          <p:nvPr/>
        </p:nvSpPr>
        <p:spPr>
          <a:xfrm>
            <a:off x="714357" y="2948285"/>
            <a:ext cx="5098029"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Readable and brittle</a:t>
            </a:r>
            <a:endParaRPr lang="en-US" sz="1850" dirty="0"/>
          </a:p>
        </p:txBody>
      </p:sp>
      <p:sp>
        <p:nvSpPr>
          <p:cNvPr id="5" name="Text 3"/>
          <p:cNvSpPr/>
          <p:nvPr/>
        </p:nvSpPr>
        <p:spPr>
          <a:xfrm>
            <a:off x="714357" y="3432572"/>
            <a:ext cx="570761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Trees are readable and brittle</a:t>
            </a:r>
            <a:endParaRPr lang="en-US" sz="1450" dirty="0"/>
          </a:p>
        </p:txBody>
      </p:sp>
      <p:sp>
        <p:nvSpPr>
          <p:cNvPr id="6" name="Text 4"/>
          <p:cNvSpPr/>
          <p:nvPr/>
        </p:nvSpPr>
        <p:spPr>
          <a:xfrm>
            <a:off x="6332776" y="2948285"/>
            <a:ext cx="5203794"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Flexible and opaque</a:t>
            </a:r>
            <a:endParaRPr lang="en-US" sz="1850" dirty="0"/>
          </a:p>
        </p:txBody>
      </p:sp>
      <p:sp>
        <p:nvSpPr>
          <p:cNvPr id="7" name="Text 5"/>
          <p:cNvSpPr/>
          <p:nvPr/>
        </p:nvSpPr>
        <p:spPr>
          <a:xfrm>
            <a:off x="6332776" y="3432572"/>
            <a:ext cx="5203794" cy="1247378"/>
          </a:xfrm>
          <a:prstGeom prst="rect">
            <a:avLst/>
          </a:prstGeom>
          <a:noFill/>
          <a:ln/>
        </p:spPr>
        <p:txBody>
          <a:bodyPr wrap="square" lIns="0" tIns="0" rIns="0" bIns="0" rtlCol="0" anchor="t"/>
          <a:lstStyle/>
          <a:p>
            <a:pPr algn="l" indent="0" marL="0">
              <a:lnSpc>
                <a:spcPct val="133000"/>
              </a:lnSpc>
              <a:spcAft>
                <a:spcPts val="1300"/>
              </a:spcAft>
              <a:buNone/>
            </a:pPr>
            <a:r>
              <a:rPr lang="en-US" sz="1450" dirty="0">
                <a:solidFill>
                  <a:srgbClr val="1C1C1C"/>
                </a:solidFill>
                <a:latin typeface="Roboto Condensed" pitchFamily="34" charset="0"/>
                <a:ea typeface="Roboto Condensed" pitchFamily="34" charset="-122"/>
                <a:cs typeface="Roboto Condensed" pitchFamily="34" charset="-120"/>
              </a:rPr>
              <a:t>Networks are flexible and opaque</a:t>
            </a:r>
            <a:endParaRPr lang="en-US" sz="1450" dirty="0"/>
          </a:p>
          <a:p>
            <a:pPr algn="l" indent="0" marL="0">
              <a:lnSpc>
                <a:spcPct val="133000"/>
              </a:lnSpc>
              <a:spcAft>
                <a:spcPts val="1300"/>
              </a:spcAft>
              <a:buNone/>
            </a:pPr>
            <a:r>
              <a:rPr lang="en-US" sz="1450" dirty="0">
                <a:solidFill>
                  <a:srgbClr val="1C1C1C"/>
                </a:solidFill>
                <a:latin typeface="Roboto Condensed" pitchFamily="34" charset="0"/>
                <a:ea typeface="Roboto Condensed" pitchFamily="34" charset="-122"/>
                <a:cs typeface="Roboto Condensed" pitchFamily="34" charset="-120"/>
              </a:rPr>
              <a:t>Neither column is the good one</a:t>
            </a:r>
            <a:endParaRPr lang="en-US" sz="1450" dirty="0"/>
          </a:p>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You are choosing what to give up</a:t>
            </a:r>
            <a:endParaRPr lang="en-US" sz="1450" dirty="0"/>
          </a:p>
        </p:txBody>
      </p:sp>
      <p:sp>
        <p:nvSpPr>
          <p:cNvPr id="8"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what happens to one ticket</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MT-2004 is about a password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sentence contains the word screen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Your tree asks about getting in first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other system matched screen</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real comparison</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ticket    staff      your rules  service    source    agree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MT-2004  account    account     hardware   model     rules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MT-2008  software   software    hardware   model     rules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to say it</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We used AI instead of if statements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Because AI is more accurate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More accurate at what, than what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Measured how, on which examples</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99030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Where the clean story breaks</a:t>
            </a:r>
            <a:endParaRPr lang="en-US" sz="3700" dirty="0"/>
          </a:p>
        </p:txBody>
      </p:sp>
      <p:pic>
        <p:nvPicPr>
          <p:cNvPr id="3" name="Image 0" descr="preencoded.png">    </p:cNvPr>
          <p:cNvPicPr>
            <a:picLocks noChangeAspect="1"/>
          </p:cNvPicPr>
          <p:nvPr/>
        </p:nvPicPr>
        <p:blipFill>
          <a:blip r:embed="rId1"/>
          <a:stretch>
            <a:fillRect/>
          </a:stretch>
        </p:blipFill>
        <p:spPr>
          <a:xfrm>
            <a:off x="661475" y="2077045"/>
            <a:ext cx="6903269" cy="3455095"/>
          </a:xfrm>
          <a:prstGeom prst="rect">
            <a:avLst/>
          </a:prstGeom>
        </p:spPr>
      </p:pic>
      <p:sp>
        <p:nvSpPr>
          <p:cNvPr id="4" name="Text 1"/>
          <p:cNvSpPr/>
          <p:nvPr/>
        </p:nvSpPr>
        <p:spPr>
          <a:xfrm>
            <a:off x="692583" y="3562357"/>
            <a:ext cx="1296490" cy="387922"/>
          </a:xfrm>
          <a:prstGeom prst="rect">
            <a:avLst/>
          </a:prstGeom>
          <a:noFill/>
          <a:ln/>
        </p:spPr>
        <p:txBody>
          <a:bodyPr wrap="square" lIns="0" tIns="0" rIns="0" bIns="0" rtlCol="0" anchor="t">
            <a:normAutofit/>
          </a:bodyPr>
          <a:lstStyle/>
          <a:p>
            <a:pPr algn="ctr" indent="0" marL="0">
              <a:lnSpc>
                <a:spcPct val="104000"/>
              </a:lnSpc>
              <a:buNone/>
            </a:pPr>
            <a:r>
              <a:rPr lang="en-US" sz="1200" b="1" dirty="0">
                <a:solidFill>
                  <a:srgbClr val="1C1C1C"/>
                </a:solidFill>
                <a:latin typeface="Orbitron Bold" pitchFamily="34" charset="0"/>
                <a:ea typeface="Orbitron Bold" pitchFamily="34" charset="-122"/>
                <a:cs typeface="Orbitron Bold" pitchFamily="34" charset="-120"/>
              </a:rPr>
              <a:t>Low Automation</a:t>
            </a:r>
            <a:endParaRPr lang="en-US" sz="1200" dirty="0"/>
          </a:p>
        </p:txBody>
      </p:sp>
      <p:sp>
        <p:nvSpPr>
          <p:cNvPr id="5" name="Text 2"/>
          <p:cNvSpPr/>
          <p:nvPr/>
        </p:nvSpPr>
        <p:spPr>
          <a:xfrm>
            <a:off x="3262827" y="5237966"/>
            <a:ext cx="1703582" cy="193961"/>
          </a:xfrm>
          <a:prstGeom prst="rect">
            <a:avLst/>
          </a:prstGeom>
          <a:noFill/>
          <a:ln/>
        </p:spPr>
        <p:txBody>
          <a:bodyPr wrap="none" lIns="0" tIns="0" rIns="0" bIns="0" rtlCol="0" anchor="t"/>
          <a:lstStyle/>
          <a:p>
            <a:pPr algn="ctr" indent="0" marL="0">
              <a:lnSpc>
                <a:spcPct val="104000"/>
              </a:lnSpc>
              <a:buNone/>
            </a:pPr>
            <a:r>
              <a:rPr lang="en-US" sz="1200" b="1" dirty="0">
                <a:solidFill>
                  <a:srgbClr val="1C1C1C"/>
                </a:solidFill>
                <a:latin typeface="Orbitron Bold" pitchFamily="34" charset="0"/>
                <a:ea typeface="Orbitron Bold" pitchFamily="34" charset="-122"/>
                <a:cs typeface="Orbitron Bold" pitchFamily="34" charset="-120"/>
              </a:rPr>
              <a:t>Low Interpretability</a:t>
            </a:r>
            <a:endParaRPr lang="en-US" sz="1200" dirty="0"/>
          </a:p>
        </p:txBody>
      </p:sp>
      <p:sp>
        <p:nvSpPr>
          <p:cNvPr id="6" name="Text 3"/>
          <p:cNvSpPr/>
          <p:nvPr/>
        </p:nvSpPr>
        <p:spPr>
          <a:xfrm>
            <a:off x="6230250" y="3562357"/>
            <a:ext cx="1296490" cy="387922"/>
          </a:xfrm>
          <a:prstGeom prst="rect">
            <a:avLst/>
          </a:prstGeom>
          <a:noFill/>
          <a:ln/>
        </p:spPr>
        <p:txBody>
          <a:bodyPr wrap="square" lIns="0" tIns="0" rIns="0" bIns="0" rtlCol="0" anchor="t">
            <a:normAutofit/>
          </a:bodyPr>
          <a:lstStyle/>
          <a:p>
            <a:pPr algn="ctr" indent="0" marL="0">
              <a:lnSpc>
                <a:spcPct val="104000"/>
              </a:lnSpc>
              <a:buNone/>
            </a:pPr>
            <a:r>
              <a:rPr lang="en-US" sz="1200" b="1" dirty="0">
                <a:solidFill>
                  <a:srgbClr val="1C1C1C"/>
                </a:solidFill>
                <a:latin typeface="Orbitron Bold" pitchFamily="34" charset="0"/>
                <a:ea typeface="Orbitron Bold" pitchFamily="34" charset="-122"/>
                <a:cs typeface="Orbitron Bold" pitchFamily="34" charset="-120"/>
              </a:rPr>
              <a:t>High Automation</a:t>
            </a:r>
            <a:endParaRPr lang="en-US" sz="1200" dirty="0"/>
          </a:p>
        </p:txBody>
      </p:sp>
      <p:sp>
        <p:nvSpPr>
          <p:cNvPr id="7" name="Text 4"/>
          <p:cNvSpPr/>
          <p:nvPr/>
        </p:nvSpPr>
        <p:spPr>
          <a:xfrm>
            <a:off x="3262504" y="2218853"/>
            <a:ext cx="1696471" cy="193961"/>
          </a:xfrm>
          <a:prstGeom prst="rect">
            <a:avLst/>
          </a:prstGeom>
          <a:noFill/>
          <a:ln/>
        </p:spPr>
        <p:txBody>
          <a:bodyPr wrap="none" lIns="0" tIns="0" rIns="0" bIns="0" rtlCol="0" anchor="t"/>
          <a:lstStyle/>
          <a:p>
            <a:pPr algn="ctr" indent="0" marL="0">
              <a:lnSpc>
                <a:spcPct val="104000"/>
              </a:lnSpc>
              <a:buNone/>
            </a:pPr>
            <a:r>
              <a:rPr lang="en-US" sz="1200" b="1" dirty="0">
                <a:solidFill>
                  <a:srgbClr val="1C1C1C"/>
                </a:solidFill>
                <a:latin typeface="Orbitron Bold" pitchFamily="34" charset="0"/>
                <a:ea typeface="Orbitron Bold" pitchFamily="34" charset="-122"/>
                <a:cs typeface="Orbitron Bold" pitchFamily="34" charset="-120"/>
              </a:rPr>
              <a:t>High Interpretability</a:t>
            </a:r>
            <a:endParaRPr lang="en-US" sz="1200" dirty="0"/>
          </a:p>
        </p:txBody>
      </p:sp>
      <p:sp>
        <p:nvSpPr>
          <p:cNvPr id="8" name="Text 5"/>
          <p:cNvSpPr/>
          <p:nvPr/>
        </p:nvSpPr>
        <p:spPr>
          <a:xfrm>
            <a:off x="2595940" y="4470095"/>
            <a:ext cx="1330971" cy="310338"/>
          </a:xfrm>
          <a:prstGeom prst="rect">
            <a:avLst/>
          </a:prstGeom>
          <a:noFill/>
          <a:ln/>
        </p:spPr>
        <p:txBody>
          <a:bodyPr wrap="square" lIns="0" tIns="0" rIns="0" bIns="0" rtlCol="0" anchor="t">
            <a:normAutofit/>
          </a:bodyPr>
          <a:lstStyle/>
          <a:p>
            <a:pPr algn="ctr" indent="0" marL="0">
              <a:lnSpc>
                <a:spcPct val="104000"/>
              </a:lnSpc>
              <a:buNone/>
            </a:pPr>
            <a:r>
              <a:rPr lang="en-US" sz="950" dirty="0">
                <a:solidFill>
                  <a:srgbClr val="1C1C1C"/>
                </a:solidFill>
                <a:latin typeface="Roboto Condensed" pitchFamily="34" charset="0"/>
                <a:ea typeface="Roboto Condensed" pitchFamily="34" charset="-122"/>
                <a:cs typeface="Roboto Condensed" pitchFamily="34" charset="-120"/>
              </a:rPr>
              <a:t>Algorithmic Trees - Learned from data</a:t>
            </a:r>
            <a:endParaRPr lang="en-US" sz="950" dirty="0"/>
          </a:p>
        </p:txBody>
      </p:sp>
      <p:sp>
        <p:nvSpPr>
          <p:cNvPr id="9" name="Text 6"/>
          <p:cNvSpPr/>
          <p:nvPr/>
        </p:nvSpPr>
        <p:spPr>
          <a:xfrm>
            <a:off x="4423439" y="4476991"/>
            <a:ext cx="1330972" cy="310338"/>
          </a:xfrm>
          <a:prstGeom prst="rect">
            <a:avLst/>
          </a:prstGeom>
          <a:noFill/>
          <a:ln/>
        </p:spPr>
        <p:txBody>
          <a:bodyPr wrap="square" lIns="0" tIns="0" rIns="0" bIns="0" rtlCol="0" anchor="t">
            <a:normAutofit/>
          </a:bodyPr>
          <a:lstStyle/>
          <a:p>
            <a:pPr algn="ctr" indent="0" marL="0">
              <a:lnSpc>
                <a:spcPct val="104000"/>
              </a:lnSpc>
              <a:buNone/>
            </a:pPr>
            <a:r>
              <a:rPr lang="en-US" sz="950" dirty="0">
                <a:solidFill>
                  <a:srgbClr val="1C1C1C"/>
                </a:solidFill>
                <a:latin typeface="Roboto Condensed" pitchFamily="34" charset="0"/>
                <a:ea typeface="Roboto Condensed" pitchFamily="34" charset="-122"/>
                <a:cs typeface="Roboto Condensed" pitchFamily="34" charset="-120"/>
              </a:rPr>
              <a:t>Exam-style Trees - Handwritten for tests</a:t>
            </a:r>
            <a:endParaRPr lang="en-US" sz="950" dirty="0"/>
          </a:p>
        </p:txBody>
      </p:sp>
      <p:sp>
        <p:nvSpPr>
          <p:cNvPr id="10" name="Text 7"/>
          <p:cNvSpPr/>
          <p:nvPr/>
        </p:nvSpPr>
        <p:spPr>
          <a:xfrm>
            <a:off x="4423439" y="3201158"/>
            <a:ext cx="1330972" cy="310338"/>
          </a:xfrm>
          <a:prstGeom prst="rect">
            <a:avLst/>
          </a:prstGeom>
          <a:noFill/>
          <a:ln/>
        </p:spPr>
        <p:txBody>
          <a:bodyPr wrap="square" lIns="0" tIns="0" rIns="0" bIns="0" rtlCol="0" anchor="t">
            <a:normAutofit/>
          </a:bodyPr>
          <a:lstStyle/>
          <a:p>
            <a:pPr algn="ctr" indent="0" marL="0">
              <a:lnSpc>
                <a:spcPct val="104000"/>
              </a:lnSpc>
              <a:buNone/>
            </a:pPr>
            <a:r>
              <a:rPr lang="en-US" sz="950" dirty="0">
                <a:solidFill>
                  <a:srgbClr val="1C1C1C"/>
                </a:solidFill>
                <a:latin typeface="Roboto Condensed" pitchFamily="34" charset="0"/>
                <a:ea typeface="Roboto Condensed" pitchFamily="34" charset="-122"/>
                <a:cs typeface="Roboto Condensed" pitchFamily="34" charset="-120"/>
              </a:rPr>
              <a:t>Hybrid Models - Expert rules plus data</a:t>
            </a:r>
            <a:endParaRPr lang="en-US" sz="950" dirty="0"/>
          </a:p>
        </p:txBody>
      </p:sp>
      <p:sp>
        <p:nvSpPr>
          <p:cNvPr id="11" name="Text 8"/>
          <p:cNvSpPr/>
          <p:nvPr/>
        </p:nvSpPr>
        <p:spPr>
          <a:xfrm>
            <a:off x="2554563" y="3201158"/>
            <a:ext cx="1330971" cy="310338"/>
          </a:xfrm>
          <a:prstGeom prst="rect">
            <a:avLst/>
          </a:prstGeom>
          <a:noFill/>
          <a:ln/>
        </p:spPr>
        <p:txBody>
          <a:bodyPr wrap="square" lIns="0" tIns="0" rIns="0" bIns="0" rtlCol="0" anchor="t">
            <a:normAutofit/>
          </a:bodyPr>
          <a:lstStyle/>
          <a:p>
            <a:pPr algn="ctr" indent="0" marL="0">
              <a:lnSpc>
                <a:spcPct val="104000"/>
              </a:lnSpc>
              <a:buNone/>
            </a:pPr>
            <a:r>
              <a:rPr lang="en-US" sz="950" dirty="0">
                <a:solidFill>
                  <a:srgbClr val="1C1C1C"/>
                </a:solidFill>
                <a:latin typeface="Roboto Condensed" pitchFamily="34" charset="0"/>
                <a:ea typeface="Roboto Condensed" pitchFamily="34" charset="-122"/>
                <a:cs typeface="Roboto Condensed" pitchFamily="34" charset="-120"/>
              </a:rPr>
              <a:t>Manual Rules - Expert-crafted paths</a:t>
            </a:r>
            <a:endParaRPr lang="en-US" sz="950" dirty="0"/>
          </a:p>
        </p:txBody>
      </p:sp>
      <p:sp>
        <p:nvSpPr>
          <p:cNvPr id="12" name="Text 9"/>
          <p:cNvSpPr/>
          <p:nvPr/>
        </p:nvSpPr>
        <p:spPr>
          <a:xfrm>
            <a:off x="8032251" y="3152577"/>
            <a:ext cx="3504219"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Some trees are built from data</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 algorithm picks each branch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That is machine learning, with a tree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exam means hand written trees</a:t>
            </a:r>
            <a:endParaRPr lang="en-US" sz="1450" dirty="0"/>
          </a:p>
        </p:txBody>
      </p:sp>
      <p:sp>
        <p:nvSpPr>
          <p:cNvPr id="13" name="Text 10"/>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211167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tree fails visibly, a model fails fluently</a:t>
            </a:r>
            <a:endParaRPr lang="en-US" sz="3700" dirty="0"/>
          </a:p>
        </p:txBody>
      </p:sp>
      <p:sp>
        <p:nvSpPr>
          <p:cNvPr id="3" name="Shape 1"/>
          <p:cNvSpPr/>
          <p:nvPr/>
        </p:nvSpPr>
        <p:spPr>
          <a:xfrm>
            <a:off x="661475" y="3080345"/>
            <a:ext cx="5339820" cy="1543050"/>
          </a:xfrm>
          <a:prstGeom prst="roundRect">
            <a:avLst>
              <a:gd name="adj" fmla="val 5145"/>
            </a:avLst>
          </a:prstGeom>
          <a:solidFill>
            <a:srgbClr val="D1E5FA"/>
          </a:solidFill>
          <a:ln w="19050">
            <a:solidFill>
              <a:srgbClr val="B7CBE0"/>
            </a:solidFill>
            <a:prstDash val="solid"/>
          </a:ln>
        </p:spPr>
      </p:sp>
      <p:sp>
        <p:nvSpPr>
          <p:cNvPr id="4" name="Text 2"/>
          <p:cNvSpPr/>
          <p:nvPr/>
        </p:nvSpPr>
        <p:spPr>
          <a:xfrm>
            <a:off x="869531" y="3288407"/>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Tree failure</a:t>
            </a:r>
            <a:endParaRPr lang="en-US" sz="1850" dirty="0"/>
          </a:p>
        </p:txBody>
      </p:sp>
      <p:sp>
        <p:nvSpPr>
          <p:cNvPr id="5" name="Text 3"/>
          <p:cNvSpPr/>
          <p:nvPr/>
        </p:nvSpPr>
        <p:spPr>
          <a:xfrm>
            <a:off x="869531" y="3697089"/>
            <a:ext cx="4923707" cy="718245"/>
          </a:xfrm>
          <a:prstGeom prst="rect">
            <a:avLst/>
          </a:prstGeom>
          <a:noFill/>
          <a:ln/>
        </p:spPr>
        <p:txBody>
          <a:bodyPr wrap="square" lIns="0" tIns="0" rIns="0" bIns="0" rtlCol="0" anchor="t"/>
          <a:lstStyle/>
          <a:p>
            <a:pPr algn="l" indent="0" marL="0">
              <a:lnSpc>
                <a:spcPct val="133000"/>
              </a:lnSpc>
              <a:spcAft>
                <a:spcPts val="850"/>
              </a:spcAft>
              <a:buNone/>
            </a:pPr>
            <a:r>
              <a:rPr lang="en-US" sz="1450" dirty="0">
                <a:solidFill>
                  <a:srgbClr val="1C1C1C"/>
                </a:solidFill>
                <a:latin typeface="Roboto Condensed" pitchFamily="34" charset="0"/>
                <a:ea typeface="Roboto Condensed" pitchFamily="34" charset="-122"/>
                <a:cs typeface="Roboto Condensed" pitchFamily="34" charset="-120"/>
              </a:rPr>
              <a:t>Nothing works, says ticket MT-2012</a:t>
            </a:r>
            <a:endParaRPr lang="en-US" sz="1450" dirty="0"/>
          </a:p>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tree falls through and says so</a:t>
            </a:r>
            <a:endParaRPr lang="en-US" sz="1450" dirty="0"/>
          </a:p>
        </p:txBody>
      </p:sp>
      <p:sp>
        <p:nvSpPr>
          <p:cNvPr id="6" name="Shape 4"/>
          <p:cNvSpPr/>
          <p:nvPr/>
        </p:nvSpPr>
        <p:spPr>
          <a:xfrm>
            <a:off x="6190301" y="3080345"/>
            <a:ext cx="5339919" cy="1543050"/>
          </a:xfrm>
          <a:prstGeom prst="roundRect">
            <a:avLst>
              <a:gd name="adj" fmla="val 5145"/>
            </a:avLst>
          </a:prstGeom>
          <a:solidFill>
            <a:srgbClr val="D1E5FA"/>
          </a:solidFill>
          <a:ln w="19050">
            <a:solidFill>
              <a:srgbClr val="B7CBE0"/>
            </a:solidFill>
            <a:prstDash val="solid"/>
          </a:ln>
        </p:spPr>
      </p:sp>
      <p:sp>
        <p:nvSpPr>
          <p:cNvPr id="7" name="Text 5"/>
          <p:cNvSpPr/>
          <p:nvPr/>
        </p:nvSpPr>
        <p:spPr>
          <a:xfrm>
            <a:off x="6398358" y="3288407"/>
            <a:ext cx="49238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Model failure</a:t>
            </a:r>
            <a:endParaRPr lang="en-US" sz="1850" dirty="0"/>
          </a:p>
        </p:txBody>
      </p:sp>
      <p:sp>
        <p:nvSpPr>
          <p:cNvPr id="8" name="Text 6"/>
          <p:cNvSpPr/>
          <p:nvPr/>
        </p:nvSpPr>
        <p:spPr>
          <a:xfrm>
            <a:off x="6398358" y="3697089"/>
            <a:ext cx="4923806" cy="718245"/>
          </a:xfrm>
          <a:prstGeom prst="rect">
            <a:avLst/>
          </a:prstGeom>
          <a:noFill/>
          <a:ln/>
        </p:spPr>
        <p:txBody>
          <a:bodyPr wrap="square" lIns="0" tIns="0" rIns="0" bIns="0" rtlCol="0" anchor="t"/>
          <a:lstStyle/>
          <a:p>
            <a:pPr algn="l" indent="0" marL="0">
              <a:lnSpc>
                <a:spcPct val="133000"/>
              </a:lnSpc>
              <a:spcAft>
                <a:spcPts val="850"/>
              </a:spcAft>
              <a:buNone/>
            </a:pPr>
            <a:r>
              <a:rPr lang="en-US" sz="1450" dirty="0">
                <a:solidFill>
                  <a:srgbClr val="1C1C1C"/>
                </a:solidFill>
                <a:latin typeface="Roboto Condensed" pitchFamily="34" charset="0"/>
                <a:ea typeface="Roboto Condensed" pitchFamily="34" charset="-122"/>
                <a:cs typeface="Roboto Condensed" pitchFamily="34" charset="-120"/>
              </a:rPr>
              <a:t>A model produces a label anyway</a:t>
            </a:r>
            <a:endParaRPr lang="en-US" sz="1450" dirty="0"/>
          </a:p>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With a confident sentence explaining it</a:t>
            </a:r>
            <a:endParaRPr lang="en-US" sz="1450" dirty="0"/>
          </a:p>
        </p:txBody>
      </p:sp>
      <p:sp>
        <p:nvSpPr>
          <p:cNvPr id="9"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Your own triage tree, nine tickets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Then the same tickets through the service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One table, every disagreement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And an argument about three of them</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2026-09-16T03:57:05Z</dcterms:created>
  <dcterms:modified xsi:type="dcterms:W3CDTF">2026-09-16T03:57:05Z</dcterms:modified>
</cp:coreProperties>
</file>