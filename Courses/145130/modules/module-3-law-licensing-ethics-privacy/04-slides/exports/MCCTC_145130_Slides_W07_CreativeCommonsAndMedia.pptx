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Orbitron"/>
      <p:regular r:id="rId201315"/>
    </p:embeddedFont>
    <p:embeddedFont>
      <p:font typeface="Roboto Condensed Bold"/>
      <p:regular r:id="rId201316"/>
    </p:embeddedFont>
    <p:embeddedFont>
      <p:font typeface="Roboto Condense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code is usually the part you wrote. Your media almost never is. And the media is the part standing behind you at the showcase, two feet tall, in front of a judge. Today is about the four components most likely to be unlicensed in any project any of you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abbreviation and you know most of what you need before you open anything. Every current Creative Commons license includes BY. Combine BY with the other three and you get the six. CC zero is separate and is not a license in the same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 lesson on summaries you will ever get, because the difference is built into the product. Creative Commons publishes a summary and the license side by side and tells you which one is which. Read the legal code. Then notice how often you were about to stop at the deed.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of the license sets out what you keep or supply. That is the list, and almost nobody produces it. Your README probably says thanks to someone, and thanks is not on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for six. It names the project rather than the creators, and carries none of the other five items. It reads like credit and satisfies nothing. Two of those icons were recolored, which makes the last line a condition rather than a nicety.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whole cost of getting this right. One sentence. Which is why there is no excuse for getting it wrong, and why your audit asks you to write this line out rather than tick a box saying attribution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genuine argument and both halves are real. Your job as an auditor is not to win it. Write down the facts the answer depends on, write down that swapping the sound is the cheap fix, and escalate it. We are a school club is not a legal analysis and this course will not let you use it 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font you may install is not automatically a font you may ship. A song you bought is not a song you may put in a video. Royalty-free is a pricing model. And a logo is a trademark question, which is about suggesting a relationship rather than about copying an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Teams reach for fair use after they have already done the thing and want a reason it was fine. That is backwards. It is a reason to ask a lawyer and never a reason to ship. If your defence of an asset starts with the words it is educational, you have not got a defence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absence of a license is not a gap in your audit. It is the result of your audit, and it gets written down in exactly those words. No license found, no permission identified, remove. This one takes ten minutes to fix today and takes your poster down on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finishes the media rows of your manifest. Build two is the three hardest entries: the icons, the chime, and the dataset. Not triggered today, and here is what would trigger it, is a complete entry. The letters N slash A are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2.png"/><Relationship Id="rId7" Type="http://schemas.openxmlformats.org/officeDocument/2006/relationships/image" Target="../media/image-2-3.svg"/><Relationship Id="rId8" Type="http://schemas.openxmlformats.org/officeDocument/2006/relationships/image" Target="../media/image-2-2.png"/><Relationship Id="rId9" Type="http://schemas.openxmlformats.org/officeDocument/2006/relationships/image" Target="../media/image-2-3.svg"/><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9-2.png"/><Relationship Id="rId7" Type="http://schemas.openxmlformats.org/officeDocument/2006/relationships/image" Target="../media/image-9-3.svg"/><Relationship Id="rId8" Type="http://schemas.openxmlformats.org/officeDocument/2006/relationships/image" Target="../media/image-9-2.png"/><Relationship Id="rId9" Type="http://schemas.openxmlformats.org/officeDocument/2006/relationships/image" Target="../media/image-9-3.svg"/><Relationship Id="rId10" Type="http://schemas.openxmlformats.org/officeDocument/2006/relationships/slideLayout" Target="../slideLayouts/slideLayout2.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Creative Commons, Media, and the Attribution You Owe</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040507"/>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Nobody looks at your dependency tree</a:t>
            </a:r>
            <a:endParaRPr lang="en-US" sz="29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32315" y="2274788"/>
            <a:ext cx="283461" cy="283468"/>
          </a:xfrm>
          <a:prstGeom prst="rect">
            <a:avLst/>
          </a:prstGeom>
        </p:spPr>
      </p:pic>
      <p:sp>
        <p:nvSpPr>
          <p:cNvPr id="5" name="Text 1"/>
          <p:cNvSpPr/>
          <p:nvPr/>
        </p:nvSpPr>
        <p:spPr>
          <a:xfrm>
            <a:off x="1275723" y="2268934"/>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Everybody looks at your poster</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2315" y="3225701"/>
            <a:ext cx="283461" cy="283468"/>
          </a:xfrm>
          <a:prstGeom prst="rect">
            <a:avLst/>
          </a:prstGeom>
        </p:spPr>
      </p:pic>
      <p:sp>
        <p:nvSpPr>
          <p:cNvPr id="7" name="Text 2"/>
          <p:cNvSpPr/>
          <p:nvPr/>
        </p:nvSpPr>
        <p:spPr>
          <a:xfrm>
            <a:off x="1275723" y="321984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font, the icons, the sound, the image</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32315" y="4176613"/>
            <a:ext cx="283461" cy="283468"/>
          </a:xfrm>
          <a:prstGeom prst="rect">
            <a:avLst/>
          </a:prstGeom>
        </p:spPr>
      </p:pic>
      <p:sp>
        <p:nvSpPr>
          <p:cNvPr id="9" name="Text 3"/>
          <p:cNvSpPr/>
          <p:nvPr/>
        </p:nvSpPr>
        <p:spPr>
          <a:xfrm>
            <a:off x="1275723" y="4170759"/>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None of those are things you made</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32315" y="5127526"/>
            <a:ext cx="283461" cy="283468"/>
          </a:xfrm>
          <a:prstGeom prst="rect">
            <a:avLst/>
          </a:prstGeom>
        </p:spPr>
      </p:pic>
      <p:sp>
        <p:nvSpPr>
          <p:cNvPr id="11" name="Text 4"/>
          <p:cNvSpPr/>
          <p:nvPr/>
        </p:nvSpPr>
        <p:spPr>
          <a:xfrm>
            <a:off x="1275723" y="512167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All of them arrived without terms attached</a:t>
            </a:r>
            <a:endParaRPr lang="en-US" sz="1850" dirty="0"/>
          </a:p>
        </p:txBody>
      </p:sp>
      <p:sp>
        <p:nvSpPr>
          <p:cNvPr id="12"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720552"/>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Four elements, mixed into six licenses</a:t>
            </a:r>
            <a:endParaRPr lang="en-US" sz="2950" dirty="0"/>
          </a:p>
        </p:txBody>
      </p:sp>
      <p:sp>
        <p:nvSpPr>
          <p:cNvPr id="3" name="Shape 1"/>
          <p:cNvSpPr/>
          <p:nvPr/>
        </p:nvSpPr>
        <p:spPr>
          <a:xfrm>
            <a:off x="661475" y="2571055"/>
            <a:ext cx="5339820"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779117"/>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BY</a:t>
            </a:r>
            <a:endParaRPr lang="en-US" sz="1850" dirty="0"/>
          </a:p>
        </p:txBody>
      </p:sp>
      <p:sp>
        <p:nvSpPr>
          <p:cNvPr id="5" name="Text 3"/>
          <p:cNvSpPr/>
          <p:nvPr/>
        </p:nvSpPr>
        <p:spPr>
          <a:xfrm>
            <a:off x="869531" y="3187799"/>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Credit the creator, in the stated form</a:t>
            </a:r>
            <a:endParaRPr lang="en-US" sz="1450" dirty="0"/>
          </a:p>
        </p:txBody>
      </p:sp>
      <p:sp>
        <p:nvSpPr>
          <p:cNvPr id="6" name="Shape 4"/>
          <p:cNvSpPr/>
          <p:nvPr/>
        </p:nvSpPr>
        <p:spPr>
          <a:xfrm>
            <a:off x="6190301" y="2571055"/>
            <a:ext cx="5339919"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6398358" y="2779117"/>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a:t>
            </a:r>
            <a:endParaRPr lang="en-US" sz="1850" dirty="0"/>
          </a:p>
        </p:txBody>
      </p:sp>
      <p:sp>
        <p:nvSpPr>
          <p:cNvPr id="8" name="Text 6"/>
          <p:cNvSpPr/>
          <p:nvPr/>
        </p:nvSpPr>
        <p:spPr>
          <a:xfrm>
            <a:off x="6398358" y="3187799"/>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Adapted versions you share carry the same license</a:t>
            </a:r>
            <a:endParaRPr lang="en-US" sz="1450" dirty="0"/>
          </a:p>
        </p:txBody>
      </p:sp>
      <p:sp>
        <p:nvSpPr>
          <p:cNvPr id="9" name="Shape 7"/>
          <p:cNvSpPr/>
          <p:nvPr/>
        </p:nvSpPr>
        <p:spPr>
          <a:xfrm>
            <a:off x="661475" y="3887291"/>
            <a:ext cx="5339820"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69531" y="4095353"/>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NC</a:t>
            </a:r>
            <a:endParaRPr lang="en-US" sz="1850" dirty="0"/>
          </a:p>
        </p:txBody>
      </p:sp>
      <p:sp>
        <p:nvSpPr>
          <p:cNvPr id="11" name="Text 9"/>
          <p:cNvSpPr/>
          <p:nvPr/>
        </p:nvSpPr>
        <p:spPr>
          <a:xfrm>
            <a:off x="869531" y="4504035"/>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Not primarily for commercial advantage</a:t>
            </a:r>
            <a:endParaRPr lang="en-US" sz="1450" dirty="0"/>
          </a:p>
        </p:txBody>
      </p:sp>
      <p:sp>
        <p:nvSpPr>
          <p:cNvPr id="12" name="Shape 10"/>
          <p:cNvSpPr/>
          <p:nvPr/>
        </p:nvSpPr>
        <p:spPr>
          <a:xfrm>
            <a:off x="6190301" y="3887291"/>
            <a:ext cx="5339919"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6398358" y="4095353"/>
            <a:ext cx="49238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ND</a:t>
            </a:r>
            <a:endParaRPr lang="en-US" sz="1850" dirty="0"/>
          </a:p>
        </p:txBody>
      </p:sp>
      <p:sp>
        <p:nvSpPr>
          <p:cNvPr id="14" name="Text 12"/>
          <p:cNvSpPr/>
          <p:nvPr/>
        </p:nvSpPr>
        <p:spPr>
          <a:xfrm>
            <a:off x="6398358" y="4504035"/>
            <a:ext cx="49238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Share the work, not adapted versions</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383209"/>
            <a:ext cx="3504219" cy="188991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deed is a summary. The legal code is the license</a:t>
            </a:r>
            <a:endParaRPr lang="en-US" sz="2950" dirty="0"/>
          </a:p>
        </p:txBody>
      </p:sp>
      <p:sp>
        <p:nvSpPr>
          <p:cNvPr id="4" name="Text 1"/>
          <p:cNvSpPr/>
          <p:nvPr/>
        </p:nvSpPr>
        <p:spPr>
          <a:xfrm>
            <a:off x="8032251" y="3462139"/>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CC license ships two documents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deed is short and human readable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legal code is linked from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Only one of them governs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56928"/>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Attribution is a list, not a vibe</a:t>
            </a:r>
            <a:endParaRPr lang="en-US" sz="2950" dirty="0"/>
          </a:p>
        </p:txBody>
      </p:sp>
      <p:sp>
        <p:nvSpPr>
          <p:cNvPr id="4" name="Shape 1"/>
          <p:cNvSpPr/>
          <p:nvPr/>
        </p:nvSpPr>
        <p:spPr>
          <a:xfrm>
            <a:off x="661475" y="2212876"/>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1275723" y="227776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Creator name, copyright notice, license notice</a:t>
            </a:r>
            <a:endParaRPr lang="en-US" sz="1850" dirty="0"/>
          </a:p>
        </p:txBody>
      </p:sp>
      <p:sp>
        <p:nvSpPr>
          <p:cNvPr id="6" name="Shape 3"/>
          <p:cNvSpPr/>
          <p:nvPr/>
        </p:nvSpPr>
        <p:spPr>
          <a:xfrm>
            <a:off x="661475" y="3246338"/>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1275723" y="331122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Disclaimer notice, link to the material</a:t>
            </a:r>
            <a:endParaRPr lang="en-US" sz="1850" dirty="0"/>
          </a:p>
        </p:txBody>
      </p:sp>
      <p:sp>
        <p:nvSpPr>
          <p:cNvPr id="8" name="Shape 5"/>
          <p:cNvSpPr/>
          <p:nvPr/>
        </p:nvSpPr>
        <p:spPr>
          <a:xfrm>
            <a:off x="661475" y="4049613"/>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1275723" y="4114502"/>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Link to the license</a:t>
            </a:r>
            <a:endParaRPr lang="en-US" sz="1850" dirty="0"/>
          </a:p>
        </p:txBody>
      </p:sp>
      <p:sp>
        <p:nvSpPr>
          <p:cNvPr id="10" name="Shape 7"/>
          <p:cNvSpPr/>
          <p:nvPr/>
        </p:nvSpPr>
        <p:spPr>
          <a:xfrm>
            <a:off x="661475" y="4852888"/>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1275723" y="491777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 indication that you changed it</a:t>
            </a:r>
            <a:endParaRPr lang="en-US" sz="1850" dirty="0"/>
          </a:p>
        </p:txBody>
      </p:sp>
      <p:sp>
        <p:nvSpPr>
          <p:cNvPr id="12"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543645"/>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your credit line is actually missing</a:t>
            </a:r>
            <a:endParaRPr lang="en-US" sz="2950" dirty="0"/>
          </a:p>
        </p:txBody>
      </p:sp>
      <p:sp>
        <p:nvSpPr>
          <p:cNvPr id="3" name="Shape 1"/>
          <p:cNvSpPr/>
          <p:nvPr/>
        </p:nvSpPr>
        <p:spPr>
          <a:xfrm>
            <a:off x="661475" y="2394148"/>
            <a:ext cx="10868745" cy="2797373"/>
          </a:xfrm>
          <a:prstGeom prst="roundRect">
            <a:avLst>
              <a:gd name="adj" fmla="val 2838"/>
            </a:avLst>
          </a:prstGeom>
          <a:solidFill>
            <a:srgbClr val="F2F2F2"/>
          </a:solidFill>
          <a:ln/>
        </p:spPr>
      </p:sp>
      <p:sp>
        <p:nvSpPr>
          <p:cNvPr id="4" name="Text 2"/>
          <p:cNvSpPr/>
          <p:nvPr/>
        </p:nvSpPr>
        <p:spPr>
          <a:xfrm>
            <a:off x="888283" y="258316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Study Buddy README, as written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Icons by the Lantern Icon Project.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MISSING  creator name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MISSING  title of the work</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MISSING  link to the material</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MISSING  license named</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MISSING  link to the license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MISSING  modified stated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2148483"/>
            <a:ext cx="10868745"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One sentence longer, and it holds</a:t>
            </a:r>
            <a:endParaRPr lang="en-US" sz="2950" dirty="0"/>
          </a:p>
        </p:txBody>
      </p:sp>
      <p:sp>
        <p:nvSpPr>
          <p:cNvPr id="3" name="Shape 1"/>
          <p:cNvSpPr/>
          <p:nvPr/>
        </p:nvSpPr>
        <p:spPr>
          <a:xfrm>
            <a:off x="661475" y="2998986"/>
            <a:ext cx="10868745" cy="1587698"/>
          </a:xfrm>
          <a:prstGeom prst="roundRect">
            <a:avLst>
              <a:gd name="adj" fmla="val 5000"/>
            </a:avLst>
          </a:prstGeom>
          <a:solidFill>
            <a:srgbClr val="F2F2F2"/>
          </a:solidFill>
          <a:ln/>
        </p:spPr>
      </p:sp>
      <p:sp>
        <p:nvSpPr>
          <p:cNvPr id="4" name="Text 2"/>
          <p:cNvSpPr/>
          <p:nvPr/>
        </p:nvSpPr>
        <p:spPr>
          <a:xfrm>
            <a:off x="888283" y="3187998"/>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"Study 24" by A. Nkemdirim and R. Bautista, at</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https://example.invalid/study24, licensed CC BY 4.0,</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https://creativecommons.org/licenses/by/4.0/ ,</a:t>
            </a:r>
            <a:endParaRPr lang="en-US" sz="1450" dirty="0"/>
          </a:p>
          <a:p>
            <a:pPr algn="l" indent="0" marL="0">
              <a:lnSpc>
                <a:spcPct val="133000"/>
              </a:lnSpc>
              <a:buNone/>
            </a:pPr>
            <a:r>
              <a:rPr lang="en-US" sz="1450" dirty="0">
                <a:solidFill>
                  <a:srgbClr val="032F62"/>
                </a:solidFill>
                <a:latin typeface="Consolas" pitchFamily="34" charset="0"/>
                <a:ea typeface="Consolas" pitchFamily="34" charset="-122"/>
                <a:cs typeface="Consolas" pitchFamily="34" charset="-120"/>
              </a:rPr>
              <a:t>modified: two icons recolored.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1585"/>
            <a:ext cx="6903269" cy="3911898"/>
          </a:xfrm>
          <a:prstGeom prst="rect">
            <a:avLst/>
          </a:prstGeom>
        </p:spPr>
      </p:pic>
      <p:sp>
        <p:nvSpPr>
          <p:cNvPr id="3" name="Text 0"/>
          <p:cNvSpPr/>
          <p:nvPr/>
        </p:nvSpPr>
        <p:spPr>
          <a:xfrm>
            <a:off x="8032251" y="1383209"/>
            <a:ext cx="3504219" cy="188991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NonCommercial, and a question with two real sides</a:t>
            </a:r>
            <a:endParaRPr lang="en-US" sz="2950" dirty="0"/>
          </a:p>
        </p:txBody>
      </p:sp>
      <p:sp>
        <p:nvSpPr>
          <p:cNvPr id="4" name="Text 1"/>
          <p:cNvSpPr/>
          <p:nvPr/>
        </p:nvSpPr>
        <p:spPr>
          <a:xfrm>
            <a:off x="8032251" y="3462139"/>
            <a:ext cx="3504219" cy="2012752"/>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chime in your fixture is CC BY-NC</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team plans to sell printed decks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side: money is changing hands for a product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Other side: the chime is not in the printed decks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544215"/>
            <a:ext cx="6296860" cy="457696"/>
          </a:xfrm>
          <a:prstGeom prst="rect">
            <a:avLst/>
          </a:prstGeom>
          <a:noFill/>
          <a:ln/>
        </p:spPr>
        <p:txBody>
          <a:bodyPr wrap="none" lIns="0" tIns="0" rIns="0" bIns="0" rtlCol="0" anchor="t"/>
          <a:lstStyle/>
          <a:p>
            <a:pPr algn="l" indent="0" marL="0">
              <a:lnSpc>
                <a:spcPct val="104000"/>
              </a:lnSpc>
              <a:buNone/>
            </a:pPr>
            <a:r>
              <a:rPr lang="en-US" sz="2850" b="1" dirty="0">
                <a:solidFill>
                  <a:srgbClr val="111111"/>
                </a:solidFill>
                <a:latin typeface="Orbitron Bold" pitchFamily="34" charset="0"/>
                <a:ea typeface="Orbitron Bold" pitchFamily="34" charset="-122"/>
                <a:cs typeface="Orbitron Bold" pitchFamily="34" charset="-120"/>
              </a:rPr>
              <a:t>Media has its own traps</a:t>
            </a:r>
            <a:endParaRPr lang="en-US" sz="285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267916"/>
            <a:ext cx="6296860" cy="1097756"/>
          </a:xfrm>
          <a:prstGeom prst="rect">
            <a:avLst/>
          </a:prstGeom>
        </p:spPr>
      </p:pic>
      <p:sp>
        <p:nvSpPr>
          <p:cNvPr id="5" name="Text 1"/>
          <p:cNvSpPr/>
          <p:nvPr/>
        </p:nvSpPr>
        <p:spPr>
          <a:xfrm>
            <a:off x="971526" y="1476375"/>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Fonts</a:t>
            </a:r>
            <a:endParaRPr lang="en-US" sz="1800" dirty="0"/>
          </a:p>
        </p:txBody>
      </p:sp>
      <p:sp>
        <p:nvSpPr>
          <p:cNvPr id="6" name="Text 2"/>
          <p:cNvSpPr/>
          <p:nvPr/>
        </p:nvSpPr>
        <p:spPr>
          <a:xfrm>
            <a:off x="971526" y="1868785"/>
            <a:ext cx="5778355"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Fonts have embedding and redistribution terms</a:t>
            </a:r>
            <a:endParaRPr lang="en-US" sz="14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475" y="2542977"/>
            <a:ext cx="6296860" cy="1097756"/>
          </a:xfrm>
          <a:prstGeom prst="rect">
            <a:avLst/>
          </a:prstGeom>
        </p:spPr>
      </p:pic>
      <p:sp>
        <p:nvSpPr>
          <p:cNvPr id="8" name="Text 3"/>
          <p:cNvSpPr/>
          <p:nvPr/>
        </p:nvSpPr>
        <p:spPr>
          <a:xfrm>
            <a:off x="971526" y="2751435"/>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Recorded music</a:t>
            </a:r>
            <a:endParaRPr lang="en-US" sz="1800" dirty="0"/>
          </a:p>
        </p:txBody>
      </p:sp>
      <p:sp>
        <p:nvSpPr>
          <p:cNvPr id="9" name="Text 4"/>
          <p:cNvSpPr/>
          <p:nvPr/>
        </p:nvSpPr>
        <p:spPr>
          <a:xfrm>
            <a:off x="971526" y="3143845"/>
            <a:ext cx="5778355"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Recorded music usually has two separate copyrights</a:t>
            </a:r>
            <a:endParaRPr lang="en-US" sz="14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818037"/>
            <a:ext cx="6296860" cy="1097756"/>
          </a:xfrm>
          <a:prstGeom prst="rect">
            <a:avLst/>
          </a:prstGeom>
        </p:spPr>
      </p:pic>
      <p:sp>
        <p:nvSpPr>
          <p:cNvPr id="11" name="Text 5"/>
          <p:cNvSpPr/>
          <p:nvPr/>
        </p:nvSpPr>
        <p:spPr>
          <a:xfrm>
            <a:off x="971526" y="4026495"/>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Royalty-free</a:t>
            </a:r>
            <a:endParaRPr lang="en-US" sz="1800" dirty="0"/>
          </a:p>
        </p:txBody>
      </p:sp>
      <p:sp>
        <p:nvSpPr>
          <p:cNvPr id="12" name="Text 6"/>
          <p:cNvSpPr/>
          <p:nvPr/>
        </p:nvSpPr>
        <p:spPr>
          <a:xfrm>
            <a:off x="971526" y="4418905"/>
            <a:ext cx="5778355"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Royalty-free means no per-use royalty, not free</a:t>
            </a:r>
            <a:endParaRPr lang="en-US" sz="1400" dirty="0"/>
          </a:p>
        </p:txBody>
      </p:sp>
      <p:pic>
        <p:nvPicPr>
          <p:cNvPr id="1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1475" y="5093097"/>
            <a:ext cx="6296860" cy="1097756"/>
          </a:xfrm>
          <a:prstGeom prst="rect">
            <a:avLst/>
          </a:prstGeom>
        </p:spPr>
      </p:pic>
      <p:sp>
        <p:nvSpPr>
          <p:cNvPr id="14" name="Text 7"/>
          <p:cNvSpPr/>
          <p:nvPr/>
        </p:nvSpPr>
        <p:spPr>
          <a:xfrm>
            <a:off x="971526" y="5301555"/>
            <a:ext cx="5778355" cy="286048"/>
          </a:xfrm>
          <a:prstGeom prst="rect">
            <a:avLst/>
          </a:prstGeom>
          <a:noFill/>
          <a:ln/>
        </p:spPr>
        <p:txBody>
          <a:bodyPr wrap="none" lIns="0" tIns="0" rIns="0" bIns="0" rtlCol="0" anchor="t"/>
          <a:lstStyle/>
          <a:p>
            <a:pPr algn="l" indent="0" marL="0">
              <a:lnSpc>
                <a:spcPct val="104000"/>
              </a:lnSpc>
              <a:buNone/>
            </a:pPr>
            <a:r>
              <a:rPr lang="en-US" sz="1800" b="1" dirty="0">
                <a:solidFill>
                  <a:srgbClr val="1C1C1C"/>
                </a:solidFill>
                <a:latin typeface="Orbitron Bold" pitchFamily="34" charset="0"/>
                <a:ea typeface="Orbitron Bold" pitchFamily="34" charset="-122"/>
                <a:cs typeface="Orbitron Bold" pitchFamily="34" charset="-120"/>
              </a:rPr>
              <a:t>Logos</a:t>
            </a:r>
            <a:endParaRPr lang="en-US" sz="1800" dirty="0"/>
          </a:p>
        </p:txBody>
      </p:sp>
      <p:sp>
        <p:nvSpPr>
          <p:cNvPr id="15" name="Text 8"/>
          <p:cNvSpPr/>
          <p:nvPr/>
        </p:nvSpPr>
        <p:spPr>
          <a:xfrm>
            <a:off x="971526" y="5693966"/>
            <a:ext cx="5778355" cy="288429"/>
          </a:xfrm>
          <a:prstGeom prst="rect">
            <a:avLst/>
          </a:prstGeom>
          <a:noFill/>
          <a:ln/>
        </p:spPr>
        <p:txBody>
          <a:bodyPr wrap="none" lIns="0" tIns="0" rIns="0" bIns="0" rtlCol="0" anchor="t"/>
          <a:lstStyle/>
          <a:p>
            <a:pPr algn="l" indent="0" marL="0">
              <a:lnSpc>
                <a:spcPct val="131000"/>
              </a:lnSpc>
              <a:buNone/>
            </a:pPr>
            <a:r>
              <a:rPr lang="en-US" sz="1400" dirty="0">
                <a:solidFill>
                  <a:srgbClr val="1C1C1C"/>
                </a:solidFill>
                <a:latin typeface="Roboto Condensed" pitchFamily="34" charset="0"/>
                <a:ea typeface="Roboto Condensed" pitchFamily="34" charset="-122"/>
                <a:cs typeface="Roboto Condensed" pitchFamily="34" charset="-120"/>
              </a:rPr>
              <a:t>A logo in your interface implies endorsement</a:t>
            </a:r>
            <a:endParaRPr lang="en-US" sz="1400" dirty="0"/>
          </a:p>
        </p:txBody>
      </p:sp>
      <p:sp>
        <p:nvSpPr>
          <p:cNvPr id="16"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765572"/>
            <a:ext cx="5203794" cy="5203924"/>
          </a:xfrm>
          <a:prstGeom prst="rect">
            <a:avLst/>
          </a:prstGeom>
        </p:spPr>
      </p:pic>
      <p:sp>
        <p:nvSpPr>
          <p:cNvPr id="3" name="Text 0"/>
          <p:cNvSpPr/>
          <p:nvPr/>
        </p:nvSpPr>
        <p:spPr>
          <a:xfrm>
            <a:off x="6332776" y="2394248"/>
            <a:ext cx="5203794"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Fair use, honestly</a:t>
            </a:r>
            <a:endParaRPr lang="en-US" sz="2950" dirty="0"/>
          </a:p>
        </p:txBody>
      </p:sp>
      <p:sp>
        <p:nvSpPr>
          <p:cNvPr id="4" name="Text 1"/>
          <p:cNvSpPr/>
          <p:nvPr/>
        </p:nvSpPr>
        <p:spPr>
          <a:xfrm>
            <a:off x="6332776" y="3055739"/>
            <a:ext cx="5203794"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Four factors, weighed by a court, case by case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Purpose, nature, amount, effect on the market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Educational purpose is part of one factor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defense, never a permission slip</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713680"/>
            <a:ext cx="6296860" cy="944959"/>
          </a:xfrm>
          <a:prstGeom prst="rect">
            <a:avLst/>
          </a:prstGeom>
          <a:noFill/>
          <a:ln/>
        </p:spPr>
        <p:txBody>
          <a:bodyPr wrap="square" lIns="0" tIns="0" rIns="0" bIns="0" rtlCol="0" anchor="t">
            <a:normAutofit/>
          </a:bodyPr>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The fastest finding in your fixture</a:t>
            </a:r>
            <a:endParaRPr lang="en-US" sz="2950" dirty="0"/>
          </a:p>
        </p:txBody>
      </p:sp>
      <p:sp>
        <p:nvSpPr>
          <p:cNvPr id="4" name="Text 1"/>
          <p:cNvSpPr/>
          <p:nvPr/>
        </p:nvSpPr>
        <p:spPr>
          <a:xfrm>
            <a:off x="661475" y="1942108"/>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01</a:t>
            </a:r>
            <a:endParaRPr lang="en-US" sz="1450" dirty="0"/>
          </a:p>
        </p:txBody>
      </p:sp>
      <p:sp>
        <p:nvSpPr>
          <p:cNvPr id="5" name="Shape 2"/>
          <p:cNvSpPr/>
          <p:nvPr/>
        </p:nvSpPr>
        <p:spPr>
          <a:xfrm>
            <a:off x="661475" y="2237978"/>
            <a:ext cx="6296860" cy="25400"/>
          </a:xfrm>
          <a:prstGeom prst="rect">
            <a:avLst/>
          </a:prstGeom>
          <a:solidFill>
            <a:srgbClr val="57A1EB"/>
          </a:solidFill>
          <a:ln/>
        </p:spPr>
      </p:sp>
      <p:sp>
        <p:nvSpPr>
          <p:cNvPr id="6" name="Text 3"/>
          <p:cNvSpPr/>
          <p:nvPr/>
        </p:nvSpPr>
        <p:spPr>
          <a:xfrm>
            <a:off x="661475" y="2383234"/>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assets/images/hero.png has no license file</a:t>
            </a:r>
            <a:endParaRPr lang="en-US" sz="1850" dirty="0"/>
          </a:p>
        </p:txBody>
      </p:sp>
      <p:sp>
        <p:nvSpPr>
          <p:cNvPr id="7" name="Text 4"/>
          <p:cNvSpPr/>
          <p:nvPr/>
        </p:nvSpPr>
        <p:spPr>
          <a:xfrm>
            <a:off x="661475" y="3009205"/>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02</a:t>
            </a:r>
            <a:endParaRPr lang="en-US" sz="1450" dirty="0"/>
          </a:p>
        </p:txBody>
      </p:sp>
      <p:sp>
        <p:nvSpPr>
          <p:cNvPr id="8" name="Shape 5"/>
          <p:cNvSpPr/>
          <p:nvPr/>
        </p:nvSpPr>
        <p:spPr>
          <a:xfrm>
            <a:off x="661475" y="3305076"/>
            <a:ext cx="6296860" cy="25400"/>
          </a:xfrm>
          <a:prstGeom prst="rect">
            <a:avLst/>
          </a:prstGeom>
          <a:solidFill>
            <a:srgbClr val="57A1EB"/>
          </a:solidFill>
          <a:ln/>
        </p:spPr>
      </p:sp>
      <p:sp>
        <p:nvSpPr>
          <p:cNvPr id="9" name="Text 6"/>
          <p:cNvSpPr/>
          <p:nvPr/>
        </p:nvSpPr>
        <p:spPr>
          <a:xfrm>
            <a:off x="661475" y="3450332"/>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Recorded source: found it in image search</a:t>
            </a:r>
            <a:endParaRPr lang="en-US" sz="1850" dirty="0"/>
          </a:p>
        </p:txBody>
      </p:sp>
      <p:sp>
        <p:nvSpPr>
          <p:cNvPr id="10" name="Text 7"/>
          <p:cNvSpPr/>
          <p:nvPr/>
        </p:nvSpPr>
        <p:spPr>
          <a:xfrm>
            <a:off x="661475" y="4076303"/>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03</a:t>
            </a:r>
            <a:endParaRPr lang="en-US" sz="1450" dirty="0"/>
          </a:p>
        </p:txBody>
      </p:sp>
      <p:sp>
        <p:nvSpPr>
          <p:cNvPr id="11" name="Shape 8"/>
          <p:cNvSpPr/>
          <p:nvPr/>
        </p:nvSpPr>
        <p:spPr>
          <a:xfrm>
            <a:off x="661475" y="4372173"/>
            <a:ext cx="6296860" cy="25400"/>
          </a:xfrm>
          <a:prstGeom prst="rect">
            <a:avLst/>
          </a:prstGeom>
          <a:solidFill>
            <a:srgbClr val="57A1EB"/>
          </a:solidFill>
          <a:ln/>
        </p:spPr>
      </p:sp>
      <p:sp>
        <p:nvSpPr>
          <p:cNvPr id="12" name="Text 9"/>
          <p:cNvSpPr/>
          <p:nvPr/>
        </p:nvSpPr>
        <p:spPr>
          <a:xfrm>
            <a:off x="661475" y="4517430"/>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There is nothing to read, and that is the finding</a:t>
            </a:r>
            <a:endParaRPr lang="en-US" sz="1850" dirty="0"/>
          </a:p>
        </p:txBody>
      </p:sp>
      <p:sp>
        <p:nvSpPr>
          <p:cNvPr id="13" name="Text 10"/>
          <p:cNvSpPr/>
          <p:nvPr/>
        </p:nvSpPr>
        <p:spPr>
          <a:xfrm>
            <a:off x="661475" y="5143401"/>
            <a:ext cx="378014" cy="236240"/>
          </a:xfrm>
          <a:prstGeom prst="rect">
            <a:avLst/>
          </a:prstGeom>
          <a:noFill/>
          <a:ln/>
        </p:spPr>
        <p:txBody>
          <a:bodyPr wrap="none" lIns="0" tIns="0" rIns="0" bIns="0" rtlCol="0" anchor="ctr"/>
          <a:lstStyle/>
          <a:p>
            <a:pPr algn="l" indent="0" marL="0">
              <a:lnSpc>
                <a:spcPct val="100000"/>
              </a:lnSpc>
              <a:buNone/>
            </a:pPr>
            <a:r>
              <a:rPr lang="en-US" sz="1450" dirty="0">
                <a:solidFill>
                  <a:srgbClr val="1C1C1C"/>
                </a:solidFill>
                <a:latin typeface="Orbitron" pitchFamily="34" charset="0"/>
                <a:ea typeface="Orbitron" pitchFamily="34" charset="-122"/>
                <a:cs typeface="Orbitron" pitchFamily="34" charset="-120"/>
              </a:rPr>
              <a:t>04</a:t>
            </a:r>
            <a:endParaRPr lang="en-US" sz="1450" dirty="0"/>
          </a:p>
        </p:txBody>
      </p:sp>
      <p:sp>
        <p:nvSpPr>
          <p:cNvPr id="14" name="Shape 11"/>
          <p:cNvSpPr/>
          <p:nvPr/>
        </p:nvSpPr>
        <p:spPr>
          <a:xfrm>
            <a:off x="661475" y="5439271"/>
            <a:ext cx="6296860" cy="25400"/>
          </a:xfrm>
          <a:prstGeom prst="rect">
            <a:avLst/>
          </a:prstGeom>
          <a:solidFill>
            <a:srgbClr val="57A1EB"/>
          </a:solidFill>
          <a:ln/>
        </p:spPr>
      </p:sp>
      <p:sp>
        <p:nvSpPr>
          <p:cNvPr id="15" name="Text 12"/>
          <p:cNvSpPr/>
          <p:nvPr/>
        </p:nvSpPr>
        <p:spPr>
          <a:xfrm>
            <a:off x="661475" y="5584527"/>
            <a:ext cx="629686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Remove it before the poster is printed</a:t>
            </a:r>
            <a:endParaRPr lang="en-US" sz="1850" dirty="0"/>
          </a:p>
        </p:txBody>
      </p:sp>
      <p:sp>
        <p:nvSpPr>
          <p:cNvPr id="16"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26741"/>
            <a:ext cx="6296860" cy="472480"/>
          </a:xfrm>
          <a:prstGeom prst="rect">
            <a:avLst/>
          </a:prstGeom>
          <a:noFill/>
          <a:ln/>
        </p:spPr>
        <p:txBody>
          <a:bodyPr wrap="none" lIns="0" tIns="0" rIns="0" bIns="0" rtlCol="0" anchor="t"/>
          <a:lstStyle/>
          <a:p>
            <a:pPr algn="l" indent="0" marL="0">
              <a:lnSpc>
                <a:spcPct val="104000"/>
              </a:lnSpc>
              <a:buNone/>
            </a:pPr>
            <a:r>
              <a:rPr lang="en-US" sz="2950" b="1" dirty="0">
                <a:solidFill>
                  <a:srgbClr val="111111"/>
                </a:solidFill>
                <a:latin typeface="Orbitron Bold" pitchFamily="34" charset="0"/>
                <a:ea typeface="Orbitron Bold" pitchFamily="34" charset="-122"/>
                <a:cs typeface="Orbitron Bold" pitchFamily="34" charset="-120"/>
              </a:rPr>
              <a:t>What you are about to build</a:t>
            </a:r>
            <a:endParaRPr lang="en-US" sz="2950" dirty="0"/>
          </a:p>
        </p:txBody>
      </p:sp>
      <p:sp>
        <p:nvSpPr>
          <p:cNvPr id="4" name="Shape 1"/>
          <p:cNvSpPr/>
          <p:nvPr/>
        </p:nvSpPr>
        <p:spPr>
          <a:xfrm>
            <a:off x="5233360" y="1982688"/>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304251" y="2018109"/>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5847608" y="2047577"/>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attribution line for the icons</a:t>
            </a:r>
            <a:endParaRPr lang="en-US" sz="1850" dirty="0"/>
          </a:p>
        </p:txBody>
      </p:sp>
      <p:sp>
        <p:nvSpPr>
          <p:cNvPr id="7" name="Shape 4"/>
          <p:cNvSpPr/>
          <p:nvPr/>
        </p:nvSpPr>
        <p:spPr>
          <a:xfrm>
            <a:off x="5233360" y="2785963"/>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5304251" y="2821384"/>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5847608" y="2850852"/>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Answer the NonCommercial question with facts, not a verdict</a:t>
            </a:r>
            <a:endParaRPr lang="en-US" sz="1850" dirty="0"/>
          </a:p>
        </p:txBody>
      </p:sp>
      <p:sp>
        <p:nvSpPr>
          <p:cNvPr id="10" name="Shape 7"/>
          <p:cNvSpPr/>
          <p:nvPr/>
        </p:nvSpPr>
        <p:spPr>
          <a:xfrm>
            <a:off x="5233360" y="3819426"/>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304251" y="3854847"/>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5847608" y="3884315"/>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Write the audit entry for the ShareAlike dataset</a:t>
            </a:r>
            <a:endParaRPr lang="en-US" sz="1850" dirty="0"/>
          </a:p>
        </p:txBody>
      </p:sp>
      <p:sp>
        <p:nvSpPr>
          <p:cNvPr id="13" name="Shape 10"/>
          <p:cNvSpPr/>
          <p:nvPr/>
        </p:nvSpPr>
        <p:spPr>
          <a:xfrm>
            <a:off x="5233360" y="4852888"/>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5304251" y="4888309"/>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5847608" y="4917777"/>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Say what would trigger the condition that is not triggered</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2026-09-16T03:33:16Z</dcterms:created>
  <dcterms:modified xsi:type="dcterms:W3CDTF">2026-09-16T03:33:16Z</dcterms:modified>
</cp:coreProperties>
</file>