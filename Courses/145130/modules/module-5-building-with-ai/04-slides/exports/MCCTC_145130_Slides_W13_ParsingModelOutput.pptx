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wrote a careful prompt. You said reply with JSON only, shaped exactly like this, and you gave an example. I have ten real answers to that prompt saved in the lab folder. Three of them are on the next slide. All three are cooperative. None of them is the model being difficult. And exactly one of the three is something json dot loads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FENCE in square brackets stands for three backticks, which cannot be printed inside a block like this one. So: bare JSON, then JSON in a fence, then JSON with a sentence in front of it and a sentence after it. None of these is wrong from the model's point of view. Your job is not to make the model behave. Your job is to turn whatever it said into a shape, or to say plainly that there was no shape in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functions, and keeping them apart is the whole point. Parse pulls a shape out of the mess and returns the shape or None. It does not judge. Validate judges and returns the reason it said no, in a sentence. Put them together and the caller gets None for ten different problems, and the service above you has to write a real reason into the envelope and cannot invent one you did not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JSON first because a JSON answer is unambiguous. Prose second because reading prose means guessing, and you guess last. Step three is what rescues the answer that starts with Sure here is the JSON. Step one is the single most common reason a first attempt at parsing model output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FENCE in that pattern stands for three backticks again. Three things here carry weight. The language tag after the backticks is optional, so this matches a fence tagged json, a fence tagged JSON, and a bare fence. The isinstance check for dict is there because json dot loads of the text four five succeeds and gives you an integer. And the loop tries two candidates in order, first one that works wins, rather than an if else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captured answer with about twenty five minutes in the minutes field. Refusing that throws away a usable answer, so you pull the digits out. And the bool check on the first line is not paranoia. In Python True is an int, so without it, minutes true becomes one minute, one minute is inside your allowed range, validation passes, and somebody gets a one minute study session with no error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you stop coercing. Here is the rule. Trimming keeps what the model meant, so six bullets becomes five and a long bullet becomes a short one, and both get used. An invented category does not mean anything the rest of your system can act on. It gets refused even though it is a perfectly good string, because your database, your report, and your filters have never heard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defect from this week's Gate two. It looks careful. It handles the fence. And it throws away every bare JSON answer and every prose answer, silently, and reports validation failed, which sends whoever reads that log looking at the model instead of at the regex. Two perfectly good answers destroyed by one pattern that only ever met the happy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because it worked. You wrote the prompt, you ran it once, the model used a fence, your regex matched, and everything you saw said it worked. The habit that prevents it is capturing answers and keeping them. Ten files in a folder. Every time the model does something new, save it next to the others and add a test. You did not have to imagine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five dash zero two. Ten real captured answers and twenty tests that are already written, and your job is to make them pass. Do not change the test file. Six of the ten answers carry a usable plan in six different wrappings. Four of them must not reach the rest of the program, and each of the four fails for a different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Parsing Model Output Into Something You Can Rely On</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asked for JSON. You were specific.</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prompt said "Reply with JSON only"</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gave it an example of the shape</a:t>
            </a:r>
            <a:endParaRPr lang="en-US" sz="1850" dirty="0"/>
          </a:p>
        </p:txBody>
      </p:sp>
      <p:sp>
        <p:nvSpPr>
          <p:cNvPr id="8" name="Shape 5"/>
          <p:cNvSpPr/>
          <p:nvPr/>
        </p:nvSpPr>
        <p:spPr>
          <a:xfrm>
            <a:off x="5233360"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Here are three real answers to that prompt</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Exactly one of them json.loads will accept</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3560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All three of these are the model cooperating</a:t>
            </a:r>
            <a:endParaRPr lang="en-US" sz="3700" dirty="0"/>
          </a:p>
        </p:txBody>
      </p:sp>
      <p:sp>
        <p:nvSpPr>
          <p:cNvPr id="3" name="Shape 1"/>
          <p:cNvSpPr/>
          <p:nvPr/>
        </p:nvSpPr>
        <p:spPr>
          <a:xfrm>
            <a:off x="661475" y="2294930"/>
            <a:ext cx="10868745" cy="3704630"/>
          </a:xfrm>
          <a:prstGeom prst="roundRect">
            <a:avLst>
              <a:gd name="adj" fmla="val 2143"/>
            </a:avLst>
          </a:prstGeom>
          <a:solidFill>
            <a:srgbClr val="F2F2F2"/>
          </a:solidFill>
          <a:ln/>
        </p:spPr>
      </p:sp>
      <p:sp>
        <p:nvSpPr>
          <p:cNvPr id="4" name="Text 2"/>
          <p:cNvSpPr/>
          <p:nvPr/>
        </p:nvSpPr>
        <p:spPr>
          <a:xfrm>
            <a:off x="888283" y="2483941"/>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answer 1   {"title": "Chemistry unit 4", "steps": [...], "minutes": 45}</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answer 2   ```json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{"title": "Chemistry unit 4",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answer 3   Sure, here is the study plan you asked for in JSON: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```json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{"title": "Algebra 2 quiz prep",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Let me know if you would like it broken into smaller sessions.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8509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functions, and the split is the lesson</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049859"/>
            <a:ext cx="6296860" cy="1139924"/>
          </a:xfrm>
          <a:prstGeom prst="rect">
            <a:avLst/>
          </a:prstGeom>
        </p:spPr>
      </p:pic>
      <p:sp>
        <p:nvSpPr>
          <p:cNvPr id="5" name="Text 1"/>
          <p:cNvSpPr/>
          <p:nvPr/>
        </p:nvSpPr>
        <p:spPr>
          <a:xfrm>
            <a:off x="977479" y="2264271"/>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parse</a:t>
            </a:r>
            <a:endParaRPr lang="en-US" sz="1850" dirty="0"/>
          </a:p>
        </p:txBody>
      </p:sp>
      <p:sp>
        <p:nvSpPr>
          <p:cNvPr id="6" name="Text 2"/>
          <p:cNvSpPr/>
          <p:nvPr/>
        </p:nvSpPr>
        <p:spPr>
          <a:xfrm>
            <a:off x="977479" y="2672953"/>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Pulls a shape out. Returns it, or nothing.</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378795"/>
            <a:ext cx="6296860" cy="1442343"/>
          </a:xfrm>
          <a:prstGeom prst="rect">
            <a:avLst/>
          </a:prstGeom>
        </p:spPr>
      </p:pic>
      <p:sp>
        <p:nvSpPr>
          <p:cNvPr id="8" name="Text 3"/>
          <p:cNvSpPr/>
          <p:nvPr/>
        </p:nvSpPr>
        <p:spPr>
          <a:xfrm>
            <a:off x="977479" y="3593207"/>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validate</a:t>
            </a:r>
            <a:endParaRPr lang="en-US" sz="1850" dirty="0"/>
          </a:p>
        </p:txBody>
      </p:sp>
      <p:sp>
        <p:nvSpPr>
          <p:cNvPr id="9" name="Text 4"/>
          <p:cNvSpPr/>
          <p:nvPr/>
        </p:nvSpPr>
        <p:spPr>
          <a:xfrm>
            <a:off x="977479" y="4001889"/>
            <a:ext cx="576644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Decides whether the shape is usable. Returns the reason, not a boolean.</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5010150"/>
            <a:ext cx="6296860" cy="1139924"/>
          </a:xfrm>
          <a:prstGeom prst="rect">
            <a:avLst/>
          </a:prstGeom>
        </p:spPr>
      </p:pic>
      <p:sp>
        <p:nvSpPr>
          <p:cNvPr id="11" name="Text 5"/>
          <p:cNvSpPr/>
          <p:nvPr/>
        </p:nvSpPr>
        <p:spPr>
          <a:xfrm>
            <a:off x="977479" y="522456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key insight</a:t>
            </a:r>
            <a:endParaRPr lang="en-US" sz="1850" dirty="0"/>
          </a:p>
        </p:txBody>
      </p:sp>
      <p:sp>
        <p:nvSpPr>
          <p:cNvPr id="12" name="Text 6"/>
          <p:cNvSpPr/>
          <p:nvPr/>
        </p:nvSpPr>
        <p:spPr>
          <a:xfrm>
            <a:off x="977479" y="5633244"/>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parser that validates gives you one answer for ten problems.</a:t>
            </a:r>
            <a:endParaRPr lang="en-US" sz="1450" dirty="0"/>
          </a:p>
        </p:txBody>
      </p:sp>
      <p:sp>
        <p:nvSpPr>
          <p:cNvPr id="13"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JSON first, prose second, because you guess last</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 strip the code fence, if there is one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 json.loads the whole thing</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 json.loads the widest run from first { to last }</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read it as prose: labelled lines, bullets, numbers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5. nothing worked, return None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8681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details in nine lines that are load bearing</a:t>
            </a:r>
            <a:endParaRPr lang="en-US" sz="3700" dirty="0"/>
          </a:p>
        </p:txBody>
      </p:sp>
      <p:sp>
        <p:nvSpPr>
          <p:cNvPr id="3" name="Shape 1"/>
          <p:cNvSpPr/>
          <p:nvPr/>
        </p:nvSpPr>
        <p:spPr>
          <a:xfrm>
            <a:off x="661475" y="2446139"/>
            <a:ext cx="10868745" cy="3402211"/>
          </a:xfrm>
          <a:prstGeom prst="roundRect">
            <a:avLst>
              <a:gd name="adj" fmla="val 2333"/>
            </a:avLst>
          </a:prstGeom>
          <a:solidFill>
            <a:srgbClr val="F2F2F2"/>
          </a:solidFill>
          <a:ln/>
        </p:spPr>
      </p:sp>
      <p:sp>
        <p:nvSpPr>
          <p:cNvPr id="4" name="Text 2"/>
          <p:cNvSpPr/>
          <p:nvPr/>
        </p:nvSpPr>
        <p:spPr>
          <a:xfrm>
            <a:off x="888283" y="2635151"/>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FENCE_PATTERN = re.compile(r"```[a-zA-Z0-9_-]*\n(.*?)```", re.DOTALL)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find_json_object(text):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candidate = strip_fences(text)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attempt in (candidate, widest_braced_run(candidate)):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attempt is None: continue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try: data = json.loads(attempt)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except (json.JSONDecodeError, ValueError): continue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isinstance(data, dict): return data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None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18232"/>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model sent a sentence where you asked for a number</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679502"/>
            <a:ext cx="283461" cy="283468"/>
          </a:xfrm>
          <a:prstGeom prst="rect">
            <a:avLst/>
          </a:prstGeom>
        </p:spPr>
      </p:pic>
      <p:sp>
        <p:nvSpPr>
          <p:cNvPr id="5" name="Text 1"/>
          <p:cNvSpPr/>
          <p:nvPr/>
        </p:nvSpPr>
        <p:spPr>
          <a:xfrm>
            <a:off x="1275723" y="267364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asked for minutes. It sent "about 25 minutes".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648075"/>
            <a:ext cx="283461" cy="283468"/>
          </a:xfrm>
          <a:prstGeom prst="rect">
            <a:avLst/>
          </a:prstGeom>
        </p:spPr>
      </p:pic>
      <p:sp>
        <p:nvSpPr>
          <p:cNvPr id="7" name="Text 2"/>
          <p:cNvSpPr/>
          <p:nvPr/>
        </p:nvSpPr>
        <p:spPr>
          <a:xfrm>
            <a:off x="1275723" y="364222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Pull the first run of digits out. Use 25.</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598988"/>
            <a:ext cx="283461" cy="283468"/>
          </a:xfrm>
          <a:prstGeom prst="rect">
            <a:avLst/>
          </a:prstGeom>
        </p:spPr>
      </p:pic>
      <p:sp>
        <p:nvSpPr>
          <p:cNvPr id="9" name="Text 3"/>
          <p:cNvSpPr/>
          <p:nvPr/>
        </p:nvSpPr>
        <p:spPr>
          <a:xfrm>
            <a:off x="1275723" y="459313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isinstance bool before isinstance int</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549900"/>
            <a:ext cx="283461" cy="283468"/>
          </a:xfrm>
          <a:prstGeom prst="rect">
            <a:avLst/>
          </a:prstGeom>
        </p:spPr>
      </p:pic>
      <p:sp>
        <p:nvSpPr>
          <p:cNvPr id="11" name="Text 4"/>
          <p:cNvSpPr/>
          <p:nvPr/>
        </p:nvSpPr>
        <p:spPr>
          <a:xfrm>
            <a:off x="1275723" y="554404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 Python, True is an int</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80766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Trimming is not failing. Inventing is failing.</a:t>
            </a:r>
            <a:endParaRPr lang="en-US" sz="3700" dirty="0"/>
          </a:p>
        </p:txBody>
      </p:sp>
      <p:sp>
        <p:nvSpPr>
          <p:cNvPr id="3" name="Shape 1"/>
          <p:cNvSpPr/>
          <p:nvPr/>
        </p:nvSpPr>
        <p:spPr>
          <a:xfrm>
            <a:off x="661475" y="2894409"/>
            <a:ext cx="2507394" cy="1505248"/>
          </a:xfrm>
          <a:prstGeom prst="roundRect">
            <a:avLst>
              <a:gd name="adj" fmla="val 5274"/>
            </a:avLst>
          </a:prstGeom>
          <a:solidFill>
            <a:srgbClr val="D1E5FA"/>
          </a:solidFill>
          <a:ln w="19050">
            <a:solidFill>
              <a:srgbClr val="B7CBE0"/>
            </a:solidFill>
            <a:prstDash val="solid"/>
          </a:ln>
        </p:spPr>
      </p:sp>
      <p:sp>
        <p:nvSpPr>
          <p:cNvPr id="4" name="Text 2"/>
          <p:cNvSpPr/>
          <p:nvPr/>
        </p:nvSpPr>
        <p:spPr>
          <a:xfrm>
            <a:off x="869531" y="3102471"/>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Trim</a:t>
            </a:r>
            <a:endParaRPr lang="en-US" sz="1850" dirty="0"/>
          </a:p>
        </p:txBody>
      </p:sp>
      <p:sp>
        <p:nvSpPr>
          <p:cNvPr id="5" name="Text 3"/>
          <p:cNvSpPr/>
          <p:nvPr/>
        </p:nvSpPr>
        <p:spPr>
          <a:xfrm>
            <a:off x="869531" y="3586758"/>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Six bullets, limit five: cut to five and use it</a:t>
            </a:r>
            <a:endParaRPr lang="en-US" sz="1450" dirty="0"/>
          </a:p>
        </p:txBody>
      </p:sp>
      <p:sp>
        <p:nvSpPr>
          <p:cNvPr id="6" name="Shape 4"/>
          <p:cNvSpPr/>
          <p:nvPr/>
        </p:nvSpPr>
        <p:spPr>
          <a:xfrm>
            <a:off x="3357875" y="2894409"/>
            <a:ext cx="2507394" cy="1505248"/>
          </a:xfrm>
          <a:prstGeom prst="roundRect">
            <a:avLst>
              <a:gd name="adj" fmla="val 5274"/>
            </a:avLst>
          </a:prstGeom>
          <a:solidFill>
            <a:srgbClr val="D1E5FA"/>
          </a:solidFill>
          <a:ln w="19050">
            <a:solidFill>
              <a:srgbClr val="B7CBE0"/>
            </a:solidFill>
            <a:prstDash val="solid"/>
          </a:ln>
        </p:spPr>
      </p:sp>
      <p:sp>
        <p:nvSpPr>
          <p:cNvPr id="7" name="Text 5"/>
          <p:cNvSpPr/>
          <p:nvPr/>
        </p:nvSpPr>
        <p:spPr>
          <a:xfrm>
            <a:off x="3565932" y="3102471"/>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Shorten</a:t>
            </a:r>
            <a:endParaRPr lang="en-US" sz="1850" dirty="0"/>
          </a:p>
        </p:txBody>
      </p:sp>
      <p:sp>
        <p:nvSpPr>
          <p:cNvPr id="8" name="Text 6"/>
          <p:cNvSpPr/>
          <p:nvPr/>
        </p:nvSpPr>
        <p:spPr>
          <a:xfrm>
            <a:off x="3565932" y="3586758"/>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400 character bullet: shorten it and use it</a:t>
            </a:r>
            <a:endParaRPr lang="en-US" sz="1450" dirty="0"/>
          </a:p>
        </p:txBody>
      </p:sp>
      <p:sp>
        <p:nvSpPr>
          <p:cNvPr id="9" name="Shape 7"/>
          <p:cNvSpPr/>
          <p:nvPr/>
        </p:nvSpPr>
        <p:spPr>
          <a:xfrm>
            <a:off x="6332776" y="2894409"/>
            <a:ext cx="2507394" cy="1820366"/>
          </a:xfrm>
          <a:prstGeom prst="roundRect">
            <a:avLst>
              <a:gd name="adj" fmla="val 4361"/>
            </a:avLst>
          </a:prstGeom>
          <a:solidFill>
            <a:srgbClr val="FFFFFF"/>
          </a:solidFill>
          <a:ln w="25399">
            <a:solidFill>
              <a:srgbClr val="B7CBE0"/>
            </a:solidFill>
            <a:prstDash val="solid"/>
          </a:ln>
        </p:spPr>
      </p:sp>
      <p:sp>
        <p:nvSpPr>
          <p:cNvPr id="10" name="Text 8"/>
          <p:cNvSpPr/>
          <p:nvPr/>
        </p:nvSpPr>
        <p:spPr>
          <a:xfrm>
            <a:off x="6547182" y="3108821"/>
            <a:ext cx="207858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Refuse</a:t>
            </a:r>
            <a:endParaRPr lang="en-US" sz="1850" dirty="0"/>
          </a:p>
        </p:txBody>
      </p:sp>
      <p:sp>
        <p:nvSpPr>
          <p:cNvPr id="11" name="Text 9"/>
          <p:cNvSpPr/>
          <p:nvPr/>
        </p:nvSpPr>
        <p:spPr>
          <a:xfrm>
            <a:off x="6547182" y="3593108"/>
            <a:ext cx="2078581"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label the model made up: refuse it</a:t>
            </a:r>
            <a:endParaRPr lang="en-US" sz="1450" dirty="0"/>
          </a:p>
        </p:txBody>
      </p:sp>
      <p:sp>
        <p:nvSpPr>
          <p:cNvPr id="12" name="Shape 10"/>
          <p:cNvSpPr/>
          <p:nvPr/>
        </p:nvSpPr>
        <p:spPr>
          <a:xfrm>
            <a:off x="9029176" y="2894409"/>
            <a:ext cx="2507394" cy="1820366"/>
          </a:xfrm>
          <a:prstGeom prst="roundRect">
            <a:avLst>
              <a:gd name="adj" fmla="val 4361"/>
            </a:avLst>
          </a:prstGeom>
          <a:solidFill>
            <a:srgbClr val="FFFFFF"/>
          </a:solidFill>
          <a:ln w="25399">
            <a:solidFill>
              <a:srgbClr val="B7CBE0"/>
            </a:solidFill>
            <a:prstDash val="solid"/>
          </a:ln>
        </p:spPr>
      </p:sp>
      <p:sp>
        <p:nvSpPr>
          <p:cNvPr id="13" name="Text 11"/>
          <p:cNvSpPr/>
          <p:nvPr/>
        </p:nvSpPr>
        <p:spPr>
          <a:xfrm>
            <a:off x="9243583" y="3108821"/>
            <a:ext cx="207858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Trust</a:t>
            </a:r>
            <a:endParaRPr lang="en-US" sz="1850" dirty="0"/>
          </a:p>
        </p:txBody>
      </p:sp>
      <p:sp>
        <p:nvSpPr>
          <p:cNvPr id="14" name="Text 12"/>
          <p:cNvSpPr/>
          <p:nvPr/>
        </p:nvSpPr>
        <p:spPr>
          <a:xfrm>
            <a:off x="9243583" y="3593108"/>
            <a:ext cx="2078581"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trimmed bullet still means what the model meant</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845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regex throw away good answers</a:t>
            </a:r>
            <a:endParaRPr lang="en-US" sz="3700" dirty="0"/>
          </a:p>
        </p:txBody>
      </p:sp>
      <p:sp>
        <p:nvSpPr>
          <p:cNvPr id="3" name="Text 1"/>
          <p:cNvSpPr/>
          <p:nvPr/>
        </p:nvSpPr>
        <p:spPr>
          <a:xfrm>
            <a:off x="661475" y="3243858"/>
            <a:ext cx="11478330"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parse_plan</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uses one pattern: a fence, the word json, then the body</a:t>
            </a:r>
            <a:endParaRPr lang="en-US" sz="1450" dirty="0"/>
          </a:p>
        </p:txBody>
      </p:sp>
      <p:sp>
        <p:nvSpPr>
          <p:cNvPr id="4" name="Shape 2"/>
          <p:cNvSpPr/>
          <p:nvPr/>
        </p:nvSpPr>
        <p:spPr>
          <a:xfrm>
            <a:off x="661475" y="3765252"/>
            <a:ext cx="10868745" cy="1285280"/>
          </a:xfrm>
          <a:prstGeom prst="roundRect">
            <a:avLst>
              <a:gd name="adj" fmla="val 6177"/>
            </a:avLst>
          </a:prstGeom>
          <a:solidFill>
            <a:srgbClr val="F2F2F2"/>
          </a:solidFill>
          <a:ln/>
        </p:spPr>
      </p:sp>
      <p:sp>
        <p:nvSpPr>
          <p:cNvPr id="5" name="Text 3"/>
          <p:cNvSpPr/>
          <p:nvPr/>
        </p:nvSpPr>
        <p:spPr>
          <a:xfrm>
            <a:off x="888283" y="3954264"/>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mode fenced_json:  source='model'  error=None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mode bare_json:    source='model'  error='plan_validation_failed'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mode prose:        source='model'  error='plan_validation_failed'</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happy path regex is tempting</a:t>
            </a:r>
            <a:endParaRPr lang="en-US" sz="3700" dirty="0"/>
          </a:p>
        </p:txBody>
      </p:sp>
      <p:sp>
        <p:nvSpPr>
          <p:cNvPr id="4" name="Shape 1"/>
          <p:cNvSpPr/>
          <p:nvPr/>
        </p:nvSpPr>
        <p:spPr>
          <a:xfrm>
            <a:off x="661475"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worked on the first answer you tested with</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model wrapped its JSON in a fence that day</a:t>
            </a:r>
            <a:endParaRPr lang="en-US" sz="1850" dirty="0"/>
          </a:p>
        </p:txBody>
      </p:sp>
      <p:sp>
        <p:nvSpPr>
          <p:cNvPr id="8" name="Shape 5"/>
          <p:cNvSpPr/>
          <p:nvPr/>
        </p:nvSpPr>
        <p:spPr>
          <a:xfrm>
            <a:off x="661475"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Models are not deterministic</a:t>
            </a:r>
            <a:endParaRPr lang="en-US" sz="1850" dirty="0"/>
          </a:p>
        </p:txBody>
      </p:sp>
      <p:sp>
        <p:nvSpPr>
          <p:cNvPr id="10" name="Shape 7"/>
          <p:cNvSpPr/>
          <p:nvPr/>
        </p:nvSpPr>
        <p:spPr>
          <a:xfrm>
            <a:off x="661475"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2721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Capture answers. Keep them. Test against all of them.</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5233360"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5233360" y="2246709"/>
            <a:ext cx="6296860" cy="25400"/>
          </a:xfrm>
          <a:prstGeom prst="rect">
            <a:avLst/>
          </a:prstGeom>
          <a:solidFill>
            <a:srgbClr val="57A1EB"/>
          </a:solidFill>
          <a:ln/>
        </p:spPr>
      </p:sp>
      <p:sp>
        <p:nvSpPr>
          <p:cNvPr id="6" name="Text 3"/>
          <p:cNvSpPr/>
          <p:nvPr/>
        </p:nvSpPr>
        <p:spPr>
          <a:xfrm>
            <a:off x="5233360" y="23889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Lab M05-02, ten captured answers, twenty tests</a:t>
            </a:r>
            <a:endParaRPr lang="en-US" sz="1800" dirty="0"/>
          </a:p>
        </p:txBody>
      </p:sp>
      <p:sp>
        <p:nvSpPr>
          <p:cNvPr id="7" name="Text 4"/>
          <p:cNvSpPr/>
          <p:nvPr/>
        </p:nvSpPr>
        <p:spPr>
          <a:xfrm>
            <a:off x="5233360" y="32757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5233360" y="3561457"/>
            <a:ext cx="6296860" cy="25400"/>
          </a:xfrm>
          <a:prstGeom prst="rect">
            <a:avLst/>
          </a:prstGeom>
          <a:solidFill>
            <a:srgbClr val="57A1EB"/>
          </a:solidFill>
          <a:ln/>
        </p:spPr>
      </p:sp>
      <p:sp>
        <p:nvSpPr>
          <p:cNvPr id="9" name="Text 6"/>
          <p:cNvSpPr/>
          <p:nvPr/>
        </p:nvSpPr>
        <p:spPr>
          <a:xfrm>
            <a:off x="5233360" y="37037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tests are written. Make them pass.</a:t>
            </a:r>
            <a:endParaRPr lang="en-US" sz="1800" dirty="0"/>
          </a:p>
        </p:txBody>
      </p:sp>
      <p:sp>
        <p:nvSpPr>
          <p:cNvPr id="10" name="Text 7"/>
          <p:cNvSpPr/>
          <p:nvPr/>
        </p:nvSpPr>
        <p:spPr>
          <a:xfrm>
            <a:off x="5233360" y="43044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5233360" y="4590157"/>
            <a:ext cx="6296860" cy="25400"/>
          </a:xfrm>
          <a:prstGeom prst="rect">
            <a:avLst/>
          </a:prstGeom>
          <a:solidFill>
            <a:srgbClr val="57A1EB"/>
          </a:solidFill>
          <a:ln/>
        </p:spPr>
      </p:sp>
      <p:sp>
        <p:nvSpPr>
          <p:cNvPr id="12" name="Text 9"/>
          <p:cNvSpPr/>
          <p:nvPr/>
        </p:nvSpPr>
        <p:spPr>
          <a:xfrm>
            <a:off x="5233360" y="47324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parse returns a shape or None</a:t>
            </a:r>
            <a:endParaRPr lang="en-US" sz="1800" dirty="0"/>
          </a:p>
        </p:txBody>
      </p:sp>
      <p:sp>
        <p:nvSpPr>
          <p:cNvPr id="13" name="Text 10"/>
          <p:cNvSpPr/>
          <p:nvPr/>
        </p:nvSpPr>
        <p:spPr>
          <a:xfrm>
            <a:off x="5233360" y="53331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5233360" y="5618857"/>
            <a:ext cx="6296860" cy="25400"/>
          </a:xfrm>
          <a:prstGeom prst="rect">
            <a:avLst/>
          </a:prstGeom>
          <a:solidFill>
            <a:srgbClr val="57A1EB"/>
          </a:solidFill>
          <a:ln/>
        </p:spPr>
      </p:sp>
      <p:sp>
        <p:nvSpPr>
          <p:cNvPr id="15" name="Text 12"/>
          <p:cNvSpPr/>
          <p:nvPr/>
        </p:nvSpPr>
        <p:spPr>
          <a:xfrm>
            <a:off x="5233360" y="57611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validate returns a sentence, never a boolean</a:t>
            </a:r>
            <a:endParaRPr lang="en-US" sz="18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2026-09-16T04:10:57Z</dcterms:created>
  <dcterms:modified xsi:type="dcterms:W3CDTF">2026-09-16T04:10:57Z</dcterms:modified>
</cp:coreProperties>
</file>