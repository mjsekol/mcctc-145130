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answer about a spreadsheet of print jobs. The summary is good. The total is text that looks like a total. The quoted standard does not exist. Nothing in the tone changes between the part that is fine and the part that is invented, and that uniformity is the actual hazard.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from the mechanism rather than from a gap in the technology. Output is tokens chosen for likelihood. A reference to a real paper and a reference to one that does not exist look identical from the inside, because both are plausible continuations of a sentence heading toward a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where the honesty comes from in that design. Your search has a record. The model still has none. Module 4 builds this and it is the right answer for most practical problems, because it updates the moment a document changes and you can point at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multiplication it has never encountered, the most likely tokens are the ones that look like an answer to that kind of question. This is not about model size. A larger model gets more of them right, which is a completely different claim from being reliable, and there is still no signal telling you which ones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lines and this is the shape of your Module 5 application. The model handles language. Your code handles anything that has to be exact. Never let a model do the arithmetic in your program, and be specific about that rule: it means the number must be computed by code even when the model offered you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see this stated as settled fact constantly, including on the page you scored last week. It is not settled. I am going to give you the strongest version of each side and then you are going to have to hold a position, which is what Friday's Gate 2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in, distribution out, sample, repeat. The system has never seen a 3D printer, waited for a bus, or been wrong about something and noticed. And it fails in ways understanding would prevent: nothing is tracking consistency, so it asserts a fact and contradicts it two paragraphs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side students have usually never heard argued well, so listen to it properly. Saying it is only pattern matching is a claim about what pattern matching cannot achieve, and that claim has been revised downward repeatedly over the last decade by people who were not expecting to revise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your own documents, describe what it does and what it fails at, and stay out of the word. It produces fluent text and fabricates citations with equal confidence is checkable. It does not understand anything is a position in an open argument, and stating it as fact to beginners is the defect you were asked to find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sounds cautious and it is a way of avoiding the actual work, which is deciding task by task where a mistake is recoverable. Draft an email and a person reads it before sending: recoverable. Compute a grade and nobody checks: not recoverable. The difference is whether a human who could catch it stands between the output and the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pretest runs in Build 1 and it is not graded, it tells me where to spend Module 2. Build 2 is three failures with the design that contains each, and one of them has to be the argument from slide six, where you take a side and give the other side its strongest form before you disagree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Things a Language Model Cannot Do</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request, two failures, uniform tone</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fluent summary of the themes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total of 41.5 hours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quoted shop standard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All three sound identical</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002705"/>
            <a:ext cx="3504219" cy="2953246"/>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it cannot say where an answer came from</a:t>
            </a:r>
            <a:endParaRPr lang="en-US" sz="3700" dirty="0"/>
          </a:p>
        </p:txBody>
      </p:sp>
      <p:sp>
        <p:nvSpPr>
          <p:cNvPr id="4" name="Text 1"/>
          <p:cNvSpPr/>
          <p:nvPr/>
        </p:nvSpPr>
        <p:spPr>
          <a:xfrm>
            <a:off x="8032251" y="4144963"/>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There is no lookup step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there is no source record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citation is produced like any sentence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As likely text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48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partly fixes it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17490"/>
            <a:ext cx="5339820" cy="1139924"/>
          </a:xfrm>
          <a:prstGeom prst="rect">
            <a:avLst/>
          </a:prstGeom>
        </p:spPr>
      </p:pic>
      <p:sp>
        <p:nvSpPr>
          <p:cNvPr id="4" name="Text 1"/>
          <p:cNvSpPr/>
          <p:nvPr/>
        </p:nvSpPr>
        <p:spPr>
          <a:xfrm>
            <a:off x="977479" y="2831902"/>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Retrieval</a:t>
            </a:r>
            <a:endParaRPr lang="en-US" sz="1850" dirty="0"/>
          </a:p>
        </p:txBody>
      </p:sp>
      <p:sp>
        <p:nvSpPr>
          <p:cNvPr id="5" name="Text 2"/>
          <p:cNvSpPr/>
          <p:nvPr/>
        </p:nvSpPr>
        <p:spPr>
          <a:xfrm>
            <a:off x="977479" y="3240584"/>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Search your own documents</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617490"/>
            <a:ext cx="5339919" cy="1139924"/>
          </a:xfrm>
          <a:prstGeom prst="rect">
            <a:avLst/>
          </a:prstGeom>
        </p:spPr>
      </p:pic>
      <p:sp>
        <p:nvSpPr>
          <p:cNvPr id="7" name="Text 3"/>
          <p:cNvSpPr/>
          <p:nvPr/>
        </p:nvSpPr>
        <p:spPr>
          <a:xfrm>
            <a:off x="6506305" y="2831902"/>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Context</a:t>
            </a:r>
            <a:endParaRPr lang="en-US" sz="1850" dirty="0"/>
          </a:p>
        </p:txBody>
      </p:sp>
      <p:sp>
        <p:nvSpPr>
          <p:cNvPr id="8" name="Text 4"/>
          <p:cNvSpPr/>
          <p:nvPr/>
        </p:nvSpPr>
        <p:spPr>
          <a:xfrm>
            <a:off x="6506305" y="3240584"/>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Put the relevant passages in the prompt</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139924"/>
          </a:xfrm>
          <a:prstGeom prst="rect">
            <a:avLst/>
          </a:prstGeom>
        </p:spPr>
      </p:pic>
      <p:sp>
        <p:nvSpPr>
          <p:cNvPr id="10" name="Text 5"/>
          <p:cNvSpPr/>
          <p:nvPr/>
        </p:nvSpPr>
        <p:spPr>
          <a:xfrm>
            <a:off x="977479" y="4160838"/>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Attribution</a:t>
            </a:r>
            <a:endParaRPr lang="en-US" sz="1850" dirty="0"/>
          </a:p>
        </p:txBody>
      </p:sp>
      <p:sp>
        <p:nvSpPr>
          <p:cNvPr id="11" name="Text 6"/>
          <p:cNvSpPr/>
          <p:nvPr/>
        </p:nvSpPr>
        <p:spPr>
          <a:xfrm>
            <a:off x="977479" y="4569520"/>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Report which document each came from</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139924"/>
          </a:xfrm>
          <a:prstGeom prst="rect">
            <a:avLst/>
          </a:prstGeom>
        </p:spPr>
      </p:pic>
      <p:sp>
        <p:nvSpPr>
          <p:cNvPr id="13" name="Text 7"/>
          <p:cNvSpPr/>
          <p:nvPr/>
        </p:nvSpPr>
        <p:spPr>
          <a:xfrm>
            <a:off x="6506305" y="4160838"/>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Provenance</a:t>
            </a:r>
            <a:endParaRPr lang="en-US" sz="1850" dirty="0"/>
          </a:p>
        </p:txBody>
      </p:sp>
      <p:sp>
        <p:nvSpPr>
          <p:cNvPr id="14" name="Text 8"/>
          <p:cNvSpPr/>
          <p:nvPr/>
        </p:nvSpPr>
        <p:spPr>
          <a:xfrm>
            <a:off x="6506305" y="4569520"/>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provenance comes from your search</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298079"/>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it cannot be relied on to be exact</a:t>
            </a:r>
            <a:endParaRPr lang="en-US" sz="3700" dirty="0"/>
          </a:p>
        </p:txBody>
      </p:sp>
      <p:sp>
        <p:nvSpPr>
          <p:cNvPr id="3" name="Text 1"/>
          <p:cNvSpPr/>
          <p:nvPr/>
        </p:nvSpPr>
        <p:spPr>
          <a:xfrm>
            <a:off x="661475" y="3849688"/>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Arithmetic, counting, precise lookups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Anything where close is wrong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Likely and correct are different properties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in the process prefers correct</a:t>
            </a:r>
            <a:endParaRPr lang="en-US" sz="1450" dirty="0"/>
          </a:p>
        </p:txBody>
      </p:sp>
      <p:pic>
        <p:nvPicPr>
          <p:cNvPr id="4" name="Image 0" descr="preencoded.png">    </p:cNvPr>
          <p:cNvPicPr>
            <a:picLocks noChangeAspect="1"/>
          </p:cNvPicPr>
          <p:nvPr/>
        </p:nvPicPr>
        <p:blipFill>
          <a:blip r:embed="rId1"/>
          <a:stretch>
            <a:fillRect/>
          </a:stretch>
        </p:blipFill>
        <p:spPr>
          <a:xfrm>
            <a:off x="4633201" y="1411585"/>
            <a:ext cx="6903269" cy="3911898"/>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design that fixes it</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model  -&gt; work out what was being asked, pull out the amounts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code   -&gt; validate each amount, then add them up</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7131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and this one is an argument</a:t>
            </a:r>
            <a:endParaRPr lang="en-US" sz="3700" dirty="0"/>
          </a:p>
        </p:txBody>
      </p:sp>
      <p:sp>
        <p:nvSpPr>
          <p:cNvPr id="4" name="Text 1"/>
          <p:cNvSpPr/>
          <p:nvPr/>
        </p:nvSpPr>
        <p:spPr>
          <a:xfrm>
            <a:off x="5516821" y="3948708"/>
            <a:ext cx="66229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language model does not understand what it is saying."</a:t>
            </a:r>
            <a:endParaRPr lang="en-US" sz="1450" dirty="0"/>
          </a:p>
        </p:txBody>
      </p:sp>
      <p:sp>
        <p:nvSpPr>
          <p:cNvPr id="5" name="Shape 2"/>
          <p:cNvSpPr/>
          <p:nvPr/>
        </p:nvSpPr>
        <p:spPr>
          <a:xfrm>
            <a:off x="5233360" y="3736082"/>
            <a:ext cx="25399" cy="727670"/>
          </a:xfrm>
          <a:prstGeom prst="roundRect">
            <a:avLst>
              <a:gd name="adj" fmla="val 50001"/>
            </a:avLst>
          </a:prstGeom>
          <a:solidFill>
            <a:srgbClr val="57A1EB"/>
          </a:solidFill>
          <a:ln/>
        </p:spPr>
      </p:sp>
      <p:sp>
        <p:nvSpPr>
          <p:cNvPr id="6" name="Text 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387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case that it does not</a:t>
            </a:r>
            <a:endParaRPr lang="en-US" sz="3700" dirty="0"/>
          </a:p>
        </p:txBody>
      </p:sp>
      <p:sp>
        <p:nvSpPr>
          <p:cNvPr id="3" name="Shape 1"/>
          <p:cNvSpPr/>
          <p:nvPr/>
        </p:nvSpPr>
        <p:spPr>
          <a:xfrm>
            <a:off x="661475" y="3007420"/>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mechanism contains nothing like meaning</a:t>
            </a:r>
            <a:endParaRPr lang="en-US" sz="1850" dirty="0"/>
          </a:p>
        </p:txBody>
      </p:sp>
      <p:sp>
        <p:nvSpPr>
          <p:cNvPr id="5" name="Shape 3"/>
          <p:cNvSpPr/>
          <p:nvPr/>
        </p:nvSpPr>
        <p:spPr>
          <a:xfrm>
            <a:off x="6213915" y="300742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6828163" y="3072309"/>
            <a:ext cx="470205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in it refers to the world</a:t>
            </a:r>
            <a:endParaRPr lang="en-US" sz="1850" dirty="0"/>
          </a:p>
        </p:txBody>
      </p:sp>
      <p:sp>
        <p:nvSpPr>
          <p:cNvPr id="7" name="Shape 5"/>
          <p:cNvSpPr/>
          <p:nvPr/>
        </p:nvSpPr>
        <p:spPr>
          <a:xfrm>
            <a:off x="661475" y="4040882"/>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4105771"/>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contradicts itself without discomfort</a:t>
            </a:r>
            <a:endParaRPr lang="en-US" sz="1850" dirty="0"/>
          </a:p>
        </p:txBody>
      </p:sp>
      <p:sp>
        <p:nvSpPr>
          <p:cNvPr id="9" name="Shape 7"/>
          <p:cNvSpPr/>
          <p:nvPr/>
        </p:nvSpPr>
        <p:spPr>
          <a:xfrm>
            <a:off x="6213915" y="4040882"/>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6828163" y="4105771"/>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invents citations with equal confidence</a:t>
            </a:r>
            <a:endParaRPr lang="en-US" sz="18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995660"/>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case that the question is open</a:t>
            </a:r>
            <a:endParaRPr lang="en-US" sz="3700" dirty="0"/>
          </a:p>
        </p:txBody>
      </p:sp>
      <p:sp>
        <p:nvSpPr>
          <p:cNvPr id="4" name="Text 1"/>
          <p:cNvSpPr/>
          <p:nvPr/>
        </p:nvSpPr>
        <p:spPr>
          <a:xfrm>
            <a:off x="8032251" y="3547269"/>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Understand has never been defined testably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argument assumes simple parts cannot suffice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Brains are also simple parts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only pattern matching keeps being revised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7502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 write what is settled</a:t>
            </a:r>
            <a:endParaRPr lang="en-US" sz="3700" dirty="0"/>
          </a:p>
        </p:txBody>
      </p:sp>
      <p:sp>
        <p:nvSpPr>
          <p:cNvPr id="3" name="Shape 1"/>
          <p:cNvSpPr/>
          <p:nvPr/>
        </p:nvSpPr>
        <p:spPr>
          <a:xfrm>
            <a:off x="661475" y="2743696"/>
            <a:ext cx="10868745" cy="2216348"/>
          </a:xfrm>
          <a:prstGeom prst="roundRect">
            <a:avLst>
              <a:gd name="adj" fmla="val 3582"/>
            </a:avLst>
          </a:prstGeom>
          <a:solidFill>
            <a:srgbClr val="D1E5FA"/>
          </a:solidFill>
          <a:ln w="19050">
            <a:solidFill>
              <a:srgbClr val="B7CBE0"/>
            </a:solidFill>
            <a:prstDash val="solid"/>
          </a:ln>
        </p:spPr>
      </p:sp>
      <p:sp>
        <p:nvSpPr>
          <p:cNvPr id="4" name="Shape 2"/>
          <p:cNvSpPr/>
          <p:nvPr/>
        </p:nvSpPr>
        <p:spPr>
          <a:xfrm>
            <a:off x="680524" y="2762746"/>
            <a:ext cx="5415323" cy="1089124"/>
          </a:xfrm>
          <a:custGeom>
            <a:avLst/>
            <a:gdLst/>
            <a:ahLst/>
            <a:cxnLst/>
            <a:rect l="l" t="t" r="r" b="b"/>
            <a:pathLst>
              <a:path w="5415323" h="1089124">
                <a:moveTo>
                  <a:pt x="66156" y="0"/>
                </a:moveTo>
                <a:lnTo>
                  <a:pt x="5415323" y="0"/>
                </a:lnTo>
                <a:lnTo>
                  <a:pt x="5415323" y="1089124"/>
                </a:lnTo>
                <a:lnTo>
                  <a:pt x="0" y="1089124"/>
                </a:lnTo>
                <a:lnTo>
                  <a:pt x="0" y="66158"/>
                </a:lnTo>
                <a:arcTo hR="66158" wR="66156" stAng="10800000" swAng="5400000"/>
                <a:close/>
              </a:path>
            </a:pathLst>
          </a:custGeom>
          <a:solidFill>
            <a:srgbClr val="D1E5FA"/>
          </a:solidFill>
          <a:ln/>
        </p:spPr>
      </p:sp>
      <p:sp>
        <p:nvSpPr>
          <p:cNvPr id="5" name="Text 3"/>
          <p:cNvSpPr/>
          <p:nvPr/>
        </p:nvSpPr>
        <p:spPr>
          <a:xfrm>
            <a:off x="869531" y="2951758"/>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Settled</a:t>
            </a:r>
            <a:endParaRPr lang="en-US" sz="1850" dirty="0"/>
          </a:p>
        </p:txBody>
      </p:sp>
      <p:sp>
        <p:nvSpPr>
          <p:cNvPr id="6" name="Text 4"/>
          <p:cNvSpPr/>
          <p:nvPr/>
        </p:nvSpPr>
        <p:spPr>
          <a:xfrm>
            <a:off x="869531" y="3360440"/>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mechanism, no learning during use</a:t>
            </a:r>
            <a:endParaRPr lang="en-US" sz="1450" dirty="0"/>
          </a:p>
        </p:txBody>
      </p:sp>
      <p:sp>
        <p:nvSpPr>
          <p:cNvPr id="7" name="Shape 5"/>
          <p:cNvSpPr/>
          <p:nvPr/>
        </p:nvSpPr>
        <p:spPr>
          <a:xfrm>
            <a:off x="6095848" y="2762746"/>
            <a:ext cx="5415323" cy="1089124"/>
          </a:xfrm>
          <a:custGeom>
            <a:avLst/>
            <a:gdLst/>
            <a:ahLst/>
            <a:cxnLst/>
            <a:rect l="l" t="t" r="r" b="b"/>
            <a:pathLst>
              <a:path w="5415323" h="1089124">
                <a:moveTo>
                  <a:pt x="0" y="0"/>
                </a:moveTo>
                <a:lnTo>
                  <a:pt x="5349167" y="0"/>
                </a:lnTo>
                <a:arcTo hR="66158" wR="66156" stAng="16200000" swAng="5400000"/>
                <a:lnTo>
                  <a:pt x="5415323" y="1089124"/>
                </a:lnTo>
                <a:lnTo>
                  <a:pt x="0" y="1089124"/>
                </a:lnTo>
                <a:lnTo>
                  <a:pt x="0" y="0"/>
                </a:lnTo>
                <a:close/>
              </a:path>
            </a:pathLst>
          </a:custGeom>
          <a:solidFill>
            <a:srgbClr val="D1E5FA"/>
          </a:solidFill>
          <a:ln/>
        </p:spPr>
      </p:sp>
      <p:sp>
        <p:nvSpPr>
          <p:cNvPr id="8" name="Shape 6"/>
          <p:cNvSpPr/>
          <p:nvPr/>
        </p:nvSpPr>
        <p:spPr>
          <a:xfrm>
            <a:off x="6095848" y="2762746"/>
            <a:ext cx="25399" cy="1089124"/>
          </a:xfrm>
          <a:prstGeom prst="roundRect">
            <a:avLst>
              <a:gd name="adj" fmla="val 50001"/>
            </a:avLst>
          </a:prstGeom>
          <a:solidFill>
            <a:srgbClr val="B7CBE0"/>
          </a:solidFill>
          <a:ln/>
        </p:spPr>
      </p:sp>
      <p:sp>
        <p:nvSpPr>
          <p:cNvPr id="9" name="Text 7"/>
          <p:cNvSpPr/>
          <p:nvPr/>
        </p:nvSpPr>
        <p:spPr>
          <a:xfrm>
            <a:off x="6284854" y="2951758"/>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Settled</a:t>
            </a:r>
            <a:endParaRPr lang="en-US" sz="1850" dirty="0"/>
          </a:p>
        </p:txBody>
      </p:sp>
      <p:sp>
        <p:nvSpPr>
          <p:cNvPr id="10" name="Text 8"/>
          <p:cNvSpPr/>
          <p:nvPr/>
        </p:nvSpPr>
        <p:spPr>
          <a:xfrm>
            <a:off x="6284854" y="3360440"/>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Confidence carries no information</a:t>
            </a:r>
            <a:endParaRPr lang="en-US" sz="1450" dirty="0"/>
          </a:p>
        </p:txBody>
      </p:sp>
      <p:sp>
        <p:nvSpPr>
          <p:cNvPr id="11" name="Shape 9"/>
          <p:cNvSpPr/>
          <p:nvPr/>
        </p:nvSpPr>
        <p:spPr>
          <a:xfrm>
            <a:off x="680524" y="3851870"/>
            <a:ext cx="5415323" cy="1089124"/>
          </a:xfrm>
          <a:custGeom>
            <a:avLst/>
            <a:gdLst/>
            <a:ahLst/>
            <a:cxnLst/>
            <a:rect l="l" t="t" r="r" b="b"/>
            <a:pathLst>
              <a:path w="5415323" h="1089124">
                <a:moveTo>
                  <a:pt x="0" y="0"/>
                </a:moveTo>
                <a:lnTo>
                  <a:pt x="5415323" y="0"/>
                </a:lnTo>
                <a:lnTo>
                  <a:pt x="5415323" y="1089124"/>
                </a:lnTo>
                <a:lnTo>
                  <a:pt x="66156" y="1089124"/>
                </a:lnTo>
                <a:arcTo hR="66158" wR="66156" stAng="5400000" swAng="5400000"/>
                <a:lnTo>
                  <a:pt x="0" y="0"/>
                </a:lnTo>
                <a:close/>
              </a:path>
            </a:pathLst>
          </a:custGeom>
          <a:solidFill>
            <a:srgbClr val="D1E5FA"/>
          </a:solidFill>
          <a:ln/>
        </p:spPr>
      </p:sp>
      <p:sp>
        <p:nvSpPr>
          <p:cNvPr id="12" name="Shape 10"/>
          <p:cNvSpPr/>
          <p:nvPr/>
        </p:nvSpPr>
        <p:spPr>
          <a:xfrm>
            <a:off x="680524" y="3851870"/>
            <a:ext cx="5415323" cy="25400"/>
          </a:xfrm>
          <a:prstGeom prst="roundRect">
            <a:avLst>
              <a:gd name="adj" fmla="val 49999"/>
            </a:avLst>
          </a:prstGeom>
          <a:solidFill>
            <a:srgbClr val="B7CBE0"/>
          </a:solidFill>
          <a:ln/>
        </p:spPr>
      </p:sp>
      <p:sp>
        <p:nvSpPr>
          <p:cNvPr id="13" name="Text 11"/>
          <p:cNvSpPr/>
          <p:nvPr/>
        </p:nvSpPr>
        <p:spPr>
          <a:xfrm>
            <a:off x="869531" y="4040882"/>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Settled</a:t>
            </a:r>
            <a:endParaRPr lang="en-US" sz="1850" dirty="0"/>
          </a:p>
        </p:txBody>
      </p:sp>
      <p:sp>
        <p:nvSpPr>
          <p:cNvPr id="14" name="Text 12"/>
          <p:cNvSpPr/>
          <p:nvPr/>
        </p:nvSpPr>
        <p:spPr>
          <a:xfrm>
            <a:off x="869531" y="4449564"/>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fabricates sources</a:t>
            </a:r>
            <a:endParaRPr lang="en-US" sz="1450" dirty="0"/>
          </a:p>
        </p:txBody>
      </p:sp>
      <p:sp>
        <p:nvSpPr>
          <p:cNvPr id="15" name="Shape 13"/>
          <p:cNvSpPr/>
          <p:nvPr/>
        </p:nvSpPr>
        <p:spPr>
          <a:xfrm>
            <a:off x="6095848" y="3851870"/>
            <a:ext cx="5415323" cy="1089124"/>
          </a:xfrm>
          <a:custGeom>
            <a:avLst/>
            <a:gdLst/>
            <a:ahLst/>
            <a:cxnLst/>
            <a:rect l="l" t="t" r="r" b="b"/>
            <a:pathLst>
              <a:path w="5415323" h="1089124">
                <a:moveTo>
                  <a:pt x="0" y="0"/>
                </a:moveTo>
                <a:lnTo>
                  <a:pt x="5415323" y="0"/>
                </a:lnTo>
                <a:lnTo>
                  <a:pt x="5415323" y="1022966"/>
                </a:lnTo>
                <a:arcTo hR="66158" wR="66156" stAng="0" swAng="5400000"/>
                <a:lnTo>
                  <a:pt x="0" y="1089124"/>
                </a:lnTo>
                <a:lnTo>
                  <a:pt x="0" y="0"/>
                </a:lnTo>
                <a:close/>
              </a:path>
            </a:pathLst>
          </a:custGeom>
          <a:solidFill>
            <a:srgbClr val="D1E5FA"/>
          </a:solidFill>
          <a:ln/>
        </p:spPr>
      </p:sp>
      <p:sp>
        <p:nvSpPr>
          <p:cNvPr id="16" name="Shape 14"/>
          <p:cNvSpPr/>
          <p:nvPr/>
        </p:nvSpPr>
        <p:spPr>
          <a:xfrm>
            <a:off x="6095848" y="3851870"/>
            <a:ext cx="25399" cy="1089124"/>
          </a:xfrm>
          <a:prstGeom prst="roundRect">
            <a:avLst>
              <a:gd name="adj" fmla="val 50001"/>
            </a:avLst>
          </a:prstGeom>
          <a:solidFill>
            <a:srgbClr val="B7CBE0"/>
          </a:solidFill>
          <a:ln/>
        </p:spPr>
      </p:sp>
      <p:sp>
        <p:nvSpPr>
          <p:cNvPr id="17" name="Shape 15"/>
          <p:cNvSpPr/>
          <p:nvPr/>
        </p:nvSpPr>
        <p:spPr>
          <a:xfrm>
            <a:off x="6095848" y="3851870"/>
            <a:ext cx="5415323" cy="25400"/>
          </a:xfrm>
          <a:prstGeom prst="roundRect">
            <a:avLst>
              <a:gd name="adj" fmla="val 49999"/>
            </a:avLst>
          </a:prstGeom>
          <a:solidFill>
            <a:srgbClr val="B7CBE0"/>
          </a:solidFill>
          <a:ln/>
        </p:spPr>
      </p:sp>
      <p:sp>
        <p:nvSpPr>
          <p:cNvPr id="18" name="Text 16"/>
          <p:cNvSpPr/>
          <p:nvPr/>
        </p:nvSpPr>
        <p:spPr>
          <a:xfrm>
            <a:off x="6284854" y="4040882"/>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settled</a:t>
            </a:r>
            <a:endParaRPr lang="en-US" sz="1850" dirty="0"/>
          </a:p>
        </p:txBody>
      </p:sp>
      <p:sp>
        <p:nvSpPr>
          <p:cNvPr id="19" name="Text 17"/>
          <p:cNvSpPr/>
          <p:nvPr/>
        </p:nvSpPr>
        <p:spPr>
          <a:xfrm>
            <a:off x="6284854" y="4449564"/>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Whether that is understanding</a:t>
            </a:r>
            <a:endParaRPr lang="en-US" sz="1450" dirty="0"/>
          </a:p>
        </p:txBody>
      </p:sp>
      <p:sp>
        <p:nvSpPr>
          <p:cNvPr id="20" name="Text 1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442145"/>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lesson to take</a:t>
            </a:r>
            <a:endParaRPr lang="en-US" sz="3700" dirty="0"/>
          </a:p>
        </p:txBody>
      </p:sp>
      <p:sp>
        <p:nvSpPr>
          <p:cNvPr id="3" name="Text 1"/>
          <p:cNvSpPr/>
          <p:nvPr/>
        </p:nvSpPr>
        <p:spPr>
          <a:xfrm>
            <a:off x="661475" y="3403104"/>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AI cannot be trusted, so avoid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Treats trust as a property of the technology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question is per task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 happens when this answer is wrong</a:t>
            </a:r>
            <a:endParaRPr lang="en-US" sz="1450" dirty="0"/>
          </a:p>
        </p:txBody>
      </p:sp>
      <p:pic>
        <p:nvPicPr>
          <p:cNvPr id="4" name="Image 0" descr="preencoded.png">    </p:cNvPr>
          <p:cNvPicPr>
            <a:picLocks noChangeAspect="1"/>
          </p:cNvPicPr>
          <p:nvPr/>
        </p:nvPicPr>
        <p:blipFill>
          <a:blip r:embed="rId1"/>
          <a:stretch>
            <a:fillRect/>
          </a:stretch>
        </p:blipFill>
        <p:spPr>
          <a:xfrm>
            <a:off x="4633201" y="1411585"/>
            <a:ext cx="6903269" cy="3911898"/>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pretest first, then this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Three failures, one from your own work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Name the design that contains each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has to be the contested one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2026-09-16T04:05:00Z</dcterms:created>
  <dcterms:modified xsi:type="dcterms:W3CDTF">2026-09-16T04:05:00Z</dcterms:modified>
</cp:coreProperties>
</file>