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lesson with no conclusion at the bottom. That is not a gap. Anybody who gives you a confident one-sentence answer to today's question is either simplifying on purpose or does not know the state of the field. Watch for that from a model, from a teacher, and from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argument you will hear about AI and copyright is one of these four wearing the others as a disguise. Two of them are settled enough to answer today. One is fact-specific. One is genuinely unsettled and being litigated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Copyright Office's stated position and you should read their registration guidance rather than my summary of it. The boundary between typing a prompt and genuinely authoring something is not a number and nobody should hand you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case on appeal when I write this could be decided the other way by the time you read it, and a wrong citation in a lesson is worse than no citation. So you get the two strongest arguments instead, and you get them stated the way their own supporters would state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both of those again tonight. If one of them looks clearly weaker to you, you have not understood it yet, and your position paper next week is going to be thin. Your job is to write the side you disagree with well enough that somebody who holds it would sign your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section seven of the model license in your fixture. The second half is written out loud because the real ones usually leave it implied and readers fill it in wrongly. Read that clause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confusion in the whole subject. A promise not to sue you is not a grant of copyright. When terms of service say you own the output, they are telling you what the company will do. Whether anybody holds a copyright is question one, and the terms do not decide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percentages from a real provenance record. Look at the row with zero words that is not on this screen: the data flow diagram, human work this program cannot count because it counts words. A metric that cannot see part of the work always understates that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mistakes in three sentences, and a judge is going to read it. Original is doing two different jobs. Not copyrighted by anybody else does not follow from generated with AI. So we own it does not follow from either. And fully original hides the disclosure inside a sentence that concludes there is nothing to disclose.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Saying this is unsettled, here are the facts it turns on, here is what we did about it, is the strongest answer available in this course and in any professional setting. A confident wrong answer is the weak one. Next week you will be graded on telling those two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model and dataset rows of the manifest, which are the two hardest rows in the audit. Build two is the disclosure paragraph for your own competition submission, due next week, and the provenance record that backs it. Three sentences. Honest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2.png"/><Relationship Id="rId9" Type="http://schemas.openxmlformats.org/officeDocument/2006/relationships/image" Target="../media/image-4-3.sv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2.png"/><Relationship Id="rId7" Type="http://schemas.openxmlformats.org/officeDocument/2006/relationships/image" Target="../media/image-10-3.svg"/><Relationship Id="rId8" Type="http://schemas.openxmlformats.org/officeDocument/2006/relationships/image" Target="../media/image-10-2.png"/><Relationship Id="rId9" Type="http://schemas.openxmlformats.org/officeDocument/2006/relationships/image" Target="../media/image-10-3.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svg"/><Relationship Id="rId4" Type="http://schemas.openxmlformats.org/officeDocument/2006/relationships/image" Target="../media/image-11-2.png"/><Relationship Id="rId5" Type="http://schemas.openxmlformats.org/officeDocument/2006/relationships/image" Target="../media/image-11-3.svg"/><Relationship Id="rId6" Type="http://schemas.openxmlformats.org/officeDocument/2006/relationships/image" Target="../media/image-11-6.png"/><Relationship Id="rId7" Type="http://schemas.openxmlformats.org/officeDocument/2006/relationships/image" Target="../media/image-11-7.svg"/><Relationship Id="rId8" Type="http://schemas.openxmlformats.org/officeDocument/2006/relationships/image" Target="../media/image-11-6.png"/><Relationship Id="rId9" Type="http://schemas.openxmlformats.org/officeDocument/2006/relationships/image" Target="../media/image-11-7.svg"/><Relationship Id="rId10" Type="http://schemas.openxmlformats.org/officeDocument/2006/relationships/slideLayout" Target="../slideLayouts/slideLayout2.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Who Owns the Output, and Why the Answer Is Unsettled</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Somebody is going to ask you this</a:t>
            </a:r>
            <a:endParaRPr lang="en-US" sz="3700" dirty="0"/>
          </a:p>
        </p:txBody>
      </p:sp>
      <p:sp>
        <p:nvSpPr>
          <p:cNvPr id="4" name="Shape 1"/>
          <p:cNvSpPr/>
          <p:nvPr/>
        </p:nvSpPr>
        <p:spPr>
          <a:xfrm>
            <a:off x="5233360"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judge, a client, an employer, a form</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Who owns the thing the model made</a:t>
            </a:r>
            <a:endParaRPr lang="en-US" sz="1850" dirty="0"/>
          </a:p>
        </p:txBody>
      </p:sp>
      <p:sp>
        <p:nvSpPr>
          <p:cNvPr id="8" name="Shape 5"/>
          <p:cNvSpPr/>
          <p:nvPr/>
        </p:nvSpPr>
        <p:spPr>
          <a:xfrm>
            <a:off x="5233360" y="4173835"/>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238724"/>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 confident one-sentence answer is wrong</a:t>
            </a:r>
            <a:endParaRPr lang="en-US" sz="1850" dirty="0"/>
          </a:p>
        </p:txBody>
      </p:sp>
      <p:sp>
        <p:nvSpPr>
          <p:cNvPr id="10" name="Shape 7"/>
          <p:cNvSpPr/>
          <p:nvPr/>
        </p:nvSpPr>
        <p:spPr>
          <a:xfrm>
            <a:off x="5233360"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27218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Today ends without an answer, on purpose</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202333"/>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questions, not one</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171005"/>
            <a:ext cx="5339820" cy="1586409"/>
          </a:xfrm>
          <a:prstGeom prst="rect">
            <a:avLst/>
          </a:prstGeom>
        </p:spPr>
      </p:pic>
      <p:sp>
        <p:nvSpPr>
          <p:cNvPr id="4" name="Text 1"/>
          <p:cNvSpPr/>
          <p:nvPr/>
        </p:nvSpPr>
        <p:spPr>
          <a:xfrm>
            <a:off x="3189605" y="229314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5" name="Text 2"/>
          <p:cNvSpPr/>
          <p:nvPr/>
        </p:nvSpPr>
        <p:spPr>
          <a:xfrm>
            <a:off x="875881" y="2952452"/>
            <a:ext cx="491100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Is the output protected by copyright, and whose</a:t>
            </a:r>
            <a:endParaRPr lang="en-US" sz="18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171005"/>
            <a:ext cx="5339919" cy="1586409"/>
          </a:xfrm>
          <a:prstGeom prst="rect">
            <a:avLst/>
          </a:prstGeom>
        </p:spPr>
      </p:pic>
      <p:sp>
        <p:nvSpPr>
          <p:cNvPr id="7" name="Text 3"/>
          <p:cNvSpPr/>
          <p:nvPr/>
        </p:nvSpPr>
        <p:spPr>
          <a:xfrm>
            <a:off x="8718530" y="229314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8" name="Text 4"/>
          <p:cNvSpPr/>
          <p:nvPr/>
        </p:nvSpPr>
        <p:spPr>
          <a:xfrm>
            <a:off x="6404708" y="2952452"/>
            <a:ext cx="491110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Does the output infringe somebody else's work</a:t>
            </a:r>
            <a:endParaRPr lang="en-US" sz="18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586409"/>
          </a:xfrm>
          <a:prstGeom prst="rect">
            <a:avLst/>
          </a:prstGeom>
        </p:spPr>
      </p:pic>
      <p:sp>
        <p:nvSpPr>
          <p:cNvPr id="10" name="Text 5"/>
          <p:cNvSpPr/>
          <p:nvPr/>
        </p:nvSpPr>
        <p:spPr>
          <a:xfrm>
            <a:off x="3189605"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1" name="Text 6"/>
          <p:cNvSpPr/>
          <p:nvPr/>
        </p:nvSpPr>
        <p:spPr>
          <a:xfrm>
            <a:off x="875881" y="4727873"/>
            <a:ext cx="4911007"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Was the training on other people's work lawful</a:t>
            </a:r>
            <a:endParaRPr lang="en-US" sz="18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586409"/>
          </a:xfrm>
          <a:prstGeom prst="rect">
            <a:avLst/>
          </a:prstGeom>
        </p:spPr>
      </p:pic>
      <p:sp>
        <p:nvSpPr>
          <p:cNvPr id="13" name="Text 7"/>
          <p:cNvSpPr/>
          <p:nvPr/>
        </p:nvSpPr>
        <p:spPr>
          <a:xfrm>
            <a:off x="8718530" y="406856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4" name="Text 8"/>
          <p:cNvSpPr/>
          <p:nvPr/>
        </p:nvSpPr>
        <p:spPr>
          <a:xfrm>
            <a:off x="6404708" y="4727873"/>
            <a:ext cx="4911106"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does the model license let you do</a:t>
            </a:r>
            <a:endParaRPr lang="en-US" sz="18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47390"/>
            <a:ext cx="6296860" cy="1107480"/>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Question one, the human authorship point</a:t>
            </a:r>
            <a:endParaRPr lang="en-US" sz="34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904008"/>
            <a:ext cx="6296860" cy="946348"/>
          </a:xfrm>
          <a:prstGeom prst="rect">
            <a:avLst/>
          </a:prstGeom>
        </p:spPr>
      </p:pic>
      <p:sp>
        <p:nvSpPr>
          <p:cNvPr id="5" name="Text 1"/>
          <p:cNvSpPr/>
          <p:nvPr/>
        </p:nvSpPr>
        <p:spPr>
          <a:xfrm>
            <a:off x="5505808" y="2100263"/>
            <a:ext cx="5828162"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The Copyright Office protects human authorship</a:t>
            </a:r>
            <a:endParaRPr lang="en-US" sz="17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016448"/>
            <a:ext cx="6296860" cy="946348"/>
          </a:xfrm>
          <a:prstGeom prst="rect">
            <a:avLst/>
          </a:prstGeom>
        </p:spPr>
      </p:pic>
      <p:sp>
        <p:nvSpPr>
          <p:cNvPr id="7" name="Text 2"/>
          <p:cNvSpPr/>
          <p:nvPr/>
        </p:nvSpPr>
        <p:spPr>
          <a:xfrm>
            <a:off x="5505808" y="3212703"/>
            <a:ext cx="5828162"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Machine-generated material without it is not registrable</a:t>
            </a:r>
            <a:endParaRPr lang="en-US" sz="17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128889"/>
            <a:ext cx="6296860" cy="946348"/>
          </a:xfrm>
          <a:prstGeom prst="rect">
            <a:avLst/>
          </a:prstGeom>
        </p:spPr>
      </p:pic>
      <p:sp>
        <p:nvSpPr>
          <p:cNvPr id="9" name="Text 3"/>
          <p:cNvSpPr/>
          <p:nvPr/>
        </p:nvSpPr>
        <p:spPr>
          <a:xfrm>
            <a:off x="5505808" y="4325144"/>
            <a:ext cx="5828162"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Mixed works: the human part registers, the rest is disclaimed</a:t>
            </a:r>
            <a:endParaRPr lang="en-US" sz="17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241330"/>
            <a:ext cx="6296860" cy="946348"/>
          </a:xfrm>
          <a:prstGeom prst="rect">
            <a:avLst/>
          </a:prstGeom>
        </p:spPr>
      </p:pic>
      <p:sp>
        <p:nvSpPr>
          <p:cNvPr id="11" name="Text 4"/>
          <p:cNvSpPr/>
          <p:nvPr/>
        </p:nvSpPr>
        <p:spPr>
          <a:xfrm>
            <a:off x="5505808" y="5437584"/>
            <a:ext cx="5828162" cy="553839"/>
          </a:xfrm>
          <a:prstGeom prst="rect">
            <a:avLst/>
          </a:prstGeom>
          <a:noFill/>
          <a:ln/>
        </p:spPr>
        <p:txBody>
          <a:bodyPr wrap="square" lIns="0" tIns="0" rIns="0" bIns="0" rtlCol="0" anchor="t">
            <a:normAutofit/>
          </a:bodyPr>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Other countries have taken different approaches</a:t>
            </a:r>
            <a:endParaRPr lang="en-US" sz="170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8742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Question three is the unsettled one</a:t>
            </a:r>
            <a:endParaRPr lang="en-US" sz="3700" dirty="0"/>
          </a:p>
        </p:txBody>
      </p:sp>
      <p:sp>
        <p:nvSpPr>
          <p:cNvPr id="4" name="Shape 1"/>
          <p:cNvSpPr/>
          <p:nvPr/>
        </p:nvSpPr>
        <p:spPr>
          <a:xfrm>
            <a:off x="661475" y="2452191"/>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517080"/>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Is training on protected works fair use</a:t>
            </a:r>
            <a:endParaRPr lang="en-US" sz="1850" dirty="0"/>
          </a:p>
        </p:txBody>
      </p:sp>
      <p:sp>
        <p:nvSpPr>
          <p:cNvPr id="6" name="Shape 3"/>
          <p:cNvSpPr/>
          <p:nvPr/>
        </p:nvSpPr>
        <p:spPr>
          <a:xfrm>
            <a:off x="661475" y="3255466"/>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32035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Being litigated right now, in more than one case</a:t>
            </a:r>
            <a:endParaRPr lang="en-US" sz="1850" dirty="0"/>
          </a:p>
        </p:txBody>
      </p:sp>
      <p:sp>
        <p:nvSpPr>
          <p:cNvPr id="8" name="Shape 5"/>
          <p:cNvSpPr/>
          <p:nvPr/>
        </p:nvSpPr>
        <p:spPr>
          <a:xfrm>
            <a:off x="661475"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35381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Different courts, different facts, different countries</a:t>
            </a:r>
            <a:endParaRPr lang="en-US" sz="1850" dirty="0"/>
          </a:p>
        </p:txBody>
      </p:sp>
      <p:sp>
        <p:nvSpPr>
          <p:cNvPr id="10" name="Shape 7"/>
          <p:cNvSpPr/>
          <p:nvPr/>
        </p:nvSpPr>
        <p:spPr>
          <a:xfrm>
            <a:off x="661475" y="5322391"/>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5387280"/>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 will not name a case or an outcome here</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22253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Both sides, at full strength</a:t>
            </a:r>
            <a:endParaRPr lang="en-US" sz="3700" dirty="0"/>
          </a:p>
        </p:txBody>
      </p:sp>
      <p:sp>
        <p:nvSpPr>
          <p:cNvPr id="3" name="Shape 1"/>
          <p:cNvSpPr/>
          <p:nvPr/>
        </p:nvSpPr>
        <p:spPr>
          <a:xfrm>
            <a:off x="525350" y="3099495"/>
            <a:ext cx="5476043" cy="1410295"/>
          </a:xfrm>
          <a:prstGeom prst="roundRect">
            <a:avLst>
              <a:gd name="adj" fmla="val 9650"/>
            </a:avLst>
          </a:prstGeom>
          <a:solidFill>
            <a:srgbClr val="57A1EB"/>
          </a:solidFill>
          <a:ln/>
        </p:spPr>
      </p:sp>
      <p:sp>
        <p:nvSpPr>
          <p:cNvPr id="4" name="Text 2"/>
          <p:cNvSpPr/>
          <p:nvPr/>
        </p:nvSpPr>
        <p:spPr>
          <a:xfrm>
            <a:off x="714357" y="3288506"/>
            <a:ext cx="5098029"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For</a:t>
            </a:r>
            <a:endParaRPr lang="en-US" sz="1850" dirty="0"/>
          </a:p>
        </p:txBody>
      </p:sp>
      <p:sp>
        <p:nvSpPr>
          <p:cNvPr id="5" name="Text 3"/>
          <p:cNvSpPr/>
          <p:nvPr/>
        </p:nvSpPr>
        <p:spPr>
          <a:xfrm>
            <a:off x="714357" y="3772793"/>
            <a:ext cx="5098029"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Statistical process, new purpose, no stored copies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Licensing everything leaves only the largest players</a:t>
            </a:r>
            <a:endParaRPr lang="en-US" sz="1450" dirty="0"/>
          </a:p>
        </p:txBody>
      </p:sp>
      <p:sp>
        <p:nvSpPr>
          <p:cNvPr id="6" name="Text 4"/>
          <p:cNvSpPr/>
          <p:nvPr/>
        </p:nvSpPr>
        <p:spPr>
          <a:xfrm>
            <a:off x="6332776" y="3288506"/>
            <a:ext cx="5203794"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Against</a:t>
            </a:r>
            <a:endParaRPr lang="en-US" sz="1850" dirty="0"/>
          </a:p>
        </p:txBody>
      </p:sp>
      <p:sp>
        <p:nvSpPr>
          <p:cNvPr id="7" name="Text 5"/>
          <p:cNvSpPr/>
          <p:nvPr/>
        </p:nvSpPr>
        <p:spPr>
          <a:xfrm>
            <a:off x="6332776" y="3772793"/>
            <a:ext cx="5203794" cy="670917"/>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real market, and direct competition with creators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Taken at a scale nobody could consent to</a:t>
            </a:r>
            <a:endParaRPr lang="en-US" sz="1450" dirty="0"/>
          </a:p>
        </p:txBody>
      </p:sp>
      <p:sp>
        <p:nvSpPr>
          <p:cNvPr id="8"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Question four takes four minutes</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7. OUTPUT. Lantern Research Collective claims no ownership in material you</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generate with the Model Weights. This Section is a statement about what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Lantern Research Collective will and will not claim under this contract. It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is not a statement about whether any law gives you or anyone else a copyright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   in that material.</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895574"/>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claims in one clause</a:t>
            </a:r>
            <a:endParaRPr lang="en-US" sz="3700" dirty="0"/>
          </a:p>
        </p:txBody>
      </p:sp>
      <p:sp>
        <p:nvSpPr>
          <p:cNvPr id="3" name="Shape 1"/>
          <p:cNvSpPr/>
          <p:nvPr/>
        </p:nvSpPr>
        <p:spPr>
          <a:xfrm>
            <a:off x="661475" y="2864247"/>
            <a:ext cx="10868745" cy="1975247"/>
          </a:xfrm>
          <a:prstGeom prst="roundRect">
            <a:avLst>
              <a:gd name="adj" fmla="val 4019"/>
            </a:avLst>
          </a:prstGeom>
          <a:solidFill>
            <a:srgbClr val="D1E5FA"/>
          </a:solidFill>
          <a:ln w="19050">
            <a:solidFill>
              <a:srgbClr val="B7CBE0"/>
            </a:solidFill>
            <a:prstDash val="solid"/>
          </a:ln>
        </p:spPr>
      </p:sp>
      <p:sp>
        <p:nvSpPr>
          <p:cNvPr id="4" name="Shape 2"/>
          <p:cNvSpPr/>
          <p:nvPr/>
        </p:nvSpPr>
        <p:spPr>
          <a:xfrm>
            <a:off x="680524" y="2883297"/>
            <a:ext cx="5415323" cy="968573"/>
          </a:xfrm>
          <a:custGeom>
            <a:avLst/>
            <a:gdLst/>
            <a:ahLst/>
            <a:cxnLst/>
            <a:rect l="l" t="t" r="r" b="b"/>
            <a:pathLst>
              <a:path w="5415323" h="968573">
                <a:moveTo>
                  <a:pt x="66156" y="0"/>
                </a:moveTo>
                <a:lnTo>
                  <a:pt x="5415323" y="0"/>
                </a:lnTo>
                <a:lnTo>
                  <a:pt x="5415323" y="968573"/>
                </a:lnTo>
                <a:lnTo>
                  <a:pt x="0" y="968573"/>
                </a:lnTo>
                <a:lnTo>
                  <a:pt x="0" y="66158"/>
                </a:lnTo>
                <a:arcTo hR="66158" wR="66156" stAng="10800000" swAng="5400000"/>
                <a:close/>
              </a:path>
            </a:pathLst>
          </a:custGeom>
          <a:solidFill>
            <a:srgbClr val="D1E5FA"/>
          </a:solidFill>
          <a:ln/>
        </p:spPr>
      </p:sp>
      <p:sp>
        <p:nvSpPr>
          <p:cNvPr id="5" name="Text 3"/>
          <p:cNvSpPr/>
          <p:nvPr/>
        </p:nvSpPr>
        <p:spPr>
          <a:xfrm>
            <a:off x="869531" y="3072309"/>
            <a:ext cx="50373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We will not assert ownership: a contract promise</a:t>
            </a:r>
            <a:endParaRPr lang="en-US" sz="1850" dirty="0"/>
          </a:p>
        </p:txBody>
      </p:sp>
      <p:sp>
        <p:nvSpPr>
          <p:cNvPr id="6" name="Shape 4"/>
          <p:cNvSpPr/>
          <p:nvPr/>
        </p:nvSpPr>
        <p:spPr>
          <a:xfrm>
            <a:off x="6095848" y="2883297"/>
            <a:ext cx="5415323" cy="968573"/>
          </a:xfrm>
          <a:custGeom>
            <a:avLst/>
            <a:gdLst/>
            <a:ahLst/>
            <a:cxnLst/>
            <a:rect l="l" t="t" r="r" b="b"/>
            <a:pathLst>
              <a:path w="5415323" h="968573">
                <a:moveTo>
                  <a:pt x="0" y="0"/>
                </a:moveTo>
                <a:lnTo>
                  <a:pt x="5349167" y="0"/>
                </a:lnTo>
                <a:arcTo hR="66158" wR="66156" stAng="16200000" swAng="5400000"/>
                <a:lnTo>
                  <a:pt x="5415323" y="968573"/>
                </a:lnTo>
                <a:lnTo>
                  <a:pt x="0" y="968573"/>
                </a:lnTo>
                <a:lnTo>
                  <a:pt x="0" y="0"/>
                </a:lnTo>
                <a:close/>
              </a:path>
            </a:pathLst>
          </a:custGeom>
          <a:solidFill>
            <a:srgbClr val="D1E5FA"/>
          </a:solidFill>
          <a:ln/>
        </p:spPr>
      </p:sp>
      <p:sp>
        <p:nvSpPr>
          <p:cNvPr id="7" name="Shape 5"/>
          <p:cNvSpPr/>
          <p:nvPr/>
        </p:nvSpPr>
        <p:spPr>
          <a:xfrm>
            <a:off x="6095848" y="2883297"/>
            <a:ext cx="25399" cy="968573"/>
          </a:xfrm>
          <a:prstGeom prst="roundRect">
            <a:avLst>
              <a:gd name="adj" fmla="val 50001"/>
            </a:avLst>
          </a:prstGeom>
          <a:solidFill>
            <a:srgbClr val="B7CBE0"/>
          </a:solidFill>
          <a:ln/>
        </p:spPr>
      </p:sp>
      <p:sp>
        <p:nvSpPr>
          <p:cNvPr id="8" name="Text 6"/>
          <p:cNvSpPr/>
          <p:nvPr/>
        </p:nvSpPr>
        <p:spPr>
          <a:xfrm>
            <a:off x="6284854" y="3072309"/>
            <a:ext cx="50373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hold a copyright: a statement about the law</a:t>
            </a:r>
            <a:endParaRPr lang="en-US" sz="1850" dirty="0"/>
          </a:p>
        </p:txBody>
      </p:sp>
      <p:sp>
        <p:nvSpPr>
          <p:cNvPr id="9" name="Shape 7"/>
          <p:cNvSpPr/>
          <p:nvPr/>
        </p:nvSpPr>
        <p:spPr>
          <a:xfrm>
            <a:off x="680524" y="3851870"/>
            <a:ext cx="5415323" cy="968573"/>
          </a:xfrm>
          <a:custGeom>
            <a:avLst/>
            <a:gdLst/>
            <a:ahLst/>
            <a:cxnLst/>
            <a:rect l="l" t="t" r="r" b="b"/>
            <a:pathLst>
              <a:path w="5415323" h="968573">
                <a:moveTo>
                  <a:pt x="0" y="0"/>
                </a:moveTo>
                <a:lnTo>
                  <a:pt x="5415323" y="0"/>
                </a:lnTo>
                <a:lnTo>
                  <a:pt x="5415323" y="968573"/>
                </a:lnTo>
                <a:lnTo>
                  <a:pt x="66156" y="968573"/>
                </a:lnTo>
                <a:arcTo hR="66158" wR="66156" stAng="5400000" swAng="5400000"/>
                <a:lnTo>
                  <a:pt x="0" y="0"/>
                </a:lnTo>
                <a:close/>
              </a:path>
            </a:pathLst>
          </a:custGeom>
          <a:solidFill>
            <a:srgbClr val="D1E5FA"/>
          </a:solidFill>
          <a:ln/>
        </p:spPr>
      </p:sp>
      <p:sp>
        <p:nvSpPr>
          <p:cNvPr id="10" name="Shape 8"/>
          <p:cNvSpPr/>
          <p:nvPr/>
        </p:nvSpPr>
        <p:spPr>
          <a:xfrm>
            <a:off x="680524" y="3851870"/>
            <a:ext cx="5415323" cy="25400"/>
          </a:xfrm>
          <a:prstGeom prst="roundRect">
            <a:avLst>
              <a:gd name="adj" fmla="val 49999"/>
            </a:avLst>
          </a:prstGeom>
          <a:solidFill>
            <a:srgbClr val="B7CBE0"/>
          </a:solidFill>
          <a:ln/>
        </p:spPr>
      </p:sp>
      <p:sp>
        <p:nvSpPr>
          <p:cNvPr id="11" name="Text 9"/>
          <p:cNvSpPr/>
          <p:nvPr/>
        </p:nvSpPr>
        <p:spPr>
          <a:xfrm>
            <a:off x="869531" y="4040882"/>
            <a:ext cx="50373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license makes the first and not the second</a:t>
            </a:r>
            <a:endParaRPr lang="en-US" sz="1850" dirty="0"/>
          </a:p>
        </p:txBody>
      </p:sp>
      <p:sp>
        <p:nvSpPr>
          <p:cNvPr id="12" name="Shape 10"/>
          <p:cNvSpPr/>
          <p:nvPr/>
        </p:nvSpPr>
        <p:spPr>
          <a:xfrm>
            <a:off x="6095848" y="3851870"/>
            <a:ext cx="5415323" cy="968573"/>
          </a:xfrm>
          <a:custGeom>
            <a:avLst/>
            <a:gdLst/>
            <a:ahLst/>
            <a:cxnLst/>
            <a:rect l="l" t="t" r="r" b="b"/>
            <a:pathLst>
              <a:path w="5415323" h="968573">
                <a:moveTo>
                  <a:pt x="0" y="0"/>
                </a:moveTo>
                <a:lnTo>
                  <a:pt x="5415323" y="0"/>
                </a:lnTo>
                <a:lnTo>
                  <a:pt x="5415323" y="902415"/>
                </a:lnTo>
                <a:arcTo hR="66158" wR="66156" stAng="0" swAng="5400000"/>
                <a:lnTo>
                  <a:pt x="0" y="968573"/>
                </a:lnTo>
                <a:lnTo>
                  <a:pt x="0" y="0"/>
                </a:lnTo>
                <a:close/>
              </a:path>
            </a:pathLst>
          </a:custGeom>
          <a:solidFill>
            <a:srgbClr val="D1E5FA"/>
          </a:solidFill>
          <a:ln/>
        </p:spPr>
      </p:sp>
      <p:sp>
        <p:nvSpPr>
          <p:cNvPr id="13" name="Shape 11"/>
          <p:cNvSpPr/>
          <p:nvPr/>
        </p:nvSpPr>
        <p:spPr>
          <a:xfrm>
            <a:off x="6095848" y="3851870"/>
            <a:ext cx="25399" cy="968573"/>
          </a:xfrm>
          <a:prstGeom prst="roundRect">
            <a:avLst>
              <a:gd name="adj" fmla="val 50001"/>
            </a:avLst>
          </a:prstGeom>
          <a:solidFill>
            <a:srgbClr val="B7CBE0"/>
          </a:solidFill>
          <a:ln/>
        </p:spPr>
      </p:sp>
      <p:sp>
        <p:nvSpPr>
          <p:cNvPr id="14" name="Shape 12"/>
          <p:cNvSpPr/>
          <p:nvPr/>
        </p:nvSpPr>
        <p:spPr>
          <a:xfrm>
            <a:off x="6095848" y="3851870"/>
            <a:ext cx="5415323" cy="25400"/>
          </a:xfrm>
          <a:prstGeom prst="roundRect">
            <a:avLst>
              <a:gd name="adj" fmla="val 49999"/>
            </a:avLst>
          </a:prstGeom>
          <a:solidFill>
            <a:srgbClr val="B7CBE0"/>
          </a:solidFill>
          <a:ln/>
        </p:spPr>
      </p:sp>
      <p:sp>
        <p:nvSpPr>
          <p:cNvPr id="15" name="Text 13"/>
          <p:cNvSpPr/>
          <p:nvPr/>
        </p:nvSpPr>
        <p:spPr>
          <a:xfrm>
            <a:off x="6284854" y="4040882"/>
            <a:ext cx="503730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 contract can create a copyright the law withholds</a:t>
            </a:r>
            <a:endParaRPr lang="en-US" sz="1850" dirty="0"/>
          </a:p>
        </p:txBody>
      </p:sp>
      <p:sp>
        <p:nvSpPr>
          <p:cNvPr id="16" name="Text 14"/>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491655"/>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cannot compute ownership. You can record authorship</a:t>
            </a:r>
            <a:endParaRPr lang="en-US" sz="3700" dirty="0"/>
          </a:p>
        </p:txBody>
      </p:sp>
      <p:sp>
        <p:nvSpPr>
          <p:cNvPr id="3" name="Shape 1"/>
          <p:cNvSpPr/>
          <p:nvPr/>
        </p:nvSpPr>
        <p:spPr>
          <a:xfrm>
            <a:off x="661475" y="3050977"/>
            <a:ext cx="10868745" cy="2192536"/>
          </a:xfrm>
          <a:prstGeom prst="roundRect">
            <a:avLst>
              <a:gd name="adj" fmla="val 3621"/>
            </a:avLst>
          </a:prstGeom>
          <a:solidFill>
            <a:srgbClr val="F2F2F2"/>
          </a:solidFill>
          <a:ln/>
        </p:spPr>
      </p:sp>
      <p:sp>
        <p:nvSpPr>
          <p:cNvPr id="4" name="Text 2"/>
          <p:cNvSpPr/>
          <p:nvPr/>
        </p:nvSpPr>
        <p:spPr>
          <a:xfrm>
            <a:off x="888283" y="3239988"/>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human                      860 words   58.8%</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human_edit_of_model        280 words   19.2%</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model                      322 words   22.0%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Total words: 1462</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Sections whose first draft came from a model: 3</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1350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version, written by a model</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384127"/>
            <a:ext cx="283461" cy="283468"/>
          </a:xfrm>
          <a:prstGeom prst="rect">
            <a:avLst/>
          </a:prstGeom>
        </p:spPr>
      </p:pic>
      <p:sp>
        <p:nvSpPr>
          <p:cNvPr id="5" name="Text 1"/>
          <p:cNvSpPr/>
          <p:nvPr/>
        </p:nvSpPr>
        <p:spPr>
          <a:xfrm>
            <a:off x="1275723" y="237827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All assets are original. The images were AI generated</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352701"/>
            <a:ext cx="283461" cy="283468"/>
          </a:xfrm>
          <a:prstGeom prst="rect">
            <a:avLst/>
          </a:prstGeom>
        </p:spPr>
      </p:pic>
      <p:sp>
        <p:nvSpPr>
          <p:cNvPr id="7" name="Text 2"/>
          <p:cNvSpPr/>
          <p:nvPr/>
        </p:nvSpPr>
        <p:spPr>
          <a:xfrm>
            <a:off x="1275723" y="334684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Which means nobody else holds copyright</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303613"/>
            <a:ext cx="283461" cy="283468"/>
          </a:xfrm>
          <a:prstGeom prst="rect">
            <a:avLst/>
          </a:prstGeom>
        </p:spPr>
      </p:pic>
      <p:sp>
        <p:nvSpPr>
          <p:cNvPr id="9" name="Text 3"/>
          <p:cNvSpPr/>
          <p:nvPr/>
        </p:nvSpPr>
        <p:spPr>
          <a:xfrm>
            <a:off x="1275723" y="429775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 we own them outright</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254526"/>
            <a:ext cx="283461" cy="283468"/>
          </a:xfrm>
          <a:prstGeom prst="rect">
            <a:avLst/>
          </a:prstGeom>
        </p:spPr>
      </p:pic>
      <p:sp>
        <p:nvSpPr>
          <p:cNvPr id="11" name="Text 4"/>
          <p:cNvSpPr/>
          <p:nvPr/>
        </p:nvSpPr>
        <p:spPr>
          <a:xfrm>
            <a:off x="1275723" y="524867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Our submission is fully original work</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656134"/>
            <a:ext cx="6296860" cy="1162844"/>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The honest version is shorter and stronger</a:t>
            </a:r>
            <a:endParaRPr lang="en-US" sz="36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093714"/>
            <a:ext cx="6296860" cy="713581"/>
          </a:xfrm>
          <a:prstGeom prst="rect">
            <a:avLst/>
          </a:prstGeom>
        </p:spPr>
      </p:pic>
      <p:sp>
        <p:nvSpPr>
          <p:cNvPr id="5" name="Text 1"/>
          <p:cNvSpPr/>
          <p:nvPr/>
        </p:nvSpPr>
        <p:spPr>
          <a:xfrm>
            <a:off x="974502" y="2305149"/>
            <a:ext cx="577240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Drafted with a local model, then edited by us</a:t>
            </a:r>
            <a:endParaRPr lang="en-US" sz="18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990453"/>
            <a:ext cx="6296860" cy="713581"/>
          </a:xfrm>
          <a:prstGeom prst="rect">
            <a:avLst/>
          </a:prstGeom>
        </p:spPr>
      </p:pic>
      <p:sp>
        <p:nvSpPr>
          <p:cNvPr id="7" name="Text 2"/>
          <p:cNvSpPr/>
          <p:nvPr/>
        </p:nvSpPr>
        <p:spPr>
          <a:xfrm>
            <a:off x="974502" y="3201888"/>
            <a:ext cx="5772402" cy="290711"/>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Our provenance record lists which sections</a:t>
            </a:r>
            <a:endParaRPr lang="en-US" sz="18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887192"/>
            <a:ext cx="6296860" cy="1004292"/>
          </a:xfrm>
          <a:prstGeom prst="rect">
            <a:avLst/>
          </a:prstGeom>
        </p:spPr>
      </p:pic>
      <p:sp>
        <p:nvSpPr>
          <p:cNvPr id="9" name="Text 3"/>
          <p:cNvSpPr/>
          <p:nvPr/>
        </p:nvSpPr>
        <p:spPr>
          <a:xfrm>
            <a:off x="974502" y="4098627"/>
            <a:ext cx="5772402"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We are not claiming copyright in the unedited output</a:t>
            </a:r>
            <a:endParaRPr lang="en-US" sz="18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074642"/>
            <a:ext cx="6296860" cy="1004292"/>
          </a:xfrm>
          <a:prstGeom prst="rect">
            <a:avLst/>
          </a:prstGeom>
        </p:spPr>
      </p:pic>
      <p:sp>
        <p:nvSpPr>
          <p:cNvPr id="11" name="Text 4"/>
          <p:cNvSpPr/>
          <p:nvPr/>
        </p:nvSpPr>
        <p:spPr>
          <a:xfrm>
            <a:off x="974502" y="5286077"/>
            <a:ext cx="5772402" cy="581422"/>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Third-party components are listed with their licenses</a:t>
            </a:r>
            <a:endParaRPr lang="en-US" sz="180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61538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3" name="Text 1"/>
          <p:cNvSpPr/>
          <p:nvPr/>
        </p:nvSpPr>
        <p:spPr>
          <a:xfrm>
            <a:off x="661475"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4" name="Shape 2"/>
          <p:cNvSpPr/>
          <p:nvPr/>
        </p:nvSpPr>
        <p:spPr>
          <a:xfrm>
            <a:off x="661475" y="2879923"/>
            <a:ext cx="5339820" cy="25400"/>
          </a:xfrm>
          <a:prstGeom prst="rect">
            <a:avLst/>
          </a:prstGeom>
          <a:solidFill>
            <a:srgbClr val="57A1EB"/>
          </a:solidFill>
          <a:ln/>
        </p:spPr>
      </p:sp>
      <p:sp>
        <p:nvSpPr>
          <p:cNvPr id="5" name="Text 3"/>
          <p:cNvSpPr/>
          <p:nvPr/>
        </p:nvSpPr>
        <p:spPr>
          <a:xfrm>
            <a:off x="661475" y="3025180"/>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Open the model license and answer the four questions</a:t>
            </a:r>
            <a:endParaRPr lang="en-US" sz="1850" dirty="0"/>
          </a:p>
        </p:txBody>
      </p:sp>
      <p:sp>
        <p:nvSpPr>
          <p:cNvPr id="6" name="Text 4"/>
          <p:cNvSpPr/>
          <p:nvPr/>
        </p:nvSpPr>
        <p:spPr>
          <a:xfrm>
            <a:off x="6190301" y="258405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7" name="Shape 5"/>
          <p:cNvSpPr/>
          <p:nvPr/>
        </p:nvSpPr>
        <p:spPr>
          <a:xfrm>
            <a:off x="6190301" y="2879923"/>
            <a:ext cx="5339919" cy="25400"/>
          </a:xfrm>
          <a:prstGeom prst="rect">
            <a:avLst/>
          </a:prstGeom>
          <a:solidFill>
            <a:srgbClr val="57A1EB"/>
          </a:solidFill>
          <a:ln/>
        </p:spPr>
      </p:sp>
      <p:sp>
        <p:nvSpPr>
          <p:cNvPr id="8" name="Text 6"/>
          <p:cNvSpPr/>
          <p:nvPr/>
        </p:nvSpPr>
        <p:spPr>
          <a:xfrm>
            <a:off x="6190301" y="3025180"/>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the model row of your licensing manifest</a:t>
            </a:r>
            <a:endParaRPr lang="en-US" sz="1850" dirty="0"/>
          </a:p>
        </p:txBody>
      </p:sp>
      <p:sp>
        <p:nvSpPr>
          <p:cNvPr id="9" name="Text 7"/>
          <p:cNvSpPr/>
          <p:nvPr/>
        </p:nvSpPr>
        <p:spPr>
          <a:xfrm>
            <a:off x="661475"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0" name="Shape 8"/>
          <p:cNvSpPr/>
          <p:nvPr/>
        </p:nvSpPr>
        <p:spPr>
          <a:xfrm>
            <a:off x="661475" y="4242296"/>
            <a:ext cx="5339820" cy="25400"/>
          </a:xfrm>
          <a:prstGeom prst="rect">
            <a:avLst/>
          </a:prstGeom>
          <a:solidFill>
            <a:srgbClr val="57A1EB"/>
          </a:solidFill>
          <a:ln/>
        </p:spPr>
      </p:sp>
      <p:sp>
        <p:nvSpPr>
          <p:cNvPr id="11" name="Text 9"/>
          <p:cNvSpPr/>
          <p:nvPr/>
        </p:nvSpPr>
        <p:spPr>
          <a:xfrm>
            <a:off x="661475" y="4387552"/>
            <a:ext cx="5339820"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your project's disclosure paragraph, three sentences</a:t>
            </a:r>
            <a:endParaRPr lang="en-US" sz="1850" dirty="0"/>
          </a:p>
        </p:txBody>
      </p:sp>
      <p:sp>
        <p:nvSpPr>
          <p:cNvPr id="12" name="Text 10"/>
          <p:cNvSpPr/>
          <p:nvPr/>
        </p:nvSpPr>
        <p:spPr>
          <a:xfrm>
            <a:off x="6190301" y="3946426"/>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3" name="Shape 11"/>
          <p:cNvSpPr/>
          <p:nvPr/>
        </p:nvSpPr>
        <p:spPr>
          <a:xfrm>
            <a:off x="6190301" y="4242296"/>
            <a:ext cx="5339919" cy="25400"/>
          </a:xfrm>
          <a:prstGeom prst="rect">
            <a:avLst/>
          </a:prstGeom>
          <a:solidFill>
            <a:srgbClr val="57A1EB"/>
          </a:solidFill>
          <a:ln/>
        </p:spPr>
      </p:sp>
      <p:sp>
        <p:nvSpPr>
          <p:cNvPr id="14" name="Text 12"/>
          <p:cNvSpPr/>
          <p:nvPr/>
        </p:nvSpPr>
        <p:spPr>
          <a:xfrm>
            <a:off x="6190301" y="4387552"/>
            <a:ext cx="5339919"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Start a provenance record you will keep all semester</a:t>
            </a:r>
            <a:endParaRPr lang="en-US" sz="18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2026-09-16T03:34:09Z</dcterms:created>
  <dcterms:modified xsi:type="dcterms:W3CDTF">2026-09-16T03:34:09Z</dcterms:modified>
</cp:coreProperties>
</file>