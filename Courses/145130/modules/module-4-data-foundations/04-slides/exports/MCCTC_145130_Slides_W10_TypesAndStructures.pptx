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list the exam asks you about and it feels slippery for a reason nobody tells you. Those words are not competing answers to one question. They answer four different questions, and once you see which is which the whole topic stops being a pile you have to memorise.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Shape is relational, document, graph, vector. Purpose is warehouse or lake. Deployment is distributed or cloud. Licence is open source. A hosted PostgreSQL is all four at once: relational, distributed, cloud, and open source. Those are not four answers to pick between.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rule for the whole topic. Look at the shape of the question you are going to ask and pick the structure that answers that shape cheaply. Not the newest one, not the one in the job advert. And say the size out loud, because a recommendation with no size in it is not a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lookup, everything about that item, no joins at all. That is the document model's whole argument and it is a good one. The catalog arrives in exactly this shape, so somebody could reasonably say we already have a document database and it is called a JSON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answer as the SQL version, one line longer, and notice what you did. You wrote the loop. The document store has no index across documents unless you build one. Same answer, different person writing the loop, and that is most of the trade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has borrowed the same equipment as Amara is one join and it returns eight of the other thirteen members. Two steps is that join nested inside itself. A graph database stores the relationship as a thing, so three steps is one short expression. It is also a whole second system to install, learn, and back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people think is magic. It is not. You will write the whole thing in Week 12 in about eight lines over SQLite. What a real vector database adds is an index so it does not compare every row, and that starts to matter in the millions. It does not add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somebody says AI database, they mean one of those three, and they often have not decided which. Asking is not being difficult, it is the skill. You will meet this in a Gate 2 in this module, in a document that gets several other things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hear this sentence, from somebody who sounds like they know. Three problems. NoSQL names four different things. Better has no comparison and no number. And a store that accepts any shape accepts your typo too, which is exactly what Tuesday was about. Sometimes that is the right trade, and you say so out loud when you make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two is the start of the database comparison memo, which is due Friday of Week 11 and is the largest single piece of written work in this module. Four workloads, four recommendations, and every one of them names something it makes harder. A recommendation with no cost in it is a sales pitch and it scores like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2.png"/><Relationship Id="rId5" Type="http://schemas.openxmlformats.org/officeDocument/2006/relationships/image" Target="../media/image-4-3.svg"/><Relationship Id="rId6" Type="http://schemas.openxmlformats.org/officeDocument/2006/relationships/image" Target="../media/image-4-2.png"/><Relationship Id="rId7" Type="http://schemas.openxmlformats.org/officeDocument/2006/relationships/image" Target="../media/image-4-3.svg"/><Relationship Id="rId8" Type="http://schemas.openxmlformats.org/officeDocument/2006/relationships/image" Target="../media/image-4-2.png"/><Relationship Id="rId9" Type="http://schemas.openxmlformats.org/officeDocument/2006/relationships/image" Target="../media/image-4-3.sv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2.png"/><Relationship Id="rId5" Type="http://schemas.openxmlformats.org/officeDocument/2006/relationships/image" Target="../media/image-7-3.svg"/><Relationship Id="rId6" Type="http://schemas.openxmlformats.org/officeDocument/2006/relationships/image" Target="../media/image-7-2.png"/><Relationship Id="rId7" Type="http://schemas.openxmlformats.org/officeDocument/2006/relationships/image" Target="../media/image-7-3.svg"/><Relationship Id="rId8" Type="http://schemas.openxmlformats.org/officeDocument/2006/relationships/image" Target="../media/image-7-2.png"/><Relationship Id="rId9" Type="http://schemas.openxmlformats.org/officeDocument/2006/relationships/image" Target="../media/image-7-3.sv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1.png"/><Relationship Id="rId4" Type="http://schemas.openxmlformats.org/officeDocument/2006/relationships/image" Target="../media/image-10-2.svg"/><Relationship Id="rId5" Type="http://schemas.openxmlformats.org/officeDocument/2006/relationships/image" Target="../media/image-10-1.png"/><Relationship Id="rId6" Type="http://schemas.openxmlformats.org/officeDocument/2006/relationships/image" Target="../media/image-10-2.sv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Database Types and Structures, Compared Honestly</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71302"/>
            <a:ext cx="6296860" cy="563066"/>
          </a:xfrm>
          <a:prstGeom prst="rect">
            <a:avLst/>
          </a:prstGeom>
          <a:noFill/>
          <a:ln/>
        </p:spPr>
        <p:txBody>
          <a:bodyPr wrap="none" lIns="0" tIns="0" rIns="0" bIns="0" rtlCol="0" anchor="t"/>
          <a:lstStyle/>
          <a:p>
            <a:pPr algn="l" indent="0" marL="0">
              <a:lnSpc>
                <a:spcPct val="104000"/>
              </a:lnSpc>
              <a:buNone/>
            </a:pPr>
            <a:r>
              <a:rPr lang="en-US" sz="3500" b="1" dirty="0">
                <a:solidFill>
                  <a:srgbClr val="111111"/>
                </a:solidFill>
                <a:latin typeface="Orbitron Bold" pitchFamily="34" charset="0"/>
                <a:ea typeface="Orbitron Bold" pitchFamily="34" charset="-122"/>
                <a:cs typeface="Orbitron Bold" pitchFamily="34" charset="-120"/>
              </a:rPr>
              <a:t>The list nobody explains</a:t>
            </a:r>
            <a:endParaRPr lang="en-US" sz="3500" dirty="0"/>
          </a:p>
        </p:txBody>
      </p:sp>
      <p:sp>
        <p:nvSpPr>
          <p:cNvPr id="4" name="Shape 1"/>
          <p:cNvSpPr/>
          <p:nvPr/>
        </p:nvSpPr>
        <p:spPr>
          <a:xfrm>
            <a:off x="5233360" y="1391940"/>
            <a:ext cx="6296860" cy="1064220"/>
          </a:xfrm>
          <a:prstGeom prst="roundRect">
            <a:avLst>
              <a:gd name="adj" fmla="val 7110"/>
            </a:avLst>
          </a:prstGeom>
          <a:solidFill>
            <a:srgbClr val="D1E5FA"/>
          </a:solidFill>
          <a:ln w="19050">
            <a:solidFill>
              <a:srgbClr val="B7CBE0"/>
            </a:solidFill>
            <a:prstDash val="solid"/>
          </a:ln>
        </p:spPr>
      </p:sp>
      <p:sp>
        <p:nvSpPr>
          <p:cNvPr id="5" name="Text 2"/>
          <p:cNvSpPr/>
          <p:nvPr/>
        </p:nvSpPr>
        <p:spPr>
          <a:xfrm>
            <a:off x="5432488" y="1591072"/>
            <a:ext cx="5898606" cy="281484"/>
          </a:xfrm>
          <a:prstGeom prst="rect">
            <a:avLst/>
          </a:prstGeom>
          <a:noFill/>
          <a:ln/>
        </p:spPr>
        <p:txBody>
          <a:bodyPr wrap="none" lIns="0" tIns="0" rIns="0" bIns="0" rtlCol="0" anchor="t"/>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Data Model</a:t>
            </a:r>
            <a:endParaRPr lang="en-US" sz="1750" dirty="0"/>
          </a:p>
        </p:txBody>
      </p:sp>
      <p:sp>
        <p:nvSpPr>
          <p:cNvPr id="6" name="Text 3"/>
          <p:cNvSpPr/>
          <p:nvPr/>
        </p:nvSpPr>
        <p:spPr>
          <a:xfrm>
            <a:off x="5432488" y="1975545"/>
            <a:ext cx="5898606" cy="281484"/>
          </a:xfrm>
          <a:prstGeom prst="rect">
            <a:avLst/>
          </a:prstGeom>
          <a:noFill/>
          <a:ln/>
        </p:spPr>
        <p:txBody>
          <a:bodyPr wrap="none" lIns="0" tIns="0" rIns="0" bIns="0" rtlCol="0" anchor="t"/>
          <a:lstStyle/>
          <a:p>
            <a:pPr algn="l" indent="0" marL="0">
              <a:lnSpc>
                <a:spcPct val="130000"/>
              </a:lnSpc>
              <a:buNone/>
            </a:pPr>
            <a:r>
              <a:rPr lang="en-US" sz="1400" dirty="0">
                <a:solidFill>
                  <a:srgbClr val="1C1C1C"/>
                </a:solidFill>
                <a:latin typeface="Roboto Condensed" pitchFamily="34" charset="0"/>
                <a:ea typeface="Roboto Condensed" pitchFamily="34" charset="-122"/>
                <a:cs typeface="Roboto Condensed" pitchFamily="34" charset="-120"/>
              </a:rPr>
              <a:t>Relational, NoSQL, graph, data warehouse</a:t>
            </a:r>
            <a:endParaRPr lang="en-US" sz="1400" dirty="0"/>
          </a:p>
        </p:txBody>
      </p:sp>
      <p:sp>
        <p:nvSpPr>
          <p:cNvPr id="7" name="Shape 4"/>
          <p:cNvSpPr/>
          <p:nvPr/>
        </p:nvSpPr>
        <p:spPr>
          <a:xfrm>
            <a:off x="5233360" y="2627809"/>
            <a:ext cx="6296860" cy="1064220"/>
          </a:xfrm>
          <a:prstGeom prst="roundRect">
            <a:avLst>
              <a:gd name="adj" fmla="val 7110"/>
            </a:avLst>
          </a:prstGeom>
          <a:solidFill>
            <a:srgbClr val="D1E5FA"/>
          </a:solidFill>
          <a:ln w="19050">
            <a:solidFill>
              <a:srgbClr val="B7CBE0"/>
            </a:solidFill>
            <a:prstDash val="solid"/>
          </a:ln>
        </p:spPr>
      </p:sp>
      <p:sp>
        <p:nvSpPr>
          <p:cNvPr id="8" name="Text 5"/>
          <p:cNvSpPr/>
          <p:nvPr/>
        </p:nvSpPr>
        <p:spPr>
          <a:xfrm>
            <a:off x="5432488" y="2826941"/>
            <a:ext cx="5898606" cy="281484"/>
          </a:xfrm>
          <a:prstGeom prst="rect">
            <a:avLst/>
          </a:prstGeom>
          <a:noFill/>
          <a:ln/>
        </p:spPr>
        <p:txBody>
          <a:bodyPr wrap="none" lIns="0" tIns="0" rIns="0" bIns="0" rtlCol="0" anchor="t"/>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Deployment</a:t>
            </a:r>
            <a:endParaRPr lang="en-US" sz="1750" dirty="0"/>
          </a:p>
        </p:txBody>
      </p:sp>
      <p:sp>
        <p:nvSpPr>
          <p:cNvPr id="9" name="Text 6"/>
          <p:cNvSpPr/>
          <p:nvPr/>
        </p:nvSpPr>
        <p:spPr>
          <a:xfrm>
            <a:off x="5432488" y="3211413"/>
            <a:ext cx="5898606" cy="281484"/>
          </a:xfrm>
          <a:prstGeom prst="rect">
            <a:avLst/>
          </a:prstGeom>
          <a:noFill/>
          <a:ln/>
        </p:spPr>
        <p:txBody>
          <a:bodyPr wrap="none" lIns="0" tIns="0" rIns="0" bIns="0" rtlCol="0" anchor="t"/>
          <a:lstStyle/>
          <a:p>
            <a:pPr algn="l" indent="0" marL="0">
              <a:lnSpc>
                <a:spcPct val="130000"/>
              </a:lnSpc>
              <a:buNone/>
            </a:pPr>
            <a:r>
              <a:rPr lang="en-US" sz="1400" dirty="0">
                <a:solidFill>
                  <a:srgbClr val="1C1C1C"/>
                </a:solidFill>
                <a:latin typeface="Roboto Condensed" pitchFamily="34" charset="0"/>
                <a:ea typeface="Roboto Condensed" pitchFamily="34" charset="-122"/>
                <a:cs typeface="Roboto Condensed" pitchFamily="34" charset="-120"/>
              </a:rPr>
              <a:t>Distributed, open source, cloud, AI database</a:t>
            </a:r>
            <a:endParaRPr lang="en-US" sz="1400" dirty="0"/>
          </a:p>
        </p:txBody>
      </p:sp>
      <p:sp>
        <p:nvSpPr>
          <p:cNvPr id="10" name="Shape 7"/>
          <p:cNvSpPr/>
          <p:nvPr/>
        </p:nvSpPr>
        <p:spPr>
          <a:xfrm>
            <a:off x="5233360" y="3863677"/>
            <a:ext cx="6296860" cy="1064220"/>
          </a:xfrm>
          <a:prstGeom prst="roundRect">
            <a:avLst>
              <a:gd name="adj" fmla="val 7110"/>
            </a:avLst>
          </a:prstGeom>
          <a:solidFill>
            <a:srgbClr val="D1E5FA"/>
          </a:solidFill>
          <a:ln w="19050">
            <a:solidFill>
              <a:srgbClr val="B7CBE0"/>
            </a:solidFill>
            <a:prstDash val="solid"/>
          </a:ln>
        </p:spPr>
      </p:sp>
      <p:sp>
        <p:nvSpPr>
          <p:cNvPr id="11" name="Text 8"/>
          <p:cNvSpPr/>
          <p:nvPr/>
        </p:nvSpPr>
        <p:spPr>
          <a:xfrm>
            <a:off x="5432488" y="4062809"/>
            <a:ext cx="5898606" cy="281484"/>
          </a:xfrm>
          <a:prstGeom prst="rect">
            <a:avLst/>
          </a:prstGeom>
          <a:noFill/>
          <a:ln/>
        </p:spPr>
        <p:txBody>
          <a:bodyPr wrap="none" lIns="0" tIns="0" rIns="0" bIns="0" rtlCol="0" anchor="t"/>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Structure</a:t>
            </a:r>
            <a:endParaRPr lang="en-US" sz="1750" dirty="0"/>
          </a:p>
        </p:txBody>
      </p:sp>
      <p:sp>
        <p:nvSpPr>
          <p:cNvPr id="12" name="Text 9"/>
          <p:cNvSpPr/>
          <p:nvPr/>
        </p:nvSpPr>
        <p:spPr>
          <a:xfrm>
            <a:off x="5432488" y="4447282"/>
            <a:ext cx="5898606" cy="281484"/>
          </a:xfrm>
          <a:prstGeom prst="rect">
            <a:avLst/>
          </a:prstGeom>
          <a:noFill/>
          <a:ln/>
        </p:spPr>
        <p:txBody>
          <a:bodyPr wrap="none" lIns="0" tIns="0" rIns="0" bIns="0" rtlCol="0" anchor="t"/>
          <a:lstStyle/>
          <a:p>
            <a:pPr algn="l" indent="0" marL="0">
              <a:lnSpc>
                <a:spcPct val="130000"/>
              </a:lnSpc>
              <a:buNone/>
            </a:pPr>
            <a:r>
              <a:rPr lang="en-US" sz="1400" dirty="0">
                <a:solidFill>
                  <a:srgbClr val="1C1C1C"/>
                </a:solidFill>
                <a:latin typeface="Roboto Condensed" pitchFamily="34" charset="0"/>
                <a:ea typeface="Roboto Condensed" pitchFamily="34" charset="-122"/>
                <a:cs typeface="Roboto Condensed" pitchFamily="34" charset="-120"/>
              </a:rPr>
              <a:t>Flat file, hierarchical, data lake, multi-modal</a:t>
            </a:r>
            <a:endParaRPr lang="en-US" sz="1400" dirty="0"/>
          </a:p>
        </p:txBody>
      </p:sp>
      <p:sp>
        <p:nvSpPr>
          <p:cNvPr id="13" name="Shape 10"/>
          <p:cNvSpPr/>
          <p:nvPr/>
        </p:nvSpPr>
        <p:spPr>
          <a:xfrm>
            <a:off x="5233360" y="5099546"/>
            <a:ext cx="6296860" cy="1064220"/>
          </a:xfrm>
          <a:prstGeom prst="roundRect">
            <a:avLst>
              <a:gd name="adj" fmla="val 7110"/>
            </a:avLst>
          </a:prstGeom>
          <a:solidFill>
            <a:srgbClr val="D1E5FA"/>
          </a:solidFill>
          <a:ln w="19050">
            <a:solidFill>
              <a:srgbClr val="B7CBE0"/>
            </a:solidFill>
            <a:prstDash val="solid"/>
          </a:ln>
        </p:spPr>
      </p:sp>
      <p:sp>
        <p:nvSpPr>
          <p:cNvPr id="14" name="Text 11"/>
          <p:cNvSpPr/>
          <p:nvPr/>
        </p:nvSpPr>
        <p:spPr>
          <a:xfrm>
            <a:off x="5432488" y="5298678"/>
            <a:ext cx="5898606" cy="281484"/>
          </a:xfrm>
          <a:prstGeom prst="rect">
            <a:avLst/>
          </a:prstGeom>
          <a:noFill/>
          <a:ln/>
        </p:spPr>
        <p:txBody>
          <a:bodyPr wrap="none" lIns="0" tIns="0" rIns="0" bIns="0" rtlCol="0" anchor="t"/>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The Point</a:t>
            </a:r>
            <a:endParaRPr lang="en-US" sz="1750" dirty="0"/>
          </a:p>
        </p:txBody>
      </p:sp>
      <p:sp>
        <p:nvSpPr>
          <p:cNvPr id="15" name="Text 12"/>
          <p:cNvSpPr/>
          <p:nvPr/>
        </p:nvSpPr>
        <p:spPr>
          <a:xfrm>
            <a:off x="5432488" y="5683151"/>
            <a:ext cx="5898606" cy="281484"/>
          </a:xfrm>
          <a:prstGeom prst="rect">
            <a:avLst/>
          </a:prstGeom>
          <a:noFill/>
          <a:ln/>
        </p:spPr>
        <p:txBody>
          <a:bodyPr wrap="none" lIns="0" tIns="0" rIns="0" bIns="0" rtlCol="0" anchor="t"/>
          <a:lstStyle/>
          <a:p>
            <a:pPr algn="l" indent="0" marL="0">
              <a:lnSpc>
                <a:spcPct val="130000"/>
              </a:lnSpc>
              <a:buNone/>
            </a:pPr>
            <a:r>
              <a:rPr lang="en-US" sz="1400" dirty="0">
                <a:solidFill>
                  <a:srgbClr val="1C1C1C"/>
                </a:solidFill>
                <a:latin typeface="Roboto Condensed" pitchFamily="34" charset="0"/>
                <a:ea typeface="Roboto Condensed" pitchFamily="34" charset="-122"/>
                <a:cs typeface="Roboto Condensed" pitchFamily="34" charset="-120"/>
              </a:rPr>
              <a:t>These are four different kinds of category</a:t>
            </a:r>
            <a:endParaRPr lang="en-US" sz="1400" dirty="0"/>
          </a:p>
        </p:txBody>
      </p:sp>
      <p:sp>
        <p:nvSpPr>
          <p:cNvPr id="16" name="Text 1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19807"/>
            <a:ext cx="10868745"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Four questions, not one</a:t>
            </a:r>
            <a:endParaRPr lang="en-US" sz="1850" dirty="0"/>
          </a:p>
        </p:txBody>
      </p:sp>
      <p:pic>
        <p:nvPicPr>
          <p:cNvPr id="3" name="Image 0" descr="preencoded.png">    </p:cNvPr>
          <p:cNvPicPr>
            <a:picLocks noChangeAspect="1"/>
          </p:cNvPicPr>
          <p:nvPr/>
        </p:nvPicPr>
        <p:blipFill>
          <a:blip r:embed="rId1"/>
          <a:stretch>
            <a:fillRect/>
          </a:stretch>
        </p:blipFill>
        <p:spPr>
          <a:xfrm>
            <a:off x="661475" y="939006"/>
            <a:ext cx="5319083" cy="5319216"/>
          </a:xfrm>
          <a:prstGeom prst="rect">
            <a:avLst/>
          </a:prstGeom>
        </p:spPr>
      </p:pic>
      <p:sp>
        <p:nvSpPr>
          <p:cNvPr id="4" name="Shape 1"/>
          <p:cNvSpPr/>
          <p:nvPr/>
        </p:nvSpPr>
        <p:spPr>
          <a:xfrm>
            <a:off x="6217487" y="3031629"/>
            <a:ext cx="212620" cy="212626"/>
          </a:xfrm>
          <a:prstGeom prst="roundRect">
            <a:avLst>
              <a:gd name="adj" fmla="val 18669"/>
            </a:avLst>
          </a:prstGeom>
          <a:solidFill>
            <a:srgbClr val="D1E5FA"/>
          </a:solidFill>
          <a:ln w="6350">
            <a:solidFill>
              <a:srgbClr val="B7CBE0"/>
            </a:solidFill>
            <a:prstDash val="solid"/>
          </a:ln>
        </p:spPr>
      </p:sp>
      <p:sp>
        <p:nvSpPr>
          <p:cNvPr id="5" name="Text 2"/>
          <p:cNvSpPr/>
          <p:nvPr/>
        </p:nvSpPr>
        <p:spPr>
          <a:xfrm>
            <a:off x="6252907" y="3049290"/>
            <a:ext cx="141681" cy="177205"/>
          </a:xfrm>
          <a:prstGeom prst="rect">
            <a:avLst/>
          </a:prstGeom>
          <a:noFill/>
          <a:ln/>
        </p:spPr>
        <p:txBody>
          <a:bodyPr wrap="none" lIns="0" tIns="0" rIns="0" bIns="0" rtlCol="0" anchor="ctr"/>
          <a:lstStyle/>
          <a:p>
            <a:pPr algn="ctr" indent="0" marL="0">
              <a:lnSpc>
                <a:spcPct val="100000"/>
              </a:lnSpc>
              <a:buNone/>
            </a:pPr>
            <a:r>
              <a:rPr lang="en-US" sz="1100" b="1" dirty="0">
                <a:solidFill>
                  <a:srgbClr val="1C1C1C"/>
                </a:solidFill>
                <a:latin typeface="Orbitron Bold" pitchFamily="34" charset="0"/>
                <a:ea typeface="Orbitron Bold" pitchFamily="34" charset="-122"/>
                <a:cs typeface="Orbitron Bold" pitchFamily="34" charset="-120"/>
              </a:rPr>
              <a:t>1</a:t>
            </a:r>
            <a:endParaRPr lang="en-US" sz="1100" dirty="0"/>
          </a:p>
        </p:txBody>
      </p:sp>
      <p:sp>
        <p:nvSpPr>
          <p:cNvPr id="6" name="Text 3"/>
          <p:cNvSpPr/>
          <p:nvPr/>
        </p:nvSpPr>
        <p:spPr>
          <a:xfrm>
            <a:off x="6477334" y="3064073"/>
            <a:ext cx="5059236" cy="147638"/>
          </a:xfrm>
          <a:prstGeom prst="rect">
            <a:avLst/>
          </a:prstGeom>
          <a:noFill/>
          <a:ln/>
        </p:spPr>
        <p:txBody>
          <a:bodyPr wrap="none" lIns="0" tIns="0" rIns="0" bIns="0" rtlCol="0" anchor="t"/>
          <a:lstStyle/>
          <a:p>
            <a:pPr algn="l" indent="0" marL="0">
              <a:lnSpc>
                <a:spcPct val="104000"/>
              </a:lnSpc>
              <a:buNone/>
            </a:pPr>
            <a:r>
              <a:rPr lang="en-US" sz="900" b="1" dirty="0">
                <a:solidFill>
                  <a:srgbClr val="1C1C1C"/>
                </a:solidFill>
                <a:latin typeface="Orbitron Bold" pitchFamily="34" charset="0"/>
                <a:ea typeface="Orbitron Bold" pitchFamily="34" charset="-122"/>
                <a:cs typeface="Orbitron Bold" pitchFamily="34" charset="-120"/>
              </a:rPr>
              <a:t>How is the data shaped</a:t>
            </a:r>
            <a:endParaRPr lang="en-US" sz="900" dirty="0"/>
          </a:p>
        </p:txBody>
      </p:sp>
      <p:sp>
        <p:nvSpPr>
          <p:cNvPr id="7" name="Shape 4"/>
          <p:cNvSpPr/>
          <p:nvPr/>
        </p:nvSpPr>
        <p:spPr>
          <a:xfrm>
            <a:off x="6217487" y="3338711"/>
            <a:ext cx="212620" cy="212626"/>
          </a:xfrm>
          <a:prstGeom prst="roundRect">
            <a:avLst>
              <a:gd name="adj" fmla="val 18669"/>
            </a:avLst>
          </a:prstGeom>
          <a:solidFill>
            <a:srgbClr val="D1E5FA"/>
          </a:solidFill>
          <a:ln w="6350">
            <a:solidFill>
              <a:srgbClr val="B7CBE0"/>
            </a:solidFill>
            <a:prstDash val="solid"/>
          </a:ln>
        </p:spPr>
      </p:sp>
      <p:sp>
        <p:nvSpPr>
          <p:cNvPr id="8" name="Text 5"/>
          <p:cNvSpPr/>
          <p:nvPr/>
        </p:nvSpPr>
        <p:spPr>
          <a:xfrm>
            <a:off x="6252907" y="3356372"/>
            <a:ext cx="141681" cy="177205"/>
          </a:xfrm>
          <a:prstGeom prst="rect">
            <a:avLst/>
          </a:prstGeom>
          <a:noFill/>
          <a:ln/>
        </p:spPr>
        <p:txBody>
          <a:bodyPr wrap="none" lIns="0" tIns="0" rIns="0" bIns="0" rtlCol="0" anchor="ctr"/>
          <a:lstStyle/>
          <a:p>
            <a:pPr algn="ctr" indent="0" marL="0">
              <a:lnSpc>
                <a:spcPct val="100000"/>
              </a:lnSpc>
              <a:buNone/>
            </a:pPr>
            <a:r>
              <a:rPr lang="en-US" sz="1100" b="1" dirty="0">
                <a:solidFill>
                  <a:srgbClr val="1C1C1C"/>
                </a:solidFill>
                <a:latin typeface="Orbitron Bold" pitchFamily="34" charset="0"/>
                <a:ea typeface="Orbitron Bold" pitchFamily="34" charset="-122"/>
                <a:cs typeface="Orbitron Bold" pitchFamily="34" charset="-120"/>
              </a:rPr>
              <a:t>2</a:t>
            </a:r>
            <a:endParaRPr lang="en-US" sz="1100" dirty="0"/>
          </a:p>
        </p:txBody>
      </p:sp>
      <p:sp>
        <p:nvSpPr>
          <p:cNvPr id="9" name="Text 6"/>
          <p:cNvSpPr/>
          <p:nvPr/>
        </p:nvSpPr>
        <p:spPr>
          <a:xfrm>
            <a:off x="6477334" y="3371155"/>
            <a:ext cx="5059236" cy="147638"/>
          </a:xfrm>
          <a:prstGeom prst="rect">
            <a:avLst/>
          </a:prstGeom>
          <a:noFill/>
          <a:ln/>
        </p:spPr>
        <p:txBody>
          <a:bodyPr wrap="none" lIns="0" tIns="0" rIns="0" bIns="0" rtlCol="0" anchor="t"/>
          <a:lstStyle/>
          <a:p>
            <a:pPr algn="l" indent="0" marL="0">
              <a:lnSpc>
                <a:spcPct val="104000"/>
              </a:lnSpc>
              <a:buNone/>
            </a:pPr>
            <a:r>
              <a:rPr lang="en-US" sz="900" b="1" dirty="0">
                <a:solidFill>
                  <a:srgbClr val="1C1C1C"/>
                </a:solidFill>
                <a:latin typeface="Orbitron Bold" pitchFamily="34" charset="0"/>
                <a:ea typeface="Orbitron Bold" pitchFamily="34" charset="-122"/>
                <a:cs typeface="Orbitron Bold" pitchFamily="34" charset="-120"/>
              </a:rPr>
              <a:t>What is the system for</a:t>
            </a:r>
            <a:endParaRPr lang="en-US" sz="900" dirty="0"/>
          </a:p>
        </p:txBody>
      </p:sp>
      <p:sp>
        <p:nvSpPr>
          <p:cNvPr id="10" name="Shape 7"/>
          <p:cNvSpPr/>
          <p:nvPr/>
        </p:nvSpPr>
        <p:spPr>
          <a:xfrm>
            <a:off x="6217487" y="3645793"/>
            <a:ext cx="212620" cy="212626"/>
          </a:xfrm>
          <a:prstGeom prst="roundRect">
            <a:avLst>
              <a:gd name="adj" fmla="val 18669"/>
            </a:avLst>
          </a:prstGeom>
          <a:solidFill>
            <a:srgbClr val="D1E5FA"/>
          </a:solidFill>
          <a:ln w="6350">
            <a:solidFill>
              <a:srgbClr val="B7CBE0"/>
            </a:solidFill>
            <a:prstDash val="solid"/>
          </a:ln>
        </p:spPr>
      </p:sp>
      <p:sp>
        <p:nvSpPr>
          <p:cNvPr id="11" name="Text 8"/>
          <p:cNvSpPr/>
          <p:nvPr/>
        </p:nvSpPr>
        <p:spPr>
          <a:xfrm>
            <a:off x="6252907" y="3663454"/>
            <a:ext cx="141681" cy="177205"/>
          </a:xfrm>
          <a:prstGeom prst="rect">
            <a:avLst/>
          </a:prstGeom>
          <a:noFill/>
          <a:ln/>
        </p:spPr>
        <p:txBody>
          <a:bodyPr wrap="none" lIns="0" tIns="0" rIns="0" bIns="0" rtlCol="0" anchor="ctr"/>
          <a:lstStyle/>
          <a:p>
            <a:pPr algn="ctr" indent="0" marL="0">
              <a:lnSpc>
                <a:spcPct val="100000"/>
              </a:lnSpc>
              <a:buNone/>
            </a:pPr>
            <a:r>
              <a:rPr lang="en-US" sz="1100" b="1" dirty="0">
                <a:solidFill>
                  <a:srgbClr val="1C1C1C"/>
                </a:solidFill>
                <a:latin typeface="Orbitron Bold" pitchFamily="34" charset="0"/>
                <a:ea typeface="Orbitron Bold" pitchFamily="34" charset="-122"/>
                <a:cs typeface="Orbitron Bold" pitchFamily="34" charset="-120"/>
              </a:rPr>
              <a:t>3</a:t>
            </a:r>
            <a:endParaRPr lang="en-US" sz="1100" dirty="0"/>
          </a:p>
        </p:txBody>
      </p:sp>
      <p:sp>
        <p:nvSpPr>
          <p:cNvPr id="12" name="Text 9"/>
          <p:cNvSpPr/>
          <p:nvPr/>
        </p:nvSpPr>
        <p:spPr>
          <a:xfrm>
            <a:off x="6477334" y="3678238"/>
            <a:ext cx="5059236" cy="147638"/>
          </a:xfrm>
          <a:prstGeom prst="rect">
            <a:avLst/>
          </a:prstGeom>
          <a:noFill/>
          <a:ln/>
        </p:spPr>
        <p:txBody>
          <a:bodyPr wrap="none" lIns="0" tIns="0" rIns="0" bIns="0" rtlCol="0" anchor="t"/>
          <a:lstStyle/>
          <a:p>
            <a:pPr algn="l" indent="0" marL="0">
              <a:lnSpc>
                <a:spcPct val="104000"/>
              </a:lnSpc>
              <a:buNone/>
            </a:pPr>
            <a:r>
              <a:rPr lang="en-US" sz="900" b="1" dirty="0">
                <a:solidFill>
                  <a:srgbClr val="1C1C1C"/>
                </a:solidFill>
                <a:latin typeface="Orbitron Bold" pitchFamily="34" charset="0"/>
                <a:ea typeface="Orbitron Bold" pitchFamily="34" charset="-122"/>
                <a:cs typeface="Orbitron Bold" pitchFamily="34" charset="-120"/>
              </a:rPr>
              <a:t>How is it deployed</a:t>
            </a:r>
            <a:endParaRPr lang="en-US" sz="900" dirty="0"/>
          </a:p>
        </p:txBody>
      </p:sp>
      <p:sp>
        <p:nvSpPr>
          <p:cNvPr id="13" name="Shape 10"/>
          <p:cNvSpPr/>
          <p:nvPr/>
        </p:nvSpPr>
        <p:spPr>
          <a:xfrm>
            <a:off x="6217487" y="3952875"/>
            <a:ext cx="212620" cy="212626"/>
          </a:xfrm>
          <a:prstGeom prst="roundRect">
            <a:avLst>
              <a:gd name="adj" fmla="val 18669"/>
            </a:avLst>
          </a:prstGeom>
          <a:solidFill>
            <a:srgbClr val="D1E5FA"/>
          </a:solidFill>
          <a:ln w="6350">
            <a:solidFill>
              <a:srgbClr val="B7CBE0"/>
            </a:solidFill>
            <a:prstDash val="solid"/>
          </a:ln>
        </p:spPr>
      </p:sp>
      <p:sp>
        <p:nvSpPr>
          <p:cNvPr id="14" name="Text 11"/>
          <p:cNvSpPr/>
          <p:nvPr/>
        </p:nvSpPr>
        <p:spPr>
          <a:xfrm>
            <a:off x="6252907" y="3970536"/>
            <a:ext cx="141681" cy="177205"/>
          </a:xfrm>
          <a:prstGeom prst="rect">
            <a:avLst/>
          </a:prstGeom>
          <a:noFill/>
          <a:ln/>
        </p:spPr>
        <p:txBody>
          <a:bodyPr wrap="none" lIns="0" tIns="0" rIns="0" bIns="0" rtlCol="0" anchor="ctr"/>
          <a:lstStyle/>
          <a:p>
            <a:pPr algn="ctr" indent="0" marL="0">
              <a:lnSpc>
                <a:spcPct val="100000"/>
              </a:lnSpc>
              <a:buNone/>
            </a:pPr>
            <a:r>
              <a:rPr lang="en-US" sz="1100" b="1" dirty="0">
                <a:solidFill>
                  <a:srgbClr val="1C1C1C"/>
                </a:solidFill>
                <a:latin typeface="Orbitron Bold" pitchFamily="34" charset="0"/>
                <a:ea typeface="Orbitron Bold" pitchFamily="34" charset="-122"/>
                <a:cs typeface="Orbitron Bold" pitchFamily="34" charset="-120"/>
              </a:rPr>
              <a:t>4</a:t>
            </a:r>
            <a:endParaRPr lang="en-US" sz="1100" dirty="0"/>
          </a:p>
        </p:txBody>
      </p:sp>
      <p:sp>
        <p:nvSpPr>
          <p:cNvPr id="15" name="Text 12"/>
          <p:cNvSpPr/>
          <p:nvPr/>
        </p:nvSpPr>
        <p:spPr>
          <a:xfrm>
            <a:off x="6477334" y="3985320"/>
            <a:ext cx="5059236" cy="147638"/>
          </a:xfrm>
          <a:prstGeom prst="rect">
            <a:avLst/>
          </a:prstGeom>
          <a:noFill/>
          <a:ln/>
        </p:spPr>
        <p:txBody>
          <a:bodyPr wrap="none" lIns="0" tIns="0" rIns="0" bIns="0" rtlCol="0" anchor="t"/>
          <a:lstStyle/>
          <a:p>
            <a:pPr algn="l" indent="0" marL="0">
              <a:lnSpc>
                <a:spcPct val="104000"/>
              </a:lnSpc>
              <a:buNone/>
            </a:pPr>
            <a:r>
              <a:rPr lang="en-US" sz="900" b="1" dirty="0">
                <a:solidFill>
                  <a:srgbClr val="1C1C1C"/>
                </a:solidFill>
                <a:latin typeface="Orbitron Bold" pitchFamily="34" charset="0"/>
                <a:ea typeface="Orbitron Bold" pitchFamily="34" charset="-122"/>
                <a:cs typeface="Orbitron Bold" pitchFamily="34" charset="-120"/>
              </a:rPr>
              <a:t>How is it licensed</a:t>
            </a:r>
            <a:endParaRPr lang="en-US" sz="900" dirty="0"/>
          </a:p>
        </p:txBody>
      </p:sp>
      <p:sp>
        <p:nvSpPr>
          <p:cNvPr id="16" name="Text 13"/>
          <p:cNvSpPr/>
          <p:nvPr/>
        </p:nvSpPr>
        <p:spPr>
          <a:xfrm>
            <a:off x="132255" y="6553200"/>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40742"/>
            <a:ext cx="6296860" cy="1033463"/>
          </a:xfrm>
          <a:prstGeom prst="rect">
            <a:avLst/>
          </a:prstGeom>
          <a:noFill/>
          <a:ln/>
        </p:spPr>
        <p:txBody>
          <a:bodyPr wrap="square" lIns="0" tIns="0" rIns="0" bIns="0" rtlCol="0" anchor="t">
            <a:normAutofit/>
          </a:bodyPr>
          <a:lstStyle/>
          <a:p>
            <a:pPr algn="l" indent="0" marL="0">
              <a:lnSpc>
                <a:spcPct val="104000"/>
              </a:lnSpc>
              <a:buNone/>
            </a:pPr>
            <a:r>
              <a:rPr lang="en-US" sz="3250" b="1" dirty="0">
                <a:solidFill>
                  <a:srgbClr val="111111"/>
                </a:solidFill>
                <a:latin typeface="Orbitron Bold" pitchFamily="34" charset="0"/>
                <a:ea typeface="Orbitron Bold" pitchFamily="34" charset="-122"/>
                <a:cs typeface="Orbitron Bold" pitchFamily="34" charset="-120"/>
              </a:rPr>
              <a:t>The question picks the structure</a:t>
            </a:r>
            <a:endParaRPr lang="en-US" sz="32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1791196"/>
            <a:ext cx="6296860" cy="992287"/>
          </a:xfrm>
          <a:prstGeom prst="rect">
            <a:avLst/>
          </a:prstGeom>
        </p:spPr>
      </p:pic>
      <p:sp>
        <p:nvSpPr>
          <p:cNvPr id="5" name="Text 1"/>
          <p:cNvSpPr/>
          <p:nvPr/>
        </p:nvSpPr>
        <p:spPr>
          <a:xfrm>
            <a:off x="877667" y="2132310"/>
            <a:ext cx="248041" cy="310059"/>
          </a:xfrm>
          <a:prstGeom prst="rect">
            <a:avLst/>
          </a:prstGeom>
          <a:noFill/>
          <a:ln/>
        </p:spPr>
        <p:txBody>
          <a:bodyPr wrap="none" lIns="0" tIns="0" rIns="0" bIns="0" rtlCol="0" anchor="ctr"/>
          <a:lstStyle/>
          <a:p>
            <a:pPr algn="ctr" indent="0" marL="0">
              <a:lnSpc>
                <a:spcPct val="100000"/>
              </a:lnSpc>
              <a:buNone/>
            </a:pPr>
            <a:r>
              <a:rPr lang="en-US" sz="1950" b="1" dirty="0">
                <a:solidFill>
                  <a:srgbClr val="1C1C1C"/>
                </a:solidFill>
                <a:latin typeface="Orbitron Bold" pitchFamily="34" charset="0"/>
                <a:ea typeface="Orbitron Bold" pitchFamily="34" charset="-122"/>
                <a:cs typeface="Orbitron Bold" pitchFamily="34" charset="-120"/>
              </a:rPr>
              <a:t>1</a:t>
            </a:r>
            <a:endParaRPr lang="en-US" sz="1950" dirty="0"/>
          </a:p>
        </p:txBody>
      </p:sp>
      <p:sp>
        <p:nvSpPr>
          <p:cNvPr id="6" name="Text 2"/>
          <p:cNvSpPr/>
          <p:nvPr/>
        </p:nvSpPr>
        <p:spPr>
          <a:xfrm>
            <a:off x="1486657" y="1975545"/>
            <a:ext cx="5287334" cy="258465"/>
          </a:xfrm>
          <a:prstGeom prst="rect">
            <a:avLst/>
          </a:prstGeom>
          <a:noFill/>
          <a:ln/>
        </p:spPr>
        <p:txBody>
          <a:bodyPr wrap="none" lIns="0" tIns="0" rIns="0" bIns="0" rtlCol="0" anchor="t"/>
          <a:lstStyle/>
          <a:p>
            <a:pPr algn="l" indent="0" marL="0">
              <a:lnSpc>
                <a:spcPct val="104000"/>
              </a:lnSpc>
              <a:buNone/>
            </a:pPr>
            <a:r>
              <a:rPr lang="en-US" sz="1600" b="1" dirty="0">
                <a:solidFill>
                  <a:srgbClr val="1C1C1C"/>
                </a:solidFill>
                <a:latin typeface="Orbitron Bold" pitchFamily="34" charset="0"/>
                <a:ea typeface="Orbitron Bold" pitchFamily="34" charset="-122"/>
                <a:cs typeface="Orbitron Bold" pitchFamily="34" charset="-120"/>
              </a:rPr>
              <a:t>Relational</a:t>
            </a:r>
            <a:endParaRPr lang="en-US" sz="1600" dirty="0"/>
          </a:p>
        </p:txBody>
      </p:sp>
      <p:sp>
        <p:nvSpPr>
          <p:cNvPr id="7" name="Text 3"/>
          <p:cNvSpPr/>
          <p:nvPr/>
        </p:nvSpPr>
        <p:spPr>
          <a:xfrm>
            <a:off x="1486657" y="2320826"/>
            <a:ext cx="5287334" cy="248047"/>
          </a:xfrm>
          <a:prstGeom prst="rect">
            <a:avLst/>
          </a:prstGeom>
          <a:noFill/>
          <a:ln/>
        </p:spPr>
        <p:txBody>
          <a:bodyPr wrap="none" lIns="0" tIns="0" rIns="0" bIns="0" rtlCol="0" anchor="t"/>
          <a:lstStyle/>
          <a:p>
            <a:pPr algn="l" indent="0" marL="0">
              <a:lnSpc>
                <a:spcPct val="125000"/>
              </a:lnSpc>
              <a:buNone/>
            </a:pPr>
            <a:r>
              <a:rPr lang="en-US" sz="1300" dirty="0">
                <a:solidFill>
                  <a:srgbClr val="1C1C1C"/>
                </a:solidFill>
                <a:latin typeface="Roboto Condensed" pitchFamily="34" charset="0"/>
                <a:ea typeface="Roboto Condensed" pitchFamily="34" charset="-122"/>
                <a:cs typeface="Roboto Condensed" pitchFamily="34" charset="-120"/>
              </a:rPr>
              <a:t>How many, by group, over a period</a:t>
            </a:r>
            <a:endParaRPr lang="en-US" sz="130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2928144"/>
            <a:ext cx="6296860" cy="992287"/>
          </a:xfrm>
          <a:prstGeom prst="rect">
            <a:avLst/>
          </a:prstGeom>
        </p:spPr>
      </p:pic>
      <p:sp>
        <p:nvSpPr>
          <p:cNvPr id="9" name="Text 4"/>
          <p:cNvSpPr/>
          <p:nvPr/>
        </p:nvSpPr>
        <p:spPr>
          <a:xfrm>
            <a:off x="877667" y="3269258"/>
            <a:ext cx="248041" cy="310059"/>
          </a:xfrm>
          <a:prstGeom prst="rect">
            <a:avLst/>
          </a:prstGeom>
          <a:noFill/>
          <a:ln/>
        </p:spPr>
        <p:txBody>
          <a:bodyPr wrap="none" lIns="0" tIns="0" rIns="0" bIns="0" rtlCol="0" anchor="ctr"/>
          <a:lstStyle/>
          <a:p>
            <a:pPr algn="ctr" indent="0" marL="0">
              <a:lnSpc>
                <a:spcPct val="100000"/>
              </a:lnSpc>
              <a:buNone/>
            </a:pPr>
            <a:r>
              <a:rPr lang="en-US" sz="1950" b="1" dirty="0">
                <a:solidFill>
                  <a:srgbClr val="1C1C1C"/>
                </a:solidFill>
                <a:latin typeface="Orbitron Bold" pitchFamily="34" charset="0"/>
                <a:ea typeface="Orbitron Bold" pitchFamily="34" charset="-122"/>
                <a:cs typeface="Orbitron Bold" pitchFamily="34" charset="-120"/>
              </a:rPr>
              <a:t>2</a:t>
            </a:r>
            <a:endParaRPr lang="en-US" sz="1950" dirty="0"/>
          </a:p>
        </p:txBody>
      </p:sp>
      <p:sp>
        <p:nvSpPr>
          <p:cNvPr id="10" name="Text 5"/>
          <p:cNvSpPr/>
          <p:nvPr/>
        </p:nvSpPr>
        <p:spPr>
          <a:xfrm>
            <a:off x="1486657" y="3112492"/>
            <a:ext cx="5287334" cy="258465"/>
          </a:xfrm>
          <a:prstGeom prst="rect">
            <a:avLst/>
          </a:prstGeom>
          <a:noFill/>
          <a:ln/>
        </p:spPr>
        <p:txBody>
          <a:bodyPr wrap="none" lIns="0" tIns="0" rIns="0" bIns="0" rtlCol="0" anchor="t"/>
          <a:lstStyle/>
          <a:p>
            <a:pPr algn="l" indent="0" marL="0">
              <a:lnSpc>
                <a:spcPct val="104000"/>
              </a:lnSpc>
              <a:buNone/>
            </a:pPr>
            <a:r>
              <a:rPr lang="en-US" sz="1600" b="1" dirty="0">
                <a:solidFill>
                  <a:srgbClr val="1C1C1C"/>
                </a:solidFill>
                <a:latin typeface="Orbitron Bold" pitchFamily="34" charset="0"/>
                <a:ea typeface="Orbitron Bold" pitchFamily="34" charset="-122"/>
                <a:cs typeface="Orbitron Bold" pitchFamily="34" charset="-120"/>
              </a:rPr>
              <a:t>Document</a:t>
            </a:r>
            <a:endParaRPr lang="en-US" sz="1600" dirty="0"/>
          </a:p>
        </p:txBody>
      </p:sp>
      <p:sp>
        <p:nvSpPr>
          <p:cNvPr id="11" name="Text 6"/>
          <p:cNvSpPr/>
          <p:nvPr/>
        </p:nvSpPr>
        <p:spPr>
          <a:xfrm>
            <a:off x="1486657" y="3457773"/>
            <a:ext cx="5287334" cy="248047"/>
          </a:xfrm>
          <a:prstGeom prst="rect">
            <a:avLst/>
          </a:prstGeom>
          <a:noFill/>
          <a:ln/>
        </p:spPr>
        <p:txBody>
          <a:bodyPr wrap="none" lIns="0" tIns="0" rIns="0" bIns="0" rtlCol="0" anchor="t"/>
          <a:lstStyle/>
          <a:p>
            <a:pPr algn="l" indent="0" marL="0">
              <a:lnSpc>
                <a:spcPct val="125000"/>
              </a:lnSpc>
              <a:buNone/>
            </a:pPr>
            <a:r>
              <a:rPr lang="en-US" sz="1300" dirty="0">
                <a:solidFill>
                  <a:srgbClr val="1C1C1C"/>
                </a:solidFill>
                <a:latin typeface="Roboto Condensed" pitchFamily="34" charset="0"/>
                <a:ea typeface="Roboto Condensed" pitchFamily="34" charset="-122"/>
                <a:cs typeface="Roboto Condensed" pitchFamily="34" charset="-120"/>
              </a:rPr>
              <a:t>Give me this whole thing by id</a:t>
            </a:r>
            <a:endParaRPr lang="en-US" sz="1300" dirty="0"/>
          </a:p>
        </p:txBody>
      </p:sp>
      <p:pic>
        <p:nvPicPr>
          <p:cNvPr id="12"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4065091"/>
            <a:ext cx="6296860" cy="992287"/>
          </a:xfrm>
          <a:prstGeom prst="rect">
            <a:avLst/>
          </a:prstGeom>
        </p:spPr>
      </p:pic>
      <p:sp>
        <p:nvSpPr>
          <p:cNvPr id="13" name="Text 7"/>
          <p:cNvSpPr/>
          <p:nvPr/>
        </p:nvSpPr>
        <p:spPr>
          <a:xfrm>
            <a:off x="877667" y="4406205"/>
            <a:ext cx="248041" cy="310059"/>
          </a:xfrm>
          <a:prstGeom prst="rect">
            <a:avLst/>
          </a:prstGeom>
          <a:noFill/>
          <a:ln/>
        </p:spPr>
        <p:txBody>
          <a:bodyPr wrap="none" lIns="0" tIns="0" rIns="0" bIns="0" rtlCol="0" anchor="ctr"/>
          <a:lstStyle/>
          <a:p>
            <a:pPr algn="ctr" indent="0" marL="0">
              <a:lnSpc>
                <a:spcPct val="100000"/>
              </a:lnSpc>
              <a:buNone/>
            </a:pPr>
            <a:r>
              <a:rPr lang="en-US" sz="1950" b="1" dirty="0">
                <a:solidFill>
                  <a:srgbClr val="1C1C1C"/>
                </a:solidFill>
                <a:latin typeface="Orbitron Bold" pitchFamily="34" charset="0"/>
                <a:ea typeface="Orbitron Bold" pitchFamily="34" charset="-122"/>
                <a:cs typeface="Orbitron Bold" pitchFamily="34" charset="-120"/>
              </a:rPr>
              <a:t>3</a:t>
            </a:r>
            <a:endParaRPr lang="en-US" sz="1950" dirty="0"/>
          </a:p>
        </p:txBody>
      </p:sp>
      <p:sp>
        <p:nvSpPr>
          <p:cNvPr id="14" name="Text 8"/>
          <p:cNvSpPr/>
          <p:nvPr/>
        </p:nvSpPr>
        <p:spPr>
          <a:xfrm>
            <a:off x="1486657" y="4249440"/>
            <a:ext cx="5287334" cy="258465"/>
          </a:xfrm>
          <a:prstGeom prst="rect">
            <a:avLst/>
          </a:prstGeom>
          <a:noFill/>
          <a:ln/>
        </p:spPr>
        <p:txBody>
          <a:bodyPr wrap="none" lIns="0" tIns="0" rIns="0" bIns="0" rtlCol="0" anchor="t"/>
          <a:lstStyle/>
          <a:p>
            <a:pPr algn="l" indent="0" marL="0">
              <a:lnSpc>
                <a:spcPct val="104000"/>
              </a:lnSpc>
              <a:buNone/>
            </a:pPr>
            <a:r>
              <a:rPr lang="en-US" sz="1600" b="1" dirty="0">
                <a:solidFill>
                  <a:srgbClr val="1C1C1C"/>
                </a:solidFill>
                <a:latin typeface="Orbitron Bold" pitchFamily="34" charset="0"/>
                <a:ea typeface="Orbitron Bold" pitchFamily="34" charset="-122"/>
                <a:cs typeface="Orbitron Bold" pitchFamily="34" charset="-120"/>
              </a:rPr>
              <a:t>Graph</a:t>
            </a:r>
            <a:endParaRPr lang="en-US" sz="1600" dirty="0"/>
          </a:p>
        </p:txBody>
      </p:sp>
      <p:sp>
        <p:nvSpPr>
          <p:cNvPr id="15" name="Text 9"/>
          <p:cNvSpPr/>
          <p:nvPr/>
        </p:nvSpPr>
        <p:spPr>
          <a:xfrm>
            <a:off x="1486657" y="4594721"/>
            <a:ext cx="5287334" cy="248047"/>
          </a:xfrm>
          <a:prstGeom prst="rect">
            <a:avLst/>
          </a:prstGeom>
          <a:noFill/>
          <a:ln/>
        </p:spPr>
        <p:txBody>
          <a:bodyPr wrap="none" lIns="0" tIns="0" rIns="0" bIns="0" rtlCol="0" anchor="t"/>
          <a:lstStyle/>
          <a:p>
            <a:pPr algn="l" indent="0" marL="0">
              <a:lnSpc>
                <a:spcPct val="125000"/>
              </a:lnSpc>
              <a:buNone/>
            </a:pPr>
            <a:r>
              <a:rPr lang="en-US" sz="1300" dirty="0">
                <a:solidFill>
                  <a:srgbClr val="1C1C1C"/>
                </a:solidFill>
                <a:latin typeface="Roboto Condensed" pitchFamily="34" charset="0"/>
                <a:ea typeface="Roboto Condensed" pitchFamily="34" charset="-122"/>
                <a:cs typeface="Roboto Condensed" pitchFamily="34" charset="-120"/>
              </a:rPr>
              <a:t>Who is three steps away</a:t>
            </a:r>
            <a:endParaRPr lang="en-US" sz="1300" dirty="0"/>
          </a:p>
        </p:txBody>
      </p:sp>
      <p:pic>
        <p:nvPicPr>
          <p:cNvPr id="16"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1475" y="5202039"/>
            <a:ext cx="6296860" cy="992287"/>
          </a:xfrm>
          <a:prstGeom prst="rect">
            <a:avLst/>
          </a:prstGeom>
        </p:spPr>
      </p:pic>
      <p:sp>
        <p:nvSpPr>
          <p:cNvPr id="17" name="Text 10"/>
          <p:cNvSpPr/>
          <p:nvPr/>
        </p:nvSpPr>
        <p:spPr>
          <a:xfrm>
            <a:off x="877667" y="5543153"/>
            <a:ext cx="248041" cy="310059"/>
          </a:xfrm>
          <a:prstGeom prst="rect">
            <a:avLst/>
          </a:prstGeom>
          <a:noFill/>
          <a:ln/>
        </p:spPr>
        <p:txBody>
          <a:bodyPr wrap="none" lIns="0" tIns="0" rIns="0" bIns="0" rtlCol="0" anchor="ctr"/>
          <a:lstStyle/>
          <a:p>
            <a:pPr algn="ctr" indent="0" marL="0">
              <a:lnSpc>
                <a:spcPct val="100000"/>
              </a:lnSpc>
              <a:buNone/>
            </a:pPr>
            <a:r>
              <a:rPr lang="en-US" sz="1950" b="1" dirty="0">
                <a:solidFill>
                  <a:srgbClr val="1C1C1C"/>
                </a:solidFill>
                <a:latin typeface="Orbitron Bold" pitchFamily="34" charset="0"/>
                <a:ea typeface="Orbitron Bold" pitchFamily="34" charset="-122"/>
                <a:cs typeface="Orbitron Bold" pitchFamily="34" charset="-120"/>
              </a:rPr>
              <a:t>4</a:t>
            </a:r>
            <a:endParaRPr lang="en-US" sz="1950" dirty="0"/>
          </a:p>
        </p:txBody>
      </p:sp>
      <p:sp>
        <p:nvSpPr>
          <p:cNvPr id="18" name="Text 11"/>
          <p:cNvSpPr/>
          <p:nvPr/>
        </p:nvSpPr>
        <p:spPr>
          <a:xfrm>
            <a:off x="1486657" y="5386388"/>
            <a:ext cx="5287334" cy="258465"/>
          </a:xfrm>
          <a:prstGeom prst="rect">
            <a:avLst/>
          </a:prstGeom>
          <a:noFill/>
          <a:ln/>
        </p:spPr>
        <p:txBody>
          <a:bodyPr wrap="none" lIns="0" tIns="0" rIns="0" bIns="0" rtlCol="0" anchor="t"/>
          <a:lstStyle/>
          <a:p>
            <a:pPr algn="l" indent="0" marL="0">
              <a:lnSpc>
                <a:spcPct val="104000"/>
              </a:lnSpc>
              <a:buNone/>
            </a:pPr>
            <a:r>
              <a:rPr lang="en-US" sz="1600" b="1" dirty="0">
                <a:solidFill>
                  <a:srgbClr val="1C1C1C"/>
                </a:solidFill>
                <a:latin typeface="Orbitron Bold" pitchFamily="34" charset="0"/>
                <a:ea typeface="Orbitron Bold" pitchFamily="34" charset="-122"/>
                <a:cs typeface="Orbitron Bold" pitchFamily="34" charset="-120"/>
              </a:rPr>
              <a:t>Vector</a:t>
            </a:r>
            <a:endParaRPr lang="en-US" sz="1600" dirty="0"/>
          </a:p>
        </p:txBody>
      </p:sp>
      <p:sp>
        <p:nvSpPr>
          <p:cNvPr id="19" name="Text 12"/>
          <p:cNvSpPr/>
          <p:nvPr/>
        </p:nvSpPr>
        <p:spPr>
          <a:xfrm>
            <a:off x="1486657" y="5731669"/>
            <a:ext cx="5287334" cy="248047"/>
          </a:xfrm>
          <a:prstGeom prst="rect">
            <a:avLst/>
          </a:prstGeom>
          <a:noFill/>
          <a:ln/>
        </p:spPr>
        <p:txBody>
          <a:bodyPr wrap="none" lIns="0" tIns="0" rIns="0" bIns="0" rtlCol="0" anchor="t"/>
          <a:lstStyle/>
          <a:p>
            <a:pPr algn="l" indent="0" marL="0">
              <a:lnSpc>
                <a:spcPct val="125000"/>
              </a:lnSpc>
              <a:buNone/>
            </a:pPr>
            <a:r>
              <a:rPr lang="en-US" sz="1300" dirty="0">
                <a:solidFill>
                  <a:srgbClr val="1C1C1C"/>
                </a:solidFill>
                <a:latin typeface="Roboto Condensed" pitchFamily="34" charset="0"/>
                <a:ea typeface="Roboto Condensed" pitchFamily="34" charset="-122"/>
                <a:cs typeface="Roboto Condensed" pitchFamily="34" charset="-120"/>
              </a:rPr>
              <a:t>Which text means roughly this</a:t>
            </a:r>
            <a:endParaRPr lang="en-US" sz="1300" dirty="0"/>
          </a:p>
        </p:txBody>
      </p:sp>
      <p:sp>
        <p:nvSpPr>
          <p:cNvPr id="20"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63638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Document store is good at this</a:t>
            </a:r>
            <a:endParaRPr lang="en-US" sz="3700" dirty="0"/>
          </a:p>
        </p:txBody>
      </p:sp>
      <p:pic>
        <p:nvPicPr>
          <p:cNvPr id="3" name="Image 0" descr="preencoded.png">    </p:cNvPr>
          <p:cNvPicPr>
            <a:picLocks noChangeAspect="1"/>
          </p:cNvPicPr>
          <p:nvPr/>
        </p:nvPicPr>
        <p:blipFill>
          <a:blip r:embed="rId1"/>
          <a:stretch>
            <a:fillRect/>
          </a:stretch>
        </p:blipFill>
        <p:spPr>
          <a:xfrm>
            <a:off x="661475" y="1848644"/>
            <a:ext cx="6903269" cy="3911898"/>
          </a:xfrm>
          <a:prstGeom prst="rect">
            <a:avLst/>
          </a:prstGeom>
        </p:spPr>
      </p:pic>
      <p:sp>
        <p:nvSpPr>
          <p:cNvPr id="4" name="Text 1"/>
          <p:cNvSpPr/>
          <p:nvPr/>
        </p:nvSpPr>
        <p:spPr>
          <a:xfrm>
            <a:off x="8032251" y="1680567"/>
            <a:ext cx="350421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Fetching a complete record by its identifier is where a document store excels. The entire object comes back in one read, with no joins required.</a:t>
            </a:r>
            <a:endParaRPr lang="en-US" sz="1450" dirty="0"/>
          </a:p>
        </p:txBody>
      </p:sp>
      <p:sp>
        <p:nvSpPr>
          <p:cNvPr id="5" name="Shape 2"/>
          <p:cNvSpPr/>
          <p:nvPr/>
        </p:nvSpPr>
        <p:spPr>
          <a:xfrm>
            <a:off x="8032251" y="3102868"/>
            <a:ext cx="3504219" cy="1285280"/>
          </a:xfrm>
          <a:prstGeom prst="roundRect">
            <a:avLst>
              <a:gd name="adj" fmla="val 6177"/>
            </a:avLst>
          </a:prstGeom>
          <a:solidFill>
            <a:srgbClr val="F2F2F2"/>
          </a:solidFill>
          <a:ln/>
        </p:spPr>
      </p:sp>
      <p:sp>
        <p:nvSpPr>
          <p:cNvPr id="6" name="Text 3"/>
          <p:cNvSpPr/>
          <p:nvPr/>
        </p:nvSpPr>
        <p:spPr>
          <a:xfrm>
            <a:off x="8259060" y="3291880"/>
            <a:ext cx="3050603"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item = by_id["EQ-0110"]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print(item["name"], "|", ", ".join(item["tags"]))</a:t>
            </a:r>
            <a:endParaRPr lang="en-US" sz="1450" dirty="0"/>
          </a:p>
        </p:txBody>
      </p:sp>
      <p:sp>
        <p:nvSpPr>
          <p:cNvPr id="7" name="Shape 4"/>
          <p:cNvSpPr/>
          <p:nvPr/>
        </p:nvSpPr>
        <p:spPr>
          <a:xfrm>
            <a:off x="8032251" y="4600773"/>
            <a:ext cx="3504219" cy="1285280"/>
          </a:xfrm>
          <a:prstGeom prst="roundRect">
            <a:avLst>
              <a:gd name="adj" fmla="val 6177"/>
            </a:avLst>
          </a:prstGeom>
          <a:solidFill>
            <a:srgbClr val="F2F2F2"/>
          </a:solidFill>
          <a:ln/>
        </p:spPr>
      </p:sp>
      <p:sp>
        <p:nvSpPr>
          <p:cNvPr id="8" name="Text 5"/>
          <p:cNvSpPr/>
          <p:nvPr/>
        </p:nvSpPr>
        <p:spPr>
          <a:xfrm>
            <a:off x="8259060" y="4789785"/>
            <a:ext cx="3050603"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Resin 3D printer | printing, resin, training-required, ventilation-required</a:t>
            </a:r>
            <a:endParaRPr lang="en-US" sz="1450" dirty="0"/>
          </a:p>
        </p:txBody>
      </p:sp>
      <p:sp>
        <p:nvSpPr>
          <p:cNvPr id="9"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43719"/>
            <a:ext cx="10868745" cy="581422"/>
          </a:xfrm>
          <a:prstGeom prst="rect">
            <a:avLst/>
          </a:prstGeom>
          <a:noFill/>
          <a:ln/>
        </p:spPr>
        <p:txBody>
          <a:bodyPr wrap="none" lIns="0" tIns="0" rIns="0" bIns="0" rtlCol="0" anchor="t"/>
          <a:lstStyle/>
          <a:p>
            <a:pPr algn="l" indent="0" marL="0">
              <a:lnSpc>
                <a:spcPct val="104000"/>
              </a:lnSpc>
              <a:buNone/>
            </a:pPr>
            <a:r>
              <a:rPr lang="en-US" sz="3650" b="1" dirty="0">
                <a:solidFill>
                  <a:srgbClr val="111111"/>
                </a:solidFill>
                <a:latin typeface="Orbitron Bold" pitchFamily="34" charset="0"/>
                <a:ea typeface="Orbitron Bold" pitchFamily="34" charset="-122"/>
                <a:cs typeface="Orbitron Bold" pitchFamily="34" charset="-120"/>
              </a:rPr>
              <a:t>And this is where it costs you</a:t>
            </a:r>
            <a:endParaRPr lang="en-US" sz="3650" dirty="0"/>
          </a:p>
        </p:txBody>
      </p:sp>
      <p:sp>
        <p:nvSpPr>
          <p:cNvPr id="3" name="Text 1"/>
          <p:cNvSpPr/>
          <p:nvPr/>
        </p:nvSpPr>
        <p:spPr>
          <a:xfrm>
            <a:off x="661475" y="1564680"/>
            <a:ext cx="3509081" cy="1181100"/>
          </a:xfrm>
          <a:prstGeom prst="rect">
            <a:avLst/>
          </a:prstGeom>
          <a:noFill/>
          <a:ln/>
        </p:spPr>
        <p:txBody>
          <a:bodyPr wrap="square" lIns="0" tIns="0" rIns="0" bIns="0" rtlCol="0" anchor="t">
            <a:normAutofit/>
          </a:bodyPr>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Aggregating across all documents requires iterating every record in application code. The database does not do this work for you.</a:t>
            </a:r>
            <a:endParaRPr lang="en-US" sz="1450" dirty="0"/>
          </a:p>
        </p:txBody>
      </p:sp>
      <p:sp>
        <p:nvSpPr>
          <p:cNvPr id="4" name="Shape 2"/>
          <p:cNvSpPr/>
          <p:nvPr/>
        </p:nvSpPr>
        <p:spPr>
          <a:xfrm>
            <a:off x="661475" y="2951758"/>
            <a:ext cx="3509081" cy="1860352"/>
          </a:xfrm>
          <a:prstGeom prst="roundRect">
            <a:avLst>
              <a:gd name="adj" fmla="val 4201"/>
            </a:avLst>
          </a:prstGeom>
          <a:solidFill>
            <a:srgbClr val="F2F2F2"/>
          </a:solidFill>
          <a:ln/>
        </p:spPr>
      </p:sp>
      <p:sp>
        <p:nvSpPr>
          <p:cNvPr id="5" name="Text 3"/>
          <p:cNvSpPr/>
          <p:nvPr/>
        </p:nvSpPr>
        <p:spPr>
          <a:xfrm>
            <a:off x="884711" y="3137793"/>
            <a:ext cx="3062608" cy="148828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counts = {}</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for item in items:</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    for tag in item["tags"]:</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        counts[tag] = counts.get(tag, 0) + 1</a:t>
            </a:r>
            <a:endParaRPr lang="en-US" sz="1450" dirty="0"/>
          </a:p>
        </p:txBody>
      </p:sp>
      <p:sp>
        <p:nvSpPr>
          <p:cNvPr id="6" name="Shape 4"/>
          <p:cNvSpPr/>
          <p:nvPr/>
        </p:nvSpPr>
        <p:spPr>
          <a:xfrm>
            <a:off x="661475" y="5018088"/>
            <a:ext cx="3509081" cy="967383"/>
          </a:xfrm>
          <a:prstGeom prst="roundRect">
            <a:avLst>
              <a:gd name="adj" fmla="val 8078"/>
            </a:avLst>
          </a:prstGeom>
          <a:solidFill>
            <a:srgbClr val="F2F2F2"/>
          </a:solidFill>
          <a:ln/>
        </p:spPr>
      </p:sp>
      <p:sp>
        <p:nvSpPr>
          <p:cNvPr id="7" name="Text 5"/>
          <p:cNvSpPr/>
          <p:nvPr/>
        </p:nvSpPr>
        <p:spPr>
          <a:xfrm>
            <a:off x="884711" y="5204123"/>
            <a:ext cx="3062608" cy="5953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[('training-required', 7), ('battery', 4), ('printing', 3)]</a:t>
            </a:r>
            <a:endParaRPr lang="en-US" sz="1450" dirty="0"/>
          </a:p>
        </p:txBody>
      </p:sp>
      <p:pic>
        <p:nvPicPr>
          <p:cNvPr id="8" name="Image 0" descr="preencoded.png">    </p:cNvPr>
          <p:cNvPicPr>
            <a:picLocks noChangeAspect="1"/>
          </p:cNvPicPr>
          <p:nvPr/>
        </p:nvPicPr>
        <p:blipFill>
          <a:blip r:embed="rId1"/>
          <a:stretch>
            <a:fillRect/>
          </a:stretch>
        </p:blipFill>
        <p:spPr>
          <a:xfrm>
            <a:off x="4630721" y="1838920"/>
            <a:ext cx="6905849" cy="3913386"/>
          </a:xfrm>
          <a:prstGeom prst="rect">
            <a:avLst/>
          </a:prstGeom>
        </p:spPr>
      </p:pic>
      <p:sp>
        <p:nvSpPr>
          <p:cNvPr id="9"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13507"/>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Graph, and what a step costs</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2315" y="2384127"/>
            <a:ext cx="283461" cy="283468"/>
          </a:xfrm>
          <a:prstGeom prst="rect">
            <a:avLst/>
          </a:prstGeom>
        </p:spPr>
      </p:pic>
      <p:sp>
        <p:nvSpPr>
          <p:cNvPr id="5" name="Text 1"/>
          <p:cNvSpPr/>
          <p:nvPr/>
        </p:nvSpPr>
        <p:spPr>
          <a:xfrm>
            <a:off x="1275723" y="2378273"/>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One step is one join, eight members come back</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2315" y="3352701"/>
            <a:ext cx="283461" cy="283468"/>
          </a:xfrm>
          <a:prstGeom prst="rect">
            <a:avLst/>
          </a:prstGeom>
        </p:spPr>
      </p:pic>
      <p:sp>
        <p:nvSpPr>
          <p:cNvPr id="7" name="Text 2"/>
          <p:cNvSpPr/>
          <p:nvPr/>
        </p:nvSpPr>
        <p:spPr>
          <a:xfrm>
            <a:off x="1275723" y="334684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Two steps is a self join on a self join</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2315" y="4303613"/>
            <a:ext cx="283461" cy="283468"/>
          </a:xfrm>
          <a:prstGeom prst="rect">
            <a:avLst/>
          </a:prstGeom>
        </p:spPr>
      </p:pic>
      <p:sp>
        <p:nvSpPr>
          <p:cNvPr id="9" name="Text 3"/>
          <p:cNvSpPr/>
          <p:nvPr/>
        </p:nvSpPr>
        <p:spPr>
          <a:xfrm>
            <a:off x="1275723" y="4297759"/>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Three steps is a query nobody can debug</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2315" y="5254526"/>
            <a:ext cx="283461" cy="283468"/>
          </a:xfrm>
          <a:prstGeom prst="rect">
            <a:avLst/>
          </a:prstGeom>
        </p:spPr>
      </p:pic>
      <p:sp>
        <p:nvSpPr>
          <p:cNvPr id="11" name="Text 4"/>
          <p:cNvSpPr/>
          <p:nvPr/>
        </p:nvSpPr>
        <p:spPr>
          <a:xfrm>
            <a:off x="1275723" y="5248672"/>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At fourteen members, do not</a:t>
            </a:r>
            <a:endParaRPr lang="en-US" sz="18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15659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vector database is a table and a loop</a:t>
            </a:r>
            <a:endParaRPr lang="en-US" sz="3700" dirty="0"/>
          </a:p>
        </p:txBody>
      </p:sp>
      <p:pic>
        <p:nvPicPr>
          <p:cNvPr id="3" name="Image 0" descr="preencoded.png">    </p:cNvPr>
          <p:cNvPicPr>
            <a:picLocks noChangeAspect="1"/>
          </p:cNvPicPr>
          <p:nvPr/>
        </p:nvPicPr>
        <p:blipFill>
          <a:blip r:embed="rId1"/>
          <a:stretch>
            <a:fillRect/>
          </a:stretch>
        </p:blipFill>
        <p:spPr>
          <a:xfrm>
            <a:off x="701757" y="2243336"/>
            <a:ext cx="6822607" cy="3122513"/>
          </a:xfrm>
          <a:prstGeom prst="rect">
            <a:avLst/>
          </a:prstGeom>
        </p:spPr>
      </p:pic>
      <p:sp>
        <p:nvSpPr>
          <p:cNvPr id="4" name="Text 1"/>
          <p:cNvSpPr/>
          <p:nvPr/>
        </p:nvSpPr>
        <p:spPr>
          <a:xfrm>
            <a:off x="5925830" y="4624350"/>
            <a:ext cx="1280874" cy="246750"/>
          </a:xfrm>
          <a:prstGeom prst="rect">
            <a:avLst/>
          </a:prstGeom>
          <a:noFill/>
          <a:ln/>
        </p:spPr>
        <p:txBody>
          <a:bodyPr wrap="none" lIns="0" tIns="0" rIns="0" bIns="0" rtlCol="0" anchor="t"/>
          <a:lstStyle/>
          <a:p>
            <a:pPr algn="ctr"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Return Top</a:t>
            </a:r>
            <a:endParaRPr lang="en-US" sz="1550" dirty="0"/>
          </a:p>
        </p:txBody>
      </p:sp>
      <p:sp>
        <p:nvSpPr>
          <p:cNvPr id="5" name="Text 2"/>
          <p:cNvSpPr/>
          <p:nvPr/>
        </p:nvSpPr>
        <p:spPr>
          <a:xfrm>
            <a:off x="4311578" y="4500976"/>
            <a:ext cx="1280874" cy="493499"/>
          </a:xfrm>
          <a:prstGeom prst="rect">
            <a:avLst/>
          </a:prstGeom>
          <a:noFill/>
          <a:ln/>
        </p:spPr>
        <p:txBody>
          <a:bodyPr wrap="square" lIns="0" tIns="0" rIns="0" bIns="0" rtlCol="0" anchor="t">
            <a:normAutofit/>
          </a:bodyPr>
          <a:lstStyle/>
          <a:p>
            <a:pPr algn="ctr"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Sort Results</a:t>
            </a:r>
            <a:endParaRPr lang="en-US" sz="1550" dirty="0"/>
          </a:p>
        </p:txBody>
      </p:sp>
      <p:sp>
        <p:nvSpPr>
          <p:cNvPr id="6" name="Text 3"/>
          <p:cNvSpPr/>
          <p:nvPr/>
        </p:nvSpPr>
        <p:spPr>
          <a:xfrm>
            <a:off x="2706099" y="4500976"/>
            <a:ext cx="1280874" cy="493499"/>
          </a:xfrm>
          <a:prstGeom prst="rect">
            <a:avLst/>
          </a:prstGeom>
          <a:noFill/>
          <a:ln/>
        </p:spPr>
        <p:txBody>
          <a:bodyPr wrap="square" lIns="0" tIns="0" rIns="0" bIns="0" rtlCol="0" anchor="t">
            <a:normAutofit/>
          </a:bodyPr>
          <a:lstStyle/>
          <a:p>
            <a:pPr algn="ctr"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Score Similarity</a:t>
            </a:r>
            <a:endParaRPr lang="en-US" sz="1550" dirty="0"/>
          </a:p>
        </p:txBody>
      </p:sp>
      <p:sp>
        <p:nvSpPr>
          <p:cNvPr id="7" name="Text 4"/>
          <p:cNvSpPr/>
          <p:nvPr/>
        </p:nvSpPr>
        <p:spPr>
          <a:xfrm>
            <a:off x="1065528" y="4500976"/>
            <a:ext cx="1280874" cy="493499"/>
          </a:xfrm>
          <a:prstGeom prst="rect">
            <a:avLst/>
          </a:prstGeom>
          <a:noFill/>
          <a:ln/>
        </p:spPr>
        <p:txBody>
          <a:bodyPr wrap="square" lIns="0" tIns="0" rIns="0" bIns="0" rtlCol="0" anchor="t">
            <a:normAutofit/>
          </a:bodyPr>
          <a:lstStyle/>
          <a:p>
            <a:pPr algn="ctr"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Store Vectors</a:t>
            </a:r>
            <a:endParaRPr lang="en-US" sz="1550" dirty="0"/>
          </a:p>
        </p:txBody>
      </p:sp>
      <p:sp>
        <p:nvSpPr>
          <p:cNvPr id="8" name="Text 5"/>
          <p:cNvSpPr/>
          <p:nvPr/>
        </p:nvSpPr>
        <p:spPr>
          <a:xfrm>
            <a:off x="8032251" y="2698948"/>
            <a:ext cx="3504219" cy="2315170"/>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Store vectors, score similarity, sort, return the top</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That is the entire mechanism</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real one adds an approximate neighbour index</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That matters at a million rows, not fifty six</a:t>
            </a:r>
            <a:endParaRPr lang="en-US" sz="1450" dirty="0"/>
          </a:p>
        </p:txBody>
      </p:sp>
      <p:sp>
        <p:nvSpPr>
          <p:cNvPr id="9"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705842"/>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AI database is not a data model</a:t>
            </a:r>
            <a:endParaRPr lang="en-US" sz="3700" dirty="0"/>
          </a:p>
        </p:txBody>
      </p:sp>
      <p:sp>
        <p:nvSpPr>
          <p:cNvPr id="4" name="Shape 1"/>
          <p:cNvSpPr/>
          <p:nvPr/>
        </p:nvSpPr>
        <p:spPr>
          <a:xfrm>
            <a:off x="5233360" y="2170609"/>
            <a:ext cx="3053877" cy="1724918"/>
          </a:xfrm>
          <a:prstGeom prst="roundRect">
            <a:avLst>
              <a:gd name="adj" fmla="val 4602"/>
            </a:avLst>
          </a:prstGeom>
          <a:solidFill>
            <a:srgbClr val="D1E5FA"/>
          </a:solidFill>
          <a:ln w="19050">
            <a:solidFill>
              <a:srgbClr val="B7CBE0"/>
            </a:solidFill>
            <a:prstDash val="solid"/>
          </a:ln>
        </p:spPr>
      </p:sp>
      <p:sp>
        <p:nvSpPr>
          <p:cNvPr id="5" name="Text 2"/>
          <p:cNvSpPr/>
          <p:nvPr/>
        </p:nvSpPr>
        <p:spPr>
          <a:xfrm>
            <a:off x="5441417" y="2378670"/>
            <a:ext cx="2637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Vector store</a:t>
            </a:r>
            <a:endParaRPr lang="en-US" sz="1850" dirty="0"/>
          </a:p>
        </p:txBody>
      </p:sp>
      <p:sp>
        <p:nvSpPr>
          <p:cNvPr id="6" name="Text 3"/>
          <p:cNvSpPr/>
          <p:nvPr/>
        </p:nvSpPr>
        <p:spPr>
          <a:xfrm>
            <a:off x="5441417" y="2787352"/>
            <a:ext cx="2637764"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Stores and retrieves by embedding similarity</a:t>
            </a:r>
            <a:endParaRPr lang="en-US" sz="1450" dirty="0"/>
          </a:p>
        </p:txBody>
      </p:sp>
      <p:sp>
        <p:nvSpPr>
          <p:cNvPr id="7" name="Shape 4"/>
          <p:cNvSpPr/>
          <p:nvPr/>
        </p:nvSpPr>
        <p:spPr>
          <a:xfrm>
            <a:off x="8476244" y="2170609"/>
            <a:ext cx="3053976" cy="1724918"/>
          </a:xfrm>
          <a:prstGeom prst="roundRect">
            <a:avLst>
              <a:gd name="adj" fmla="val 4602"/>
            </a:avLst>
          </a:prstGeom>
          <a:solidFill>
            <a:srgbClr val="D1E5FA"/>
          </a:solidFill>
          <a:ln w="19050">
            <a:solidFill>
              <a:srgbClr val="B7CBE0"/>
            </a:solidFill>
            <a:prstDash val="solid"/>
          </a:ln>
        </p:spPr>
      </p:sp>
      <p:sp>
        <p:nvSpPr>
          <p:cNvPr id="8" name="Text 5"/>
          <p:cNvSpPr/>
          <p:nvPr/>
        </p:nvSpPr>
        <p:spPr>
          <a:xfrm>
            <a:off x="8684301" y="2378670"/>
            <a:ext cx="2637863"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Relational with vectors</a:t>
            </a:r>
            <a:endParaRPr lang="en-US" sz="1850" dirty="0"/>
          </a:p>
        </p:txBody>
      </p:sp>
      <p:sp>
        <p:nvSpPr>
          <p:cNvPr id="9" name="Text 6"/>
          <p:cNvSpPr/>
          <p:nvPr/>
        </p:nvSpPr>
        <p:spPr>
          <a:xfrm>
            <a:off x="8684301" y="3082627"/>
            <a:ext cx="2637863"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relational database with vector column support</a:t>
            </a:r>
            <a:endParaRPr lang="en-US" sz="1450" dirty="0"/>
          </a:p>
        </p:txBody>
      </p:sp>
      <p:sp>
        <p:nvSpPr>
          <p:cNvPr id="10" name="Shape 7"/>
          <p:cNvSpPr/>
          <p:nvPr/>
        </p:nvSpPr>
        <p:spPr>
          <a:xfrm>
            <a:off x="5233360" y="4084538"/>
            <a:ext cx="6296860" cy="1127224"/>
          </a:xfrm>
          <a:prstGeom prst="roundRect">
            <a:avLst>
              <a:gd name="adj" fmla="val 7043"/>
            </a:avLst>
          </a:prstGeom>
          <a:solidFill>
            <a:srgbClr val="D1E5FA"/>
          </a:solidFill>
          <a:ln w="19050">
            <a:solidFill>
              <a:srgbClr val="B7CBE0"/>
            </a:solidFill>
            <a:prstDash val="solid"/>
          </a:ln>
        </p:spPr>
      </p:sp>
      <p:sp>
        <p:nvSpPr>
          <p:cNvPr id="11" name="Text 8"/>
          <p:cNvSpPr/>
          <p:nvPr/>
        </p:nvSpPr>
        <p:spPr>
          <a:xfrm>
            <a:off x="5441417" y="4292600"/>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Feature store</a:t>
            </a:r>
            <a:endParaRPr lang="en-US" sz="1850" dirty="0"/>
          </a:p>
        </p:txBody>
      </p:sp>
      <p:sp>
        <p:nvSpPr>
          <p:cNvPr id="12" name="Text 9"/>
          <p:cNvSpPr/>
          <p:nvPr/>
        </p:nvSpPr>
        <p:spPr>
          <a:xfrm>
            <a:off x="5441417" y="4701282"/>
            <a:ext cx="588074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Holds a model's training inputs</a:t>
            </a:r>
            <a:endParaRPr lang="en-US" sz="1450" dirty="0"/>
          </a:p>
        </p:txBody>
      </p:sp>
      <p:sp>
        <p:nvSpPr>
          <p:cNvPr id="13" name="Text 10"/>
          <p:cNvSpPr/>
          <p:nvPr/>
        </p:nvSpPr>
        <p:spPr>
          <a:xfrm>
            <a:off x="5233360" y="5424388"/>
            <a:ext cx="6296860"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It usually means one of three different things. Ask which one. That question is the competency.</a:t>
            </a:r>
            <a:endParaRPr lang="en-US" sz="1450" dirty="0"/>
          </a:p>
        </p:txBody>
      </p:sp>
      <p:sp>
        <p:nvSpPr>
          <p:cNvPr id="14" name="Text 11"/>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75577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sentence to distrust</a:t>
            </a:r>
            <a:endParaRPr lang="en-US" sz="3700" dirty="0"/>
          </a:p>
        </p:txBody>
      </p:sp>
      <p:sp>
        <p:nvSpPr>
          <p:cNvPr id="3" name="Text 1"/>
          <p:cNvSpPr/>
          <p:nvPr/>
        </p:nvSpPr>
        <p:spPr>
          <a:xfrm>
            <a:off x="944936" y="2937073"/>
            <a:ext cx="1119486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We should use NoSQL, it scales better and is more flexible</a:t>
            </a:r>
            <a:endParaRPr lang="en-US" sz="1450" dirty="0"/>
          </a:p>
        </p:txBody>
      </p:sp>
      <p:sp>
        <p:nvSpPr>
          <p:cNvPr id="4" name="Shape 2"/>
          <p:cNvSpPr/>
          <p:nvPr/>
        </p:nvSpPr>
        <p:spPr>
          <a:xfrm>
            <a:off x="661475" y="2724448"/>
            <a:ext cx="25399" cy="727670"/>
          </a:xfrm>
          <a:prstGeom prst="roundRect">
            <a:avLst>
              <a:gd name="adj" fmla="val 50001"/>
            </a:avLst>
          </a:prstGeom>
          <a:solidFill>
            <a:srgbClr val="57A1EB"/>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3664744"/>
            <a:ext cx="3496877" cy="1314648"/>
          </a:xfrm>
          <a:prstGeom prst="rect">
            <a:avLst/>
          </a:prstGeom>
        </p:spPr>
      </p:pic>
      <p:sp>
        <p:nvSpPr>
          <p:cNvPr id="6" name="Text 3"/>
          <p:cNvSpPr/>
          <p:nvPr/>
        </p:nvSpPr>
        <p:spPr>
          <a:xfrm>
            <a:off x="977479" y="3879155"/>
            <a:ext cx="296646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NoSQL is at least four unrelated models</a:t>
            </a:r>
            <a:endParaRPr lang="en-US" sz="18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47359" y="3664744"/>
            <a:ext cx="3496877" cy="1314648"/>
          </a:xfrm>
          <a:prstGeom prst="rect">
            <a:avLst/>
          </a:prstGeom>
        </p:spPr>
      </p:pic>
      <p:sp>
        <p:nvSpPr>
          <p:cNvPr id="8" name="Text 4"/>
          <p:cNvSpPr/>
          <p:nvPr/>
        </p:nvSpPr>
        <p:spPr>
          <a:xfrm>
            <a:off x="4663363" y="3879155"/>
            <a:ext cx="296646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Scales better than what, at what size</a:t>
            </a:r>
            <a:endParaRPr lang="en-US" sz="18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33244" y="3664744"/>
            <a:ext cx="3496877" cy="1314648"/>
          </a:xfrm>
          <a:prstGeom prst="rect">
            <a:avLst/>
          </a:prstGeom>
        </p:spPr>
      </p:pic>
      <p:sp>
        <p:nvSpPr>
          <p:cNvPr id="10" name="Text 5"/>
          <p:cNvSpPr/>
          <p:nvPr/>
        </p:nvSpPr>
        <p:spPr>
          <a:xfrm>
            <a:off x="8349247" y="3879155"/>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Flexible describes a cost as if it were a benefit</a:t>
            </a:r>
            <a:endParaRPr lang="en-US" sz="1850" dirty="0"/>
          </a:p>
        </p:txBody>
      </p:sp>
      <p:sp>
        <p:nvSpPr>
          <p:cNvPr id="11"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872331"/>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Shape 1"/>
          <p:cNvSpPr/>
          <p:nvPr/>
        </p:nvSpPr>
        <p:spPr>
          <a:xfrm>
            <a:off x="5233360" y="2337098"/>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2401987"/>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Your project memo recommends one per workload</a:t>
            </a:r>
            <a:endParaRPr lang="en-US" sz="1850" dirty="0"/>
          </a:p>
        </p:txBody>
      </p:sp>
      <p:sp>
        <p:nvSpPr>
          <p:cNvPr id="6" name="Shape 3"/>
          <p:cNvSpPr/>
          <p:nvPr/>
        </p:nvSpPr>
        <p:spPr>
          <a:xfrm>
            <a:off x="5233360" y="3370560"/>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435449"/>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 recommendation names a cost</a:t>
            </a:r>
            <a:endParaRPr lang="en-US" sz="1850" dirty="0"/>
          </a:p>
        </p:txBody>
      </p:sp>
      <p:sp>
        <p:nvSpPr>
          <p:cNvPr id="8" name="Shape 5"/>
          <p:cNvSpPr/>
          <p:nvPr/>
        </p:nvSpPr>
        <p:spPr>
          <a:xfrm>
            <a:off x="5233360" y="4173835"/>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238724"/>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One contested call, argued against yourself</a:t>
            </a:r>
            <a:endParaRPr lang="en-US" sz="1850" dirty="0"/>
          </a:p>
        </p:txBody>
      </p:sp>
      <p:sp>
        <p:nvSpPr>
          <p:cNvPr id="10" name="Shape 7"/>
          <p:cNvSpPr/>
          <p:nvPr/>
        </p:nvSpPr>
        <p:spPr>
          <a:xfrm>
            <a:off x="5233360" y="5207298"/>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5272187"/>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two starts the comparison memo today</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2026-09-16T04:56:05Z</dcterms:created>
  <dcterms:modified xsi:type="dcterms:W3CDTF">2026-09-16T04:56:05Z</dcterms:modified>
</cp:coreProperties>
</file>