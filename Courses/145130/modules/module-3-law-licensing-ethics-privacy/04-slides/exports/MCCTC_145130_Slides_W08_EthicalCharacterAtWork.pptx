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program is a decision that runs by itself, thousands of times, for people you never meet. That is different from every other place character shows up in your life, because the feedback loop is broken. Today we make four abstract words into things you can look at in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integrity, compassion, justice. Every one of them has a file you can open. If you cannot point at the file, you are talking about a feeling rather than a practice, and feelings do not survive a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those is a real thing real professionals do under pressure. Naming them now is the point of this slide, because you recognize a failure mode faster when somebody told you its name before you were in it. All four are visible in the history forever, with your name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is not about punishing you for using tools. It is here because the submission is a claim, and the claim is I made this and I stand behind it. If that claim is false, everything downstream of it is unreliable, including your own estimate of how long the next feature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picks lines out of a file and makes you explain them. Run it on your own work before a demo. Then run it on work you did not write and notice how different the two feel. That difference is what an interviewer is measuring in the first four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forty nine is the interesting one. It refuses to return a reply the model did not finish. Somebody who wrote it can tell you in a sentence why a half-finished hint is worse than no hint. Somebody who pasted it cannot, and it shows up in about four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Twelve lines of code, a clean table, and every student invented. Now look at what it does. It ranks by cards drilled and calls that a leaderboard. The student at the top has the lowest accuracy of the top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 measures free time. Zainab works evenings at the family store, which you will read in the roster next week. Ranking by volume and calling it a leaderboard is a justice failure. Publishing the bottom two by name is a compassion failure. Calling it a leaderboard is an honesty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those is a one-line change and each of them is an ethical decision. That is the whole point of this example. Ethics in software is not a seminar, it is a default value, a sort key, and a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sentence is true in the moment and it is not evidence. You can follow a proof and not be able to prove it. Debugging requires knowing what the author was trying to do, and you were not the author. In a room where everybody uses the same tools, the person who slows down looks slower. For one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explain check on work you wrote last week, five lines, timed, honest count. Build two rewrites the leaderboard. The requirement that carries the grade is the last one: name one thing your version is worse at. Every design choice gives something up, and an answer that claims to give up nothing has not been thought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1.png"/><Relationship Id="rId8" Type="http://schemas.openxmlformats.org/officeDocument/2006/relationships/image" Target="../media/image-5-2.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4.png"/><Relationship Id="rId7" Type="http://schemas.openxmlformats.org/officeDocument/2006/relationships/image" Target="../media/image-9-5.svg"/><Relationship Id="rId8" Type="http://schemas.openxmlformats.org/officeDocument/2006/relationships/image" Target="../media/image-9-4.png"/><Relationship Id="rId9" Type="http://schemas.openxmlformats.org/officeDocument/2006/relationships/image" Target="../media/image-9-5.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2.png"/><Relationship Id="rId5" Type="http://schemas.openxmlformats.org/officeDocument/2006/relationships/image" Target="../media/image-11-3.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Ethical Character, in Code, Where Nobody Is Watching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will never see the person you hurt</a:t>
            </a:r>
            <a:endParaRPr lang="en-US" sz="3700" dirty="0"/>
          </a:p>
        </p:txBody>
      </p:sp>
      <p:sp>
        <p:nvSpPr>
          <p:cNvPr id="4" name="Text 1"/>
          <p:cNvSpPr/>
          <p:nvPr/>
        </p:nvSpPr>
        <p:spPr>
          <a:xfrm>
            <a:off x="1275723" y="2743795"/>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Be unkind to a face and you see the face</a:t>
            </a:r>
            <a:endParaRPr lang="en-US" sz="1450" dirty="0"/>
          </a:p>
        </p:txBody>
      </p:sp>
      <p:sp>
        <p:nvSpPr>
          <p:cNvPr id="5" name="Text 2"/>
          <p:cNvSpPr/>
          <p:nvPr/>
        </p:nvSpPr>
        <p:spPr>
          <a:xfrm>
            <a:off x="1275723" y="3547070"/>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Publish the two lowest scores in the class</a:t>
            </a:r>
            <a:endParaRPr lang="en-US" sz="1450" dirty="0"/>
          </a:p>
        </p:txBody>
      </p:sp>
      <p:sp>
        <p:nvSpPr>
          <p:cNvPr id="6" name="Text 3"/>
          <p:cNvSpPr/>
          <p:nvPr/>
        </p:nvSpPr>
        <p:spPr>
          <a:xfrm>
            <a:off x="1275723" y="4350345"/>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see a working feature and a green test</a:t>
            </a:r>
            <a:endParaRPr lang="en-US" sz="1450" dirty="0"/>
          </a:p>
        </p:txBody>
      </p:sp>
      <p:sp>
        <p:nvSpPr>
          <p:cNvPr id="7" name="Text 4"/>
          <p:cNvSpPr/>
          <p:nvPr/>
        </p:nvSpPr>
        <p:spPr>
          <a:xfrm>
            <a:off x="1275723" y="5153620"/>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harm is real and outside your view</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traits, four places to look</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Honesty</a:t>
            </a:r>
            <a:endParaRPr lang="en-US" sz="1850" dirty="0"/>
          </a:p>
        </p:txBody>
      </p:sp>
      <p:sp>
        <p:nvSpPr>
          <p:cNvPr id="5" name="Text 2"/>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usage log and the limitations section</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7" name="Text 3"/>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Integrity</a:t>
            </a:r>
            <a:endParaRPr lang="en-US" sz="1850" dirty="0"/>
          </a:p>
        </p:txBody>
      </p:sp>
      <p:sp>
        <p:nvSpPr>
          <p:cNvPr id="8" name="Text 4"/>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the diff says at 11pm</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0" name="Text 5"/>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Compassion</a:t>
            </a:r>
            <a:endParaRPr lang="en-US" sz="1850" dirty="0"/>
          </a:p>
        </p:txBody>
      </p:sp>
      <p:sp>
        <p:nvSpPr>
          <p:cNvPr id="11" name="Text 6"/>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defaults and the error messages</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3" name="Text 7"/>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Justice</a:t>
            </a:r>
            <a:endParaRPr lang="en-US" sz="1850" dirty="0"/>
          </a:p>
        </p:txBody>
      </p:sp>
      <p:sp>
        <p:nvSpPr>
          <p:cNvPr id="14" name="Text 8"/>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the metric actually measures</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5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11pm failure modes, named in advance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9386"/>
            <a:ext cx="283461" cy="283468"/>
          </a:xfrm>
          <a:prstGeom prst="rect">
            <a:avLst/>
          </a:prstGeom>
        </p:spPr>
      </p:pic>
      <p:sp>
        <p:nvSpPr>
          <p:cNvPr id="5" name="Text 1"/>
          <p:cNvSpPr/>
          <p:nvPr/>
        </p:nvSpPr>
        <p:spPr>
          <a:xfrm>
            <a:off x="1275723" y="2379960"/>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Delete the failing test instead of fixing it</a:t>
            </a:r>
            <a:endParaRPr lang="en-US" sz="14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43870"/>
            <a:ext cx="283461" cy="283468"/>
          </a:xfrm>
          <a:prstGeom prst="rect">
            <a:avLst/>
          </a:prstGeom>
        </p:spPr>
      </p:pic>
      <p:sp>
        <p:nvSpPr>
          <p:cNvPr id="7" name="Text 2"/>
          <p:cNvSpPr/>
          <p:nvPr/>
        </p:nvSpPr>
        <p:spPr>
          <a:xfrm>
            <a:off x="1275723" y="3334445"/>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Widen the except until the error stops</a:t>
            </a:r>
            <a:endParaRPr lang="en-US" sz="14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298355"/>
            <a:ext cx="283461" cy="283468"/>
          </a:xfrm>
          <a:prstGeom prst="rect">
            <a:avLst/>
          </a:prstGeom>
        </p:spPr>
      </p:pic>
      <p:sp>
        <p:nvSpPr>
          <p:cNvPr id="9" name="Text 3"/>
          <p:cNvSpPr/>
          <p:nvPr/>
        </p:nvSpPr>
        <p:spPr>
          <a:xfrm>
            <a:off x="1275723" y="4288929"/>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Commit generated work you have not read</a:t>
            </a:r>
            <a:endParaRPr lang="en-US" sz="14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2839"/>
            <a:ext cx="283461" cy="283468"/>
          </a:xfrm>
          <a:prstGeom prst="rect">
            <a:avLst/>
          </a:prstGeom>
        </p:spPr>
      </p:pic>
      <p:sp>
        <p:nvSpPr>
          <p:cNvPr id="11" name="Text 4"/>
          <p:cNvSpPr/>
          <p:nvPr/>
        </p:nvSpPr>
        <p:spPr>
          <a:xfrm>
            <a:off x="1275723" y="5243413"/>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Write "works on my machine" as the testing section</a:t>
            </a:r>
            <a:endParaRPr lang="en-US" sz="14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2405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one rule that outranks everything</a:t>
            </a:r>
            <a:endParaRPr lang="en-US" sz="3700" dirty="0"/>
          </a:p>
        </p:txBody>
      </p:sp>
      <p:sp>
        <p:nvSpPr>
          <p:cNvPr id="3" name="Shape 1"/>
          <p:cNvSpPr/>
          <p:nvPr/>
        </p:nvSpPr>
        <p:spPr>
          <a:xfrm>
            <a:off x="525350" y="2798167"/>
            <a:ext cx="5476043" cy="2012950"/>
          </a:xfrm>
          <a:prstGeom prst="roundRect">
            <a:avLst>
              <a:gd name="adj" fmla="val 6761"/>
            </a:avLst>
          </a:prstGeom>
          <a:solidFill>
            <a:srgbClr val="B0001D"/>
          </a:solidFill>
          <a:ln/>
        </p:spPr>
      </p:sp>
      <p:sp>
        <p:nvSpPr>
          <p:cNvPr id="4" name="Text 2"/>
          <p:cNvSpPr/>
          <p:nvPr/>
        </p:nvSpPr>
        <p:spPr>
          <a:xfrm>
            <a:off x="714357" y="2987179"/>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FFFFFF"/>
                </a:solidFill>
                <a:latin typeface="Orbitron Bold" pitchFamily="34" charset="0"/>
                <a:ea typeface="Orbitron Bold" pitchFamily="34" charset="-122"/>
                <a:cs typeface="Orbitron Bold" pitchFamily="34" charset="-120"/>
              </a:rPr>
              <a:t>The only rule</a:t>
            </a:r>
            <a:endParaRPr lang="en-US" sz="1850" dirty="0"/>
          </a:p>
        </p:txBody>
      </p:sp>
      <p:sp>
        <p:nvSpPr>
          <p:cNvPr id="5" name="Text 3"/>
          <p:cNvSpPr/>
          <p:nvPr/>
        </p:nvSpPr>
        <p:spPr>
          <a:xfrm>
            <a:off x="714357" y="3471466"/>
            <a:ext cx="50980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FFFFFF"/>
                </a:solidFill>
                <a:latin typeface="Roboto Condensed" pitchFamily="34" charset="0"/>
                <a:ea typeface="Roboto Condensed" pitchFamily="34" charset="-122"/>
                <a:cs typeface="Roboto Condensed" pitchFamily="34" charset="-120"/>
              </a:rPr>
              <a:t>The only way to fail outright here is submitting work you cannot explain.</a:t>
            </a:r>
            <a:endParaRPr lang="en-US"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07377" y="2985393"/>
            <a:ext cx="2509179" cy="655638"/>
          </a:xfrm>
          <a:prstGeom prst="rect">
            <a:avLst/>
          </a:prstGeom>
        </p:spPr>
      </p:pic>
      <p:sp>
        <p:nvSpPr>
          <p:cNvPr id="7" name="Text 4"/>
          <p:cNvSpPr/>
          <p:nvPr/>
        </p:nvSpPr>
        <p:spPr>
          <a:xfrm>
            <a:off x="6572582" y="3010793"/>
            <a:ext cx="224397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only way to fail outright here</a:t>
            </a:r>
            <a:endParaRPr lang="en-US" sz="14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7391" y="2985393"/>
            <a:ext cx="2509179" cy="655638"/>
          </a:xfrm>
          <a:prstGeom prst="rect">
            <a:avLst/>
          </a:prstGeom>
        </p:spPr>
      </p:pic>
      <p:sp>
        <p:nvSpPr>
          <p:cNvPr id="9" name="Text 5"/>
          <p:cNvSpPr/>
          <p:nvPr/>
        </p:nvSpPr>
        <p:spPr>
          <a:xfrm>
            <a:off x="9292596" y="3010793"/>
            <a:ext cx="224397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submitting work you cannot explain</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7377" y="3968254"/>
            <a:ext cx="2509179" cy="655638"/>
          </a:xfrm>
          <a:prstGeom prst="rect">
            <a:avLst/>
          </a:prstGeom>
        </p:spPr>
      </p:pic>
      <p:sp>
        <p:nvSpPr>
          <p:cNvPr id="11" name="Text 6"/>
          <p:cNvSpPr/>
          <p:nvPr/>
        </p:nvSpPr>
        <p:spPr>
          <a:xfrm>
            <a:off x="6572582" y="3993654"/>
            <a:ext cx="224397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Gate 3 gives you every tool there is</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7391" y="3968254"/>
            <a:ext cx="2509179" cy="655638"/>
          </a:xfrm>
          <a:prstGeom prst="rect">
            <a:avLst/>
          </a:prstGeom>
        </p:spPr>
      </p:pic>
      <p:sp>
        <p:nvSpPr>
          <p:cNvPr id="13" name="Text 7"/>
          <p:cNvSpPr/>
          <p:nvPr/>
        </p:nvSpPr>
        <p:spPr>
          <a:xfrm>
            <a:off x="9292596" y="3993654"/>
            <a:ext cx="224397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submission is a claim, and it has to be true</a:t>
            </a:r>
            <a:endParaRPr lang="en-US" sz="1450" dirty="0"/>
          </a:p>
        </p:txBody>
      </p:sp>
      <p:sp>
        <p:nvSpPr>
          <p:cNvPr id="14"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test, in four lines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lines = open(path, encoding="utf-8").read().splitlines()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real = [(n, t) for n, t in enumerate(lines,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t.strip() and not t.strip().startswith("#")]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step = max(1, len(real) // count)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picked = real[step // 2::step][:count]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lines, two questions each</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line 17: import urllib.request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line 49: return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line 82: "No model answered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why is this line here, and what breaks without 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what would you have written instead, and why did you not?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Twelve lines that publish two students</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THIS WEEK'S DRILL LEADERBOARD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Marisol Vega          118 cards  61% correct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Devon Whitaker         96 cards  94% correct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Priya Raman            40 cards  88% correct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4. Aiden Kowalczyk        12 cards  42% correct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5. Zainab Osei             9 cards  33% correct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39663"/>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that table measures</a:t>
            </a:r>
            <a:endParaRPr lang="en-US" sz="3600" dirty="0"/>
          </a:p>
        </p:txBody>
      </p:sp>
      <p:pic>
        <p:nvPicPr>
          <p:cNvPr id="3" name="Image 0" descr="preencoded.png">    </p:cNvPr>
          <p:cNvPicPr>
            <a:picLocks noChangeAspect="1"/>
          </p:cNvPicPr>
          <p:nvPr/>
        </p:nvPicPr>
        <p:blipFill>
          <a:blip r:embed="rId1"/>
          <a:stretch>
            <a:fillRect/>
          </a:stretch>
        </p:blipFill>
        <p:spPr>
          <a:xfrm>
            <a:off x="661475" y="1829296"/>
            <a:ext cx="6908330" cy="3914775"/>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2826" y="1677392"/>
            <a:ext cx="3513645" cy="705346"/>
          </a:xfrm>
          <a:prstGeom prst="rect">
            <a:avLst/>
          </a:prstGeom>
        </p:spPr>
      </p:pic>
      <p:sp>
        <p:nvSpPr>
          <p:cNvPr id="5" name="Text 1"/>
          <p:cNvSpPr/>
          <p:nvPr/>
        </p:nvSpPr>
        <p:spPr>
          <a:xfrm>
            <a:off x="8332877" y="1885851"/>
            <a:ext cx="2995141"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Cards drilled, which is time available</a:t>
            </a:r>
            <a:endParaRPr lang="en-US" sz="14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22826" y="2560042"/>
            <a:ext cx="3513645" cy="993775"/>
          </a:xfrm>
          <a:prstGeom prst="rect">
            <a:avLst/>
          </a:prstGeom>
        </p:spPr>
      </p:pic>
      <p:sp>
        <p:nvSpPr>
          <p:cNvPr id="7" name="Text 2"/>
          <p:cNvSpPr/>
          <p:nvPr/>
        </p:nvSpPr>
        <p:spPr>
          <a:xfrm>
            <a:off x="8332877" y="2768501"/>
            <a:ext cx="2995141"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Time is not distributed evenly across a class</a:t>
            </a:r>
            <a:endParaRPr lang="en-US" sz="14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22826" y="3731121"/>
            <a:ext cx="3513645" cy="993775"/>
          </a:xfrm>
          <a:prstGeom prst="rect">
            <a:avLst/>
          </a:prstGeom>
        </p:spPr>
      </p:pic>
      <p:sp>
        <p:nvSpPr>
          <p:cNvPr id="9" name="Text 3"/>
          <p:cNvSpPr/>
          <p:nvPr/>
        </p:nvSpPr>
        <p:spPr>
          <a:xfrm>
            <a:off x="8332877" y="3939580"/>
            <a:ext cx="2995141"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Places four and five publish a low number</a:t>
            </a:r>
            <a:endParaRPr lang="en-US" sz="14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22826" y="4902200"/>
            <a:ext cx="3513645" cy="993775"/>
          </a:xfrm>
          <a:prstGeom prst="rect">
            <a:avLst/>
          </a:prstGeom>
        </p:spPr>
      </p:pic>
      <p:sp>
        <p:nvSpPr>
          <p:cNvPr id="11" name="Text 4"/>
          <p:cNvSpPr/>
          <p:nvPr/>
        </p:nvSpPr>
        <p:spPr>
          <a:xfrm>
            <a:off x="8332877" y="5110659"/>
            <a:ext cx="2995141"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The default is public, and the default is everybody</a:t>
            </a:r>
            <a:endParaRPr lang="en-US" sz="14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One-line changes that fix it</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Rank by accuracy</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Rank by accuracy above a minimum attempt count</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Show only their own</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Or show each student only their own progress</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Opt in</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Make participation something you opt into</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Top three</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Show a top three and stop</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224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that will get you</a:t>
            </a:r>
            <a:endParaRPr lang="en-US" sz="3700" dirty="0"/>
          </a:p>
        </p:txBody>
      </p:sp>
      <p:sp>
        <p:nvSpPr>
          <p:cNvPr id="4" name="Text 1"/>
          <p:cNvSpPr/>
          <p:nvPr/>
        </p:nvSpPr>
        <p:spPr>
          <a:xfrm>
            <a:off x="5516821" y="3199805"/>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 understand it, I only could not have written it"</a:t>
            </a:r>
            <a:endParaRPr lang="en-US" sz="1450" dirty="0"/>
          </a:p>
        </p:txBody>
      </p:sp>
      <p:sp>
        <p:nvSpPr>
          <p:cNvPr id="5" name="Shape 2"/>
          <p:cNvSpPr/>
          <p:nvPr/>
        </p:nvSpPr>
        <p:spPr>
          <a:xfrm>
            <a:off x="5233360" y="2987179"/>
            <a:ext cx="25399" cy="727670"/>
          </a:xfrm>
          <a:prstGeom prst="roundRect">
            <a:avLst>
              <a:gd name="adj" fmla="val 50001"/>
            </a:avLst>
          </a:prstGeom>
          <a:solidFill>
            <a:srgbClr val="57A1EB"/>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961" y="3902075"/>
            <a:ext cx="3055663" cy="655638"/>
          </a:xfrm>
          <a:prstGeom prst="rect">
            <a:avLst/>
          </a:prstGeom>
        </p:spPr>
      </p:pic>
      <p:sp>
        <p:nvSpPr>
          <p:cNvPr id="7" name="Text 3"/>
          <p:cNvSpPr/>
          <p:nvPr/>
        </p:nvSpPr>
        <p:spPr>
          <a:xfrm>
            <a:off x="5473166" y="3927475"/>
            <a:ext cx="27904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Reading is a much weaker signal than writing</a:t>
            </a:r>
            <a:endParaRPr lang="en-US" sz="14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74458" y="3902075"/>
            <a:ext cx="3055762" cy="655638"/>
          </a:xfrm>
          <a:prstGeom prst="rect">
            <a:avLst/>
          </a:prstGeom>
        </p:spPr>
      </p:pic>
      <p:sp>
        <p:nvSpPr>
          <p:cNvPr id="9" name="Text 4"/>
          <p:cNvSpPr/>
          <p:nvPr/>
        </p:nvSpPr>
        <p:spPr>
          <a:xfrm>
            <a:off x="8739663" y="3927475"/>
            <a:ext cx="279055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Code you understand while reading</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7961" y="4884936"/>
            <a:ext cx="6322259" cy="353219"/>
          </a:xfrm>
          <a:prstGeom prst="rect">
            <a:avLst/>
          </a:prstGeom>
        </p:spPr>
      </p:pic>
      <p:sp>
        <p:nvSpPr>
          <p:cNvPr id="11" name="Text 5"/>
          <p:cNvSpPr/>
          <p:nvPr/>
        </p:nvSpPr>
        <p:spPr>
          <a:xfrm>
            <a:off x="5473166" y="4910336"/>
            <a:ext cx="605705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code you cannot debug at 11pm</a:t>
            </a:r>
            <a:endParaRPr lang="en-US" sz="1450" dirty="0"/>
          </a:p>
        </p:txBody>
      </p:sp>
      <p:sp>
        <p:nvSpPr>
          <p:cNvPr id="12" name="Text 6"/>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948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59373"/>
            <a:ext cx="5339820" cy="25400"/>
          </a:xfrm>
          <a:prstGeom prst="rect">
            <a:avLst/>
          </a:prstGeom>
          <a:solidFill>
            <a:srgbClr val="57A1EB"/>
          </a:solidFill>
          <a:ln/>
        </p:spPr>
      </p:sp>
      <p:sp>
        <p:nvSpPr>
          <p:cNvPr id="5" name="Text 3"/>
          <p:cNvSpPr/>
          <p:nvPr/>
        </p:nvSpPr>
        <p:spPr>
          <a:xfrm>
            <a:off x="661475" y="2904629"/>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Explain check</a:t>
            </a:r>
            <a:endParaRPr lang="en-US" sz="1850" dirty="0"/>
          </a:p>
        </p:txBody>
      </p:sp>
      <p:sp>
        <p:nvSpPr>
          <p:cNvPr id="6" name="Text 4"/>
          <p:cNvSpPr/>
          <p:nvPr/>
        </p:nvSpPr>
        <p:spPr>
          <a:xfrm>
            <a:off x="661475" y="3313311"/>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Run the explain check on your own file, five lines</a:t>
            </a:r>
            <a:endParaRPr lang="en-US" sz="1450" dirty="0"/>
          </a:p>
        </p:txBody>
      </p:sp>
      <p:sp>
        <p:nvSpPr>
          <p:cNvPr id="7" name="Text 5"/>
          <p:cNvSpPr/>
          <p:nvPr/>
        </p:nvSpPr>
        <p:spPr>
          <a:xfrm>
            <a:off x="6190301" y="24635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6190301" y="2759373"/>
            <a:ext cx="5339919" cy="25400"/>
          </a:xfrm>
          <a:prstGeom prst="rect">
            <a:avLst/>
          </a:prstGeom>
          <a:solidFill>
            <a:srgbClr val="57A1EB"/>
          </a:solidFill>
          <a:ln/>
        </p:spPr>
      </p:sp>
      <p:sp>
        <p:nvSpPr>
          <p:cNvPr id="9" name="Text 7"/>
          <p:cNvSpPr/>
          <p:nvPr/>
        </p:nvSpPr>
        <p:spPr>
          <a:xfrm>
            <a:off x="6190301" y="2904629"/>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Answer out loud</a:t>
            </a:r>
            <a:endParaRPr lang="en-US" sz="1850" dirty="0"/>
          </a:p>
        </p:txBody>
      </p:sp>
      <p:sp>
        <p:nvSpPr>
          <p:cNvPr id="10" name="Text 8"/>
          <p:cNvSpPr/>
          <p:nvPr/>
        </p:nvSpPr>
        <p:spPr>
          <a:xfrm>
            <a:off x="6190301" y="3313311"/>
            <a:ext cx="533991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Answer both questions out loud, timed</a:t>
            </a:r>
            <a:endParaRPr lang="en-US" sz="1450" dirty="0"/>
          </a:p>
        </p:txBody>
      </p:sp>
      <p:sp>
        <p:nvSpPr>
          <p:cNvPr id="11" name="Text 9"/>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661475" y="4242296"/>
            <a:ext cx="5339820" cy="25400"/>
          </a:xfrm>
          <a:prstGeom prst="rect">
            <a:avLst/>
          </a:prstGeom>
          <a:solidFill>
            <a:srgbClr val="57A1EB"/>
          </a:solidFill>
          <a:ln/>
        </p:spPr>
      </p:sp>
      <p:sp>
        <p:nvSpPr>
          <p:cNvPr id="13" name="Text 11"/>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Rewrite</a:t>
            </a:r>
            <a:endParaRPr lang="en-US" sz="1850" dirty="0"/>
          </a:p>
        </p:txBody>
      </p:sp>
      <p:sp>
        <p:nvSpPr>
          <p:cNvPr id="14" name="Text 12"/>
          <p:cNvSpPr/>
          <p:nvPr/>
        </p:nvSpPr>
        <p:spPr>
          <a:xfrm>
            <a:off x="661475" y="479623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Rewrite the leaderboard so it is defensible</a:t>
            </a:r>
            <a:endParaRPr lang="en-US" sz="1450" dirty="0"/>
          </a:p>
        </p:txBody>
      </p:sp>
      <p:sp>
        <p:nvSpPr>
          <p:cNvPr id="15" name="Text 13"/>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6" name="Shape 14"/>
          <p:cNvSpPr/>
          <p:nvPr/>
        </p:nvSpPr>
        <p:spPr>
          <a:xfrm>
            <a:off x="6190301" y="4242296"/>
            <a:ext cx="5339919" cy="25400"/>
          </a:xfrm>
          <a:prstGeom prst="rect">
            <a:avLst/>
          </a:prstGeom>
          <a:solidFill>
            <a:srgbClr val="57A1EB"/>
          </a:solidFill>
          <a:ln/>
        </p:spPr>
      </p:sp>
      <p:sp>
        <p:nvSpPr>
          <p:cNvPr id="17" name="Text 15"/>
          <p:cNvSpPr/>
          <p:nvPr/>
        </p:nvSpPr>
        <p:spPr>
          <a:xfrm>
            <a:off x="6190301" y="4387552"/>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the tradeoff</a:t>
            </a:r>
            <a:endParaRPr lang="en-US" sz="1850" dirty="0"/>
          </a:p>
        </p:txBody>
      </p:sp>
      <p:sp>
        <p:nvSpPr>
          <p:cNvPr id="18" name="Text 16"/>
          <p:cNvSpPr/>
          <p:nvPr/>
        </p:nvSpPr>
        <p:spPr>
          <a:xfrm>
            <a:off x="6190301" y="4796234"/>
            <a:ext cx="533991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Name what your version is now worse at</a:t>
            </a:r>
            <a:endParaRPr lang="en-US" sz="1450" dirty="0"/>
          </a:p>
        </p:txBody>
      </p:sp>
      <p:sp>
        <p:nvSpPr>
          <p:cNvPr id="19" name="Text 1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2026-09-16T03:35:02Z</dcterms:created>
  <dcterms:modified xsi:type="dcterms:W3CDTF">2026-09-16T03:35:02Z</dcterms:modified>
</cp:coreProperties>
</file>