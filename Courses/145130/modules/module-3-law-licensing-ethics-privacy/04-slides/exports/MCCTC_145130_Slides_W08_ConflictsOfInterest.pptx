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going to be asked for a recommendation sooner than you expect. The failure here is almost never corruption. It is a person with a real preference, a real relationship, and no place in the process where the relationship gets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of that sentence do the work. Could, not did: having one is not an accusation, it is a fact about a situation. Appear to: the value being protected is not your integrity, it is the decision's. And on somebody else's behalf: choosing a laptop for yourself cannot be a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personal standard says be loyal to your friend. Your professional standard says report the defect in their code. Both are real obligations. When they collide, the professional standard is the one written down by people who are not in the room, and that is what makes it the one that protects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one is the quiet one. If the requirements list is written after somebody has already fallen in love with a tool, those requirements will describe that tool. The fix is to write the criteria first and date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composite. Invented district, invented vendors, invented evaluators. Two relationships were declared, which already puts this committee ahead of most. Watch what happens when they try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first places from one set of numbers. Dropping the conflicted scores compares a sum of three against a sum of one, which is meaningless, and the program printed it anyway. Averaging puts NorthPath back on top on a single score from a single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 Not that one ranking is right. That none of them are, and that the fix had to happen weeks earlier. Chen scored NorthPath twenty one points above the next vendor, the biggest gap in the table. That is not proof of anything, and the point is that nobody can tell any more, including 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is the first move in every case and often the only one needed. Notice the mechanism in all four: you hand the decision to somebody else. That is what makes the decision survivable when somebody finds out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mother has worked at NorthPath for six years in an unrelated department. I am happy to score the other two and step out for NorthPath, or step out entirely, whichever the committee prefers. That is it. Four sentences and the decision is now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is probably true and beside the point. The second confuses known informally with disclosed. The third is correct, and reciprocity does not require a bribe, which is exactly why gift policies have low thresholds. And notice: the thing that ends a career is almost never the conflict. It is the nondisclosure.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runs the bid exercise in the right order, criteria first, disclosures second, scores third. Build two is personal: write the disclosure you would actually send about a judge, a sponsor, or a family connection in your own competition entry. If you genuinely have none, write the one you would send if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2.png"/><Relationship Id="rId7" Type="http://schemas.openxmlformats.org/officeDocument/2006/relationships/image" Target="../media/image-11-3.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186285"/>
            <a:ext cx="6296860"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Conflicts of Interest, and the Three Rulebooks You Live Under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Somebody is about to ask you which tool</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teacher asks what the class should use</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club asks which vendor to go with</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manager asks which library we standardize on</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have a reason they cannot see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5584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conflict actually is</a:t>
            </a:r>
            <a:endParaRPr lang="en-US" sz="3700" dirty="0"/>
          </a:p>
        </p:txBody>
      </p:sp>
      <p:sp>
        <p:nvSpPr>
          <p:cNvPr id="4" name="Shape 1"/>
          <p:cNvSpPr/>
          <p:nvPr/>
        </p:nvSpPr>
        <p:spPr>
          <a:xfrm>
            <a:off x="661475" y="2220615"/>
            <a:ext cx="6296860" cy="1019373"/>
          </a:xfrm>
          <a:prstGeom prst="roundRect">
            <a:avLst>
              <a:gd name="adj" fmla="val 7788"/>
            </a:avLst>
          </a:prstGeom>
          <a:solidFill>
            <a:srgbClr val="FFFFFF"/>
          </a:solidFill>
          <a:ln w="25399">
            <a:solidFill>
              <a:srgbClr val="B7CBE0"/>
            </a:solidFill>
            <a:prstDash val="solid"/>
          </a:ln>
        </p:spPr>
      </p:sp>
      <p:sp>
        <p:nvSpPr>
          <p:cNvPr id="5" name="Text 2"/>
          <p:cNvSpPr/>
          <p:nvPr/>
        </p:nvSpPr>
        <p:spPr>
          <a:xfrm>
            <a:off x="875881" y="2435027"/>
            <a:ext cx="58680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personal interest that could influence a decision</a:t>
            </a:r>
            <a:endParaRPr lang="en-US" sz="1850" dirty="0"/>
          </a:p>
        </p:txBody>
      </p:sp>
      <p:sp>
        <p:nvSpPr>
          <p:cNvPr id="6" name="Shape 3"/>
          <p:cNvSpPr/>
          <p:nvPr/>
        </p:nvSpPr>
        <p:spPr>
          <a:xfrm>
            <a:off x="661475" y="3429000"/>
            <a:ext cx="6296860" cy="724098"/>
          </a:xfrm>
          <a:prstGeom prst="roundRect">
            <a:avLst>
              <a:gd name="adj" fmla="val 10964"/>
            </a:avLst>
          </a:prstGeom>
          <a:solidFill>
            <a:srgbClr val="FFFFFF"/>
          </a:solidFill>
          <a:ln w="25399">
            <a:solidFill>
              <a:srgbClr val="B7CBE0"/>
            </a:solidFill>
            <a:prstDash val="solid"/>
          </a:ln>
        </p:spPr>
      </p:sp>
      <p:sp>
        <p:nvSpPr>
          <p:cNvPr id="7" name="Text 4"/>
          <p:cNvSpPr/>
          <p:nvPr/>
        </p:nvSpPr>
        <p:spPr>
          <a:xfrm>
            <a:off x="875881" y="3643412"/>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Made on somebody else's behalf</a:t>
            </a:r>
            <a:endParaRPr lang="en-US" sz="1850" dirty="0"/>
          </a:p>
        </p:txBody>
      </p:sp>
      <p:sp>
        <p:nvSpPr>
          <p:cNvPr id="8" name="Shape 5"/>
          <p:cNvSpPr/>
          <p:nvPr/>
        </p:nvSpPr>
        <p:spPr>
          <a:xfrm>
            <a:off x="661475" y="4342110"/>
            <a:ext cx="6296860" cy="724098"/>
          </a:xfrm>
          <a:prstGeom prst="roundRect">
            <a:avLst>
              <a:gd name="adj" fmla="val 10964"/>
            </a:avLst>
          </a:prstGeom>
          <a:solidFill>
            <a:srgbClr val="FFFFFF"/>
          </a:solidFill>
          <a:ln w="25399">
            <a:solidFill>
              <a:srgbClr val="B7CBE0"/>
            </a:solidFill>
            <a:prstDash val="solid"/>
          </a:ln>
        </p:spPr>
      </p:sp>
      <p:sp>
        <p:nvSpPr>
          <p:cNvPr id="9" name="Text 6"/>
          <p:cNvSpPr/>
          <p:nvPr/>
        </p:nvSpPr>
        <p:spPr>
          <a:xfrm>
            <a:off x="875881" y="4556522"/>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Could influence, not did influence</a:t>
            </a:r>
            <a:endParaRPr lang="en-US" sz="1850" dirty="0"/>
          </a:p>
        </p:txBody>
      </p:sp>
      <p:sp>
        <p:nvSpPr>
          <p:cNvPr id="10" name="Shape 7"/>
          <p:cNvSpPr/>
          <p:nvPr/>
        </p:nvSpPr>
        <p:spPr>
          <a:xfrm>
            <a:off x="661475" y="5255220"/>
            <a:ext cx="6296860" cy="724098"/>
          </a:xfrm>
          <a:prstGeom prst="roundRect">
            <a:avLst>
              <a:gd name="adj" fmla="val 10964"/>
            </a:avLst>
          </a:prstGeom>
          <a:solidFill>
            <a:srgbClr val="FFFFFF"/>
          </a:solidFill>
          <a:ln w="25399">
            <a:solidFill>
              <a:srgbClr val="B7CBE0"/>
            </a:solidFill>
            <a:prstDash val="solid"/>
          </a:ln>
        </p:spPr>
      </p:sp>
      <p:sp>
        <p:nvSpPr>
          <p:cNvPr id="11" name="Text 8"/>
          <p:cNvSpPr/>
          <p:nvPr/>
        </p:nvSpPr>
        <p:spPr>
          <a:xfrm>
            <a:off x="875881" y="5469632"/>
            <a:ext cx="58680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 could reasonably appear to</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1295"/>
            <a:ext cx="10868745" cy="535285"/>
          </a:xfrm>
          <a:prstGeom prst="rect">
            <a:avLst/>
          </a:prstGeom>
          <a:noFill/>
          <a:ln/>
        </p:spPr>
        <p:txBody>
          <a:bodyPr wrap="none" lIns="0" tIns="0" rIns="0" bIns="0" rtlCol="0" anchor="t"/>
          <a:lstStyle/>
          <a:p>
            <a:pPr algn="l" indent="0" marL="0">
              <a:lnSpc>
                <a:spcPct val="104000"/>
              </a:lnSpc>
              <a:buNone/>
            </a:pPr>
            <a:r>
              <a:rPr lang="en-US" sz="3350" b="1" dirty="0">
                <a:solidFill>
                  <a:srgbClr val="111111"/>
                </a:solidFill>
                <a:latin typeface="Orbitron Bold" pitchFamily="34" charset="0"/>
                <a:ea typeface="Orbitron Bold" pitchFamily="34" charset="-122"/>
                <a:cs typeface="Orbitron Bold" pitchFamily="34" charset="-120"/>
              </a:rPr>
              <a:t>Three rulebooks, all at once</a:t>
            </a:r>
            <a:endParaRPr lang="en-US" sz="3350" dirty="0"/>
          </a:p>
        </p:txBody>
      </p:sp>
      <p:pic>
        <p:nvPicPr>
          <p:cNvPr id="3" name="Image 0" descr="preencoded.png">    </p:cNvPr>
          <p:cNvPicPr>
            <a:picLocks noChangeAspect="1"/>
          </p:cNvPicPr>
          <p:nvPr/>
        </p:nvPicPr>
        <p:blipFill>
          <a:blip r:embed="rId1"/>
          <a:stretch>
            <a:fillRect/>
          </a:stretch>
        </p:blipFill>
        <p:spPr>
          <a:xfrm>
            <a:off x="661475" y="1791295"/>
            <a:ext cx="6918350" cy="3920430"/>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04074" y="1463973"/>
            <a:ext cx="3532397" cy="1064617"/>
          </a:xfrm>
          <a:prstGeom prst="rect">
            <a:avLst/>
          </a:prstGeom>
        </p:spPr>
      </p:pic>
      <p:sp>
        <p:nvSpPr>
          <p:cNvPr id="5" name="Text 1"/>
          <p:cNvSpPr/>
          <p:nvPr/>
        </p:nvSpPr>
        <p:spPr>
          <a:xfrm>
            <a:off x="8270569" y="1654274"/>
            <a:ext cx="3075605"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Personal</a:t>
            </a:r>
            <a:endParaRPr lang="en-US" sz="1650" dirty="0"/>
          </a:p>
        </p:txBody>
      </p:sp>
      <p:sp>
        <p:nvSpPr>
          <p:cNvPr id="6" name="Text 2"/>
          <p:cNvSpPr/>
          <p:nvPr/>
        </p:nvSpPr>
        <p:spPr>
          <a:xfrm>
            <a:off x="8270569" y="2077045"/>
            <a:ext cx="3075605"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Your values, family, community</a:t>
            </a:r>
            <a:endParaRPr lang="en-US" sz="13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4074" y="2683768"/>
            <a:ext cx="3532397" cy="1064617"/>
          </a:xfrm>
          <a:prstGeom prst="rect">
            <a:avLst/>
          </a:prstGeom>
        </p:spPr>
      </p:pic>
      <p:sp>
        <p:nvSpPr>
          <p:cNvPr id="8" name="Text 3"/>
          <p:cNvSpPr/>
          <p:nvPr/>
        </p:nvSpPr>
        <p:spPr>
          <a:xfrm>
            <a:off x="8270569" y="2874070"/>
            <a:ext cx="3075605"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Organizational</a:t>
            </a:r>
            <a:endParaRPr lang="en-US" sz="1650" dirty="0"/>
          </a:p>
        </p:txBody>
      </p:sp>
      <p:sp>
        <p:nvSpPr>
          <p:cNvPr id="9" name="Text 4"/>
          <p:cNvSpPr/>
          <p:nvPr/>
        </p:nvSpPr>
        <p:spPr>
          <a:xfrm>
            <a:off x="8270569" y="3296841"/>
            <a:ext cx="3075605"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Policy, contract, purchasing rules</a:t>
            </a:r>
            <a:endParaRPr lang="en-US" sz="13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04074" y="3903563"/>
            <a:ext cx="3532397" cy="1064617"/>
          </a:xfrm>
          <a:prstGeom prst="rect">
            <a:avLst/>
          </a:prstGeom>
        </p:spPr>
      </p:pic>
      <p:sp>
        <p:nvSpPr>
          <p:cNvPr id="11" name="Text 5"/>
          <p:cNvSpPr/>
          <p:nvPr/>
        </p:nvSpPr>
        <p:spPr>
          <a:xfrm>
            <a:off x="8270569" y="4093865"/>
            <a:ext cx="3075605"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Professional</a:t>
            </a:r>
            <a:endParaRPr lang="en-US" sz="1650" dirty="0"/>
          </a:p>
        </p:txBody>
      </p:sp>
      <p:sp>
        <p:nvSpPr>
          <p:cNvPr id="12" name="Text 6"/>
          <p:cNvSpPr/>
          <p:nvPr/>
        </p:nvSpPr>
        <p:spPr>
          <a:xfrm>
            <a:off x="8270569" y="4516636"/>
            <a:ext cx="3075605" cy="261243"/>
          </a:xfrm>
          <a:prstGeom prst="rect">
            <a:avLst/>
          </a:prstGeom>
          <a:noFill/>
          <a:ln/>
        </p:spPr>
        <p:txBody>
          <a:bodyPr wrap="none" lIns="0" tIns="0" rIns="0" bIns="0" rtlCol="0" anchor="t"/>
          <a:lstStyle/>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The ACM and IEEE codes, the field</a:t>
            </a:r>
            <a:endParaRPr lang="en-US" sz="13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4074" y="5123359"/>
            <a:ext cx="3532397" cy="915789"/>
          </a:xfrm>
          <a:prstGeom prst="rect">
            <a:avLst/>
          </a:prstGeom>
        </p:spPr>
      </p:pic>
      <p:sp>
        <p:nvSpPr>
          <p:cNvPr id="14" name="Text 7"/>
          <p:cNvSpPr/>
          <p:nvPr/>
        </p:nvSpPr>
        <p:spPr>
          <a:xfrm>
            <a:off x="8270569" y="5313660"/>
            <a:ext cx="3075605" cy="535186"/>
          </a:xfrm>
          <a:prstGeom prst="rect">
            <a:avLst/>
          </a:prstGeom>
          <a:noFill/>
          <a:ln/>
        </p:spPr>
        <p:txBody>
          <a:bodyPr wrap="square" lIns="0" tIns="0" rIns="0" bIns="0" rtlCol="0" anchor="t">
            <a:normAutofit/>
          </a:bodyPr>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They collide, and the collisions are real</a:t>
            </a:r>
            <a:endParaRPr lang="en-US" sz="1650" dirty="0"/>
          </a:p>
        </p:txBody>
      </p:sp>
      <p:sp>
        <p:nvSpPr>
          <p:cNvPr id="15"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shapes it takes</a:t>
            </a:r>
            <a:endParaRPr lang="en-US" sz="3700" dirty="0"/>
          </a:p>
        </p:txBody>
      </p:sp>
      <p:sp>
        <p:nvSpPr>
          <p:cNvPr id="4" name="Shape 1"/>
          <p:cNvSpPr/>
          <p:nvPr/>
        </p:nvSpPr>
        <p:spPr>
          <a:xfrm>
            <a:off x="661475" y="1803003"/>
            <a:ext cx="6296860" cy="1006673"/>
          </a:xfrm>
          <a:prstGeom prst="roundRect">
            <a:avLst>
              <a:gd name="adj" fmla="val 7886"/>
            </a:avLst>
          </a:prstGeom>
          <a:solidFill>
            <a:srgbClr val="D1E5FA"/>
          </a:solidFill>
          <a:ln w="19050">
            <a:solidFill>
              <a:srgbClr val="B7CBE0"/>
            </a:solidFill>
            <a:prstDash val="solid"/>
          </a:ln>
        </p:spPr>
      </p:sp>
      <p:sp>
        <p:nvSpPr>
          <p:cNvPr id="5" name="Text 2"/>
          <p:cNvSpPr/>
          <p:nvPr/>
        </p:nvSpPr>
        <p:spPr>
          <a:xfrm>
            <a:off x="869531" y="2011065"/>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Personal gain, project bidding, gifts, outside work</a:t>
            </a:r>
            <a:endParaRPr lang="en-US" sz="1850" dirty="0"/>
          </a:p>
        </p:txBody>
      </p:sp>
      <p:sp>
        <p:nvSpPr>
          <p:cNvPr id="6" name="Shape 3"/>
          <p:cNvSpPr/>
          <p:nvPr/>
        </p:nvSpPr>
        <p:spPr>
          <a:xfrm>
            <a:off x="661475" y="2998688"/>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20675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Using access you were given for a job</a:t>
            </a:r>
            <a:endParaRPr lang="en-US" sz="1850" dirty="0"/>
          </a:p>
        </p:txBody>
      </p:sp>
      <p:sp>
        <p:nvSpPr>
          <p:cNvPr id="8" name="Shape 5"/>
          <p:cNvSpPr/>
          <p:nvPr/>
        </p:nvSpPr>
        <p:spPr>
          <a:xfrm>
            <a:off x="661475" y="3899098"/>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10716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Benchmarking or grading your own work</a:t>
            </a:r>
            <a:endParaRPr lang="en-US" sz="1850" dirty="0"/>
          </a:p>
        </p:txBody>
      </p:sp>
      <p:sp>
        <p:nvSpPr>
          <p:cNvPr id="10" name="Shape 7"/>
          <p:cNvSpPr/>
          <p:nvPr/>
        </p:nvSpPr>
        <p:spPr>
          <a:xfrm>
            <a:off x="661475" y="4799509"/>
            <a:ext cx="6296860" cy="1006673"/>
          </a:xfrm>
          <a:prstGeom prst="roundRect">
            <a:avLst>
              <a:gd name="adj" fmla="val 7886"/>
            </a:avLst>
          </a:prstGeom>
          <a:solidFill>
            <a:srgbClr val="D1E5FA"/>
          </a:solidFill>
          <a:ln w="19050">
            <a:solidFill>
              <a:srgbClr val="B7CBE0"/>
            </a:solidFill>
            <a:prstDash val="solid"/>
          </a:ln>
        </p:spPr>
      </p:sp>
      <p:sp>
        <p:nvSpPr>
          <p:cNvPr id="11" name="Text 8"/>
          <p:cNvSpPr/>
          <p:nvPr/>
        </p:nvSpPr>
        <p:spPr>
          <a:xfrm>
            <a:off x="869531" y="5007570"/>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Writing the criteria after seeing the products</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Nine scores, two relationships</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Chen       NorthPath Learning      91  &lt;-- CONFLICT: parent is employed there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Chen       Kettle Ridge AI         62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Chen       Open Tutor Co-op        70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Delgado    NorthPath Learning      74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Delgado    Kettle Ridge AI         79</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Delgado    Open Tutor Co-op        81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Ferris     NorthPath Learning      88  &lt;-- CONFLICT: accepted a paid conference trip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Ferris     Kettle Ridge AI         66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Ferris     Open Tutor Co-op        64</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rankings, one set of numbers</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Every score:            NorthPath 253, Open Tutor 215, Kettle Ridge 207</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Conflicts dropped:      Open Tutor 215, Kettle Ridge 207, NorthPath 74</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Average of what is left: NorthPath 74.0, Open Tutor 71.7, Kettle Ridge 69.0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9584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Arithmetic cannot remove a conflict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66466"/>
            <a:ext cx="283461" cy="283468"/>
          </a:xfrm>
          <a:prstGeom prst="rect">
            <a:avLst/>
          </a:prstGeom>
        </p:spPr>
      </p:pic>
      <p:sp>
        <p:nvSpPr>
          <p:cNvPr id="5" name="Text 1"/>
          <p:cNvSpPr/>
          <p:nvPr/>
        </p:nvSpPr>
        <p:spPr>
          <a:xfrm>
            <a:off x="1275723" y="236061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Once it is in the data, no formula gets it out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17379"/>
            <a:ext cx="283461" cy="283468"/>
          </a:xfrm>
          <a:prstGeom prst="rect">
            <a:avLst/>
          </a:prstGeom>
        </p:spPr>
      </p:pic>
      <p:sp>
        <p:nvSpPr>
          <p:cNvPr id="7" name="Text 2"/>
          <p:cNvSpPr/>
          <p:nvPr/>
        </p:nvSpPr>
        <p:spPr>
          <a:xfrm>
            <a:off x="1275723" y="331152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committee that finds out afterwards has only bad options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285952"/>
            <a:ext cx="283461" cy="283468"/>
          </a:xfrm>
          <a:prstGeom prst="rect">
            <a:avLst/>
          </a:prstGeom>
        </p:spPr>
      </p:pic>
      <p:sp>
        <p:nvSpPr>
          <p:cNvPr id="9" name="Text 3"/>
          <p:cNvSpPr/>
          <p:nvPr/>
        </p:nvSpPr>
        <p:spPr>
          <a:xfrm>
            <a:off x="1275723" y="428009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Disclosures before scoring means two replacements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4526"/>
            <a:ext cx="283461" cy="283468"/>
          </a:xfrm>
          <a:prstGeom prst="rect">
            <a:avLst/>
          </a:prstGeom>
        </p:spPr>
      </p:pic>
      <p:sp>
        <p:nvSpPr>
          <p:cNvPr id="11" name="Text 4"/>
          <p:cNvSpPr/>
          <p:nvPr/>
        </p:nvSpPr>
        <p:spPr>
          <a:xfrm>
            <a:off x="1275723" y="524867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nine clean scores instead of nine unusable ones</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90547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moves, and doing nothing is not one</a:t>
            </a:r>
            <a:endParaRPr lang="en-US" sz="3700" dirty="0"/>
          </a:p>
        </p:txBody>
      </p:sp>
      <p:sp>
        <p:nvSpPr>
          <p:cNvPr id="3" name="Shape 1"/>
          <p:cNvSpPr/>
          <p:nvPr/>
        </p:nvSpPr>
        <p:spPr>
          <a:xfrm>
            <a:off x="661475" y="1874143"/>
            <a:ext cx="5339820" cy="1883271"/>
          </a:xfrm>
          <a:prstGeom prst="roundRect">
            <a:avLst>
              <a:gd name="adj" fmla="val 4215"/>
            </a:avLst>
          </a:prstGeom>
          <a:solidFill>
            <a:srgbClr val="D1E5FA"/>
          </a:solidFill>
          <a:ln w="19050">
            <a:solidFill>
              <a:srgbClr val="B7CBE0"/>
            </a:solidFill>
            <a:prstDash val="solid"/>
          </a:ln>
        </p:spPr>
      </p:sp>
      <p:sp>
        <p:nvSpPr>
          <p:cNvPr id="4" name="Shape 2"/>
          <p:cNvSpPr/>
          <p:nvPr/>
        </p:nvSpPr>
        <p:spPr>
          <a:xfrm>
            <a:off x="869531" y="2082205"/>
            <a:ext cx="567021" cy="567035"/>
          </a:xfrm>
          <a:prstGeom prst="ellipse">
            <a:avLst/>
          </a:prstGeom>
          <a:solidFill>
            <a:srgbClr val="57A1EB"/>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5499" y="2238077"/>
            <a:ext cx="255085" cy="255091"/>
          </a:xfrm>
          <a:prstGeom prst="rect">
            <a:avLst/>
          </a:prstGeom>
        </p:spPr>
      </p:pic>
      <p:sp>
        <p:nvSpPr>
          <p:cNvPr id="6" name="Text 3"/>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Disclose</a:t>
            </a:r>
            <a:endParaRPr lang="en-US" sz="1850" dirty="0"/>
          </a:p>
        </p:txBody>
      </p:sp>
      <p:sp>
        <p:nvSpPr>
          <p:cNvPr id="7" name="Text 4"/>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Write it down, before the decision</a:t>
            </a:r>
            <a:endParaRPr lang="en-US" sz="1450" dirty="0"/>
          </a:p>
        </p:txBody>
      </p:sp>
      <p:sp>
        <p:nvSpPr>
          <p:cNvPr id="8" name="Shape 5"/>
          <p:cNvSpPr/>
          <p:nvPr/>
        </p:nvSpPr>
        <p:spPr>
          <a:xfrm>
            <a:off x="6190301" y="1874143"/>
            <a:ext cx="5339919" cy="1883271"/>
          </a:xfrm>
          <a:prstGeom prst="roundRect">
            <a:avLst>
              <a:gd name="adj" fmla="val 4215"/>
            </a:avLst>
          </a:prstGeom>
          <a:solidFill>
            <a:srgbClr val="D1E5FA"/>
          </a:solidFill>
          <a:ln w="19050">
            <a:solidFill>
              <a:srgbClr val="B7CBE0"/>
            </a:solidFill>
            <a:prstDash val="solid"/>
          </a:ln>
        </p:spPr>
      </p:sp>
      <p:sp>
        <p:nvSpPr>
          <p:cNvPr id="9" name="Shape 6"/>
          <p:cNvSpPr/>
          <p:nvPr/>
        </p:nvSpPr>
        <p:spPr>
          <a:xfrm>
            <a:off x="6398358" y="2082205"/>
            <a:ext cx="567021" cy="567035"/>
          </a:xfrm>
          <a:prstGeom prst="ellipse">
            <a:avLst/>
          </a:prstGeom>
          <a:solidFill>
            <a:srgbClr val="57A1EB"/>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4326" y="2238077"/>
            <a:ext cx="255085" cy="255091"/>
          </a:xfrm>
          <a:prstGeom prst="rect">
            <a:avLst/>
          </a:prstGeom>
        </p:spPr>
      </p:pic>
      <p:sp>
        <p:nvSpPr>
          <p:cNvPr id="11" name="Text 7"/>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Recuse</a:t>
            </a:r>
            <a:endParaRPr lang="en-US" sz="1850" dirty="0"/>
          </a:p>
        </p:txBody>
      </p:sp>
      <p:sp>
        <p:nvSpPr>
          <p:cNvPr id="12" name="Text 8"/>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Step out of that one decision</a:t>
            </a:r>
            <a:endParaRPr lang="en-US" sz="1450" dirty="0"/>
          </a:p>
        </p:txBody>
      </p:sp>
      <p:sp>
        <p:nvSpPr>
          <p:cNvPr id="13" name="Shape 9"/>
          <p:cNvSpPr/>
          <p:nvPr/>
        </p:nvSpPr>
        <p:spPr>
          <a:xfrm>
            <a:off x="661475" y="3946426"/>
            <a:ext cx="5339820" cy="1883271"/>
          </a:xfrm>
          <a:prstGeom prst="roundRect">
            <a:avLst>
              <a:gd name="adj" fmla="val 4215"/>
            </a:avLst>
          </a:prstGeom>
          <a:solidFill>
            <a:srgbClr val="D1E5FA"/>
          </a:solidFill>
          <a:ln w="19050">
            <a:solidFill>
              <a:srgbClr val="B7CBE0"/>
            </a:solidFill>
            <a:prstDash val="solid"/>
          </a:ln>
        </p:spPr>
      </p:sp>
      <p:sp>
        <p:nvSpPr>
          <p:cNvPr id="14" name="Shape 10"/>
          <p:cNvSpPr/>
          <p:nvPr/>
        </p:nvSpPr>
        <p:spPr>
          <a:xfrm>
            <a:off x="869531" y="4154488"/>
            <a:ext cx="567021" cy="567035"/>
          </a:xfrm>
          <a:prstGeom prst="ellipse">
            <a:avLst/>
          </a:prstGeom>
          <a:solidFill>
            <a:srgbClr val="57A1EB"/>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5499" y="4310360"/>
            <a:ext cx="255085" cy="255091"/>
          </a:xfrm>
          <a:prstGeom prst="rect">
            <a:avLst/>
          </a:prstGeom>
        </p:spPr>
      </p:pic>
      <p:sp>
        <p:nvSpPr>
          <p:cNvPr id="16" name="Text 11"/>
          <p:cNvSpPr/>
          <p:nvPr/>
        </p:nvSpPr>
        <p:spPr>
          <a:xfrm>
            <a:off x="869531" y="4910534"/>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Divest</a:t>
            </a:r>
            <a:endParaRPr lang="en-US" sz="1850" dirty="0"/>
          </a:p>
        </p:txBody>
      </p:sp>
      <p:sp>
        <p:nvSpPr>
          <p:cNvPr id="17" name="Text 12"/>
          <p:cNvSpPr/>
          <p:nvPr/>
        </p:nvSpPr>
        <p:spPr>
          <a:xfrm>
            <a:off x="869531" y="5319216"/>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Get rid of the interest</a:t>
            </a:r>
            <a:endParaRPr lang="en-US" sz="1450" dirty="0"/>
          </a:p>
        </p:txBody>
      </p:sp>
      <p:sp>
        <p:nvSpPr>
          <p:cNvPr id="18" name="Shape 13"/>
          <p:cNvSpPr/>
          <p:nvPr/>
        </p:nvSpPr>
        <p:spPr>
          <a:xfrm>
            <a:off x="6190301" y="3946426"/>
            <a:ext cx="5339919" cy="1883271"/>
          </a:xfrm>
          <a:prstGeom prst="roundRect">
            <a:avLst>
              <a:gd name="adj" fmla="val 4215"/>
            </a:avLst>
          </a:prstGeom>
          <a:solidFill>
            <a:srgbClr val="D1E5FA"/>
          </a:solidFill>
          <a:ln w="19050">
            <a:solidFill>
              <a:srgbClr val="B7CBE0"/>
            </a:solidFill>
            <a:prstDash val="solid"/>
          </a:ln>
        </p:spPr>
      </p:sp>
      <p:sp>
        <p:nvSpPr>
          <p:cNvPr id="19" name="Shape 14"/>
          <p:cNvSpPr/>
          <p:nvPr/>
        </p:nvSpPr>
        <p:spPr>
          <a:xfrm>
            <a:off x="6398358" y="4154488"/>
            <a:ext cx="567021" cy="567035"/>
          </a:xfrm>
          <a:prstGeom prst="ellipse">
            <a:avLst/>
          </a:prstGeom>
          <a:solidFill>
            <a:srgbClr val="57A1EB"/>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54326" y="4310360"/>
            <a:ext cx="255085" cy="255091"/>
          </a:xfrm>
          <a:prstGeom prst="rect">
            <a:avLst/>
          </a:prstGeom>
        </p:spPr>
      </p:pic>
      <p:sp>
        <p:nvSpPr>
          <p:cNvPr id="21" name="Text 15"/>
          <p:cNvSpPr/>
          <p:nvPr/>
        </p:nvSpPr>
        <p:spPr>
          <a:xfrm>
            <a:off x="6398358" y="4910534"/>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Decline</a:t>
            </a:r>
            <a:endParaRPr lang="en-US" sz="1850" dirty="0"/>
          </a:p>
        </p:txBody>
      </p:sp>
      <p:sp>
        <p:nvSpPr>
          <p:cNvPr id="22" name="Text 16"/>
          <p:cNvSpPr/>
          <p:nvPr/>
        </p:nvSpPr>
        <p:spPr>
          <a:xfrm>
            <a:off x="6398358" y="5319216"/>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Turn down the role entirely</a:t>
            </a:r>
            <a:endParaRPr lang="en-US" sz="1450" dirty="0"/>
          </a:p>
        </p:txBody>
      </p:sp>
      <p:sp>
        <p:nvSpPr>
          <p:cNvPr id="23" name="Text 1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real disclosure sounds like</a:t>
            </a:r>
            <a:endParaRPr lang="en-US" sz="3700" dirty="0"/>
          </a:p>
        </p:txBody>
      </p:sp>
      <p:sp>
        <p:nvSpPr>
          <p:cNvPr id="4" name="Text 1"/>
          <p:cNvSpPr/>
          <p:nvPr/>
        </p:nvSpPr>
        <p:spPr>
          <a:xfrm>
            <a:off x="5233360"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356148"/>
            <a:ext cx="6296860" cy="25400"/>
          </a:xfrm>
          <a:prstGeom prst="rect">
            <a:avLst/>
          </a:prstGeom>
          <a:solidFill>
            <a:srgbClr val="57A1EB"/>
          </a:solidFill>
          <a:ln/>
        </p:spPr>
      </p:sp>
      <p:sp>
        <p:nvSpPr>
          <p:cNvPr id="6" name="Text 3"/>
          <p:cNvSpPr/>
          <p:nvPr/>
        </p:nvSpPr>
        <p:spPr>
          <a:xfrm>
            <a:off x="5233360"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Name the relationship and how close it is</a:t>
            </a:r>
            <a:endParaRPr lang="en-US" sz="1850" dirty="0"/>
          </a:p>
        </p:txBody>
      </p:sp>
      <p:sp>
        <p:nvSpPr>
          <p:cNvPr id="7" name="Text 4"/>
          <p:cNvSpPr/>
          <p:nvPr/>
        </p:nvSpPr>
        <p:spPr>
          <a:xfrm>
            <a:off x="5233360"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423245"/>
            <a:ext cx="6296860" cy="25400"/>
          </a:xfrm>
          <a:prstGeom prst="rect">
            <a:avLst/>
          </a:prstGeom>
          <a:solidFill>
            <a:srgbClr val="57A1EB"/>
          </a:solidFill>
          <a:ln/>
        </p:spPr>
      </p:sp>
      <p:sp>
        <p:nvSpPr>
          <p:cNvPr id="9" name="Text 6"/>
          <p:cNvSpPr/>
          <p:nvPr/>
        </p:nvSpPr>
        <p:spPr>
          <a:xfrm>
            <a:off x="5233360"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Offer options</a:t>
            </a:r>
            <a:endParaRPr lang="en-US" sz="1850" dirty="0"/>
          </a:p>
        </p:txBody>
      </p:sp>
      <p:sp>
        <p:nvSpPr>
          <p:cNvPr id="10" name="Text 7"/>
          <p:cNvSpPr/>
          <p:nvPr/>
        </p:nvSpPr>
        <p:spPr>
          <a:xfrm>
            <a:off x="5233360"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490343"/>
            <a:ext cx="6296860" cy="25400"/>
          </a:xfrm>
          <a:prstGeom prst="rect">
            <a:avLst/>
          </a:prstGeom>
          <a:solidFill>
            <a:srgbClr val="57A1EB"/>
          </a:solidFill>
          <a:ln/>
        </p:spPr>
      </p:sp>
      <p:sp>
        <p:nvSpPr>
          <p:cNvPr id="12" name="Text 9"/>
          <p:cNvSpPr/>
          <p:nvPr/>
        </p:nvSpPr>
        <p:spPr>
          <a:xfrm>
            <a:off x="5233360"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Hand the decision to the person who owns it</a:t>
            </a:r>
            <a:endParaRPr lang="en-US" sz="1850" dirty="0"/>
          </a:p>
        </p:txBody>
      </p:sp>
      <p:sp>
        <p:nvSpPr>
          <p:cNvPr id="13" name="Text 10"/>
          <p:cNvSpPr/>
          <p:nvPr/>
        </p:nvSpPr>
        <p:spPr>
          <a:xfrm>
            <a:off x="5233360"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557441"/>
            <a:ext cx="6296860" cy="25400"/>
          </a:xfrm>
          <a:prstGeom prst="rect">
            <a:avLst/>
          </a:prstGeom>
          <a:solidFill>
            <a:srgbClr val="57A1EB"/>
          </a:solidFill>
          <a:ln/>
        </p:spPr>
      </p:sp>
      <p:sp>
        <p:nvSpPr>
          <p:cNvPr id="15" name="Text 12"/>
          <p:cNvSpPr/>
          <p:nvPr/>
        </p:nvSpPr>
        <p:spPr>
          <a:xfrm>
            <a:off x="5233360"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Before the decision, in writing</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693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 sentences that keep people quiet</a:t>
            </a:r>
            <a:endParaRPr lang="en-US" sz="3700" dirty="0"/>
          </a:p>
        </p:txBody>
      </p:sp>
      <p:sp>
        <p:nvSpPr>
          <p:cNvPr id="4" name="Shape 1"/>
          <p:cNvSpPr/>
          <p:nvPr/>
        </p:nvSpPr>
        <p:spPr>
          <a:xfrm>
            <a:off x="661475" y="2934097"/>
            <a:ext cx="3053877" cy="1222573"/>
          </a:xfrm>
          <a:prstGeom prst="roundRect">
            <a:avLst>
              <a:gd name="adj" fmla="val 6493"/>
            </a:avLst>
          </a:prstGeom>
          <a:solidFill>
            <a:srgbClr val="FFFFFF"/>
          </a:solidFill>
          <a:ln w="25399">
            <a:solidFill>
              <a:srgbClr val="B7CBE0"/>
            </a:solidFill>
            <a:prstDash val="solid"/>
          </a:ln>
        </p:spPr>
      </p:sp>
      <p:pic>
        <p:nvPicPr>
          <p:cNvPr id="5" name="Image 1" descr="preencoded.png">    </p:cNvPr>
          <p:cNvPicPr>
            <a:picLocks noChangeAspect="1"/>
          </p:cNvPicPr>
          <p:nvPr/>
        </p:nvPicPr>
        <p:blipFill>
          <a:blip r:embed="rId2"/>
          <a:stretch>
            <a:fillRect/>
          </a:stretch>
        </p:blipFill>
        <p:spPr>
          <a:xfrm>
            <a:off x="573470" y="2846090"/>
            <a:ext cx="226808" cy="226814"/>
          </a:xfrm>
          <a:prstGeom prst="rect">
            <a:avLst/>
          </a:prstGeom>
        </p:spPr>
      </p:pic>
      <p:pic>
        <p:nvPicPr>
          <p:cNvPr id="6" name="Image 2" descr="preencoded.png">    </p:cNvPr>
          <p:cNvPicPr>
            <a:picLocks noChangeAspect="1"/>
          </p:cNvPicPr>
          <p:nvPr/>
        </p:nvPicPr>
        <p:blipFill>
          <a:blip r:embed="rId3"/>
          <a:stretch>
            <a:fillRect/>
          </a:stretch>
        </p:blipFill>
        <p:spPr>
          <a:xfrm>
            <a:off x="3576548" y="4017863"/>
            <a:ext cx="226808" cy="226814"/>
          </a:xfrm>
          <a:prstGeom prst="rect">
            <a:avLst/>
          </a:prstGeom>
        </p:spPr>
      </p:pic>
      <p:sp>
        <p:nvSpPr>
          <p:cNvPr id="7" name="Text 2"/>
          <p:cNvSpPr/>
          <p:nvPr/>
        </p:nvSpPr>
        <p:spPr>
          <a:xfrm>
            <a:off x="970335" y="3242965"/>
            <a:ext cx="243615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would not change my scoring"</a:t>
            </a:r>
            <a:endParaRPr lang="en-US" sz="1450" dirty="0"/>
          </a:p>
        </p:txBody>
      </p:sp>
      <p:sp>
        <p:nvSpPr>
          <p:cNvPr id="8" name="Shape 3"/>
          <p:cNvSpPr/>
          <p:nvPr/>
        </p:nvSpPr>
        <p:spPr>
          <a:xfrm>
            <a:off x="3904359" y="2934097"/>
            <a:ext cx="3053976" cy="1222573"/>
          </a:xfrm>
          <a:prstGeom prst="roundRect">
            <a:avLst>
              <a:gd name="adj" fmla="val 6493"/>
            </a:avLst>
          </a:prstGeom>
          <a:solidFill>
            <a:srgbClr val="FFFFFF"/>
          </a:solidFill>
          <a:ln w="25399">
            <a:solidFill>
              <a:srgbClr val="B7CBE0"/>
            </a:solidFill>
            <a:prstDash val="solid"/>
          </a:ln>
        </p:spPr>
      </p:sp>
      <p:pic>
        <p:nvPicPr>
          <p:cNvPr id="9" name="Image 3" descr="preencoded.png">    </p:cNvPr>
          <p:cNvPicPr>
            <a:picLocks noChangeAspect="1"/>
          </p:cNvPicPr>
          <p:nvPr/>
        </p:nvPicPr>
        <p:blipFill>
          <a:blip r:embed="rId4"/>
          <a:stretch>
            <a:fillRect/>
          </a:stretch>
        </p:blipFill>
        <p:spPr>
          <a:xfrm>
            <a:off x="3816354" y="2846090"/>
            <a:ext cx="226808" cy="226814"/>
          </a:xfrm>
          <a:prstGeom prst="rect">
            <a:avLst/>
          </a:prstGeom>
        </p:spPr>
      </p:pic>
      <p:pic>
        <p:nvPicPr>
          <p:cNvPr id="10" name="Image 4" descr="preencoded.png">    </p:cNvPr>
          <p:cNvPicPr>
            <a:picLocks noChangeAspect="1"/>
          </p:cNvPicPr>
          <p:nvPr/>
        </p:nvPicPr>
        <p:blipFill>
          <a:blip r:embed="rId5"/>
          <a:stretch>
            <a:fillRect/>
          </a:stretch>
        </p:blipFill>
        <p:spPr>
          <a:xfrm>
            <a:off x="6819531" y="4017863"/>
            <a:ext cx="226808" cy="226814"/>
          </a:xfrm>
          <a:prstGeom prst="rect">
            <a:avLst/>
          </a:prstGeom>
        </p:spPr>
      </p:pic>
      <p:sp>
        <p:nvSpPr>
          <p:cNvPr id="11" name="Text 4"/>
          <p:cNvSpPr/>
          <p:nvPr/>
        </p:nvSpPr>
        <p:spPr>
          <a:xfrm>
            <a:off x="4213219" y="3242965"/>
            <a:ext cx="243625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"Everybody knows my mom works there"</a:t>
            </a:r>
            <a:endParaRPr lang="en-US" sz="1450" dirty="0"/>
          </a:p>
        </p:txBody>
      </p:sp>
      <p:sp>
        <p:nvSpPr>
          <p:cNvPr id="12" name="Shape 5"/>
          <p:cNvSpPr/>
          <p:nvPr/>
        </p:nvSpPr>
        <p:spPr>
          <a:xfrm>
            <a:off x="661475" y="4345682"/>
            <a:ext cx="6296860" cy="920155"/>
          </a:xfrm>
          <a:prstGeom prst="roundRect">
            <a:avLst>
              <a:gd name="adj" fmla="val 8628"/>
            </a:avLst>
          </a:prstGeom>
          <a:solidFill>
            <a:srgbClr val="FFFFFF"/>
          </a:solidFill>
          <a:ln w="25399">
            <a:solidFill>
              <a:srgbClr val="B7CBE0"/>
            </a:solidFill>
            <a:prstDash val="solid"/>
          </a:ln>
        </p:spPr>
      </p:sp>
      <p:pic>
        <p:nvPicPr>
          <p:cNvPr id="13" name="Image 5" descr="preencoded.png">    </p:cNvPr>
          <p:cNvPicPr>
            <a:picLocks noChangeAspect="1"/>
          </p:cNvPicPr>
          <p:nvPr/>
        </p:nvPicPr>
        <p:blipFill>
          <a:blip r:embed="rId6"/>
          <a:stretch>
            <a:fillRect/>
          </a:stretch>
        </p:blipFill>
        <p:spPr>
          <a:xfrm>
            <a:off x="573470" y="4257675"/>
            <a:ext cx="226808" cy="226814"/>
          </a:xfrm>
          <a:prstGeom prst="rect">
            <a:avLst/>
          </a:prstGeom>
        </p:spPr>
      </p:pic>
      <p:pic>
        <p:nvPicPr>
          <p:cNvPr id="14" name="Image 6" descr="preencoded.png">    </p:cNvPr>
          <p:cNvPicPr>
            <a:picLocks noChangeAspect="1"/>
          </p:cNvPicPr>
          <p:nvPr/>
        </p:nvPicPr>
        <p:blipFill>
          <a:blip r:embed="rId7"/>
          <a:stretch>
            <a:fillRect/>
          </a:stretch>
        </p:blipFill>
        <p:spPr>
          <a:xfrm>
            <a:off x="6819531" y="5127030"/>
            <a:ext cx="226808" cy="226814"/>
          </a:xfrm>
          <a:prstGeom prst="rect">
            <a:avLst/>
          </a:prstGeom>
        </p:spPr>
      </p:pic>
      <p:sp>
        <p:nvSpPr>
          <p:cNvPr id="15" name="Text 6"/>
          <p:cNvSpPr/>
          <p:nvPr/>
        </p:nvSpPr>
        <p:spPr>
          <a:xfrm>
            <a:off x="970335" y="4654550"/>
            <a:ext cx="567913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only a conference trip, not a bribe"</a:t>
            </a:r>
            <a:endParaRPr lang="en-US" sz="1450" dirty="0"/>
          </a:p>
        </p:txBody>
      </p:sp>
      <p:sp>
        <p:nvSpPr>
          <p:cNvPr id="16"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5723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661475" y="2222004"/>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732365" y="22574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1275723" y="228689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evaluation criteria first, and date the file</a:t>
            </a:r>
            <a:endParaRPr lang="en-US" sz="1850" dirty="0"/>
          </a:p>
        </p:txBody>
      </p:sp>
      <p:sp>
        <p:nvSpPr>
          <p:cNvPr id="7" name="Shape 4"/>
          <p:cNvSpPr/>
          <p:nvPr/>
        </p:nvSpPr>
        <p:spPr>
          <a:xfrm>
            <a:off x="661475" y="3255466"/>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732365" y="3290888"/>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1275723" y="332035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Collect disclosures before anybody sees a product</a:t>
            </a:r>
            <a:endParaRPr lang="en-US" sz="1850" dirty="0"/>
          </a:p>
        </p:txBody>
      </p:sp>
      <p:sp>
        <p:nvSpPr>
          <p:cNvPr id="10" name="Shape 7"/>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732365"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1275723" y="435381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Score, then compute the ranking three ways</a:t>
            </a:r>
            <a:endParaRPr lang="en-US" sz="1850" dirty="0"/>
          </a:p>
        </p:txBody>
      </p:sp>
      <p:sp>
        <p:nvSpPr>
          <p:cNvPr id="13" name="Shape 10"/>
          <p:cNvSpPr/>
          <p:nvPr/>
        </p:nvSpPr>
        <p:spPr>
          <a:xfrm>
            <a:off x="661475" y="5322391"/>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732365" y="535781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1275723" y="5387280"/>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your own disclosure for the competition judge</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2026-09-16T03:35:55Z</dcterms:created>
  <dcterms:modified xsi:type="dcterms:W3CDTF">2026-09-16T03:35:55Z</dcterms:modified>
</cp:coreProperties>
</file>