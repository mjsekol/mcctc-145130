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is going to ask you what this stuff is. Your aunt, your boss, a nine year old. The answer you give shapes what they believe and what they are willing to paste into a text box. That sentence is the one most people give, and today we take it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each one to what the reader does next. You do not hide things from a friend, so they paste. A friend who has read everything would not make up a citation, so they do not check. And when it is wrong they conclude it was having a bad day rather than that it works this way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line decides which words you may use, what they already know, and what they actually want, which is almost always should I be worried rather than how does attention work. Writing without naming the audience is how you end up writing for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budget on purpose. Transformer, parameters, context window, and temperature do not earn their place in a one page explainer for a non-technical adult. Choosing which three matters more than explaining them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word correct. Your aunt has stopped reading. Nobody in this room is in danger of writing this one, but read it once so you recognise it when a vendor sends it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worse than the previous slide, and that is the point of putting them next to each other. The first one merely failed to communicate. This one succeeded, and installed something false. It does not read anything when you use it and it finds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mechanism, no jargon that is not defined in the sentence, and it carries the consequence the reader actually needs. That last clause is the one doing the work: it can be completely wrong and sound exactly as sure as when it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asks these out loud and everybody wants to know. Number one: no, and that is the problem, because lying needs intent and a grasp of the truth. Number two: for our lab, nowhere, and for their phone, read the terms. Number three is the interesting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Refusing the question as asked and offering a better one is more honest than a prediction you cannot support. And notice the last line, which is the one to end on: the parts of a job that need somebody accountable do not change, because no model can be accountable for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three words this course has forbidden since your first day here, and you can all recite them. That rule is not a style preference. Those words tell a confused reader that their confusion is their own fault, and a reader who feels stupid stops reading and keeps whatever wrong model they walked in with. Delete the word and the sentence is always still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two is the explainer and it is graded under Written and Documentation. Simplifying is allowed and simplifying into something false is not, and under deadline those two feel identical. The test I will apply is the one from slide two: what does your reader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5.png"/><Relationship Id="rId8" Type="http://schemas.openxmlformats.org/officeDocument/2006/relationships/image" Target="../media/image-3-6.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Explaining It Without the Word Magic</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It is like a really smart friend</a:t>
            </a:r>
            <a:endParaRPr lang="en-US" sz="3700" dirty="0"/>
          </a:p>
        </p:txBody>
      </p:sp>
      <p:sp>
        <p:nvSpPr>
          <p:cNvPr id="4" name="Shape 1"/>
          <p:cNvSpPr/>
          <p:nvPr/>
        </p:nvSpPr>
        <p:spPr>
          <a:xfrm>
            <a:off x="661475"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Who has read everything</a:t>
            </a:r>
            <a:endParaRPr lang="en-US" sz="1850" dirty="0"/>
          </a:p>
        </p:txBody>
      </p:sp>
      <p:sp>
        <p:nvSpPr>
          <p:cNvPr id="6" name="Shape 3"/>
          <p:cNvSpPr/>
          <p:nvPr/>
        </p:nvSpPr>
        <p:spPr>
          <a:xfrm>
            <a:off x="661475"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can help you with anything</a:t>
            </a:r>
            <a:endParaRPr lang="en-US" sz="1850" dirty="0"/>
          </a:p>
        </p:txBody>
      </p:sp>
      <p:sp>
        <p:nvSpPr>
          <p:cNvPr id="8" name="Shape 5"/>
          <p:cNvSpPr/>
          <p:nvPr/>
        </p:nvSpPr>
        <p:spPr>
          <a:xfrm>
            <a:off x="661475"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most common explainer sentence</a:t>
            </a:r>
            <a:endParaRPr lang="en-US" sz="1850" dirty="0"/>
          </a:p>
        </p:txBody>
      </p:sp>
      <p:sp>
        <p:nvSpPr>
          <p:cNvPr id="10" name="Shape 7"/>
          <p:cNvSpPr/>
          <p:nvPr/>
        </p:nvSpPr>
        <p:spPr>
          <a:xfrm>
            <a:off x="661475"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it teaches three false things</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91700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that sentence actually installs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85678"/>
            <a:ext cx="5339820" cy="1019373"/>
          </a:xfrm>
          <a:prstGeom prst="rect">
            <a:avLst/>
          </a:prstGeom>
        </p:spPr>
      </p:pic>
      <p:sp>
        <p:nvSpPr>
          <p:cNvPr id="4" name="Text 1"/>
          <p:cNvSpPr/>
          <p:nvPr/>
        </p:nvSpPr>
        <p:spPr>
          <a:xfrm>
            <a:off x="977479" y="3100090"/>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Smart friend implies intention and care</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885678"/>
            <a:ext cx="5339919" cy="1019373"/>
          </a:xfrm>
          <a:prstGeom prst="rect">
            <a:avLst/>
          </a:prstGeom>
        </p:spPr>
      </p:pic>
      <p:sp>
        <p:nvSpPr>
          <p:cNvPr id="6" name="Text 2"/>
          <p:cNvSpPr/>
          <p:nvPr/>
        </p:nvSpPr>
        <p:spPr>
          <a:xfrm>
            <a:off x="6506305" y="3100090"/>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Has read everything implies a lookup</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94063"/>
            <a:ext cx="5339820" cy="724098"/>
          </a:xfrm>
          <a:prstGeom prst="rect">
            <a:avLst/>
          </a:prstGeom>
        </p:spPr>
      </p:pic>
      <p:sp>
        <p:nvSpPr>
          <p:cNvPr id="8" name="Text 3"/>
          <p:cNvSpPr/>
          <p:nvPr/>
        </p:nvSpPr>
        <p:spPr>
          <a:xfrm>
            <a:off x="977479" y="4308475"/>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Anything removes every boundary</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094063"/>
            <a:ext cx="5339919" cy="724098"/>
          </a:xfrm>
          <a:prstGeom prst="rect">
            <a:avLst/>
          </a:prstGeom>
        </p:spPr>
      </p:pic>
      <p:sp>
        <p:nvSpPr>
          <p:cNvPr id="10" name="Text 4"/>
          <p:cNvSpPr/>
          <p:nvPr/>
        </p:nvSpPr>
        <p:spPr>
          <a:xfrm>
            <a:off x="6506305" y="4308475"/>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will paste confidential things in</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233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Name the audience before sentence one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392958"/>
            <a:ext cx="283461" cy="283468"/>
          </a:xfrm>
          <a:prstGeom prst="rect">
            <a:avLst/>
          </a:prstGeom>
        </p:spPr>
      </p:pic>
      <p:sp>
        <p:nvSpPr>
          <p:cNvPr id="5" name="Text 1"/>
          <p:cNvSpPr/>
          <p:nvPr/>
        </p:nvSpPr>
        <p:spPr>
          <a:xfrm>
            <a:off x="5847608" y="238710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it at the top of the draft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343870"/>
            <a:ext cx="283461" cy="283468"/>
          </a:xfrm>
          <a:prstGeom prst="rect">
            <a:avLst/>
          </a:prstGeom>
        </p:spPr>
      </p:pic>
      <p:sp>
        <p:nvSpPr>
          <p:cNvPr id="7" name="Text 2"/>
          <p:cNvSpPr/>
          <p:nvPr/>
        </p:nvSpPr>
        <p:spPr>
          <a:xfrm>
            <a:off x="5847608" y="33380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 my aunt, who runs a salon</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294783"/>
            <a:ext cx="283461" cy="283468"/>
          </a:xfrm>
          <a:prstGeom prst="rect">
            <a:avLst/>
          </a:prstGeom>
        </p:spPr>
      </p:pic>
      <p:sp>
        <p:nvSpPr>
          <p:cNvPr id="9" name="Text 3"/>
          <p:cNvSpPr/>
          <p:nvPr/>
        </p:nvSpPr>
        <p:spPr>
          <a:xfrm>
            <a:off x="5847608" y="428892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Delete the line before you submit</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245695"/>
            <a:ext cx="283461" cy="283468"/>
          </a:xfrm>
          <a:prstGeom prst="rect">
            <a:avLst/>
          </a:prstGeom>
        </p:spPr>
      </p:pic>
      <p:sp>
        <p:nvSpPr>
          <p:cNvPr id="11" name="Text 4"/>
          <p:cNvSpPr/>
          <p:nvPr/>
        </p:nvSpPr>
        <p:spPr>
          <a:xfrm>
            <a:off x="5847608" y="5239841"/>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Everything downstream comes from it</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1194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have three technical words</a:t>
            </a:r>
            <a:endParaRPr lang="en-US" sz="3700" dirty="0"/>
          </a:p>
        </p:txBody>
      </p:sp>
      <p:sp>
        <p:nvSpPr>
          <p:cNvPr id="3" name="Shape 1"/>
          <p:cNvSpPr/>
          <p:nvPr/>
        </p:nvSpPr>
        <p:spPr>
          <a:xfrm>
            <a:off x="661475" y="2998688"/>
            <a:ext cx="2507394" cy="711398"/>
          </a:xfrm>
          <a:prstGeom prst="roundRect">
            <a:avLst>
              <a:gd name="adj" fmla="val 11159"/>
            </a:avLst>
          </a:prstGeom>
          <a:solidFill>
            <a:srgbClr val="D1E5FA"/>
          </a:solidFill>
          <a:ln w="19050">
            <a:solidFill>
              <a:srgbClr val="B7CBE0"/>
            </a:solidFill>
            <a:prstDash val="solid"/>
          </a:ln>
        </p:spPr>
      </p:sp>
      <p:sp>
        <p:nvSpPr>
          <p:cNvPr id="4" name="Text 2"/>
          <p:cNvSpPr/>
          <p:nvPr/>
        </p:nvSpPr>
        <p:spPr>
          <a:xfrm>
            <a:off x="869531" y="3206750"/>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Token</a:t>
            </a:r>
            <a:endParaRPr lang="en-US" sz="1850" dirty="0"/>
          </a:p>
        </p:txBody>
      </p:sp>
      <p:sp>
        <p:nvSpPr>
          <p:cNvPr id="5" name="Shape 3"/>
          <p:cNvSpPr/>
          <p:nvPr/>
        </p:nvSpPr>
        <p:spPr>
          <a:xfrm>
            <a:off x="3357875" y="2998688"/>
            <a:ext cx="2507394" cy="711398"/>
          </a:xfrm>
          <a:prstGeom prst="roundRect">
            <a:avLst>
              <a:gd name="adj" fmla="val 11159"/>
            </a:avLst>
          </a:prstGeom>
          <a:solidFill>
            <a:srgbClr val="D1E5FA"/>
          </a:solidFill>
          <a:ln w="19050">
            <a:solidFill>
              <a:srgbClr val="B7CBE0"/>
            </a:solidFill>
            <a:prstDash val="solid"/>
          </a:ln>
        </p:spPr>
      </p:sp>
      <p:sp>
        <p:nvSpPr>
          <p:cNvPr id="6" name="Text 4"/>
          <p:cNvSpPr/>
          <p:nvPr/>
        </p:nvSpPr>
        <p:spPr>
          <a:xfrm>
            <a:off x="3565932" y="3206750"/>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Training</a:t>
            </a:r>
            <a:endParaRPr lang="en-US" sz="1850" dirty="0"/>
          </a:p>
        </p:txBody>
      </p:sp>
      <p:sp>
        <p:nvSpPr>
          <p:cNvPr id="7" name="Shape 5"/>
          <p:cNvSpPr/>
          <p:nvPr/>
        </p:nvSpPr>
        <p:spPr>
          <a:xfrm>
            <a:off x="661475" y="3899098"/>
            <a:ext cx="5203794" cy="711398"/>
          </a:xfrm>
          <a:prstGeom prst="roundRect">
            <a:avLst>
              <a:gd name="adj" fmla="val 11159"/>
            </a:avLst>
          </a:prstGeom>
          <a:solidFill>
            <a:srgbClr val="D1E5FA"/>
          </a:solidFill>
          <a:ln w="19050">
            <a:solidFill>
              <a:srgbClr val="B7CBE0"/>
            </a:solidFill>
            <a:prstDash val="solid"/>
          </a:ln>
        </p:spPr>
      </p:sp>
      <p:sp>
        <p:nvSpPr>
          <p:cNvPr id="8" name="Text 6"/>
          <p:cNvSpPr/>
          <p:nvPr/>
        </p:nvSpPr>
        <p:spPr>
          <a:xfrm>
            <a:off x="869531" y="4107160"/>
            <a:ext cx="478768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Inference</a:t>
            </a:r>
            <a:endParaRPr lang="en-US" sz="1850" dirty="0"/>
          </a:p>
        </p:txBody>
      </p:sp>
      <p:sp>
        <p:nvSpPr>
          <p:cNvPr id="9" name="Text 7"/>
          <p:cNvSpPr/>
          <p:nvPr/>
        </p:nvSpPr>
        <p:spPr>
          <a:xfrm>
            <a:off x="6332776" y="2956123"/>
            <a:ext cx="5203794"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Define each on first use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 words they already have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fourth word costs you the reader</a:t>
            </a:r>
            <a:endParaRPr lang="en-US" sz="1450" dirty="0"/>
          </a:p>
        </p:txBody>
      </p:sp>
      <p:sp>
        <p:nvSpPr>
          <p:cNvPr id="10"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Too technical</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"The model performs autoregressive next-token prediction over a</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 learned distribution, conditioned on the context window."</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5429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Too loose, and now false</a:t>
            </a:r>
            <a:endParaRPr lang="en-US" sz="3700" dirty="0"/>
          </a:p>
        </p:txBody>
      </p:sp>
      <p:sp>
        <p:nvSpPr>
          <p:cNvPr id="3" name="Shape 1"/>
          <p:cNvSpPr/>
          <p:nvPr/>
        </p:nvSpPr>
        <p:spPr>
          <a:xfrm>
            <a:off x="661475" y="3511649"/>
            <a:ext cx="10868745" cy="680442"/>
          </a:xfrm>
          <a:prstGeom prst="roundRect">
            <a:avLst>
              <a:gd name="adj" fmla="val 11667"/>
            </a:avLst>
          </a:prstGeom>
          <a:solidFill>
            <a:srgbClr val="F2F2F2"/>
          </a:solidFill>
          <a:ln/>
        </p:spPr>
      </p:sp>
      <p:sp>
        <p:nvSpPr>
          <p:cNvPr id="4" name="Text 2"/>
          <p:cNvSpPr/>
          <p:nvPr/>
        </p:nvSpPr>
        <p:spPr>
          <a:xfrm>
            <a:off x="888283" y="3700661"/>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"It reads everything on the internet and finds the best answer for you."</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153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About right</a:t>
            </a:r>
            <a:endParaRPr lang="en-US" sz="3700" dirty="0"/>
          </a:p>
        </p:txBody>
      </p:sp>
      <p:sp>
        <p:nvSpPr>
          <p:cNvPr id="3" name="Text 1"/>
          <p:cNvSpPr/>
          <p:nvPr/>
        </p:nvSpPr>
        <p:spPr>
          <a:xfrm>
            <a:off x="661475"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879923"/>
            <a:ext cx="5339820" cy="25400"/>
          </a:xfrm>
          <a:prstGeom prst="rect">
            <a:avLst/>
          </a:prstGeom>
          <a:solidFill>
            <a:srgbClr val="57A1EB"/>
          </a:solidFill>
          <a:ln/>
        </p:spPr>
      </p:sp>
      <p:sp>
        <p:nvSpPr>
          <p:cNvPr id="5" name="Text 3"/>
          <p:cNvSpPr/>
          <p:nvPr/>
        </p:nvSpPr>
        <p:spPr>
          <a:xfrm>
            <a:off x="661475" y="3025180"/>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Shown an enormous amount of writing</a:t>
            </a:r>
            <a:endParaRPr lang="en-US" sz="1850" dirty="0"/>
          </a:p>
        </p:txBody>
      </p:sp>
      <p:sp>
        <p:nvSpPr>
          <p:cNvPr id="6" name="Text 4"/>
          <p:cNvSpPr/>
          <p:nvPr/>
        </p:nvSpPr>
        <p:spPr>
          <a:xfrm>
            <a:off x="6190301"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2879923"/>
            <a:ext cx="5339919" cy="25400"/>
          </a:xfrm>
          <a:prstGeom prst="rect">
            <a:avLst/>
          </a:prstGeom>
          <a:solidFill>
            <a:srgbClr val="57A1EB"/>
          </a:solidFill>
          <a:ln/>
        </p:spPr>
      </p:sp>
      <p:sp>
        <p:nvSpPr>
          <p:cNvPr id="8" name="Text 6"/>
          <p:cNvSpPr/>
          <p:nvPr/>
        </p:nvSpPr>
        <p:spPr>
          <a:xfrm>
            <a:off x="6190301" y="3025180"/>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Adjusted until it guessed the next piece well</a:t>
            </a:r>
            <a:endParaRPr lang="en-US" sz="1850" dirty="0"/>
          </a:p>
        </p:txBody>
      </p:sp>
      <p:sp>
        <p:nvSpPr>
          <p:cNvPr id="9" name="Text 7"/>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242296"/>
            <a:ext cx="5339820" cy="25400"/>
          </a:xfrm>
          <a:prstGeom prst="rect">
            <a:avLst/>
          </a:prstGeom>
          <a:solidFill>
            <a:srgbClr val="57A1EB"/>
          </a:solidFill>
          <a:ln/>
        </p:spPr>
      </p:sp>
      <p:sp>
        <p:nvSpPr>
          <p:cNvPr id="11" name="Text 9"/>
          <p:cNvSpPr/>
          <p:nvPr/>
        </p:nvSpPr>
        <p:spPr>
          <a:xfrm>
            <a:off x="661475" y="4387552"/>
            <a:ext cx="53398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Now that is all it does</a:t>
            </a:r>
            <a:endParaRPr lang="en-US" sz="1850" dirty="0"/>
          </a:p>
        </p:txBody>
      </p:sp>
      <p:sp>
        <p:nvSpPr>
          <p:cNvPr id="12" name="Text 10"/>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242296"/>
            <a:ext cx="5339919" cy="25400"/>
          </a:xfrm>
          <a:prstGeom prst="rect">
            <a:avLst/>
          </a:prstGeom>
          <a:solidFill>
            <a:srgbClr val="57A1EB"/>
          </a:solidFill>
          <a:ln/>
        </p:spPr>
      </p:sp>
      <p:sp>
        <p:nvSpPr>
          <p:cNvPr id="14" name="Text 12"/>
          <p:cNvSpPr/>
          <p:nvPr/>
        </p:nvSpPr>
        <p:spPr>
          <a:xfrm>
            <a:off x="6190301" y="4387552"/>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is looked up, so it can be sure and wrong</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386284"/>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Answer the three questions they will not ask</a:t>
            </a:r>
            <a:endParaRPr lang="en-US" sz="3700" dirty="0"/>
          </a:p>
        </p:txBody>
      </p:sp>
      <p:sp>
        <p:nvSpPr>
          <p:cNvPr id="4" name="Shape 1"/>
          <p:cNvSpPr/>
          <p:nvPr/>
        </p:nvSpPr>
        <p:spPr>
          <a:xfrm>
            <a:off x="661475" y="3441700"/>
            <a:ext cx="3053877" cy="1006673"/>
          </a:xfrm>
          <a:prstGeom prst="roundRect">
            <a:avLst>
              <a:gd name="adj" fmla="val 7886"/>
            </a:avLst>
          </a:prstGeom>
          <a:solidFill>
            <a:srgbClr val="D1E5FA"/>
          </a:solidFill>
          <a:ln w="19050">
            <a:solidFill>
              <a:srgbClr val="B7CBE0"/>
            </a:solidFill>
            <a:prstDash val="solid"/>
          </a:ln>
        </p:spPr>
      </p:sp>
      <p:sp>
        <p:nvSpPr>
          <p:cNvPr id="5" name="Text 2"/>
          <p:cNvSpPr/>
          <p:nvPr/>
        </p:nvSpPr>
        <p:spPr>
          <a:xfrm>
            <a:off x="869531" y="3649762"/>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Is it lying to me</a:t>
            </a:r>
            <a:endParaRPr lang="en-US" sz="1850" dirty="0"/>
          </a:p>
        </p:txBody>
      </p:sp>
      <p:sp>
        <p:nvSpPr>
          <p:cNvPr id="6" name="Shape 3"/>
          <p:cNvSpPr/>
          <p:nvPr/>
        </p:nvSpPr>
        <p:spPr>
          <a:xfrm>
            <a:off x="3904359" y="3441700"/>
            <a:ext cx="3053976" cy="1006673"/>
          </a:xfrm>
          <a:prstGeom prst="roundRect">
            <a:avLst>
              <a:gd name="adj" fmla="val 7886"/>
            </a:avLst>
          </a:prstGeom>
          <a:solidFill>
            <a:srgbClr val="D1E5FA"/>
          </a:solidFill>
          <a:ln w="19050">
            <a:solidFill>
              <a:srgbClr val="B7CBE0"/>
            </a:solidFill>
            <a:prstDash val="solid"/>
          </a:ln>
        </p:spPr>
      </p:sp>
      <p:sp>
        <p:nvSpPr>
          <p:cNvPr id="7" name="Text 4"/>
          <p:cNvSpPr/>
          <p:nvPr/>
        </p:nvSpPr>
        <p:spPr>
          <a:xfrm>
            <a:off x="4112415" y="3649762"/>
            <a:ext cx="263786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Where does what I type go</a:t>
            </a:r>
            <a:endParaRPr lang="en-US" sz="1850" dirty="0"/>
          </a:p>
        </p:txBody>
      </p:sp>
      <p:sp>
        <p:nvSpPr>
          <p:cNvPr id="8" name="Shape 5"/>
          <p:cNvSpPr/>
          <p:nvPr/>
        </p:nvSpPr>
        <p:spPr>
          <a:xfrm>
            <a:off x="661475" y="4637385"/>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84544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Will it take my job</a:t>
            </a:r>
            <a:endParaRPr lang="en-US" sz="18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693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are allowed to refuse a question</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5339820" cy="1019373"/>
          </a:xfrm>
          <a:prstGeom prst="rect">
            <a:avLst/>
          </a:prstGeom>
        </p:spPr>
      </p:pic>
      <p:sp>
        <p:nvSpPr>
          <p:cNvPr id="4" name="Text 1"/>
          <p:cNvSpPr/>
          <p:nvPr/>
        </p:nvSpPr>
        <p:spPr>
          <a:xfrm>
            <a:off x="977479" y="2952452"/>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knows, and confident answers are being sold</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738041"/>
            <a:ext cx="5339919" cy="1019373"/>
          </a:xfrm>
          <a:prstGeom prst="rect">
            <a:avLst/>
          </a:prstGeom>
        </p:spPr>
      </p:pic>
      <p:sp>
        <p:nvSpPr>
          <p:cNvPr id="6" name="Text 2"/>
          <p:cNvSpPr/>
          <p:nvPr/>
        </p:nvSpPr>
        <p:spPr>
          <a:xfrm>
            <a:off x="6506305" y="2952452"/>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useful version is narrower</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019373"/>
          </a:xfrm>
          <a:prstGeom prst="rect">
            <a:avLst/>
          </a:prstGeom>
        </p:spPr>
      </p:pic>
      <p:sp>
        <p:nvSpPr>
          <p:cNvPr id="8" name="Text 3"/>
          <p:cNvSpPr/>
          <p:nvPr/>
        </p:nvSpPr>
        <p:spPr>
          <a:xfrm>
            <a:off x="977479" y="4160838"/>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Which parts of a job are drafting text</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019373"/>
          </a:xfrm>
          <a:prstGeom prst="rect">
            <a:avLst/>
          </a:prstGeom>
        </p:spPr>
      </p:pic>
      <p:sp>
        <p:nvSpPr>
          <p:cNvPr id="10" name="Text 4"/>
          <p:cNvSpPr/>
          <p:nvPr/>
        </p:nvSpPr>
        <p:spPr>
          <a:xfrm>
            <a:off x="6506305" y="4160838"/>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has to remain accountable</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Banned words, and the replacements</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magic                     -&gt; say what actually happens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it thinks, it knows       -&gt; it produces, it selects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it learns from you        -&gt; your earlier words are sent back 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three dismissal words -&gt; delete the word entirely</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5233360"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page, for one named adult</a:t>
            </a:r>
            <a:endParaRPr lang="en-US" sz="1850" dirty="0"/>
          </a:p>
        </p:txBody>
      </p:sp>
      <p:sp>
        <p:nvSpPr>
          <p:cNvPr id="6" name="Shape 3"/>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technical words, defined</a:t>
            </a:r>
            <a:endParaRPr lang="en-US" sz="1850" dirty="0"/>
          </a:p>
        </p:txBody>
      </p:sp>
      <p:sp>
        <p:nvSpPr>
          <p:cNvPr id="8" name="Shape 5"/>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claim one you could defend</a:t>
            </a:r>
            <a:endParaRPr lang="en-US" sz="1850" dirty="0"/>
          </a:p>
        </p:txBody>
      </p:sp>
      <p:sp>
        <p:nvSpPr>
          <p:cNvPr id="10" name="Shape 7"/>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Due Friday with the benchmark</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2026-09-16T04:08:26Z</dcterms:created>
  <dcterms:modified xsi:type="dcterms:W3CDTF">2026-09-16T04:08:26Z</dcterms:modified>
</cp:coreProperties>
</file>