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about this answer is honest. Real sentence, real file, correct quotation, exact character offsets. And a member who reads it walks away believing the wrong rule. Work out how that is possible and you have understood the last concept of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power supply, a scope, and a parts bin are one working setup rather than three projects, which is a perfectly good reason. A person holding both documents works it out in a second. A person holding one of them does not know the other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item rule came back at position four. The two item rule did not come back at all, even though two other chunks of that same document did. A member reads this and learns the exception rather than the rule, from a correctly cited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widen k or add a score threshold, and that is worth doing, and it only widens the window and hopes. The contradiction is still in the handbook and it will find somebody else. Corpus hygiene is not a coding task and it is the actual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resin printer document is not in that list at all, and it contains the exact answer: if the cabinet fan is not running the printer does not run. Three true paragraphs, nothing answered. On a hash based stub this is guaranteed. On a real model it happens less and it still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finds passages. If the answer is not in a passage there is nothing to find. The first one is an aggregate over a database. The second needs all of them read at once, which is the opposite of chunking. The third is an absence and nothing retrieves an absence.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 traceability was the advantage. This is its other face. If you index the holds list along with the handbook, your assistant will faithfully tell anybody who asks which member has not returned the oscilloscope, with a citation. There is no prompt that fixes that. Decide what goes in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somebody else does. And notice the exact claim. It is not that the results were not very good. It is that the results say nothing about quality either way. One of the three questions today landed on the right document and that was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dishonesty by intent, it is what happens when the person demonstrating never asked a question they had not already asked. The fix takes two minutes. Ask three new questions before you present, write down what happened, and show the one that went badly.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Gate 2 and it is not code this week. An AI wrote a four week implementation plan for the makerspace and it reads like a consultant wrote it. Five parameters, evidence for each, and a command anybody can rerun. Several of its claims are things you half believe, which is exactly what makes them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2.png"/><Relationship Id="rId5" Type="http://schemas.openxmlformats.org/officeDocument/2006/relationships/image" Target="../media/image-5-3.svg"/><Relationship Id="rId6" Type="http://schemas.openxmlformats.org/officeDocument/2006/relationships/image" Target="../media/image-5-2.png"/><Relationship Id="rId7" Type="http://schemas.openxmlformats.org/officeDocument/2006/relationships/image" Target="../media/image-5-3.svg"/><Relationship Id="rId8" Type="http://schemas.openxmlformats.org/officeDocument/2006/relationships/image" Target="../media/image-5-2.png"/><Relationship Id="rId9" Type="http://schemas.openxmlformats.org/officeDocument/2006/relationships/image" Target="../media/image-5-3.sv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4.png"/><Relationship Id="rId7" Type="http://schemas.openxmlformats.org/officeDocument/2006/relationships/image" Target="../media/image-7-5.svg"/><Relationship Id="rId8" Type="http://schemas.openxmlformats.org/officeDocument/2006/relationships/image" Target="../media/image-7-4.png"/><Relationship Id="rId9" Type="http://schemas.openxmlformats.org/officeDocument/2006/relationships/image" Target="../media/image-7-5.sv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2.png"/><Relationship Id="rId5" Type="http://schemas.openxmlformats.org/officeDocument/2006/relationships/image" Target="../media/image-7-3.svg"/><Relationship Id="rId6" Type="http://schemas.openxmlformats.org/officeDocument/2006/relationships/image" Target="../media/image-7-4.png"/><Relationship Id="rId7" Type="http://schemas.openxmlformats.org/officeDocument/2006/relationships/image" Target="../media/image-7-5.svg"/><Relationship Id="rId8" Type="http://schemas.openxmlformats.org/officeDocument/2006/relationships/image" Target="../media/image-7-4.png"/><Relationship Id="rId9" Type="http://schemas.openxmlformats.org/officeDocument/2006/relationships/image" Target="../media/image-7-5.svg"/><Relationship Id="rId10" Type="http://schemas.openxmlformats.org/officeDocument/2006/relationships/slideLayout" Target="../slideLayouts/slideLayout2.xml"/><Relationship Id="rId11"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Retrieval Still Gets Wrong</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22338"/>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real sentence, correctly quoted, with a citation</a:t>
            </a:r>
            <a:endParaRPr lang="en-US" sz="3700" dirty="0"/>
          </a:p>
        </p:txBody>
      </p:sp>
      <p:sp>
        <p:nvSpPr>
          <p:cNvPr id="4" name="Text 1"/>
          <p:cNvSpPr/>
          <p:nvPr/>
        </p:nvSpPr>
        <p:spPr>
          <a:xfrm>
            <a:off x="5847608" y="304264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From a real document in your handbook</a:t>
            </a:r>
            <a:endParaRPr lang="en-US" sz="1850" dirty="0"/>
          </a:p>
        </p:txBody>
      </p:sp>
      <p:sp>
        <p:nvSpPr>
          <p:cNvPr id="5" name="Text 2"/>
          <p:cNvSpPr/>
          <p:nvPr/>
        </p:nvSpPr>
        <p:spPr>
          <a:xfrm>
            <a:off x="5847608" y="384591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the answer is misleading</a:t>
            </a:r>
            <a:endParaRPr lang="en-US" sz="1850" dirty="0"/>
          </a:p>
        </p:txBody>
      </p:sp>
      <p:sp>
        <p:nvSpPr>
          <p:cNvPr id="6" name="Text 3"/>
          <p:cNvSpPr/>
          <p:nvPr/>
        </p:nvSpPr>
        <p:spPr>
          <a:xfrm>
            <a:off x="5847608" y="464919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Nobody fabricated anything</a:t>
            </a:r>
            <a:endParaRPr lang="en-US" sz="1850" dirty="0"/>
          </a:p>
        </p:txBody>
      </p:sp>
      <p:sp>
        <p:nvSpPr>
          <p:cNvPr id="7" name="Text 4"/>
          <p:cNvSpPr/>
          <p:nvPr/>
        </p:nvSpPr>
        <p:spPr>
          <a:xfrm>
            <a:off x="5847608" y="545246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citation is what makes it worse</a:t>
            </a:r>
            <a:endParaRPr lang="en-US" sz="1850" dirty="0"/>
          </a:p>
        </p:txBody>
      </p:sp>
      <p:sp>
        <p:nvSpPr>
          <p:cNvPr id="8"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0205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documents disagree</a:t>
            </a:r>
            <a:endParaRPr lang="en-US" sz="3700" dirty="0"/>
          </a:p>
        </p:txBody>
      </p:sp>
      <p:sp>
        <p:nvSpPr>
          <p:cNvPr id="4" name="Shape 1"/>
          <p:cNvSpPr/>
          <p:nvPr/>
        </p:nvSpPr>
        <p:spPr>
          <a:xfrm>
            <a:off x="661475" y="2066826"/>
            <a:ext cx="6296860" cy="2216348"/>
          </a:xfrm>
          <a:prstGeom prst="roundRect">
            <a:avLst>
              <a:gd name="adj" fmla="val 3582"/>
            </a:avLst>
          </a:prstGeom>
          <a:solidFill>
            <a:srgbClr val="D1E5FA"/>
          </a:solidFill>
          <a:ln w="19050">
            <a:solidFill>
              <a:srgbClr val="B7CBE0"/>
            </a:solidFill>
            <a:prstDash val="solid"/>
          </a:ln>
        </p:spPr>
      </p:sp>
      <p:sp>
        <p:nvSpPr>
          <p:cNvPr id="5" name="Shape 2"/>
          <p:cNvSpPr/>
          <p:nvPr/>
        </p:nvSpPr>
        <p:spPr>
          <a:xfrm>
            <a:off x="680524" y="2085876"/>
            <a:ext cx="6258761" cy="1089124"/>
          </a:xfrm>
          <a:custGeom>
            <a:avLst/>
            <a:gdLst/>
            <a:ahLst/>
            <a:cxnLst/>
            <a:rect l="l" t="t" r="r" b="b"/>
            <a:pathLst>
              <a:path w="6258761" h="1089124">
                <a:moveTo>
                  <a:pt x="66156" y="0"/>
                </a:moveTo>
                <a:lnTo>
                  <a:pt x="6192604" y="0"/>
                </a:lnTo>
                <a:arcTo hR="66158" wR="66156" stAng="16200000" swAng="5400000"/>
                <a:lnTo>
                  <a:pt x="6258761" y="1089124"/>
                </a:lnTo>
                <a:lnTo>
                  <a:pt x="0" y="1089124"/>
                </a:lnTo>
                <a:lnTo>
                  <a:pt x="0" y="66158"/>
                </a:lnTo>
                <a:arcTo hR="66158" wR="66156" stAng="10800000" swAng="5400000"/>
                <a:close/>
              </a:path>
            </a:pathLst>
          </a:custGeom>
          <a:solidFill>
            <a:srgbClr val="D1E5FA"/>
          </a:solidFill>
          <a:ln/>
        </p:spPr>
      </p:sp>
      <p:sp>
        <p:nvSpPr>
          <p:cNvPr id="6" name="Text 3"/>
          <p:cNvSpPr/>
          <p:nvPr/>
        </p:nvSpPr>
        <p:spPr>
          <a:xfrm>
            <a:off x="869531" y="2274888"/>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Loan Policy</a:t>
            </a:r>
            <a:endParaRPr lang="en-US" sz="1850" dirty="0"/>
          </a:p>
        </p:txBody>
      </p:sp>
      <p:sp>
        <p:nvSpPr>
          <p:cNvPr id="7" name="Text 4"/>
          <p:cNvSpPr/>
          <p:nvPr/>
        </p:nvSpPr>
        <p:spPr>
          <a:xfrm>
            <a:off x="869531" y="2683570"/>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loan policy says two items at one time</a:t>
            </a:r>
            <a:endParaRPr lang="en-US" sz="1450" dirty="0"/>
          </a:p>
        </p:txBody>
      </p:sp>
      <p:sp>
        <p:nvSpPr>
          <p:cNvPr id="8" name="Shape 5"/>
          <p:cNvSpPr/>
          <p:nvPr/>
        </p:nvSpPr>
        <p:spPr>
          <a:xfrm>
            <a:off x="680524" y="3175000"/>
            <a:ext cx="6258761" cy="1089124"/>
          </a:xfrm>
          <a:custGeom>
            <a:avLst/>
            <a:gdLst/>
            <a:ahLst/>
            <a:cxnLst/>
            <a:rect l="l" t="t" r="r" b="b"/>
            <a:pathLst>
              <a:path w="6258761" h="1089124">
                <a:moveTo>
                  <a:pt x="0" y="0"/>
                </a:moveTo>
                <a:lnTo>
                  <a:pt x="6258761" y="0"/>
                </a:lnTo>
                <a:lnTo>
                  <a:pt x="6258761" y="1022966"/>
                </a:lnTo>
                <a:arcTo hR="66158" wR="66156" stAng="0" swAng="5400000"/>
                <a:lnTo>
                  <a:pt x="66156" y="1089124"/>
                </a:lnTo>
                <a:arcTo hR="66158" wR="66156" stAng="5400000" swAng="5400000"/>
                <a:lnTo>
                  <a:pt x="0" y="0"/>
                </a:lnTo>
                <a:close/>
              </a:path>
            </a:pathLst>
          </a:custGeom>
          <a:solidFill>
            <a:srgbClr val="D1E5FA"/>
          </a:solidFill>
          <a:ln/>
        </p:spPr>
      </p:sp>
      <p:sp>
        <p:nvSpPr>
          <p:cNvPr id="9" name="Shape 6"/>
          <p:cNvSpPr/>
          <p:nvPr/>
        </p:nvSpPr>
        <p:spPr>
          <a:xfrm>
            <a:off x="680524" y="3175000"/>
            <a:ext cx="6258761" cy="25400"/>
          </a:xfrm>
          <a:prstGeom prst="roundRect">
            <a:avLst>
              <a:gd name="adj" fmla="val 49999"/>
            </a:avLst>
          </a:prstGeom>
          <a:solidFill>
            <a:srgbClr val="B7CBE0"/>
          </a:solidFill>
          <a:ln/>
        </p:spPr>
      </p:sp>
      <p:sp>
        <p:nvSpPr>
          <p:cNvPr id="10" name="Text 7"/>
          <p:cNvSpPr/>
          <p:nvPr/>
        </p:nvSpPr>
        <p:spPr>
          <a:xfrm>
            <a:off x="869531" y="3364012"/>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Electronics Bench</a:t>
            </a:r>
            <a:endParaRPr lang="en-US" sz="1850" dirty="0"/>
          </a:p>
        </p:txBody>
      </p:sp>
      <p:sp>
        <p:nvSpPr>
          <p:cNvPr id="11" name="Text 8"/>
          <p:cNvSpPr/>
          <p:nvPr/>
        </p:nvSpPr>
        <p:spPr>
          <a:xfrm>
            <a:off x="869531" y="3772694"/>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electronics bench says up to three</a:t>
            </a:r>
            <a:endParaRPr lang="en-US" sz="1450" dirty="0"/>
          </a:p>
        </p:txBody>
      </p:sp>
      <p:sp>
        <p:nvSpPr>
          <p:cNvPr id="12" name="Shape 9"/>
          <p:cNvSpPr/>
          <p:nvPr/>
        </p:nvSpPr>
        <p:spPr>
          <a:xfrm>
            <a:off x="661475" y="4495800"/>
            <a:ext cx="6296860" cy="724098"/>
          </a:xfrm>
          <a:prstGeom prst="roundRect">
            <a:avLst>
              <a:gd name="adj" fmla="val 10964"/>
            </a:avLst>
          </a:prstGeom>
          <a:solidFill>
            <a:srgbClr val="FFFFFF"/>
          </a:solidFill>
          <a:ln w="25399">
            <a:solidFill>
              <a:srgbClr val="B7CBE0"/>
            </a:solidFill>
            <a:prstDash val="solid"/>
          </a:ln>
        </p:spPr>
      </p:sp>
      <p:sp>
        <p:nvSpPr>
          <p:cNvPr id="13" name="Text 10"/>
          <p:cNvSpPr/>
          <p:nvPr/>
        </p:nvSpPr>
        <p:spPr>
          <a:xfrm>
            <a:off x="875881" y="4710212"/>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Neither document is wrong on its own</a:t>
            </a:r>
            <a:endParaRPr lang="en-US" sz="1850" dirty="0"/>
          </a:p>
        </p:txBody>
      </p:sp>
      <p:sp>
        <p:nvSpPr>
          <p:cNvPr id="14" name="Shape 11"/>
          <p:cNvSpPr/>
          <p:nvPr/>
        </p:nvSpPr>
        <p:spPr>
          <a:xfrm>
            <a:off x="661475" y="5408910"/>
            <a:ext cx="6296860" cy="724098"/>
          </a:xfrm>
          <a:prstGeom prst="roundRect">
            <a:avLst>
              <a:gd name="adj" fmla="val 10964"/>
            </a:avLst>
          </a:prstGeom>
          <a:solidFill>
            <a:srgbClr val="FFFFFF"/>
          </a:solidFill>
          <a:ln w="25399">
            <a:solidFill>
              <a:srgbClr val="B7CBE0"/>
            </a:solidFill>
            <a:prstDash val="solid"/>
          </a:ln>
        </p:spPr>
      </p:sp>
      <p:sp>
        <p:nvSpPr>
          <p:cNvPr id="15" name="Text 12"/>
          <p:cNvSpPr/>
          <p:nvPr/>
        </p:nvSpPr>
        <p:spPr>
          <a:xfrm>
            <a:off x="875881" y="5623322"/>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bench one even gives its reason</a:t>
            </a:r>
            <a:endParaRPr lang="en-US" sz="185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794073"/>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Ask the system and see which one comes back</a:t>
            </a:r>
            <a:endParaRPr lang="en-US" sz="3700" dirty="0"/>
          </a:p>
        </p:txBody>
      </p:sp>
      <p:sp>
        <p:nvSpPr>
          <p:cNvPr id="3" name="Shape 1"/>
          <p:cNvSpPr/>
          <p:nvPr/>
        </p:nvSpPr>
        <p:spPr>
          <a:xfrm>
            <a:off x="661475" y="3353395"/>
            <a:ext cx="10868745" cy="1587698"/>
          </a:xfrm>
          <a:prstGeom prst="roundRect">
            <a:avLst>
              <a:gd name="adj" fmla="val 5000"/>
            </a:avLst>
          </a:prstGeom>
          <a:solidFill>
            <a:srgbClr val="F2F2F2"/>
          </a:solidFill>
          <a:ln/>
        </p:spPr>
      </p:sp>
      <p:sp>
        <p:nvSpPr>
          <p:cNvPr id="4" name="Text 2"/>
          <p:cNvSpPr/>
          <p:nvPr/>
        </p:nvSpPr>
        <p:spPr>
          <a:xfrm>
            <a:off x="888283" y="3542407"/>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Question: "how many items can a member have out at one time"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1. +0.4422  02-loan-policy.md . What may be borrowed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3. +0.3289  02-loan-policy.md . Returns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4. +0.3123  07-electronics-bench.md . How many at once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04677"/>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fix is not in your code</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01" y="2375297"/>
            <a:ext cx="283461" cy="283468"/>
          </a:xfrm>
          <a:prstGeom prst="rect">
            <a:avLst/>
          </a:prstGeom>
        </p:spPr>
      </p:pic>
      <p:sp>
        <p:nvSpPr>
          <p:cNvPr id="5" name="Text 1"/>
          <p:cNvSpPr/>
          <p:nvPr/>
        </p:nvSpPr>
        <p:spPr>
          <a:xfrm>
            <a:off x="5847608" y="236944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Widening k makes both more likely to appear</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01" y="3343870"/>
            <a:ext cx="283461" cy="283468"/>
          </a:xfrm>
          <a:prstGeom prst="rect">
            <a:avLst/>
          </a:prstGeom>
        </p:spPr>
      </p:pic>
      <p:sp>
        <p:nvSpPr>
          <p:cNvPr id="7" name="Text 2"/>
          <p:cNvSpPr/>
          <p:nvPr/>
        </p:nvSpPr>
        <p:spPr>
          <a:xfrm>
            <a:off x="5847608" y="3338016"/>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That is a mitigation, not a fix</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01" y="4294783"/>
            <a:ext cx="283461" cy="283468"/>
          </a:xfrm>
          <a:prstGeom prst="rect">
            <a:avLst/>
          </a:prstGeom>
        </p:spPr>
      </p:pic>
      <p:sp>
        <p:nvSpPr>
          <p:cNvPr id="9" name="Text 3"/>
          <p:cNvSpPr/>
          <p:nvPr/>
        </p:nvSpPr>
        <p:spPr>
          <a:xfrm>
            <a:off x="5847608" y="428892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Somebody has to reconcile the documents</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4201" y="5245695"/>
            <a:ext cx="283461" cy="283468"/>
          </a:xfrm>
          <a:prstGeom prst="rect">
            <a:avLst/>
          </a:prstGeom>
        </p:spPr>
      </p:pic>
      <p:sp>
        <p:nvSpPr>
          <p:cNvPr id="11" name="Text 4"/>
          <p:cNvSpPr/>
          <p:nvPr/>
        </p:nvSpPr>
        <p:spPr>
          <a:xfrm>
            <a:off x="5847608" y="5239841"/>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Retrieval inherits every contradiction you have</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It retrieves what is near, not what is true</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Question: "what do I do if the resin printer fan is not running"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1. +0.3768  01-access-and-safety.md . Training holds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2. +0.2799  05-media-kits.md . Batteries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3. +0.2716  07-electronics-bench.md . The power supply</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755848"/>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Some questions have no passage</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220615"/>
            <a:ext cx="6296860" cy="1019373"/>
          </a:xfrm>
          <a:prstGeom prst="rect">
            <a:avLst/>
          </a:prstGeom>
        </p:spPr>
      </p:pic>
      <p:sp>
        <p:nvSpPr>
          <p:cNvPr id="5" name="Text 1"/>
          <p:cNvSpPr/>
          <p:nvPr/>
        </p:nvSpPr>
        <p:spPr>
          <a:xfrm>
            <a:off x="5549364" y="2435027"/>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How has equipment use changed over three years</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429000"/>
            <a:ext cx="6296860" cy="724098"/>
          </a:xfrm>
          <a:prstGeom prst="rect">
            <a:avLst/>
          </a:prstGeom>
        </p:spPr>
      </p:pic>
      <p:sp>
        <p:nvSpPr>
          <p:cNvPr id="7" name="Text 2"/>
          <p:cNvSpPr/>
          <p:nvPr/>
        </p:nvSpPr>
        <p:spPr>
          <a:xfrm>
            <a:off x="5549364" y="3643412"/>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Which of our policies contradict each other</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342110"/>
            <a:ext cx="6296860" cy="724098"/>
          </a:xfrm>
          <a:prstGeom prst="rect">
            <a:avLst/>
          </a:prstGeom>
        </p:spPr>
      </p:pic>
      <p:sp>
        <p:nvSpPr>
          <p:cNvPr id="9" name="Text 3"/>
          <p:cNvSpPr/>
          <p:nvPr/>
        </p:nvSpPr>
        <p:spPr>
          <a:xfrm>
            <a:off x="5549364" y="4556522"/>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is not in the handbook</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255220"/>
            <a:ext cx="6296860" cy="724098"/>
          </a:xfrm>
          <a:prstGeom prst="rect">
            <a:avLst/>
          </a:prstGeom>
        </p:spPr>
      </p:pic>
      <p:sp>
        <p:nvSpPr>
          <p:cNvPr id="11" name="Text 4"/>
          <p:cNvSpPr/>
          <p:nvPr/>
        </p:nvSpPr>
        <p:spPr>
          <a:xfrm>
            <a:off x="5549364" y="5469632"/>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None of those is a sentence anywhere</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55129"/>
            <a:ext cx="6296860" cy="1070570"/>
          </a:xfrm>
          <a:prstGeom prst="rect">
            <a:avLst/>
          </a:prstGeom>
          <a:noFill/>
          <a:ln/>
        </p:spPr>
        <p:txBody>
          <a:bodyPr wrap="square" lIns="0" tIns="0" rIns="0" bIns="0" rtlCol="0" anchor="t">
            <a:normAutofit/>
          </a:bodyPr>
          <a:lstStyle/>
          <a:p>
            <a:pPr algn="l" indent="0" marL="0">
              <a:lnSpc>
                <a:spcPct val="104000"/>
              </a:lnSpc>
              <a:buNone/>
            </a:pPr>
            <a:r>
              <a:rPr lang="en-US" sz="3350" b="1" dirty="0">
                <a:solidFill>
                  <a:srgbClr val="111111"/>
                </a:solidFill>
                <a:latin typeface="Orbitron Bold" pitchFamily="34" charset="0"/>
                <a:ea typeface="Orbitron Bold" pitchFamily="34" charset="-122"/>
                <a:cs typeface="Orbitron Bold" pitchFamily="34" charset="-120"/>
              </a:rPr>
              <a:t>Retrieval moves the security problem</a:t>
            </a:r>
            <a:endParaRPr lang="en-US" sz="3350" dirty="0"/>
          </a:p>
        </p:txBody>
      </p:sp>
      <p:sp>
        <p:nvSpPr>
          <p:cNvPr id="4" name="Shape 1"/>
          <p:cNvSpPr/>
          <p:nvPr/>
        </p:nvSpPr>
        <p:spPr>
          <a:xfrm>
            <a:off x="5233360" y="1858466"/>
            <a:ext cx="6296860" cy="1002506"/>
          </a:xfrm>
          <a:prstGeom prst="roundRect">
            <a:avLst>
              <a:gd name="adj" fmla="val 7177"/>
            </a:avLst>
          </a:prstGeom>
          <a:solidFill>
            <a:srgbClr val="D1E5FA"/>
          </a:solidFill>
          <a:ln w="19050">
            <a:solidFill>
              <a:srgbClr val="B7CBE0"/>
            </a:solidFill>
            <a:prstDash val="solid"/>
          </a:ln>
        </p:spPr>
      </p:sp>
      <p:sp>
        <p:nvSpPr>
          <p:cNvPr id="5" name="Text 2"/>
          <p:cNvSpPr/>
          <p:nvPr/>
        </p:nvSpPr>
        <p:spPr>
          <a:xfrm>
            <a:off x="5423657" y="2048768"/>
            <a:ext cx="5916266" cy="267593"/>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Fine-tuned model</a:t>
            </a:r>
            <a:endParaRPr lang="en-US" sz="1650" dirty="0"/>
          </a:p>
        </p:txBody>
      </p:sp>
      <p:sp>
        <p:nvSpPr>
          <p:cNvPr id="6" name="Text 3"/>
          <p:cNvSpPr/>
          <p:nvPr/>
        </p:nvSpPr>
        <p:spPr>
          <a:xfrm>
            <a:off x="5423657" y="2409428"/>
            <a:ext cx="5916266" cy="261243"/>
          </a:xfrm>
          <a:prstGeom prst="rect">
            <a:avLst/>
          </a:prstGeom>
          <a:noFill/>
          <a:ln/>
        </p:spPr>
        <p:txBody>
          <a:bodyPr wrap="none" lIns="0" tIns="0" rIns="0" bIns="0" rtlCol="0" anchor="t"/>
          <a:lstStyle/>
          <a:p>
            <a:pPr algn="l" indent="0" marL="0">
              <a:lnSpc>
                <a:spcPct val="127000"/>
              </a:lnSpc>
              <a:buNone/>
            </a:pPr>
            <a:r>
              <a:rPr lang="en-US" sz="1300" dirty="0">
                <a:solidFill>
                  <a:srgbClr val="1C1C1C"/>
                </a:solidFill>
                <a:latin typeface="Roboto Condensed" pitchFamily="34" charset="0"/>
                <a:ea typeface="Roboto Condensed" pitchFamily="34" charset="-122"/>
                <a:cs typeface="Roboto Condensed" pitchFamily="34" charset="-120"/>
              </a:rPr>
              <a:t>A fine tuned model has your data inside it</a:t>
            </a:r>
            <a:endParaRPr lang="en-US" sz="1300" dirty="0"/>
          </a:p>
        </p:txBody>
      </p:sp>
      <p:sp>
        <p:nvSpPr>
          <p:cNvPr id="7" name="Shape 4"/>
          <p:cNvSpPr/>
          <p:nvPr/>
        </p:nvSpPr>
        <p:spPr>
          <a:xfrm>
            <a:off x="5233360" y="3016151"/>
            <a:ext cx="6296860" cy="1002506"/>
          </a:xfrm>
          <a:prstGeom prst="roundRect">
            <a:avLst>
              <a:gd name="adj" fmla="val 7177"/>
            </a:avLst>
          </a:prstGeom>
          <a:solidFill>
            <a:srgbClr val="D1E5FA"/>
          </a:solidFill>
          <a:ln w="19050">
            <a:solidFill>
              <a:srgbClr val="B7CBE0"/>
            </a:solidFill>
            <a:prstDash val="solid"/>
          </a:ln>
        </p:spPr>
      </p:sp>
      <p:sp>
        <p:nvSpPr>
          <p:cNvPr id="8" name="Text 5"/>
          <p:cNvSpPr/>
          <p:nvPr/>
        </p:nvSpPr>
        <p:spPr>
          <a:xfrm>
            <a:off x="5423657" y="3206452"/>
            <a:ext cx="5916266" cy="267593"/>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Retrieval system</a:t>
            </a:r>
            <a:endParaRPr lang="en-US" sz="1650" dirty="0"/>
          </a:p>
        </p:txBody>
      </p:sp>
      <p:sp>
        <p:nvSpPr>
          <p:cNvPr id="9" name="Text 6"/>
          <p:cNvSpPr/>
          <p:nvPr/>
        </p:nvSpPr>
        <p:spPr>
          <a:xfrm>
            <a:off x="5423657" y="3567112"/>
            <a:ext cx="5916266" cy="261243"/>
          </a:xfrm>
          <a:prstGeom prst="rect">
            <a:avLst/>
          </a:prstGeom>
          <a:noFill/>
          <a:ln/>
        </p:spPr>
        <p:txBody>
          <a:bodyPr wrap="none" lIns="0" tIns="0" rIns="0" bIns="0" rtlCol="0" anchor="t"/>
          <a:lstStyle/>
          <a:p>
            <a:pPr algn="l" indent="0" marL="0">
              <a:lnSpc>
                <a:spcPct val="127000"/>
              </a:lnSpc>
              <a:buNone/>
            </a:pPr>
            <a:r>
              <a:rPr lang="en-US" sz="1300" dirty="0">
                <a:solidFill>
                  <a:srgbClr val="1C1C1C"/>
                </a:solidFill>
                <a:latin typeface="Roboto Condensed" pitchFamily="34" charset="0"/>
                <a:ea typeface="Roboto Condensed" pitchFamily="34" charset="-122"/>
                <a:cs typeface="Roboto Condensed" pitchFamily="34" charset="-120"/>
              </a:rPr>
              <a:t>A retrieval system reads your data at question time</a:t>
            </a:r>
            <a:endParaRPr lang="en-US" sz="1300" dirty="0"/>
          </a:p>
        </p:txBody>
      </p:sp>
      <p:sp>
        <p:nvSpPr>
          <p:cNvPr id="10" name="Shape 7"/>
          <p:cNvSpPr/>
          <p:nvPr/>
        </p:nvSpPr>
        <p:spPr>
          <a:xfrm>
            <a:off x="5233360" y="4193282"/>
            <a:ext cx="6296860" cy="915789"/>
          </a:xfrm>
          <a:prstGeom prst="roundRect">
            <a:avLst>
              <a:gd name="adj" fmla="val 7856"/>
            </a:avLst>
          </a:prstGeom>
          <a:solidFill>
            <a:srgbClr val="FFFFFF"/>
          </a:solidFill>
          <a:ln w="19050">
            <a:solidFill>
              <a:srgbClr val="B7CBE0"/>
            </a:solidFill>
            <a:prstDash val="solid"/>
          </a:ln>
        </p:spPr>
      </p:sp>
      <p:sp>
        <p:nvSpPr>
          <p:cNvPr id="11" name="Text 8"/>
          <p:cNvSpPr/>
          <p:nvPr/>
        </p:nvSpPr>
        <p:spPr>
          <a:xfrm>
            <a:off x="5423657" y="4383584"/>
            <a:ext cx="5916266" cy="535186"/>
          </a:xfrm>
          <a:prstGeom prst="rect">
            <a:avLst/>
          </a:prstGeom>
          <a:noFill/>
          <a:ln/>
        </p:spPr>
        <p:txBody>
          <a:bodyPr wrap="square" lIns="0" tIns="0" rIns="0" bIns="0" rtlCol="0" anchor="t">
            <a:normAutofit/>
          </a:bodyPr>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So whoever can ask reaches whatever the retriever reaches</a:t>
            </a:r>
            <a:endParaRPr lang="en-US" sz="1650" dirty="0"/>
          </a:p>
        </p:txBody>
      </p:sp>
      <p:sp>
        <p:nvSpPr>
          <p:cNvPr id="12" name="Shape 9"/>
          <p:cNvSpPr/>
          <p:nvPr/>
        </p:nvSpPr>
        <p:spPr>
          <a:xfrm>
            <a:off x="5233360" y="5264249"/>
            <a:ext cx="6296860" cy="915789"/>
          </a:xfrm>
          <a:prstGeom prst="roundRect">
            <a:avLst>
              <a:gd name="adj" fmla="val 7856"/>
            </a:avLst>
          </a:prstGeom>
          <a:solidFill>
            <a:srgbClr val="FFFFFF"/>
          </a:solidFill>
          <a:ln w="19050">
            <a:solidFill>
              <a:srgbClr val="B7CBE0"/>
            </a:solidFill>
            <a:prstDash val="solid"/>
          </a:ln>
        </p:spPr>
      </p:sp>
      <p:sp>
        <p:nvSpPr>
          <p:cNvPr id="13" name="Text 10"/>
          <p:cNvSpPr/>
          <p:nvPr/>
        </p:nvSpPr>
        <p:spPr>
          <a:xfrm>
            <a:off x="5423657" y="5454551"/>
            <a:ext cx="5916266" cy="535186"/>
          </a:xfrm>
          <a:prstGeom prst="rect">
            <a:avLst/>
          </a:prstGeom>
          <a:noFill/>
          <a:ln/>
        </p:spPr>
        <p:txBody>
          <a:bodyPr wrap="square" lIns="0" tIns="0" rIns="0" bIns="0" rtlCol="0" anchor="t">
            <a:normAutofit/>
          </a:bodyPr>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Index the holds report and it answers questions about people</a:t>
            </a:r>
            <a:endParaRPr lang="en-US" sz="1650" dirty="0"/>
          </a:p>
        </p:txBody>
      </p:sp>
      <p:sp>
        <p:nvSpPr>
          <p:cNvPr id="14" name="Text 11"/>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176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paragraph you owe every demonstration</a:t>
            </a:r>
            <a:endParaRPr lang="en-US" sz="3700" dirty="0"/>
          </a:p>
        </p:txBody>
      </p:sp>
      <p:sp>
        <p:nvSpPr>
          <p:cNvPr id="4" name="Text 1"/>
          <p:cNvSpPr/>
          <p:nvPr/>
        </p:nvSpPr>
        <p:spPr>
          <a:xfrm>
            <a:off x="5847608" y="2747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stub builds its vector from a hash</a:t>
            </a:r>
            <a:endParaRPr lang="en-US" sz="1850" dirty="0"/>
          </a:p>
        </p:txBody>
      </p:sp>
      <p:sp>
        <p:nvSpPr>
          <p:cNvPr id="5" name="Text 2"/>
          <p:cNvSpPr/>
          <p:nvPr/>
        </p:nvSpPr>
        <p:spPr>
          <a:xfrm>
            <a:off x="5847608" y="3550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 the plumbing is proven</a:t>
            </a:r>
            <a:endParaRPr lang="en-US" sz="1850" dirty="0"/>
          </a:p>
        </p:txBody>
      </p:sp>
      <p:sp>
        <p:nvSpPr>
          <p:cNvPr id="6" name="Text 3"/>
          <p:cNvSpPr/>
          <p:nvPr/>
        </p:nvSpPr>
        <p:spPr>
          <a:xfrm>
            <a:off x="5847608"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the ranking carries no information</a:t>
            </a:r>
            <a:endParaRPr lang="en-US" sz="1850" dirty="0"/>
          </a:p>
        </p:txBody>
      </p:sp>
      <p:sp>
        <p:nvSpPr>
          <p:cNvPr id="7" name="Text 4"/>
          <p:cNvSpPr/>
          <p:nvPr/>
        </p:nvSpPr>
        <p:spPr>
          <a:xfrm>
            <a:off x="5847608" y="51570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in either direction</a:t>
            </a:r>
            <a:endParaRPr lang="en-US" sz="1850" dirty="0"/>
          </a:p>
        </p:txBody>
      </p:sp>
      <p:sp>
        <p:nvSpPr>
          <p:cNvPr id="8"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9551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shape of every bad AI demonstration</a:t>
            </a:r>
            <a:endParaRPr lang="en-US" sz="3700" dirty="0"/>
          </a:p>
        </p:txBody>
      </p:sp>
      <p:sp>
        <p:nvSpPr>
          <p:cNvPr id="4" name="Text 1"/>
          <p:cNvSpPr/>
          <p:nvPr/>
        </p:nvSpPr>
        <p:spPr>
          <a:xfrm>
            <a:off x="661475" y="2060277"/>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661475" y="2356148"/>
            <a:ext cx="6296860" cy="25400"/>
          </a:xfrm>
          <a:prstGeom prst="rect">
            <a:avLst/>
          </a:prstGeom>
          <a:solidFill>
            <a:srgbClr val="57A1EB"/>
          </a:solidFill>
          <a:ln/>
        </p:spPr>
      </p:sp>
      <p:sp>
        <p:nvSpPr>
          <p:cNvPr id="6" name="Text 3"/>
          <p:cNvSpPr/>
          <p:nvPr/>
        </p:nvSpPr>
        <p:spPr>
          <a:xfrm>
            <a:off x="661475" y="2501404"/>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ask the question you tried while building it</a:t>
            </a:r>
            <a:endParaRPr lang="en-US" sz="1850" dirty="0"/>
          </a:p>
        </p:txBody>
      </p:sp>
      <p:sp>
        <p:nvSpPr>
          <p:cNvPr id="7" name="Text 4"/>
          <p:cNvSpPr/>
          <p:nvPr/>
        </p:nvSpPr>
        <p:spPr>
          <a:xfrm>
            <a:off x="661475" y="312737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661475" y="3423245"/>
            <a:ext cx="6296860" cy="25400"/>
          </a:xfrm>
          <a:prstGeom prst="rect">
            <a:avLst/>
          </a:prstGeom>
          <a:solidFill>
            <a:srgbClr val="57A1EB"/>
          </a:solidFill>
          <a:ln/>
        </p:spPr>
      </p:sp>
      <p:sp>
        <p:nvSpPr>
          <p:cNvPr id="9" name="Text 6"/>
          <p:cNvSpPr/>
          <p:nvPr/>
        </p:nvSpPr>
        <p:spPr>
          <a:xfrm>
            <a:off x="661475" y="3568502"/>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works</a:t>
            </a:r>
            <a:endParaRPr lang="en-US" sz="1850" dirty="0"/>
          </a:p>
        </p:txBody>
      </p:sp>
      <p:sp>
        <p:nvSpPr>
          <p:cNvPr id="10" name="Text 7"/>
          <p:cNvSpPr/>
          <p:nvPr/>
        </p:nvSpPr>
        <p:spPr>
          <a:xfrm>
            <a:off x="661475" y="419447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661475" y="4490343"/>
            <a:ext cx="6296860" cy="25400"/>
          </a:xfrm>
          <a:prstGeom prst="rect">
            <a:avLst/>
          </a:prstGeom>
          <a:solidFill>
            <a:srgbClr val="57A1EB"/>
          </a:solidFill>
          <a:ln/>
        </p:spPr>
      </p:sp>
      <p:sp>
        <p:nvSpPr>
          <p:cNvPr id="12" name="Text 9"/>
          <p:cNvSpPr/>
          <p:nvPr/>
        </p:nvSpPr>
        <p:spPr>
          <a:xfrm>
            <a:off x="661475" y="4635599"/>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show that question and move on</a:t>
            </a:r>
            <a:endParaRPr lang="en-US" sz="1850" dirty="0"/>
          </a:p>
        </p:txBody>
      </p:sp>
      <p:sp>
        <p:nvSpPr>
          <p:cNvPr id="13" name="Text 10"/>
          <p:cNvSpPr/>
          <p:nvPr/>
        </p:nvSpPr>
        <p:spPr>
          <a:xfrm>
            <a:off x="661475" y="526157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4" name="Shape 11"/>
          <p:cNvSpPr/>
          <p:nvPr/>
        </p:nvSpPr>
        <p:spPr>
          <a:xfrm>
            <a:off x="661475" y="5557441"/>
            <a:ext cx="6296860" cy="25400"/>
          </a:xfrm>
          <a:prstGeom prst="rect">
            <a:avLst/>
          </a:prstGeom>
          <a:solidFill>
            <a:srgbClr val="57A1EB"/>
          </a:solidFill>
          <a:ln/>
        </p:spPr>
      </p:sp>
      <p:sp>
        <p:nvSpPr>
          <p:cNvPr id="15" name="Text 12"/>
          <p:cNvSpPr/>
          <p:nvPr/>
        </p:nvSpPr>
        <p:spPr>
          <a:xfrm>
            <a:off x="661475" y="5702697"/>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Nobody is lying, and nobody learned anything</a:t>
            </a:r>
            <a:endParaRPr lang="en-US" sz="185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0821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072977"/>
            <a:ext cx="6296860" cy="1019373"/>
          </a:xfrm>
          <a:prstGeom prst="rect">
            <a:avLst/>
          </a:prstGeom>
        </p:spPr>
      </p:pic>
      <p:sp>
        <p:nvSpPr>
          <p:cNvPr id="5" name="Text 1"/>
          <p:cNvSpPr/>
          <p:nvPr/>
        </p:nvSpPr>
        <p:spPr>
          <a:xfrm>
            <a:off x="977479" y="2287389"/>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Gate 2 W12, an AI written data plan, forty minutes</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281362"/>
            <a:ext cx="6296860" cy="1019373"/>
          </a:xfrm>
          <a:prstGeom prst="rect">
            <a:avLst/>
          </a:prstGeom>
        </p:spPr>
      </p:pic>
      <p:sp>
        <p:nvSpPr>
          <p:cNvPr id="7" name="Text 2"/>
          <p:cNvSpPr/>
          <p:nvPr/>
        </p:nvSpPr>
        <p:spPr>
          <a:xfrm>
            <a:off x="977479" y="3495774"/>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Five parameters, every one has a real problem</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489748"/>
            <a:ext cx="6296860" cy="724098"/>
          </a:xfrm>
          <a:prstGeom prst="rect">
            <a:avLst/>
          </a:prstGeom>
        </p:spPr>
      </p:pic>
      <p:sp>
        <p:nvSpPr>
          <p:cNvPr id="9" name="Text 3"/>
          <p:cNvSpPr/>
          <p:nvPr/>
        </p:nvSpPr>
        <p:spPr>
          <a:xfrm>
            <a:off x="977479" y="4704159"/>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of them is genuinely arguable</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5402858"/>
            <a:ext cx="6296860" cy="724098"/>
          </a:xfrm>
          <a:prstGeom prst="rect">
            <a:avLst/>
          </a:prstGeom>
        </p:spPr>
      </p:pic>
      <p:sp>
        <p:nvSpPr>
          <p:cNvPr id="11" name="Text 4"/>
          <p:cNvSpPr/>
          <p:nvPr/>
        </p:nvSpPr>
        <p:spPr>
          <a:xfrm>
            <a:off x="977479" y="561727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Verify, do not recognise</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2026-09-16T05:04:29Z</dcterms:created>
  <dcterms:modified xsi:type="dcterms:W3CDTF">2026-09-16T05:04:29Z</dcterms:modified>
</cp:coreProperties>
</file>