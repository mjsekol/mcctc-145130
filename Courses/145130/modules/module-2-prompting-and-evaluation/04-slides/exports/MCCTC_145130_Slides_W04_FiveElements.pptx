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Yesterday you learned that the model sees only the text you sent. That leaves the obvious question, which is which text. And the advice you have been given your whole life is write a better prompt, which is useless, because it does not name a single thing you could do differently. By the end of these fifteen minutes revise your prompt stops being a vibe and becomes a specific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these five down, because they go on the board and they stay there for three weeks. Every lab, every Gate two, and the module exit assessment uses these exact words. Notice that not one of them is make it better. Each one answers a different question, and the skill is knowing which question you are actually asking.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these one at a time. Role produces text that reads like a pharmacist wrote it, and it adds no pharmacy knowledge. Task is the one people skip and the one that does the most work, because without a finish line the model has no reason to stop. Context is the only element that supplies a fact, and you cannot get a fact by asking more politely. Format has the biggest visible effect. Constraints are where most of the safety in a real production prompt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task all week. Produce the instructions a new club member needs to run the Friday equipment checkout by themselves. Five prompts, each one adding an element to the one before it. Before I say anything, read down the prompt words column and then read down the reply words column, and take thirty seconds to notice something that should not be true.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 vote on this before you show it, every time. Ask the room whether a longer prompt gives you a longer answer, and most hands go up. Six words gave a hundred and ten. Forty-eight words gave sixty-five. All p2 added was a statement of what finished looks like, so a new member can run checkout alone with nobody to ask, and the model stopped padding because it finally had a reason to stop.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combination that costs people the most time. Format is the element with the biggest visible effect and it is the one students reach for last. So they spend four revisions on the role and on adjectives, conclude that prompting does not do much, and never get to the element that would have changed the output most. There is a second reason to add it early. A five item list is much harder to hide padding in than a paragraph, so you find out quickly whether the content is any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runs. The second one adds you are the club's equipment manager and changes nothing else. The opening sentence changed, and the reply is fifteen words shorter. Now I am going to scroll down past the opening line, and I want you watching the six procedure steps underneath.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were hoping the role would make the procedure more accurate, look at the procedure. It did not change at all. A role is a genuine element with a genuine effect, and the effect is on voice, confidence and framing. This matters for Gate two and for the exam. Claiming that a role improves accuracy is a claim you cannot support from any run you have made, and in here a claim you cannot support is worth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prompt out loud first and let them agree it sounds like effort. Then put the two run headers side by side. Twenty-four words of adjectives produced the same reply as six words of nothing, word for word, against this stub. Eighteen extra words about quality bought exactly no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Really good is not a finish line. Professional is not a shape. Make it accurate is not a fact, and there is no accuracy switch to turn on. That prompt is longer, politer, and uses serious words, and none of that is an element. Effort spent on adjectives is effort that did not go into the five. There is one more tempting mistake and it is tomorrow's whole lesson. You add three elements at once, get a much better reply, and call that a finding. It is a better prompt. It is not a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the lab, steps six through eleven. Five recorded runs, the comparison table pasted in, and three observations. An observation names a countable difference and the element that produced it, so reply words fell from a hundred and ten to sixty-five when I added a task statement. Not it got better. Build two is the Prompt Autopsy, handed out today. First fifteen minutes are Define. One task, something real from this building or from your own life, and three sentences in the decision log saying what the task is, who the output is for, and what finished looks like. Get it approved before you write prompts, because the most common failure in this project is a task too small to be worth five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image" Target="../media/image-3-1.png"/><Relationship Id="rId10" Type="http://schemas.openxmlformats.org/officeDocument/2006/relationships/image" Target="../media/image-3-2.svg"/><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image" Target="../media/image-4-7.png"/><Relationship Id="rId10" Type="http://schemas.openxmlformats.org/officeDocument/2006/relationships/image" Target="../media/image-4-8.sv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Five Elements of a Prompt</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635919"/>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You rewrote it four times and it got no better</a:t>
            </a:r>
            <a:endParaRPr lang="en-US" sz="3700" dirty="0"/>
          </a:p>
        </p:txBody>
      </p:sp>
      <p:sp>
        <p:nvSpPr>
          <p:cNvPr id="4" name="Text 1"/>
          <p:cNvSpPr/>
          <p:nvPr/>
        </p:nvSpPr>
        <p:spPr>
          <a:xfrm>
            <a:off x="661475" y="3691334"/>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You have been rephrasing prompts since middle school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Some versions work and you cannot say which part did it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Write a better prompt names nothing you can change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Today you get five named things to change instead</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575866"/>
            <a:ext cx="10868745" cy="461466"/>
          </a:xfrm>
          <a:prstGeom prst="rect">
            <a:avLst/>
          </a:prstGeom>
          <a:noFill/>
          <a:ln/>
        </p:spPr>
        <p:txBody>
          <a:bodyPr wrap="none" lIns="0" tIns="0" rIns="0" bIns="0" rtlCol="0" anchor="t"/>
          <a:lstStyle/>
          <a:p>
            <a:pPr algn="l" indent="0" marL="0">
              <a:lnSpc>
                <a:spcPct val="104000"/>
              </a:lnSpc>
              <a:buNone/>
            </a:pPr>
            <a:r>
              <a:rPr lang="en-US" sz="2900" b="1" dirty="0">
                <a:solidFill>
                  <a:srgbClr val="111111"/>
                </a:solidFill>
                <a:latin typeface="Orbitron Bold" pitchFamily="34" charset="0"/>
                <a:ea typeface="Orbitron Bold" pitchFamily="34" charset="-122"/>
                <a:cs typeface="Orbitron Bold" pitchFamily="34" charset="-120"/>
              </a:rPr>
              <a:t>The five elements</a:t>
            </a:r>
            <a:endParaRPr lang="en-US" sz="29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1268016"/>
            <a:ext cx="10868745" cy="886023"/>
          </a:xfrm>
          <a:prstGeom prst="rect">
            <a:avLst/>
          </a:prstGeom>
        </p:spPr>
      </p:pic>
      <p:sp>
        <p:nvSpPr>
          <p:cNvPr id="4" name="Text 1"/>
          <p:cNvSpPr/>
          <p:nvPr/>
        </p:nvSpPr>
        <p:spPr>
          <a:xfrm>
            <a:off x="858717" y="1572617"/>
            <a:ext cx="221451" cy="276820"/>
          </a:xfrm>
          <a:prstGeom prst="rect">
            <a:avLst/>
          </a:prstGeom>
          <a:noFill/>
          <a:ln/>
        </p:spPr>
        <p:txBody>
          <a:bodyPr wrap="none" lIns="0" tIns="0" rIns="0" bIns="0" rtlCol="0" anchor="ctr"/>
          <a:lstStyle/>
          <a:p>
            <a:pPr algn="ctr" indent="0" marL="0">
              <a:lnSpc>
                <a:spcPct val="100000"/>
              </a:lnSpc>
              <a:buNone/>
            </a:pPr>
            <a:r>
              <a:rPr lang="en-US" sz="1700" b="1" dirty="0">
                <a:solidFill>
                  <a:srgbClr val="1C1C1C"/>
                </a:solidFill>
                <a:latin typeface="Orbitron Bold" pitchFamily="34" charset="0"/>
                <a:ea typeface="Orbitron Bold" pitchFamily="34" charset="-122"/>
                <a:cs typeface="Orbitron Bold" pitchFamily="34" charset="-120"/>
              </a:rPr>
              <a:t>1</a:t>
            </a:r>
            <a:endParaRPr lang="en-US" sz="1700" dirty="0"/>
          </a:p>
        </p:txBody>
      </p:sp>
      <p:sp>
        <p:nvSpPr>
          <p:cNvPr id="5" name="Text 2"/>
          <p:cNvSpPr/>
          <p:nvPr/>
        </p:nvSpPr>
        <p:spPr>
          <a:xfrm>
            <a:off x="1386448" y="1434703"/>
            <a:ext cx="9977089" cy="230684"/>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Role</a:t>
            </a:r>
            <a:endParaRPr lang="en-US" sz="1450" dirty="0"/>
          </a:p>
        </p:txBody>
      </p:sp>
      <p:sp>
        <p:nvSpPr>
          <p:cNvPr id="6" name="Text 3"/>
          <p:cNvSpPr/>
          <p:nvPr/>
        </p:nvSpPr>
        <p:spPr>
          <a:xfrm>
            <a:off x="1386448" y="1734542"/>
            <a:ext cx="9977089" cy="210344"/>
          </a:xfrm>
          <a:prstGeom prst="rect">
            <a:avLst/>
          </a:prstGeom>
          <a:noFill/>
          <a:ln/>
        </p:spPr>
        <p:txBody>
          <a:bodyPr wrap="none" lIns="0" tIns="0" rIns="0" bIns="0" rtlCol="0" anchor="t"/>
          <a:lstStyle/>
          <a:p>
            <a:pPr algn="l" indent="0" marL="0">
              <a:lnSpc>
                <a:spcPct val="119000"/>
              </a:lnSpc>
              <a:buNone/>
            </a:pPr>
            <a:r>
              <a:rPr lang="en-US" sz="1150" dirty="0">
                <a:solidFill>
                  <a:srgbClr val="1C1C1C"/>
                </a:solidFill>
                <a:latin typeface="Roboto Condensed" pitchFamily="34" charset="0"/>
                <a:ea typeface="Roboto Condensed" pitchFamily="34" charset="-122"/>
                <a:cs typeface="Roboto Condensed" pitchFamily="34" charset="-120"/>
              </a:rPr>
              <a:t>Who is talking</a:t>
            </a:r>
            <a:endParaRPr lang="en-US" sz="1150" dirty="0"/>
          </a:p>
        </p:txBody>
      </p:sp>
      <p:pic>
        <p:nvPicPr>
          <p:cNvPr id="7"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1475" y="2269331"/>
            <a:ext cx="10868745" cy="886023"/>
          </a:xfrm>
          <a:prstGeom prst="rect">
            <a:avLst/>
          </a:prstGeom>
        </p:spPr>
      </p:pic>
      <p:sp>
        <p:nvSpPr>
          <p:cNvPr id="8" name="Text 4"/>
          <p:cNvSpPr/>
          <p:nvPr/>
        </p:nvSpPr>
        <p:spPr>
          <a:xfrm>
            <a:off x="858717" y="2573933"/>
            <a:ext cx="221451" cy="276820"/>
          </a:xfrm>
          <a:prstGeom prst="rect">
            <a:avLst/>
          </a:prstGeom>
          <a:noFill/>
          <a:ln/>
        </p:spPr>
        <p:txBody>
          <a:bodyPr wrap="none" lIns="0" tIns="0" rIns="0" bIns="0" rtlCol="0" anchor="ctr"/>
          <a:lstStyle/>
          <a:p>
            <a:pPr algn="ctr" indent="0" marL="0">
              <a:lnSpc>
                <a:spcPct val="100000"/>
              </a:lnSpc>
              <a:buNone/>
            </a:pPr>
            <a:r>
              <a:rPr lang="en-US" sz="1700" b="1" dirty="0">
                <a:solidFill>
                  <a:srgbClr val="1C1C1C"/>
                </a:solidFill>
                <a:latin typeface="Orbitron Bold" pitchFamily="34" charset="0"/>
                <a:ea typeface="Orbitron Bold" pitchFamily="34" charset="-122"/>
                <a:cs typeface="Orbitron Bold" pitchFamily="34" charset="-120"/>
              </a:rPr>
              <a:t>2</a:t>
            </a:r>
            <a:endParaRPr lang="en-US" sz="1700" dirty="0"/>
          </a:p>
        </p:txBody>
      </p:sp>
      <p:sp>
        <p:nvSpPr>
          <p:cNvPr id="9" name="Text 5"/>
          <p:cNvSpPr/>
          <p:nvPr/>
        </p:nvSpPr>
        <p:spPr>
          <a:xfrm>
            <a:off x="1386448" y="2436019"/>
            <a:ext cx="9977089" cy="230684"/>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Task</a:t>
            </a:r>
            <a:endParaRPr lang="en-US" sz="1450" dirty="0"/>
          </a:p>
        </p:txBody>
      </p:sp>
      <p:sp>
        <p:nvSpPr>
          <p:cNvPr id="10" name="Text 6"/>
          <p:cNvSpPr/>
          <p:nvPr/>
        </p:nvSpPr>
        <p:spPr>
          <a:xfrm>
            <a:off x="1386448" y="2735858"/>
            <a:ext cx="9977089" cy="210344"/>
          </a:xfrm>
          <a:prstGeom prst="rect">
            <a:avLst/>
          </a:prstGeom>
          <a:noFill/>
          <a:ln/>
        </p:spPr>
        <p:txBody>
          <a:bodyPr wrap="none" lIns="0" tIns="0" rIns="0" bIns="0" rtlCol="0" anchor="t"/>
          <a:lstStyle/>
          <a:p>
            <a:pPr algn="l" indent="0" marL="0">
              <a:lnSpc>
                <a:spcPct val="119000"/>
              </a:lnSpc>
              <a:buNone/>
            </a:pPr>
            <a:r>
              <a:rPr lang="en-US" sz="1150" dirty="0">
                <a:solidFill>
                  <a:srgbClr val="1C1C1C"/>
                </a:solidFill>
                <a:latin typeface="Roboto Condensed" pitchFamily="34" charset="0"/>
                <a:ea typeface="Roboto Condensed" pitchFamily="34" charset="-122"/>
                <a:cs typeface="Roboto Condensed" pitchFamily="34" charset="-120"/>
              </a:rPr>
              <a:t>What finished looks like</a:t>
            </a:r>
            <a:endParaRPr lang="en-US" sz="1150" dirty="0"/>
          </a:p>
        </p:txBody>
      </p:sp>
      <p:pic>
        <p:nvPicPr>
          <p:cNvPr id="11"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270647"/>
            <a:ext cx="10868745" cy="886023"/>
          </a:xfrm>
          <a:prstGeom prst="rect">
            <a:avLst/>
          </a:prstGeom>
        </p:spPr>
      </p:pic>
      <p:sp>
        <p:nvSpPr>
          <p:cNvPr id="12" name="Text 7"/>
          <p:cNvSpPr/>
          <p:nvPr/>
        </p:nvSpPr>
        <p:spPr>
          <a:xfrm>
            <a:off x="858717" y="3575248"/>
            <a:ext cx="221451" cy="276820"/>
          </a:xfrm>
          <a:prstGeom prst="rect">
            <a:avLst/>
          </a:prstGeom>
          <a:noFill/>
          <a:ln/>
        </p:spPr>
        <p:txBody>
          <a:bodyPr wrap="none" lIns="0" tIns="0" rIns="0" bIns="0" rtlCol="0" anchor="ctr"/>
          <a:lstStyle/>
          <a:p>
            <a:pPr algn="ctr" indent="0" marL="0">
              <a:lnSpc>
                <a:spcPct val="100000"/>
              </a:lnSpc>
              <a:buNone/>
            </a:pPr>
            <a:r>
              <a:rPr lang="en-US" sz="1700" b="1" dirty="0">
                <a:solidFill>
                  <a:srgbClr val="1C1C1C"/>
                </a:solidFill>
                <a:latin typeface="Orbitron Bold" pitchFamily="34" charset="0"/>
                <a:ea typeface="Orbitron Bold" pitchFamily="34" charset="-122"/>
                <a:cs typeface="Orbitron Bold" pitchFamily="34" charset="-120"/>
              </a:rPr>
              <a:t>3</a:t>
            </a:r>
            <a:endParaRPr lang="en-US" sz="1700" dirty="0"/>
          </a:p>
        </p:txBody>
      </p:sp>
      <p:sp>
        <p:nvSpPr>
          <p:cNvPr id="13" name="Text 8"/>
          <p:cNvSpPr/>
          <p:nvPr/>
        </p:nvSpPr>
        <p:spPr>
          <a:xfrm>
            <a:off x="1386448" y="3437334"/>
            <a:ext cx="9977089" cy="230684"/>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Context</a:t>
            </a:r>
            <a:endParaRPr lang="en-US" sz="1450" dirty="0"/>
          </a:p>
        </p:txBody>
      </p:sp>
      <p:sp>
        <p:nvSpPr>
          <p:cNvPr id="14" name="Text 9"/>
          <p:cNvSpPr/>
          <p:nvPr/>
        </p:nvSpPr>
        <p:spPr>
          <a:xfrm>
            <a:off x="1386448" y="3737173"/>
            <a:ext cx="9977089" cy="210344"/>
          </a:xfrm>
          <a:prstGeom prst="rect">
            <a:avLst/>
          </a:prstGeom>
          <a:noFill/>
          <a:ln/>
        </p:spPr>
        <p:txBody>
          <a:bodyPr wrap="none" lIns="0" tIns="0" rIns="0" bIns="0" rtlCol="0" anchor="t"/>
          <a:lstStyle/>
          <a:p>
            <a:pPr algn="l" indent="0" marL="0">
              <a:lnSpc>
                <a:spcPct val="119000"/>
              </a:lnSpc>
              <a:buNone/>
            </a:pPr>
            <a:r>
              <a:rPr lang="en-US" sz="1150" dirty="0">
                <a:solidFill>
                  <a:srgbClr val="1C1C1C"/>
                </a:solidFill>
                <a:latin typeface="Roboto Condensed" pitchFamily="34" charset="0"/>
                <a:ea typeface="Roboto Condensed" pitchFamily="34" charset="-122"/>
                <a:cs typeface="Roboto Condensed" pitchFamily="34" charset="-120"/>
              </a:rPr>
              <a:t>What the model cannot know</a:t>
            </a:r>
            <a:endParaRPr lang="en-US" sz="1150" dirty="0"/>
          </a:p>
        </p:txBody>
      </p:sp>
      <p:pic>
        <p:nvPicPr>
          <p:cNvPr id="15"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1475" y="4271963"/>
            <a:ext cx="10868745" cy="886023"/>
          </a:xfrm>
          <a:prstGeom prst="rect">
            <a:avLst/>
          </a:prstGeom>
        </p:spPr>
      </p:pic>
      <p:sp>
        <p:nvSpPr>
          <p:cNvPr id="16" name="Text 10"/>
          <p:cNvSpPr/>
          <p:nvPr/>
        </p:nvSpPr>
        <p:spPr>
          <a:xfrm>
            <a:off x="858717" y="4576564"/>
            <a:ext cx="221451" cy="276820"/>
          </a:xfrm>
          <a:prstGeom prst="rect">
            <a:avLst/>
          </a:prstGeom>
          <a:noFill/>
          <a:ln/>
        </p:spPr>
        <p:txBody>
          <a:bodyPr wrap="none" lIns="0" tIns="0" rIns="0" bIns="0" rtlCol="0" anchor="ctr"/>
          <a:lstStyle/>
          <a:p>
            <a:pPr algn="ctr" indent="0" marL="0">
              <a:lnSpc>
                <a:spcPct val="100000"/>
              </a:lnSpc>
              <a:buNone/>
            </a:pPr>
            <a:r>
              <a:rPr lang="en-US" sz="1700" b="1" dirty="0">
                <a:solidFill>
                  <a:srgbClr val="1C1C1C"/>
                </a:solidFill>
                <a:latin typeface="Orbitron Bold" pitchFamily="34" charset="0"/>
                <a:ea typeface="Orbitron Bold" pitchFamily="34" charset="-122"/>
                <a:cs typeface="Orbitron Bold" pitchFamily="34" charset="-120"/>
              </a:rPr>
              <a:t>4</a:t>
            </a:r>
            <a:endParaRPr lang="en-US" sz="1700" dirty="0"/>
          </a:p>
        </p:txBody>
      </p:sp>
      <p:sp>
        <p:nvSpPr>
          <p:cNvPr id="17" name="Text 11"/>
          <p:cNvSpPr/>
          <p:nvPr/>
        </p:nvSpPr>
        <p:spPr>
          <a:xfrm>
            <a:off x="1386448" y="4438650"/>
            <a:ext cx="9977089" cy="230684"/>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Format</a:t>
            </a:r>
            <a:endParaRPr lang="en-US" sz="1450" dirty="0"/>
          </a:p>
        </p:txBody>
      </p:sp>
      <p:sp>
        <p:nvSpPr>
          <p:cNvPr id="18" name="Text 12"/>
          <p:cNvSpPr/>
          <p:nvPr/>
        </p:nvSpPr>
        <p:spPr>
          <a:xfrm>
            <a:off x="1386448" y="4738489"/>
            <a:ext cx="9977089" cy="210344"/>
          </a:xfrm>
          <a:prstGeom prst="rect">
            <a:avLst/>
          </a:prstGeom>
          <a:noFill/>
          <a:ln/>
        </p:spPr>
        <p:txBody>
          <a:bodyPr wrap="none" lIns="0" tIns="0" rIns="0" bIns="0" rtlCol="0" anchor="t"/>
          <a:lstStyle/>
          <a:p>
            <a:pPr algn="l" indent="0" marL="0">
              <a:lnSpc>
                <a:spcPct val="119000"/>
              </a:lnSpc>
              <a:buNone/>
            </a:pPr>
            <a:r>
              <a:rPr lang="en-US" sz="1150" dirty="0">
                <a:solidFill>
                  <a:srgbClr val="1C1C1C"/>
                </a:solidFill>
                <a:latin typeface="Roboto Condensed" pitchFamily="34" charset="0"/>
                <a:ea typeface="Roboto Condensed" pitchFamily="34" charset="-122"/>
                <a:cs typeface="Roboto Condensed" pitchFamily="34" charset="-120"/>
              </a:rPr>
              <a:t>What shape the answer takes</a:t>
            </a:r>
            <a:endParaRPr lang="en-US" sz="1150" dirty="0"/>
          </a:p>
        </p:txBody>
      </p:sp>
      <p:pic>
        <p:nvPicPr>
          <p:cNvPr id="1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1475" y="5273278"/>
            <a:ext cx="10868745" cy="886023"/>
          </a:xfrm>
          <a:prstGeom prst="rect">
            <a:avLst/>
          </a:prstGeom>
        </p:spPr>
      </p:pic>
      <p:sp>
        <p:nvSpPr>
          <p:cNvPr id="20" name="Text 13"/>
          <p:cNvSpPr/>
          <p:nvPr/>
        </p:nvSpPr>
        <p:spPr>
          <a:xfrm>
            <a:off x="858717" y="5577880"/>
            <a:ext cx="221451" cy="276820"/>
          </a:xfrm>
          <a:prstGeom prst="rect">
            <a:avLst/>
          </a:prstGeom>
          <a:noFill/>
          <a:ln/>
        </p:spPr>
        <p:txBody>
          <a:bodyPr wrap="none" lIns="0" tIns="0" rIns="0" bIns="0" rtlCol="0" anchor="ctr"/>
          <a:lstStyle/>
          <a:p>
            <a:pPr algn="ctr" indent="0" marL="0">
              <a:lnSpc>
                <a:spcPct val="100000"/>
              </a:lnSpc>
              <a:buNone/>
            </a:pPr>
            <a:r>
              <a:rPr lang="en-US" sz="1700" b="1" dirty="0">
                <a:solidFill>
                  <a:srgbClr val="1C1C1C"/>
                </a:solidFill>
                <a:latin typeface="Orbitron Bold" pitchFamily="34" charset="0"/>
                <a:ea typeface="Orbitron Bold" pitchFamily="34" charset="-122"/>
                <a:cs typeface="Orbitron Bold" pitchFamily="34" charset="-120"/>
              </a:rPr>
              <a:t>5</a:t>
            </a:r>
            <a:endParaRPr lang="en-US" sz="1700" dirty="0"/>
          </a:p>
        </p:txBody>
      </p:sp>
      <p:sp>
        <p:nvSpPr>
          <p:cNvPr id="21" name="Text 14"/>
          <p:cNvSpPr/>
          <p:nvPr/>
        </p:nvSpPr>
        <p:spPr>
          <a:xfrm>
            <a:off x="1386448" y="5439966"/>
            <a:ext cx="9977089" cy="230684"/>
          </a:xfrm>
          <a:prstGeom prst="rect">
            <a:avLst/>
          </a:prstGeom>
          <a:noFill/>
          <a:ln/>
        </p:spPr>
        <p:txBody>
          <a:bodyPr wrap="none" lIns="0" tIns="0" rIns="0" bIns="0" rtlCol="0" anchor="t"/>
          <a:lstStyle/>
          <a:p>
            <a:pPr algn="l" indent="0" marL="0">
              <a:lnSpc>
                <a:spcPct val="104000"/>
              </a:lnSpc>
              <a:buNone/>
            </a:pPr>
            <a:r>
              <a:rPr lang="en-US" sz="1450" b="1" dirty="0">
                <a:solidFill>
                  <a:srgbClr val="1C1C1C"/>
                </a:solidFill>
                <a:latin typeface="Orbitron Bold" pitchFamily="34" charset="0"/>
                <a:ea typeface="Orbitron Bold" pitchFamily="34" charset="-122"/>
                <a:cs typeface="Orbitron Bold" pitchFamily="34" charset="-120"/>
              </a:rPr>
              <a:t>Constraints</a:t>
            </a:r>
            <a:endParaRPr lang="en-US" sz="1450" dirty="0"/>
          </a:p>
        </p:txBody>
      </p:sp>
      <p:sp>
        <p:nvSpPr>
          <p:cNvPr id="22" name="Text 15"/>
          <p:cNvSpPr/>
          <p:nvPr/>
        </p:nvSpPr>
        <p:spPr>
          <a:xfrm>
            <a:off x="1386448" y="5739805"/>
            <a:ext cx="9977089" cy="210344"/>
          </a:xfrm>
          <a:prstGeom prst="rect">
            <a:avLst/>
          </a:prstGeom>
          <a:noFill/>
          <a:ln/>
        </p:spPr>
        <p:txBody>
          <a:bodyPr wrap="none" lIns="0" tIns="0" rIns="0" bIns="0" rtlCol="0" anchor="t"/>
          <a:lstStyle/>
          <a:p>
            <a:pPr algn="l" indent="0" marL="0">
              <a:lnSpc>
                <a:spcPct val="119000"/>
              </a:lnSpc>
              <a:buNone/>
            </a:pPr>
            <a:r>
              <a:rPr lang="en-US" sz="1150" dirty="0">
                <a:solidFill>
                  <a:srgbClr val="1C1C1C"/>
                </a:solidFill>
                <a:latin typeface="Roboto Condensed" pitchFamily="34" charset="0"/>
                <a:ea typeface="Roboto Condensed" pitchFamily="34" charset="-122"/>
                <a:cs typeface="Roboto Condensed" pitchFamily="34" charset="-120"/>
              </a:rPr>
              <a:t>What it may not do</a:t>
            </a:r>
            <a:endParaRPr lang="en-US" sz="1150" dirty="0"/>
          </a:p>
        </p:txBody>
      </p:sp>
      <p:sp>
        <p:nvSpPr>
          <p:cNvPr id="23" name="Text 16"/>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61475" y="1831876"/>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Each element does a different job</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36075" y="2775148"/>
            <a:ext cx="3490825" cy="1064320"/>
          </a:xfrm>
          <a:prstGeom prst="rect">
            <a:avLst/>
          </a:prstGeom>
        </p:spPr>
      </p:pic>
      <p:sp>
        <p:nvSpPr>
          <p:cNvPr id="4" name="Text 1"/>
          <p:cNvSpPr/>
          <p:nvPr/>
        </p:nvSpPr>
        <p:spPr>
          <a:xfrm>
            <a:off x="901281" y="2800548"/>
            <a:ext cx="32256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Role</a:t>
            </a:r>
            <a:endParaRPr lang="en-US" sz="1850" dirty="0"/>
          </a:p>
        </p:txBody>
      </p:sp>
      <p:sp>
        <p:nvSpPr>
          <p:cNvPr id="5" name="Text 2"/>
          <p:cNvSpPr/>
          <p:nvPr/>
        </p:nvSpPr>
        <p:spPr>
          <a:xfrm>
            <a:off x="901281" y="3209230"/>
            <a:ext cx="322562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Narrows the voice, not the facts</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37735" y="2775148"/>
            <a:ext cx="3490825" cy="1064320"/>
          </a:xfrm>
          <a:prstGeom prst="rect">
            <a:avLst/>
          </a:prstGeom>
        </p:spPr>
      </p:pic>
      <p:sp>
        <p:nvSpPr>
          <p:cNvPr id="7" name="Text 3"/>
          <p:cNvSpPr/>
          <p:nvPr/>
        </p:nvSpPr>
        <p:spPr>
          <a:xfrm>
            <a:off x="4602940" y="2800548"/>
            <a:ext cx="32256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Task</a:t>
            </a:r>
            <a:endParaRPr lang="en-US" sz="1850" dirty="0"/>
          </a:p>
        </p:txBody>
      </p:sp>
      <p:sp>
        <p:nvSpPr>
          <p:cNvPr id="8" name="Text 4"/>
          <p:cNvSpPr/>
          <p:nvPr/>
        </p:nvSpPr>
        <p:spPr>
          <a:xfrm>
            <a:off x="4602940" y="3209230"/>
            <a:ext cx="322562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States a finish line, and removes the padding</a:t>
            </a:r>
            <a:endParaRPr lang="en-US" sz="14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039395" y="2775148"/>
            <a:ext cx="3490825" cy="1064320"/>
          </a:xfrm>
          <a:prstGeom prst="rect">
            <a:avLst/>
          </a:prstGeom>
        </p:spPr>
      </p:pic>
      <p:sp>
        <p:nvSpPr>
          <p:cNvPr id="10" name="Text 5"/>
          <p:cNvSpPr/>
          <p:nvPr/>
        </p:nvSpPr>
        <p:spPr>
          <a:xfrm>
            <a:off x="8304600" y="2800548"/>
            <a:ext cx="322562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Context</a:t>
            </a:r>
            <a:endParaRPr lang="en-US" sz="1850" dirty="0"/>
          </a:p>
        </p:txBody>
      </p:sp>
      <p:sp>
        <p:nvSpPr>
          <p:cNvPr id="11" name="Text 6"/>
          <p:cNvSpPr/>
          <p:nvPr/>
        </p:nvSpPr>
        <p:spPr>
          <a:xfrm>
            <a:off x="8304600" y="3209230"/>
            <a:ext cx="3225620"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Supplies facts the model could not have</a:t>
            </a:r>
            <a:endParaRPr lang="en-US" sz="14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36075" y="4166691"/>
            <a:ext cx="5341605" cy="761901"/>
          </a:xfrm>
          <a:prstGeom prst="rect">
            <a:avLst/>
          </a:prstGeom>
        </p:spPr>
      </p:pic>
      <p:sp>
        <p:nvSpPr>
          <p:cNvPr id="13" name="Text 7"/>
          <p:cNvSpPr/>
          <p:nvPr/>
        </p:nvSpPr>
        <p:spPr>
          <a:xfrm>
            <a:off x="901281" y="4192091"/>
            <a:ext cx="507640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Format</a:t>
            </a:r>
            <a:endParaRPr lang="en-US" sz="1850" dirty="0"/>
          </a:p>
        </p:txBody>
      </p:sp>
      <p:sp>
        <p:nvSpPr>
          <p:cNvPr id="14" name="Text 8"/>
          <p:cNvSpPr/>
          <p:nvPr/>
        </p:nvSpPr>
        <p:spPr>
          <a:xfrm>
            <a:off x="901281" y="4600773"/>
            <a:ext cx="507640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Changes the shape of the output completely</a:t>
            </a:r>
            <a:endParaRPr lang="en-US" sz="1450" dirty="0"/>
          </a:p>
        </p:txBody>
      </p:sp>
      <p:pic>
        <p:nvPicPr>
          <p:cNvPr id="15"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88515" y="4166691"/>
            <a:ext cx="5341705" cy="761901"/>
          </a:xfrm>
          <a:prstGeom prst="rect">
            <a:avLst/>
          </a:prstGeom>
        </p:spPr>
      </p:pic>
      <p:sp>
        <p:nvSpPr>
          <p:cNvPr id="16" name="Text 9"/>
          <p:cNvSpPr/>
          <p:nvPr/>
        </p:nvSpPr>
        <p:spPr>
          <a:xfrm>
            <a:off x="6453721" y="4192091"/>
            <a:ext cx="5076500"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Constraints</a:t>
            </a:r>
            <a:endParaRPr lang="en-US" sz="1850" dirty="0"/>
          </a:p>
        </p:txBody>
      </p:sp>
      <p:sp>
        <p:nvSpPr>
          <p:cNvPr id="17" name="Text 10"/>
          <p:cNvSpPr/>
          <p:nvPr/>
        </p:nvSpPr>
        <p:spPr>
          <a:xfrm>
            <a:off x="6453721" y="4600773"/>
            <a:ext cx="5076500"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negative space: limits and exclusions</a:t>
            </a:r>
            <a:endParaRPr lang="en-US" sz="1450" dirty="0"/>
          </a:p>
        </p:txBody>
      </p:sp>
      <p:sp>
        <p:nvSpPr>
          <p:cNvPr id="18" name="Text 11"/>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1189236"/>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One task, five prompts, every number recorded</a:t>
            </a:r>
            <a:endParaRPr lang="en-US" sz="3700" dirty="0"/>
          </a:p>
        </p:txBody>
      </p:sp>
      <p:sp>
        <p:nvSpPr>
          <p:cNvPr id="3" name="Shape 1"/>
          <p:cNvSpPr/>
          <p:nvPr/>
        </p:nvSpPr>
        <p:spPr>
          <a:xfrm>
            <a:off x="661475" y="2748558"/>
            <a:ext cx="10868745" cy="2797373"/>
          </a:xfrm>
          <a:prstGeom prst="roundRect">
            <a:avLst>
              <a:gd name="adj" fmla="val 2838"/>
            </a:avLst>
          </a:prstGeom>
          <a:solidFill>
            <a:srgbClr val="F2F2F2"/>
          </a:solidFill>
          <a:ln/>
        </p:spPr>
      </p:sp>
      <p:sp>
        <p:nvSpPr>
          <p:cNvPr id="4" name="Text 2"/>
          <p:cNvSpPr/>
          <p:nvPr/>
        </p:nvSpPr>
        <p:spPr>
          <a:xfrm>
            <a:off x="888283" y="2937570"/>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Label              | Prompt words | Reply words | Seconds | Shape   | Valid JSON | List items | Sources claimed | Hedges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p1_bare            | 6            | 110         | 0.02    | prose   | no         | 0          | 0               | 5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p2_task            | 48           | 65          | 0.00    | prose   | no         | 0          | 0               | 2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p3_role_audience   | 75           | 105         | 0.00    | prose   | no         | 0          | 0               | 2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p4_format_constrained | 69        | 54          | 0.00    | numbered| no         | 5          | 0               | 0      |</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p5_grounded_sourced | 81          | 84          | 0.01    | numbered| no         | 5          | 3               | 0      |</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1410891"/>
            <a:ext cx="6905849" cy="3913386"/>
          </a:xfrm>
          <a:prstGeom prst="rect">
            <a:avLst/>
          </a:prstGeom>
        </p:spPr>
      </p:pic>
      <p:sp>
        <p:nvSpPr>
          <p:cNvPr id="3" name="Text 0"/>
          <p:cNvSpPr/>
          <p:nvPr/>
        </p:nvSpPr>
        <p:spPr>
          <a:xfrm>
            <a:off x="8027489" y="1154112"/>
            <a:ext cx="3509081" cy="1744266"/>
          </a:xfrm>
          <a:prstGeom prst="rect">
            <a:avLst/>
          </a:prstGeom>
          <a:noFill/>
          <a:ln/>
        </p:spPr>
        <p:txBody>
          <a:bodyPr wrap="square" lIns="0" tIns="0" rIns="0" bIns="0" rtlCol="0" anchor="t">
            <a:normAutofit/>
          </a:bodyPr>
          <a:lstStyle/>
          <a:p>
            <a:pPr algn="l" indent="0" marL="0">
              <a:lnSpc>
                <a:spcPct val="104000"/>
              </a:lnSpc>
              <a:buNone/>
            </a:pPr>
            <a:r>
              <a:rPr lang="en-US" sz="3650" b="1" dirty="0">
                <a:solidFill>
                  <a:srgbClr val="111111"/>
                </a:solidFill>
                <a:latin typeface="Orbitron Bold" pitchFamily="34" charset="0"/>
                <a:ea typeface="Orbitron Bold" pitchFamily="34" charset="-122"/>
                <a:cs typeface="Orbitron Bold" pitchFamily="34" charset="-120"/>
              </a:rPr>
              <a:t>Look at p1 to p2 before anything else</a:t>
            </a:r>
            <a:endParaRPr lang="en-US" sz="3650" dirty="0"/>
          </a:p>
        </p:txBody>
      </p:sp>
      <p:sp>
        <p:nvSpPr>
          <p:cNvPr id="4" name="Text 1"/>
          <p:cNvSpPr/>
          <p:nvPr/>
        </p:nvSpPr>
        <p:spPr>
          <a:xfrm>
            <a:off x="8027489" y="3081536"/>
            <a:ext cx="3509081" cy="2618581"/>
          </a:xfrm>
          <a:prstGeom prst="rect">
            <a:avLst/>
          </a:prstGeom>
          <a:noFill/>
          <a:ln/>
        </p:spPr>
        <p:txBody>
          <a:bodyPr wrap="square" lIns="0" tIns="0" rIns="0" bIns="0" rtlCol="0" anchor="t">
            <a:normAutofit/>
          </a:bodyPr>
          <a:lstStyle/>
          <a:p>
            <a:pPr algn="l" marL="294640" indent="-294640">
              <a:lnSpc>
                <a:spcPct val="132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prompt got eight times longer</a:t>
            </a:r>
            <a:endParaRPr lang="en-US" sz="1450" dirty="0"/>
          </a:p>
          <a:p>
            <a:pPr algn="l" marL="294640" indent="-294640">
              <a:lnSpc>
                <a:spcPct val="132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reply got shorter, a hundred and ten words to sixty-five</a:t>
            </a:r>
            <a:endParaRPr lang="en-US" sz="1450" dirty="0"/>
          </a:p>
          <a:p>
            <a:pPr algn="l" marL="294640" indent="-294640">
              <a:lnSpc>
                <a:spcPct val="132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Hedging phrases dropped from five to two</a:t>
            </a:r>
            <a:endParaRPr lang="en-US" sz="1450" dirty="0"/>
          </a:p>
          <a:p>
            <a:pPr algn="l" marL="294640" indent="-294640">
              <a:lnSpc>
                <a:spcPct val="132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Stating what finished looks like removed the padding</a:t>
            </a:r>
            <a:endParaRPr lang="en-US" sz="1450" dirty="0"/>
          </a:p>
          <a:p>
            <a:pPr algn="l" marL="294640" indent="-294640">
              <a:lnSpc>
                <a:spcPct val="132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Almost everyone predicts the opposite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451670"/>
            <a:ext cx="6296860"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Format changes the most and gets added last</a:t>
            </a:r>
            <a:endParaRPr lang="en-US" sz="3700" dirty="0"/>
          </a:p>
        </p:txBody>
      </p:sp>
      <p:sp>
        <p:nvSpPr>
          <p:cNvPr id="4" name="Text 1"/>
          <p:cNvSpPr/>
          <p:nvPr/>
        </p:nvSpPr>
        <p:spPr>
          <a:xfrm>
            <a:off x="661475" y="3507085"/>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p3 to p4: prose became five numbered steps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Hedging went to zero</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Format has the most visible effect of the five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People add it last, after spending revisions on adjectives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Add it early and you find out whether the content holds</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1786930"/>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same task, with and without a role</a:t>
            </a:r>
            <a:endParaRPr lang="en-US" sz="3700" dirty="0"/>
          </a:p>
        </p:txBody>
      </p:sp>
      <p:sp>
        <p:nvSpPr>
          <p:cNvPr id="3" name="Shape 1"/>
          <p:cNvSpPr/>
          <p:nvPr/>
        </p:nvSpPr>
        <p:spPr>
          <a:xfrm>
            <a:off x="661475" y="2755602"/>
            <a:ext cx="10868745" cy="2192536"/>
          </a:xfrm>
          <a:prstGeom prst="roundRect">
            <a:avLst>
              <a:gd name="adj" fmla="val 3621"/>
            </a:avLst>
          </a:prstGeom>
          <a:solidFill>
            <a:srgbClr val="F2F2F2"/>
          </a:solidFill>
          <a:ln/>
        </p:spPr>
      </p:sp>
      <p:sp>
        <p:nvSpPr>
          <p:cNvPr id="4" name="Text 2"/>
          <p:cNvSpPr/>
          <p:nvPr/>
        </p:nvSpPr>
        <p:spPr>
          <a:xfrm>
            <a:off x="888283" y="2944614"/>
            <a:ext cx="10415129" cy="1814513"/>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[norole] 5 prompt words ... 110 reply words</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Here are some thoughts on the Friday equipment checkout.</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[role] 11 prompt words ... 95 reply words</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As a club's equipment manager, here is how I would handle the Friday equipment</a:t>
            </a:r>
            <a:endParaRPr lang="en-US" sz="1450" dirty="0"/>
          </a:p>
          <a:p>
            <a:pPr algn="l" indent="0" marL="0">
              <a:lnSpc>
                <a:spcPct val="133000"/>
              </a:lnSpc>
              <a:buNone/>
            </a:pPr>
            <a:r>
              <a:rPr lang="en-US" sz="1450" dirty="0">
                <a:solidFill>
                  <a:srgbClr val="005CC5"/>
                </a:solidFill>
                <a:latin typeface="Consolas" pitchFamily="34" charset="0"/>
                <a:ea typeface="Consolas" pitchFamily="34" charset="-122"/>
                <a:cs typeface="Consolas" pitchFamily="34" charset="-120"/>
              </a:rPr>
              <a:t>checkout.</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61475" y="765572"/>
            <a:ext cx="5203794" cy="5203924"/>
          </a:xfrm>
          <a:prstGeom prst="rect">
            <a:avLst/>
          </a:prstGeom>
        </p:spPr>
      </p:pic>
      <p:sp>
        <p:nvSpPr>
          <p:cNvPr id="3" name="Text 0"/>
          <p:cNvSpPr/>
          <p:nvPr/>
        </p:nvSpPr>
        <p:spPr>
          <a:xfrm>
            <a:off x="6332776" y="1409105"/>
            <a:ext cx="5203794" cy="177194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role changed the framing and not the procedure</a:t>
            </a:r>
            <a:endParaRPr lang="en-US" sz="3700" dirty="0"/>
          </a:p>
        </p:txBody>
      </p:sp>
      <p:sp>
        <p:nvSpPr>
          <p:cNvPr id="4" name="Text 1"/>
          <p:cNvSpPr/>
          <p:nvPr/>
        </p:nvSpPr>
        <p:spPr>
          <a:xfrm>
            <a:off x="6332776" y="3370064"/>
            <a:ext cx="5203794" cy="2078831"/>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six procedure steps underneath are identical, word for word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What changed is the opening sentence and the hedging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Hedging dropped from four sentences to two</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accounts for the whole fifteen word difference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role is real, and its effect is on voice</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1189236"/>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wrong way, and it is the revision everyone writes first</a:t>
            </a:r>
            <a:endParaRPr lang="en-US" sz="3700" dirty="0"/>
          </a:p>
        </p:txBody>
      </p:sp>
      <p:sp>
        <p:nvSpPr>
          <p:cNvPr id="3" name="Shape 1"/>
          <p:cNvSpPr/>
          <p:nvPr/>
        </p:nvSpPr>
        <p:spPr>
          <a:xfrm>
            <a:off x="661475" y="2748558"/>
            <a:ext cx="10868745" cy="2797373"/>
          </a:xfrm>
          <a:prstGeom prst="roundRect">
            <a:avLst>
              <a:gd name="adj" fmla="val 2838"/>
            </a:avLst>
          </a:prstGeom>
          <a:solidFill>
            <a:srgbClr val="F2F2F2"/>
          </a:solidFill>
          <a:ln/>
        </p:spPr>
      </p:sp>
      <p:sp>
        <p:nvSpPr>
          <p:cNvPr id="4" name="Text 2"/>
          <p:cNvSpPr/>
          <p:nvPr/>
        </p:nvSpPr>
        <p:spPr>
          <a:xfrm>
            <a:off x="888283" y="2937570"/>
            <a:ext cx="10415129" cy="2419350"/>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Please write a really good, detailed, professional explanation of the equipment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checkout process. Make it accurate and make sure it is clear. Thank you.</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[adjectives] 24 prompt words to http://127.0.0.1:11434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110 reply words in 0.02s, recorded in runs\adjectives.json</a:t>
            </a:r>
            <a:endParaRPr lang="en-US" sz="1450" dirty="0"/>
          </a:p>
          <a:p>
            <a:pPr algn="l" indent="0" marL="0">
              <a:lnSpc>
                <a:spcPct val="133000"/>
              </a:lnSpc>
              <a:buNone/>
            </a:pP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[p1_bare] 6 prompt words to http://127.0.0.1:11434</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  110 reply words in 0.02s, recorded in runs\p1_bare.json</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103544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Count the elements in that prompt</a:t>
            </a:r>
            <a:endParaRPr lang="en-US" sz="3700" dirty="0"/>
          </a:p>
        </p:txBody>
      </p:sp>
      <p:sp>
        <p:nvSpPr>
          <p:cNvPr id="3" name="Shape 1"/>
          <p:cNvSpPr/>
          <p:nvPr/>
        </p:nvSpPr>
        <p:spPr>
          <a:xfrm>
            <a:off x="661475" y="2004120"/>
            <a:ext cx="3496877" cy="1127224"/>
          </a:xfrm>
          <a:prstGeom prst="roundRect">
            <a:avLst>
              <a:gd name="adj" fmla="val 7043"/>
            </a:avLst>
          </a:prstGeom>
          <a:solidFill>
            <a:srgbClr val="D1E5FA"/>
          </a:solidFill>
          <a:ln w="19050">
            <a:solidFill>
              <a:srgbClr val="B7CBE0"/>
            </a:solidFill>
            <a:prstDash val="solid"/>
          </a:ln>
        </p:spPr>
      </p:sp>
      <p:sp>
        <p:nvSpPr>
          <p:cNvPr id="4" name="Text 2"/>
          <p:cNvSpPr/>
          <p:nvPr/>
        </p:nvSpPr>
        <p:spPr>
          <a:xfrm>
            <a:off x="869531" y="2212181"/>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Role</a:t>
            </a:r>
            <a:endParaRPr lang="en-US" sz="1850" dirty="0"/>
          </a:p>
        </p:txBody>
      </p:sp>
      <p:sp>
        <p:nvSpPr>
          <p:cNvPr id="5" name="Text 3"/>
          <p:cNvSpPr/>
          <p:nvPr/>
        </p:nvSpPr>
        <p:spPr>
          <a:xfrm>
            <a:off x="869531" y="2620863"/>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None</a:t>
            </a:r>
            <a:endParaRPr lang="en-US" sz="1450" dirty="0"/>
          </a:p>
        </p:txBody>
      </p:sp>
      <p:sp>
        <p:nvSpPr>
          <p:cNvPr id="6" name="Shape 4"/>
          <p:cNvSpPr/>
          <p:nvPr/>
        </p:nvSpPr>
        <p:spPr>
          <a:xfrm>
            <a:off x="4347359" y="2004120"/>
            <a:ext cx="3496877" cy="1127224"/>
          </a:xfrm>
          <a:prstGeom prst="roundRect">
            <a:avLst>
              <a:gd name="adj" fmla="val 7043"/>
            </a:avLst>
          </a:prstGeom>
          <a:solidFill>
            <a:srgbClr val="D1E5FA"/>
          </a:solidFill>
          <a:ln w="19050">
            <a:solidFill>
              <a:srgbClr val="B7CBE0"/>
            </a:solidFill>
            <a:prstDash val="solid"/>
          </a:ln>
        </p:spPr>
      </p:sp>
      <p:sp>
        <p:nvSpPr>
          <p:cNvPr id="7" name="Text 5"/>
          <p:cNvSpPr/>
          <p:nvPr/>
        </p:nvSpPr>
        <p:spPr>
          <a:xfrm>
            <a:off x="4555416" y="2212181"/>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Task</a:t>
            </a:r>
            <a:endParaRPr lang="en-US" sz="1850" dirty="0"/>
          </a:p>
        </p:txBody>
      </p:sp>
      <p:sp>
        <p:nvSpPr>
          <p:cNvPr id="8" name="Text 6"/>
          <p:cNvSpPr/>
          <p:nvPr/>
        </p:nvSpPr>
        <p:spPr>
          <a:xfrm>
            <a:off x="4555416" y="2620863"/>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None</a:t>
            </a:r>
            <a:endParaRPr lang="en-US" sz="1450" dirty="0"/>
          </a:p>
        </p:txBody>
      </p:sp>
      <p:sp>
        <p:nvSpPr>
          <p:cNvPr id="9" name="Shape 7"/>
          <p:cNvSpPr/>
          <p:nvPr/>
        </p:nvSpPr>
        <p:spPr>
          <a:xfrm>
            <a:off x="8033244" y="2004120"/>
            <a:ext cx="3496877" cy="1127224"/>
          </a:xfrm>
          <a:prstGeom prst="roundRect">
            <a:avLst>
              <a:gd name="adj" fmla="val 7043"/>
            </a:avLst>
          </a:prstGeom>
          <a:solidFill>
            <a:srgbClr val="D1E5FA"/>
          </a:solidFill>
          <a:ln w="19050">
            <a:solidFill>
              <a:srgbClr val="B7CBE0"/>
            </a:solidFill>
            <a:prstDash val="solid"/>
          </a:ln>
        </p:spPr>
      </p:sp>
      <p:sp>
        <p:nvSpPr>
          <p:cNvPr id="10" name="Text 8"/>
          <p:cNvSpPr/>
          <p:nvPr/>
        </p:nvSpPr>
        <p:spPr>
          <a:xfrm>
            <a:off x="8241300" y="2212181"/>
            <a:ext cx="3080764"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Context</a:t>
            </a:r>
            <a:endParaRPr lang="en-US" sz="1850" dirty="0"/>
          </a:p>
        </p:txBody>
      </p:sp>
      <p:sp>
        <p:nvSpPr>
          <p:cNvPr id="11" name="Text 9"/>
          <p:cNvSpPr/>
          <p:nvPr/>
        </p:nvSpPr>
        <p:spPr>
          <a:xfrm>
            <a:off x="8241300" y="2620863"/>
            <a:ext cx="308076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None</a:t>
            </a:r>
            <a:endParaRPr lang="en-US" sz="1450" dirty="0"/>
          </a:p>
        </p:txBody>
      </p:sp>
      <p:sp>
        <p:nvSpPr>
          <p:cNvPr id="12" name="Shape 10"/>
          <p:cNvSpPr/>
          <p:nvPr/>
        </p:nvSpPr>
        <p:spPr>
          <a:xfrm>
            <a:off x="661475" y="3320355"/>
            <a:ext cx="5339820" cy="1127224"/>
          </a:xfrm>
          <a:prstGeom prst="roundRect">
            <a:avLst>
              <a:gd name="adj" fmla="val 7043"/>
            </a:avLst>
          </a:prstGeom>
          <a:solidFill>
            <a:srgbClr val="D1E5FA"/>
          </a:solidFill>
          <a:ln w="19050">
            <a:solidFill>
              <a:srgbClr val="B7CBE0"/>
            </a:solidFill>
            <a:prstDash val="solid"/>
          </a:ln>
        </p:spPr>
      </p:sp>
      <p:sp>
        <p:nvSpPr>
          <p:cNvPr id="13" name="Text 11"/>
          <p:cNvSpPr/>
          <p:nvPr/>
        </p:nvSpPr>
        <p:spPr>
          <a:xfrm>
            <a:off x="869531" y="3528417"/>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Format</a:t>
            </a:r>
            <a:endParaRPr lang="en-US" sz="1850" dirty="0"/>
          </a:p>
        </p:txBody>
      </p:sp>
      <p:sp>
        <p:nvSpPr>
          <p:cNvPr id="14" name="Text 12"/>
          <p:cNvSpPr/>
          <p:nvPr/>
        </p:nvSpPr>
        <p:spPr>
          <a:xfrm>
            <a:off x="869531" y="3937099"/>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None</a:t>
            </a:r>
            <a:endParaRPr lang="en-US" sz="1450" dirty="0"/>
          </a:p>
        </p:txBody>
      </p:sp>
      <p:sp>
        <p:nvSpPr>
          <p:cNvPr id="15" name="Shape 13"/>
          <p:cNvSpPr/>
          <p:nvPr/>
        </p:nvSpPr>
        <p:spPr>
          <a:xfrm>
            <a:off x="6190301" y="3320355"/>
            <a:ext cx="5339820" cy="1127224"/>
          </a:xfrm>
          <a:prstGeom prst="roundRect">
            <a:avLst>
              <a:gd name="adj" fmla="val 7043"/>
            </a:avLst>
          </a:prstGeom>
          <a:solidFill>
            <a:srgbClr val="D1E5FA"/>
          </a:solidFill>
          <a:ln w="19050">
            <a:solidFill>
              <a:srgbClr val="B7CBE0"/>
            </a:solidFill>
            <a:prstDash val="solid"/>
          </a:ln>
        </p:spPr>
      </p:sp>
      <p:sp>
        <p:nvSpPr>
          <p:cNvPr id="16" name="Text 14"/>
          <p:cNvSpPr/>
          <p:nvPr/>
        </p:nvSpPr>
        <p:spPr>
          <a:xfrm>
            <a:off x="6398358" y="3528417"/>
            <a:ext cx="492370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Constraints</a:t>
            </a:r>
            <a:endParaRPr lang="en-US" sz="1850" dirty="0"/>
          </a:p>
        </p:txBody>
      </p:sp>
      <p:sp>
        <p:nvSpPr>
          <p:cNvPr id="17" name="Text 15"/>
          <p:cNvSpPr/>
          <p:nvPr/>
        </p:nvSpPr>
        <p:spPr>
          <a:xfrm>
            <a:off x="6398358" y="3937099"/>
            <a:ext cx="4923707"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None</a:t>
            </a:r>
            <a:endParaRPr lang="en-US" sz="1450" dirty="0"/>
          </a:p>
        </p:txBody>
      </p:sp>
      <p:sp>
        <p:nvSpPr>
          <p:cNvPr id="18" name="Text 16"/>
          <p:cNvSpPr/>
          <p:nvPr/>
        </p:nvSpPr>
        <p:spPr>
          <a:xfrm>
            <a:off x="661475" y="4660205"/>
            <a:ext cx="10868745" cy="1039416"/>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Every word in it is about quality in general</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It is tempting because it feels like effort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 machine cannot act on the word professional</a:t>
            </a:r>
            <a:endParaRPr lang="en-US" sz="1450" dirty="0"/>
          </a:p>
        </p:txBody>
      </p:sp>
      <p:sp>
        <p:nvSpPr>
          <p:cNvPr id="19" name="Text 17"/>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7469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661475" y="3211711"/>
            <a:ext cx="6296860" cy="1776413"/>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Lab M02-01 steps six through eleven, all five prompts</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Paste the compare_runs output into your write-up</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Three observations, each naming a countable difference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Then the Prompt Autopsy: pick one real task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Get the task approved before you write any prompts</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2026-09-16T04:04:43Z</dcterms:created>
  <dcterms:modified xsi:type="dcterms:W3CDTF">2026-09-16T04:04:43Z</dcterms:modified>
</cp:coreProperties>
</file>