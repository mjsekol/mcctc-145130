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teams sit down, both open their code, one says this is the client and this bit handles the errors, the other says yeah that looks good. Twelve minutes. Nothing found. And now both teams believe their design was reviewed, which is worse than not doing it, because a review that found nothing gets used as evidence that there was nothing to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walkthrough is the author reading their own work out loud to somebody whose job is to interrupt. It is not a demo. In a demo you show the parts that work. Here you read every line in order including the parts you would not have shown. It needs no tools, no environment, and no running code. One other person and forty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rule. The author does not defend. When your reviewer says I do not understand this part, your only job is to write that down. Not to explain it. The explanation is the thing that is missing from the document, and saying it out loud makes the problem disappear from the room without removing it from the work. This is hard and everybody does it. Your partner should say you are defending, and you should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before code, always. If you start with code, everybody reads code, finds three small things, and the hour is gone. The expensive defects are disagreements between the documents and the code, and you only see those by holding one against the other. And from minute twenty six the author is off the keyboard, because you know where not to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these to your reviewer before you start. Number three takes ten seconds and finds a blocker: their client timeout against their service timeout times its attempts, said out loud. Number five is the hardest defect in this module, because a comment that describes what a number should do sitting above a number that does the opposite survives every casual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finding is something specific somebody can act on. Where it is, what is wrong, and how bad. Blocker means it does not work or two documents contradict each other. Major means it works and somebody will get it wrong. Minor means it is right and untidy. This is good and maybe make it clearer are not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ends in a decision. Fixed, deferred with an owner and a day, or rejected with a reason. A finding with no decision next to it is a finding nobody acted on, and the record exists to make that visible. Row four is the one that matters most: neither the document nor the code looked wrong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allowed to reject a finding and you have to write down why. That is a good rejection and it is worth more than a grudging fix, because it shows somebody thought about it. What is not allowed is a finding that quietly vanishes because the author disagreed. That is the exact failure mode this whole exercise exists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this. Criticising your friend's work is uncomfortable. Being criticised feels like being graded. And by Week fifteen you are tired and the thing works, and there is no version of a good walkthrough that ends with you having less to do. What makes it bearable is that findings name a file and a line, never a person, and that you get to reject them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walkthrough itself, forty minutes, with the team I pair you with. Build two is acting on what came out of it. The record gets committed today whether or not the findings are fixed, including the ones you deferred and the ones you rejected, because a record that only lists the findings you happened to fix is not a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4.png"/><Relationship Id="rId9" Type="http://schemas.openxmlformats.org/officeDocument/2006/relationships/image" Target="../media/image-2-5.sv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2.png"/><Relationship Id="rId5" Type="http://schemas.openxmlformats.org/officeDocument/2006/relationships/image" Target="../media/image-4-3.svg"/><Relationship Id="rId6" Type="http://schemas.openxmlformats.org/officeDocument/2006/relationships/image" Target="../media/image-4-6.png"/><Relationship Id="rId7" Type="http://schemas.openxmlformats.org/officeDocument/2006/relationships/image" Target="../media/image-4-7.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2.png"/><Relationship Id="rId5" Type="http://schemas.openxmlformats.org/officeDocument/2006/relationships/image" Target="../media/image-10-3.svg"/><Relationship Id="rId6" Type="http://schemas.openxmlformats.org/officeDocument/2006/relationships/image" Target="../media/image-10-6.png"/><Relationship Id="rId7" Type="http://schemas.openxmlformats.org/officeDocument/2006/relationships/image" Target="../media/image-10-7.svg"/><Relationship Id="rId8" Type="http://schemas.openxmlformats.org/officeDocument/2006/relationships/image" Target="../media/image-10-6.png"/><Relationship Id="rId9" Type="http://schemas.openxmlformats.org/officeDocument/2006/relationships/image" Target="../media/image-10-7.sv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Peer Walkthrough</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47489"/>
            <a:ext cx="6296860" cy="1661220"/>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111111"/>
                </a:solidFill>
                <a:latin typeface="Orbitron Bold" pitchFamily="34" charset="0"/>
                <a:ea typeface="Orbitron Bold" pitchFamily="34" charset="-122"/>
                <a:cs typeface="Orbitron Bold" pitchFamily="34" charset="-120"/>
              </a:rPr>
              <a:t>Twelve minutes, and both teams wrote "looks good"</a:t>
            </a:r>
            <a:endParaRPr lang="en-US" sz="34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457847"/>
            <a:ext cx="6296860" cy="669429"/>
          </a:xfrm>
          <a:prstGeom prst="rect">
            <a:avLst/>
          </a:prstGeom>
        </p:spPr>
      </p:pic>
      <p:sp>
        <p:nvSpPr>
          <p:cNvPr id="5" name="Text 1"/>
          <p:cNvSpPr/>
          <p:nvPr/>
        </p:nvSpPr>
        <p:spPr>
          <a:xfrm>
            <a:off x="5505808" y="2654102"/>
            <a:ext cx="5828162"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Nothing was found</a:t>
            </a:r>
            <a:endParaRPr lang="en-US" sz="17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293368"/>
            <a:ext cx="6296860" cy="946348"/>
          </a:xfrm>
          <a:prstGeom prst="rect">
            <a:avLst/>
          </a:prstGeom>
        </p:spPr>
      </p:pic>
      <p:sp>
        <p:nvSpPr>
          <p:cNvPr id="7" name="Text 2"/>
          <p:cNvSpPr/>
          <p:nvPr/>
        </p:nvSpPr>
        <p:spPr>
          <a:xfrm>
            <a:off x="5505808" y="3489623"/>
            <a:ext cx="5828162" cy="553839"/>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Both teams now believe their design was reviewed</a:t>
            </a:r>
            <a:endParaRPr lang="en-US" sz="17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405809"/>
            <a:ext cx="6296860" cy="669429"/>
          </a:xfrm>
          <a:prstGeom prst="rect">
            <a:avLst/>
          </a:prstGeom>
        </p:spPr>
      </p:pic>
      <p:sp>
        <p:nvSpPr>
          <p:cNvPr id="9" name="Text 3"/>
          <p:cNvSpPr/>
          <p:nvPr/>
        </p:nvSpPr>
        <p:spPr>
          <a:xfrm>
            <a:off x="5505808" y="4602063"/>
            <a:ext cx="5828162"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That is worse than not doing it at all</a:t>
            </a:r>
            <a:endParaRPr lang="en-US" sz="17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241330"/>
            <a:ext cx="6296860" cy="946348"/>
          </a:xfrm>
          <a:prstGeom prst="rect">
            <a:avLst/>
          </a:prstGeom>
        </p:spPr>
      </p:pic>
      <p:sp>
        <p:nvSpPr>
          <p:cNvPr id="11" name="Text 4"/>
          <p:cNvSpPr/>
          <p:nvPr/>
        </p:nvSpPr>
        <p:spPr>
          <a:xfrm>
            <a:off x="5505808" y="5437584"/>
            <a:ext cx="5828162" cy="553839"/>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A review that finds nothing is used as proof there was nothing</a:t>
            </a:r>
            <a:endParaRPr lang="en-US" sz="170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87233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author reads. The reviewer interrupts.</a:t>
            </a:r>
            <a:endParaRPr lang="en-US" sz="3700" dirty="0"/>
          </a:p>
        </p:txBody>
      </p:sp>
      <p:sp>
        <p:nvSpPr>
          <p:cNvPr id="4" name="Shape 1"/>
          <p:cNvSpPr/>
          <p:nvPr/>
        </p:nvSpPr>
        <p:spPr>
          <a:xfrm>
            <a:off x="5233360" y="2337098"/>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401987"/>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 a demo. In a demo you show the parts that work.</a:t>
            </a:r>
            <a:endParaRPr lang="en-US" sz="1850" dirty="0"/>
          </a:p>
        </p:txBody>
      </p:sp>
      <p:sp>
        <p:nvSpPr>
          <p:cNvPr id="6" name="Shape 3"/>
          <p:cNvSpPr/>
          <p:nvPr/>
        </p:nvSpPr>
        <p:spPr>
          <a:xfrm>
            <a:off x="5233360"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435449"/>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line, in order, including the ones you would skip</a:t>
            </a:r>
            <a:endParaRPr lang="en-US" sz="1850" dirty="0"/>
          </a:p>
        </p:txBody>
      </p:sp>
      <p:sp>
        <p:nvSpPr>
          <p:cNvPr id="8" name="Shape 5"/>
          <p:cNvSpPr/>
          <p:nvPr/>
        </p:nvSpPr>
        <p:spPr>
          <a:xfrm>
            <a:off x="5233360" y="4404023"/>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46891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Three roles: author, reviewer, recorder</a:t>
            </a:r>
            <a:endParaRPr lang="en-US" sz="1850" dirty="0"/>
          </a:p>
        </p:txBody>
      </p:sp>
      <p:sp>
        <p:nvSpPr>
          <p:cNvPr id="10" name="Shape 7"/>
          <p:cNvSpPr/>
          <p:nvPr/>
        </p:nvSpPr>
        <p:spPr>
          <a:xfrm>
            <a:off x="5233360" y="520729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272187"/>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Cheapest defect-finding technique anybody has measured</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06624"/>
            <a:ext cx="6920831" cy="3921820"/>
          </a:xfrm>
          <a:prstGeom prst="rect">
            <a:avLst/>
          </a:prstGeom>
        </p:spPr>
      </p:pic>
      <p:sp>
        <p:nvSpPr>
          <p:cNvPr id="3" name="Text 0"/>
          <p:cNvSpPr/>
          <p:nvPr/>
        </p:nvSpPr>
        <p:spPr>
          <a:xfrm>
            <a:off x="7999411" y="721519"/>
            <a:ext cx="3537060" cy="1052116"/>
          </a:xfrm>
          <a:prstGeom prst="rect">
            <a:avLst/>
          </a:prstGeom>
          <a:noFill/>
          <a:ln/>
        </p:spPr>
        <p:txBody>
          <a:bodyPr wrap="square" lIns="0" tIns="0" rIns="0" bIns="0" rtlCol="0" anchor="t">
            <a:normAutofit/>
          </a:bodyPr>
          <a:lstStyle/>
          <a:p>
            <a:pPr algn="l" indent="0" marL="0">
              <a:lnSpc>
                <a:spcPct val="104000"/>
              </a:lnSpc>
              <a:buNone/>
            </a:pPr>
            <a:r>
              <a:rPr lang="en-US" sz="3300" b="1" dirty="0">
                <a:solidFill>
                  <a:srgbClr val="111111"/>
                </a:solidFill>
                <a:latin typeface="Orbitron Bold" pitchFamily="34" charset="0"/>
                <a:ea typeface="Orbitron Bold" pitchFamily="34" charset="-122"/>
                <a:cs typeface="Orbitron Bold" pitchFamily="34" charset="-120"/>
              </a:rPr>
              <a:t>The rule that makes it work</a:t>
            </a:r>
            <a:endParaRPr lang="en-US" sz="33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99411" y="1942306"/>
            <a:ext cx="3537060" cy="900708"/>
          </a:xfrm>
          <a:prstGeom prst="rect">
            <a:avLst/>
          </a:prstGeom>
        </p:spPr>
      </p:pic>
      <p:sp>
        <p:nvSpPr>
          <p:cNvPr id="5" name="Text 1"/>
          <p:cNvSpPr/>
          <p:nvPr/>
        </p:nvSpPr>
        <p:spPr>
          <a:xfrm>
            <a:off x="8262929" y="2129631"/>
            <a:ext cx="3086221" cy="526058"/>
          </a:xfrm>
          <a:prstGeom prst="rect">
            <a:avLst/>
          </a:prstGeom>
          <a:noFill/>
          <a:ln/>
        </p:spPr>
        <p:txBody>
          <a:bodyPr wrap="square" lIns="0" tIns="0" rIns="0" bIns="0" rtlCol="0" anchor="t">
            <a:normAutofit/>
          </a:bodyPr>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The author does not defend</a:t>
            </a:r>
            <a:endParaRPr lang="en-US" sz="16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99411" y="2992934"/>
            <a:ext cx="3537060" cy="900708"/>
          </a:xfrm>
          <a:prstGeom prst="rect">
            <a:avLst/>
          </a:prstGeom>
        </p:spPr>
      </p:pic>
      <p:sp>
        <p:nvSpPr>
          <p:cNvPr id="7" name="Text 2"/>
          <p:cNvSpPr/>
          <p:nvPr/>
        </p:nvSpPr>
        <p:spPr>
          <a:xfrm>
            <a:off x="8262929" y="3180259"/>
            <a:ext cx="3086221" cy="526058"/>
          </a:xfrm>
          <a:prstGeom prst="rect">
            <a:avLst/>
          </a:prstGeom>
          <a:noFill/>
          <a:ln/>
        </p:spPr>
        <p:txBody>
          <a:bodyPr wrap="square" lIns="0" tIns="0" rIns="0" bIns="0" rtlCol="0" anchor="t">
            <a:normAutofit/>
          </a:bodyPr>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"I do not understand this" means write it down</a:t>
            </a:r>
            <a:endParaRPr lang="en-US" sz="16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99411" y="4043561"/>
            <a:ext cx="3537060" cy="637679"/>
          </a:xfrm>
          <a:prstGeom prst="rect">
            <a:avLst/>
          </a:prstGeom>
        </p:spPr>
      </p:pic>
      <p:sp>
        <p:nvSpPr>
          <p:cNvPr id="9" name="Text 3"/>
          <p:cNvSpPr/>
          <p:nvPr/>
        </p:nvSpPr>
        <p:spPr>
          <a:xfrm>
            <a:off x="8262929" y="4230886"/>
            <a:ext cx="3086221"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Not explain it out loud</a:t>
            </a:r>
            <a:endParaRPr lang="en-US" sz="16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99411" y="4831159"/>
            <a:ext cx="3537060" cy="1163737"/>
          </a:xfrm>
          <a:prstGeom prst="rect">
            <a:avLst/>
          </a:prstGeom>
        </p:spPr>
      </p:pic>
      <p:sp>
        <p:nvSpPr>
          <p:cNvPr id="11" name="Text 4"/>
          <p:cNvSpPr/>
          <p:nvPr/>
        </p:nvSpPr>
        <p:spPr>
          <a:xfrm>
            <a:off x="8262929" y="5018484"/>
            <a:ext cx="3086221" cy="789087"/>
          </a:xfrm>
          <a:prstGeom prst="rect">
            <a:avLst/>
          </a:prstGeom>
          <a:noFill/>
          <a:ln/>
        </p:spPr>
        <p:txBody>
          <a:bodyPr wrap="square" lIns="0" tIns="0" rIns="0" bIns="0" rtlCol="0" anchor="t">
            <a:normAutofit/>
          </a:bodyPr>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The explanation is the thing missing from the document</a:t>
            </a:r>
            <a:endParaRPr lang="en-US" sz="16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script, and the order is the design</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0-3    author states the task, the shape, what they are least sure of</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3-10   DOCUMENTS FIRST. The I/O spec, field by field.</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10-18  the dataflow diagram. What is checked at each boundary.</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18-26  then the code. Failure paths only. Not the happy path.</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26-33  reviewer drives. Author does not touch the keyboard.</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33-40  findings read back, then one decision each</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2094111"/>
            <a:ext cx="5203794"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Five questions that always find something</a:t>
            </a:r>
            <a:endParaRPr lang="en-US" sz="3700" dirty="0"/>
          </a:p>
        </p:txBody>
      </p:sp>
      <p:sp>
        <p:nvSpPr>
          <p:cNvPr id="3" name="Text 1"/>
          <p:cNvSpPr/>
          <p:nvPr/>
        </p:nvSpPr>
        <p:spPr>
          <a:xfrm>
            <a:off x="661475" y="4055070"/>
            <a:ext cx="520379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These questions are designed to surface gaps that polite review misses. Ask them in order, on every walkthrough.</a:t>
            </a:r>
            <a:endParaRPr lang="en-US" sz="1450" dirty="0"/>
          </a:p>
        </p:txBody>
      </p:sp>
      <p:sp>
        <p:nvSpPr>
          <p:cNvPr id="4" name="Shape 2"/>
          <p:cNvSpPr/>
          <p:nvPr/>
        </p:nvSpPr>
        <p:spPr>
          <a:xfrm>
            <a:off x="6332776" y="2117725"/>
            <a:ext cx="5203794" cy="1890117"/>
          </a:xfrm>
          <a:prstGeom prst="roundRect">
            <a:avLst>
              <a:gd name="adj" fmla="val 4200"/>
            </a:avLst>
          </a:prstGeom>
          <a:solidFill>
            <a:srgbClr val="F2F2F2"/>
          </a:solidFill>
          <a:ln/>
        </p:spPr>
      </p:sp>
      <p:sp>
        <p:nvSpPr>
          <p:cNvPr id="5" name="Text 3"/>
          <p:cNvSpPr/>
          <p:nvPr/>
        </p:nvSpPr>
        <p:spPr>
          <a:xfrm>
            <a:off x="6559584" y="2306737"/>
            <a:ext cx="4750177"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1  Show me the line that does this requirement.</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2  What happens if I give it nothing?</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3  Which of these two numbers is bigger?</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4  What does the person see when the model is off?</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5  Read me this comment, then the line under it.</a:t>
            </a:r>
            <a:endParaRPr lang="en-US" sz="1450" dirty="0"/>
          </a:p>
        </p:txBody>
      </p:sp>
      <p:sp>
        <p:nvSpPr>
          <p:cNvPr id="6"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68165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finding has three parts</a:t>
            </a:r>
            <a:endParaRPr lang="en-US" sz="3700" dirty="0"/>
          </a:p>
        </p:txBody>
      </p:sp>
      <p:sp>
        <p:nvSpPr>
          <p:cNvPr id="4" name="Shape 1"/>
          <p:cNvSpPr/>
          <p:nvPr/>
        </p:nvSpPr>
        <p:spPr>
          <a:xfrm>
            <a:off x="5233360" y="3146425"/>
            <a:ext cx="3053877" cy="1006673"/>
          </a:xfrm>
          <a:prstGeom prst="roundRect">
            <a:avLst>
              <a:gd name="adj" fmla="val 7886"/>
            </a:avLst>
          </a:prstGeom>
          <a:solidFill>
            <a:srgbClr val="D1E5FA"/>
          </a:solidFill>
          <a:ln w="19050">
            <a:solidFill>
              <a:srgbClr val="B7CBE0"/>
            </a:solidFill>
            <a:prstDash val="solid"/>
          </a:ln>
        </p:spPr>
      </p:sp>
      <p:sp>
        <p:nvSpPr>
          <p:cNvPr id="5" name="Text 2"/>
          <p:cNvSpPr/>
          <p:nvPr/>
        </p:nvSpPr>
        <p:spPr>
          <a:xfrm>
            <a:off x="5441417" y="3354487"/>
            <a:ext cx="2637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Where it is</a:t>
            </a:r>
            <a:endParaRPr lang="en-US" sz="1850" dirty="0"/>
          </a:p>
        </p:txBody>
      </p:sp>
      <p:sp>
        <p:nvSpPr>
          <p:cNvPr id="6" name="Shape 3"/>
          <p:cNvSpPr/>
          <p:nvPr/>
        </p:nvSpPr>
        <p:spPr>
          <a:xfrm>
            <a:off x="8476244" y="3146425"/>
            <a:ext cx="3053976" cy="1006673"/>
          </a:xfrm>
          <a:prstGeom prst="roundRect">
            <a:avLst>
              <a:gd name="adj" fmla="val 7886"/>
            </a:avLst>
          </a:prstGeom>
          <a:solidFill>
            <a:srgbClr val="D1E5FA"/>
          </a:solidFill>
          <a:ln w="19050">
            <a:solidFill>
              <a:srgbClr val="B7CBE0"/>
            </a:solidFill>
            <a:prstDash val="solid"/>
          </a:ln>
        </p:spPr>
      </p:sp>
      <p:sp>
        <p:nvSpPr>
          <p:cNvPr id="7" name="Text 4"/>
          <p:cNvSpPr/>
          <p:nvPr/>
        </p:nvSpPr>
        <p:spPr>
          <a:xfrm>
            <a:off x="8684301" y="3354487"/>
            <a:ext cx="2637863"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is wrong or unclear</a:t>
            </a:r>
            <a:endParaRPr lang="en-US" sz="1850" dirty="0"/>
          </a:p>
        </p:txBody>
      </p:sp>
      <p:sp>
        <p:nvSpPr>
          <p:cNvPr id="8" name="Shape 5"/>
          <p:cNvSpPr/>
          <p:nvPr/>
        </p:nvSpPr>
        <p:spPr>
          <a:xfrm>
            <a:off x="5233360" y="4342110"/>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5441417" y="4550172"/>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How bad it is: blocker, major, minor</a:t>
            </a:r>
            <a:endParaRPr lang="en-US" sz="1850" dirty="0"/>
          </a:p>
        </p:txBody>
      </p:sp>
      <p:sp>
        <p:nvSpPr>
          <p:cNvPr id="10" name="Text 7"/>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642864"/>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record is the deliverable, not the meeting</a:t>
            </a:r>
            <a:endParaRPr lang="en-US" sz="3700" dirty="0"/>
          </a:p>
        </p:txBody>
      </p:sp>
      <p:sp>
        <p:nvSpPr>
          <p:cNvPr id="3" name="Shape 1"/>
          <p:cNvSpPr/>
          <p:nvPr/>
        </p:nvSpPr>
        <p:spPr>
          <a:xfrm>
            <a:off x="661475" y="3202186"/>
            <a:ext cx="10868745" cy="1890117"/>
          </a:xfrm>
          <a:prstGeom prst="roundRect">
            <a:avLst>
              <a:gd name="adj" fmla="val 4200"/>
            </a:avLst>
          </a:prstGeom>
          <a:solidFill>
            <a:srgbClr val="F2F2F2"/>
          </a:solidFill>
          <a:ln/>
        </p:spPr>
      </p:sp>
      <p:sp>
        <p:nvSpPr>
          <p:cNvPr id="4" name="Text 2"/>
          <p:cNvSpPr/>
          <p:nvPr/>
        </p:nvSpPr>
        <p:spPr>
          <a:xfrm>
            <a:off x="888283" y="3391198"/>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Where                  Finding                        Sev      Decision</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1 Program.cs:157         comment says long enough,      Blocker  Fixed today</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value is 5 s, service takes 40</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3 user-help.md           fallback section is 9 words    Major    Deferred, Thu</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4 io-specification.md    says retries 5, code says 1    Blocker  Doc was wrong</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094111"/>
            <a:ext cx="5203794"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Rejecting a finding is allowed, in writing</a:t>
            </a:r>
            <a:endParaRPr lang="en-US" sz="3700" dirty="0"/>
          </a:p>
        </p:txBody>
      </p:sp>
      <p:sp>
        <p:nvSpPr>
          <p:cNvPr id="3" name="Text 1"/>
          <p:cNvSpPr/>
          <p:nvPr/>
        </p:nvSpPr>
        <p:spPr>
          <a:xfrm>
            <a:off x="661475" y="4055070"/>
            <a:ext cx="520379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Rejection is a valid outcome. It must be recorded with a reason, not spoken and forgotten.</a:t>
            </a:r>
            <a:endParaRPr lang="en-US" sz="1450" dirty="0"/>
          </a:p>
        </p:txBody>
      </p:sp>
      <p:sp>
        <p:nvSpPr>
          <p:cNvPr id="4" name="Shape 2"/>
          <p:cNvSpPr/>
          <p:nvPr/>
        </p:nvSpPr>
        <p:spPr>
          <a:xfrm>
            <a:off x="6332776" y="2117725"/>
            <a:ext cx="5203794" cy="2192536"/>
          </a:xfrm>
          <a:prstGeom prst="roundRect">
            <a:avLst>
              <a:gd name="adj" fmla="val 3621"/>
            </a:avLst>
          </a:prstGeom>
          <a:solidFill>
            <a:srgbClr val="F2F2F2"/>
          </a:solidFill>
          <a:ln/>
        </p:spPr>
      </p:sp>
      <p:sp>
        <p:nvSpPr>
          <p:cNvPr id="5" name="Text 3"/>
          <p:cNvSpPr/>
          <p:nvPr/>
        </p:nvSpPr>
        <p:spPr>
          <a:xfrm>
            <a:off x="6559584" y="2306737"/>
            <a:ext cx="4750177"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Reviewer suggested caching answers.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Rejected: this service keeps no state on purpose, and a cache is 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store of other people's writing that we would then have to justify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under the privacy rules.</a:t>
            </a:r>
            <a:endParaRPr lang="en-US" sz="1450" dirty="0"/>
          </a:p>
        </p:txBody>
      </p:sp>
      <p:sp>
        <p:nvSpPr>
          <p:cNvPr id="6"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704453"/>
            <a:ext cx="6296860"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Why this is uncomfortable, honestly</a:t>
            </a:r>
            <a:endParaRPr lang="en-US" sz="36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114848"/>
            <a:ext cx="6296860" cy="702965"/>
          </a:xfrm>
          <a:prstGeom prst="rect">
            <a:avLst/>
          </a:prstGeom>
        </p:spPr>
      </p:pic>
      <p:sp>
        <p:nvSpPr>
          <p:cNvPr id="5" name="Text 1"/>
          <p:cNvSpPr/>
          <p:nvPr/>
        </p:nvSpPr>
        <p:spPr>
          <a:xfrm>
            <a:off x="5543411" y="2323306"/>
            <a:ext cx="577835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Criticising your friend's work is awkward</a:t>
            </a:r>
            <a:endParaRPr lang="en-US" sz="18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2995116"/>
            <a:ext cx="6296860" cy="702965"/>
          </a:xfrm>
          <a:prstGeom prst="rect">
            <a:avLst/>
          </a:prstGeom>
        </p:spPr>
      </p:pic>
      <p:sp>
        <p:nvSpPr>
          <p:cNvPr id="7" name="Text 2"/>
          <p:cNvSpPr/>
          <p:nvPr/>
        </p:nvSpPr>
        <p:spPr>
          <a:xfrm>
            <a:off x="5543411" y="3203575"/>
            <a:ext cx="577835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Being criticised feels like being graded</a:t>
            </a:r>
            <a:endParaRPr lang="en-US" sz="18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3875385"/>
            <a:ext cx="6296860" cy="989013"/>
          </a:xfrm>
          <a:prstGeom prst="rect">
            <a:avLst/>
          </a:prstGeom>
        </p:spPr>
      </p:pic>
      <p:sp>
        <p:nvSpPr>
          <p:cNvPr id="9" name="Text 3"/>
          <p:cNvSpPr/>
          <p:nvPr/>
        </p:nvSpPr>
        <p:spPr>
          <a:xfrm>
            <a:off x="5543411" y="4083844"/>
            <a:ext cx="5778355"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No good walkthrough ends with less work for you</a:t>
            </a:r>
            <a:endParaRPr lang="en-US" sz="18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041702"/>
            <a:ext cx="6296860" cy="989013"/>
          </a:xfrm>
          <a:prstGeom prst="rect">
            <a:avLst/>
          </a:prstGeom>
        </p:spPr>
      </p:pic>
      <p:sp>
        <p:nvSpPr>
          <p:cNvPr id="11" name="Text 4"/>
          <p:cNvSpPr/>
          <p:nvPr/>
        </p:nvSpPr>
        <p:spPr>
          <a:xfrm>
            <a:off x="5543411" y="5250160"/>
            <a:ext cx="5778355"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What helps: findings name a file, never a person</a:t>
            </a:r>
            <a:endParaRPr lang="en-US" sz="180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26058"/>
            <a:ext cx="6296860" cy="1107480"/>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111111"/>
                </a:solidFill>
                <a:latin typeface="Orbitron Bold" pitchFamily="34" charset="0"/>
                <a:ea typeface="Orbitron Bold" pitchFamily="34" charset="-122"/>
                <a:cs typeface="Orbitron Bold" pitchFamily="34" charset="-120"/>
              </a:rPr>
              <a:t>What you are about to build</a:t>
            </a:r>
            <a:endParaRPr lang="en-US" sz="3450" dirty="0"/>
          </a:p>
        </p:txBody>
      </p:sp>
      <p:sp>
        <p:nvSpPr>
          <p:cNvPr id="4" name="Text 1"/>
          <p:cNvSpPr/>
          <p:nvPr/>
        </p:nvSpPr>
        <p:spPr>
          <a:xfrm>
            <a:off x="5233360" y="1882676"/>
            <a:ext cx="354401" cy="221456"/>
          </a:xfrm>
          <a:prstGeom prst="rect">
            <a:avLst/>
          </a:prstGeom>
          <a:noFill/>
          <a:ln/>
        </p:spPr>
        <p:txBody>
          <a:bodyPr wrap="none" lIns="0" tIns="0" rIns="0" bIns="0" rtlCol="0" anchor="ctr"/>
          <a:lstStyle/>
          <a:p>
            <a:pPr algn="l" indent="0" marL="0">
              <a:lnSpc>
                <a:spcPct val="100000"/>
              </a:lnSpc>
              <a:buNone/>
            </a:pPr>
            <a:r>
              <a:rPr lang="en-US" sz="1350" dirty="0">
                <a:solidFill>
                  <a:srgbClr val="1C1C1C"/>
                </a:solidFill>
                <a:latin typeface="Orbitron" pitchFamily="34" charset="0"/>
                <a:ea typeface="Orbitron" pitchFamily="34" charset="-122"/>
                <a:cs typeface="Orbitron" pitchFamily="34" charset="-120"/>
              </a:rPr>
              <a:t>01</a:t>
            </a:r>
            <a:endParaRPr lang="en-US" sz="1350" dirty="0"/>
          </a:p>
        </p:txBody>
      </p:sp>
      <p:sp>
        <p:nvSpPr>
          <p:cNvPr id="5" name="Shape 2"/>
          <p:cNvSpPr/>
          <p:nvPr/>
        </p:nvSpPr>
        <p:spPr>
          <a:xfrm>
            <a:off x="5233360" y="2164755"/>
            <a:ext cx="6296860" cy="19050"/>
          </a:xfrm>
          <a:prstGeom prst="rect">
            <a:avLst/>
          </a:prstGeom>
          <a:solidFill>
            <a:srgbClr val="57A1EB"/>
          </a:solidFill>
          <a:ln/>
        </p:spPr>
      </p:sp>
      <p:sp>
        <p:nvSpPr>
          <p:cNvPr id="6" name="Text 3"/>
          <p:cNvSpPr/>
          <p:nvPr/>
        </p:nvSpPr>
        <p:spPr>
          <a:xfrm>
            <a:off x="5233360" y="2291457"/>
            <a:ext cx="629686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Forty minutes, the script, with another team</a:t>
            </a:r>
            <a:endParaRPr lang="en-US" sz="1700" dirty="0"/>
          </a:p>
        </p:txBody>
      </p:sp>
      <p:sp>
        <p:nvSpPr>
          <p:cNvPr id="7" name="Text 4"/>
          <p:cNvSpPr/>
          <p:nvPr/>
        </p:nvSpPr>
        <p:spPr>
          <a:xfrm>
            <a:off x="5233360" y="2867323"/>
            <a:ext cx="354401" cy="221456"/>
          </a:xfrm>
          <a:prstGeom prst="rect">
            <a:avLst/>
          </a:prstGeom>
          <a:noFill/>
          <a:ln/>
        </p:spPr>
        <p:txBody>
          <a:bodyPr wrap="none" lIns="0" tIns="0" rIns="0" bIns="0" rtlCol="0" anchor="ctr"/>
          <a:lstStyle/>
          <a:p>
            <a:pPr algn="l" indent="0" marL="0">
              <a:lnSpc>
                <a:spcPct val="100000"/>
              </a:lnSpc>
              <a:buNone/>
            </a:pPr>
            <a:r>
              <a:rPr lang="en-US" sz="1350" dirty="0">
                <a:solidFill>
                  <a:srgbClr val="1C1C1C"/>
                </a:solidFill>
                <a:latin typeface="Orbitron" pitchFamily="34" charset="0"/>
                <a:ea typeface="Orbitron" pitchFamily="34" charset="-122"/>
                <a:cs typeface="Orbitron" pitchFamily="34" charset="-120"/>
              </a:rPr>
              <a:t>02</a:t>
            </a:r>
            <a:endParaRPr lang="en-US" sz="1350" dirty="0"/>
          </a:p>
        </p:txBody>
      </p:sp>
      <p:sp>
        <p:nvSpPr>
          <p:cNvPr id="8" name="Shape 5"/>
          <p:cNvSpPr/>
          <p:nvPr/>
        </p:nvSpPr>
        <p:spPr>
          <a:xfrm>
            <a:off x="5233360" y="3149402"/>
            <a:ext cx="6296860" cy="19050"/>
          </a:xfrm>
          <a:prstGeom prst="rect">
            <a:avLst/>
          </a:prstGeom>
          <a:solidFill>
            <a:srgbClr val="57A1EB"/>
          </a:solidFill>
          <a:ln/>
        </p:spPr>
      </p:sp>
      <p:sp>
        <p:nvSpPr>
          <p:cNvPr id="9" name="Text 6"/>
          <p:cNvSpPr/>
          <p:nvPr/>
        </p:nvSpPr>
        <p:spPr>
          <a:xfrm>
            <a:off x="5233360" y="3276104"/>
            <a:ext cx="6296860" cy="553839"/>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Documents first, failure paths only, author off the keyboard</a:t>
            </a:r>
            <a:endParaRPr lang="en-US" sz="1700" dirty="0"/>
          </a:p>
        </p:txBody>
      </p:sp>
      <p:sp>
        <p:nvSpPr>
          <p:cNvPr id="10" name="Text 7"/>
          <p:cNvSpPr/>
          <p:nvPr/>
        </p:nvSpPr>
        <p:spPr>
          <a:xfrm>
            <a:off x="5233360" y="4128889"/>
            <a:ext cx="354401" cy="221456"/>
          </a:xfrm>
          <a:prstGeom prst="rect">
            <a:avLst/>
          </a:prstGeom>
          <a:noFill/>
          <a:ln/>
        </p:spPr>
        <p:txBody>
          <a:bodyPr wrap="none" lIns="0" tIns="0" rIns="0" bIns="0" rtlCol="0" anchor="ctr"/>
          <a:lstStyle/>
          <a:p>
            <a:pPr algn="l" indent="0" marL="0">
              <a:lnSpc>
                <a:spcPct val="100000"/>
              </a:lnSpc>
              <a:buNone/>
            </a:pPr>
            <a:r>
              <a:rPr lang="en-US" sz="1350" dirty="0">
                <a:solidFill>
                  <a:srgbClr val="1C1C1C"/>
                </a:solidFill>
                <a:latin typeface="Orbitron" pitchFamily="34" charset="0"/>
                <a:ea typeface="Orbitron" pitchFamily="34" charset="-122"/>
                <a:cs typeface="Orbitron" pitchFamily="34" charset="-120"/>
              </a:rPr>
              <a:t>03</a:t>
            </a:r>
            <a:endParaRPr lang="en-US" sz="1350" dirty="0"/>
          </a:p>
        </p:txBody>
      </p:sp>
      <p:sp>
        <p:nvSpPr>
          <p:cNvPr id="11" name="Shape 8"/>
          <p:cNvSpPr/>
          <p:nvPr/>
        </p:nvSpPr>
        <p:spPr>
          <a:xfrm>
            <a:off x="5233360" y="4410968"/>
            <a:ext cx="6296860" cy="19050"/>
          </a:xfrm>
          <a:prstGeom prst="rect">
            <a:avLst/>
          </a:prstGeom>
          <a:solidFill>
            <a:srgbClr val="57A1EB"/>
          </a:solidFill>
          <a:ln/>
        </p:spPr>
      </p:sp>
      <p:sp>
        <p:nvSpPr>
          <p:cNvPr id="12" name="Text 9"/>
          <p:cNvSpPr/>
          <p:nvPr/>
        </p:nvSpPr>
        <p:spPr>
          <a:xfrm>
            <a:off x="5233360" y="4537670"/>
            <a:ext cx="629686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Every finding gets a severity and a decision</a:t>
            </a:r>
            <a:endParaRPr lang="en-US" sz="1700" dirty="0"/>
          </a:p>
        </p:txBody>
      </p:sp>
      <p:sp>
        <p:nvSpPr>
          <p:cNvPr id="13" name="Text 10"/>
          <p:cNvSpPr/>
          <p:nvPr/>
        </p:nvSpPr>
        <p:spPr>
          <a:xfrm>
            <a:off x="5233360" y="5113536"/>
            <a:ext cx="354401" cy="221456"/>
          </a:xfrm>
          <a:prstGeom prst="rect">
            <a:avLst/>
          </a:prstGeom>
          <a:noFill/>
          <a:ln/>
        </p:spPr>
        <p:txBody>
          <a:bodyPr wrap="none" lIns="0" tIns="0" rIns="0" bIns="0" rtlCol="0" anchor="ctr"/>
          <a:lstStyle/>
          <a:p>
            <a:pPr algn="l" indent="0" marL="0">
              <a:lnSpc>
                <a:spcPct val="100000"/>
              </a:lnSpc>
              <a:buNone/>
            </a:pPr>
            <a:r>
              <a:rPr lang="en-US" sz="1350" dirty="0">
                <a:solidFill>
                  <a:srgbClr val="1C1C1C"/>
                </a:solidFill>
                <a:latin typeface="Orbitron" pitchFamily="34" charset="0"/>
                <a:ea typeface="Orbitron" pitchFamily="34" charset="-122"/>
                <a:cs typeface="Orbitron" pitchFamily="34" charset="-120"/>
              </a:rPr>
              <a:t>04</a:t>
            </a:r>
            <a:endParaRPr lang="en-US" sz="1350" dirty="0"/>
          </a:p>
        </p:txBody>
      </p:sp>
      <p:sp>
        <p:nvSpPr>
          <p:cNvPr id="14" name="Shape 11"/>
          <p:cNvSpPr/>
          <p:nvPr/>
        </p:nvSpPr>
        <p:spPr>
          <a:xfrm>
            <a:off x="5233360" y="5395615"/>
            <a:ext cx="6296860" cy="19050"/>
          </a:xfrm>
          <a:prstGeom prst="rect">
            <a:avLst/>
          </a:prstGeom>
          <a:solidFill>
            <a:srgbClr val="57A1EB"/>
          </a:solidFill>
          <a:ln/>
        </p:spPr>
      </p:sp>
      <p:sp>
        <p:nvSpPr>
          <p:cNvPr id="15" name="Text 12"/>
          <p:cNvSpPr/>
          <p:nvPr/>
        </p:nvSpPr>
        <p:spPr>
          <a:xfrm>
            <a:off x="5233360" y="5522317"/>
            <a:ext cx="6296860" cy="553839"/>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The record is committed today, findings unfixed included</a:t>
            </a:r>
            <a:endParaRPr lang="en-US" sz="170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2026-09-16T04:15:33Z</dcterms:created>
  <dcterms:modified xsi:type="dcterms:W3CDTF">2026-09-16T04:15:33Z</dcterms:modified>
</cp:coreProperties>
</file>